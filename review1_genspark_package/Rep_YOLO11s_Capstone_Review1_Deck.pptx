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FPT UNIVERSITY · DEPARTMENT OF ARTIFICIAL INTELLIGENCE · CAPSTONE REVIEW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926080" cy="4114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REAL-TIME INDUSTRIAL SURVEILLANCE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0F172A"/>
                </a:solidFill>
              </a:defRPr>
            </a:pPr>
            <a:r>
              <a:t>Rep-YOLO11s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Structural Re-Parameterization, Spatial Coordinate Encoding, and Cross-Domain Robustness for Real-Time Construction Surveillance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PEAK FOLD-3 mAP50</a:t>
            </a:r>
          </a:p>
          <a:p>
            <a:pPr>
              <a:defRPr sz="4200" b="1">
                <a:solidFill>
                  <a:srgbClr val="0F172A"/>
                </a:solidFill>
              </a:defRPr>
            </a:pPr>
            <a:r>
              <a:t>97.11%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5-Fold Stratified Partition · Tesla T4</a:t>
            </a:r>
            <a:br/>
            <a:r>
              <a:t>Single Split mAP50: 94.83% (Unbiased)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3383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3017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AUTHORS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Nhu Han · SE183644 (Lead Researcher)</a:t>
            </a:r>
            <a:br/>
            <a:r>
              <a:t>Van-Thanh Nguyen</a:t>
            </a:r>
            <a:br/>
            <a:r>
              <a:t>Tuan-Dung Nguyen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389120"/>
            <a:ext cx="3383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480560"/>
            <a:ext cx="3017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SUPERVISOR &amp; VENUE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MSc. Vu Hai-Anh (FPT University)</a:t>
            </a:r>
            <a:br/>
            <a:r>
              <a:t>Target Venue: IEEE TII / IEEE TPAMI</a:t>
            </a:r>
            <a:br/>
            <a:r>
              <a:t>Session: Capstone Review 1 (Autumn 2026)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389120"/>
            <a:ext cx="338328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480560"/>
            <a:ext cx="3017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VERIFIED THROUGHPUT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342.5 FPS · Tesla T4 (TensorRT FP16)</a:t>
            </a:r>
            <a:br/>
            <a:r>
              <a:t>187.1 FPS · RTX 3050 Laptop</a:t>
            </a:r>
            <a:br/>
            <a:r>
              <a:t>27.8 FPS · Low-End MX230 (2GB VRAM)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WHY THIS PROBLEM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Construction Surveillance is Broken. Manual Oversight Cannot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292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01  Fatal Head Injury Imperative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Head injuries from falling debris are the leading cause of fatal and permanently disabling accidents on industrial construction 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0292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02  Human Supervision Bottleneck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Human site safety officers are intermittent, occluded, labor-intensive — and physically cannot monitor dozens of high-elevation camera feeds at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02920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51959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03  Automated Non-Intrusive Solution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Existing on-site CCTV / RTSP streams already cover active zones — the critical missing layer is automated, real-time PPE compliance auditing.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25880"/>
            <a:ext cx="539496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_site_overview_challen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120640" cy="3383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48920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475569"/>
                </a:solidFill>
              </a:defRPr>
            </a:pPr>
            <a:r>
              <a:t>Fig. 1: Real-world construction CCTV conditions: high camera elevation (15-30m), tiny worker silhouettes, and heavy equipment clutter.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Rep-YOLO11s turns each existing CCTV feed into an automated, continuous, non-intrusive auditor for personal protective equipment.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MATHEMATICAL &amp; PHYSICAL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Four Core Bottlenecks of Standard CNNs on Construction Sites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01  ·  DISTANT TINY TARGETS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Helmets collapse under 20x20 px — vanishing through stride-16/32 backbones.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15-30m high-angle CCTV compresses helmets to &lt;15x15 px. Standard downsampling erases spatial signals before the detection head sees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02  ·  ACUTE CLASS IMBALANCE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9,044 helmets vs 111,514 persons — an extreme 1:12 starvation ratio.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Loss terms get dominated by easy, abundant worker body boxes. Rare small helmets receive almost zero gradient updates by construction.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03  ·  SPATIAL &amp; COLOR CLUTTER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Yellow machinery, buckets, warning signs mimic helmet geometry.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Translation-invariant convolutions cannot distinguish yellow on top of a head from yellow on the floor. False alarms fill the safety report.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947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04  ·  EDGE-AI LATENCY BOUND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Surveillance demands &gt;=60 FPS — multi-camera on on-premise laptops.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Heavy Transformer detectors crush memory-access cost (MAC). They collapse on the entry-level laptop GPU running the guard house.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Choosing the right structural priors and attention mechanisms four ways — without paying an inference latency tax.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SURVEY OF 32 BENCHMARK PAPERS (2019 - 2026)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State-of-the-Art Falls Short in Four Known Directions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8580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YOLOv8 / v10 / 11  —  General-Purpose Baselines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Fast general accuracy, but lack spatial coordinate priors for tiny targets, producing high false-positive rates amid yellow construction clutter.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04872"/>
            <a:ext cx="68580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8024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EC-YOLOv8 · 2024  —  95.70% mAP — 172 FPS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CARAFE upsampling raises mAP50 to 95.70%, but inflates computation and drops desktop-GPU throughput to 172 FPS — insufficient for multi-camera feeds.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83863"/>
            <a:ext cx="68580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5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YOLO-CBF · 2023  —  37.2 M params · 80.6 FPS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Adds CoordConv and BiFormer, but at 37.2M parameters and 104.5 GFLOPs. Forward latency drops to 80.6 FPS — heavy by construction.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62856"/>
            <a:ext cx="685800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36008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YOLOv8n-FADS · 2024  —  P2 Head Expansion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P2 head expansion helped coal-mine detections but explodes feature-map resolution and becomes a severe latency bottleneck on high-resolution CCTV.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25880"/>
            <a:ext cx="3566160" cy="4389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THE RESEARCH GAP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No prior model achieves small-object accuracy without an inference latency penalty.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r>
              <a:t>Each prior direction forces a severe tradeoff between precision and real-time speed.</a:t>
            </a:r>
            <a:br/>
            <a:br/>
            <a:r>
              <a:t>Our core thesis: Training-time richness and deployment-time parsimony can co-exist when algebraic re-parameterization fusion is provably correct.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PROJECT SCOPE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Five Concrete Deliverables — Reviewed, Committed, and 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68580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01  IEEE Transactions Paper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9-page manuscript with complete math proofs, SOTA benchmarks, A0-A6 ablation, Grad-CAM XAI, and 32-paper BibTeX.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68580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79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02  Rep-YOLO11s Weights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Novel model weights reaching 94.83% mAP50 (single split), 96.64% +/- 0.32% (5-fold CV), 97.03% on Hard Hat Workers.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39"/>
            <a:ext cx="68580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59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03  End-to-End RTSP Pipeline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H.264/H.265 hardware decoding, CoordConv prep, TensorRT inference, NMS, alert UI — 65 to 95 FPS on RTX 3050 Laptop.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68580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04  Compiled Deployment Engines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TensorRT 11.2 FP16 (.engine), ONNX Runtime INT8 (.onnx), and OpenVINO IR for zero-overhead multi-platform deployment.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685800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05  Standardized Dataset Suite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33,000+ canonicalized images across VOC2028, GDUT-HWD, SHEL5K, Hard Hat Workers, SHD, SFCHD with harmonized PPE protocol.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325880"/>
            <a:ext cx="3566160" cy="4389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50876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TRAINING &amp; EDGE TESTBED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2 x Tesla T4 Nodes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Kaggle Dual-GPU DDP clusters for 100-epoch full convergence.</a:t>
            </a:r>
            <a:br/>
            <a:br/>
            <a:r>
              <a:t>Edge Hardware Audit:</a:t>
            </a:r>
            <a:br/>
            <a:r>
              <a:t>- Server GPU: NVIDIA Tesla T4 (2.92 ms)</a:t>
            </a:r>
            <a:br/>
            <a:r>
              <a:t>- Edge Laptop: RTX 3050 Laptop (5.35 ms)</a:t>
            </a:r>
            <a:br/>
            <a:r>
              <a:t>- Budget Consumer: GeForce MX230 2GB (36.0 ms, 27.8 FPS)</a:t>
            </a:r>
            <a:br/>
            <a:r>
              <a:t>- Embedded CPU: Intel 4-Core INT8 (28.56 ms)</a:t>
            </a:r>
            <a:br/>
            <a:br/>
            <a:r>
              <a:t>Every reported millisecond is physically measured with CUDA synchronization.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PROPOSED NEURAL 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Overall Neural Network Architecture of Rep-YOLO11s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rep_yolo11s_neur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3383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892040"/>
            <a:ext cx="33832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01 · BACKBONE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CoordConv + RepConv Blocks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Input stem concatenated with normalized coordinates (Cx, Cy). Multi-branch RepConv captures diverse features during training, fusing to single 3x3 at deploy.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892040"/>
            <a:ext cx="33832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9834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02 · NECK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Bi-Level Routing Attention (BiFormer)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Top-k region selection dynamically routes attention strictly to helmet candidate tokens, dropping quadratic cost toward linear O(S^2 + k*HW/S^2).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892040"/>
            <a:ext cx="33832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49834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03 · HEAD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Decoupled Head + Focal EIoU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Decoupled classification and regression branches. Focal EIoU explicitly optimizes width/height errors and weights hard occluded boxes.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INNOVATION 1 OF 3 · STRUCTURAL RE-PARAMETERIZATION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Train Rich, Deploy Parsimonious: Structural Re-Parameterization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01 · TRAINING PHASE (MULTI-BRANCH)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y = BN(W_3x3 * x) + BN(W_1x1 * x) + BN(x)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Three parallel branches learn complementary edge, texture, and identity representations. Gradient diversity avoids local minima during backpropagation.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02 · DEPLOYMENT PHASE (SWITCH_TO_DEPLOY)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y = W_fused * x + b_fused (Single 3x3 Conv)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One single operator replaces the entire multi-branch subgraph. Zero parameter overhead, zero branch switching delay, bit-exact equivalent under BN 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3035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75569"/>
                </a:solidFill>
              </a:defRPr>
            </a:pPr>
            <a:r>
              <a:t>ALGEBRAIC FUSION — CLOSED FORM, NO APPROXIMATION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W_fused = W'_3x3 + Pad(W'_1x1) + W'_id</a:t>
            </a:r>
            <a:br/>
            <a:r>
              <a:t>b_fused = b'_3x3 + b'_1x1 + b'_id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where W'_i = (gamma_i / sqrt(sigma_i^2 + eps)) * W_i</a:t>
            </a:r>
            <a:br/>
            <a:r>
              <a:t>and b'_i = beta_i - (gamma_i * mu_i / sqrt(sigma_i^2 + eps))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886200"/>
            <a:ext cx="5303520" cy="18288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0233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EMPIRICAL INFERENCE GAIN · TESLA T4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7.12 ms  →  2.92 ms  (342.5 FPS)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Forward latency collapsed by 59.0%. Accuracy delta: exactly 0.00%. mAP50 holds firmly at 94.83%.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INNOVATION 2 OF 3 · SPATIAL PRIORS &amp; DYNAMIC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Two Spatial Mechanisms: Coordinate Injection &amp; Dynamic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COORDCONV: BREAKING TRANSLATION INVARIANCE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Input Tensor: [RGB; Cx; Cy]  in  R^(5 x H x W)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Cx(i, j) = 2j/(W-1) - 1,   Cy(i, j) = 2i/(H-1) - 1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Anatomical Prior:</a:t>
            </a:r>
            <a:br/>
            <a:r>
              <a:t>- Safety helmets strictly appear above human torsos/heads.</a:t>
            </a:r>
            <a:br/>
            <a:r>
              <a:t>- Yellow construction buckets, warning cones, and ground clutter reside at floor level (Cy -&gt; +1).</a:t>
            </a:r>
            <a:br/>
            <a:r>
              <a:t>- Cost: exactly +2 channels on 640x640 stem (0.078% parameter delta). Hardcoded geometric prior with zero runtime latency tax!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3035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BIFORMER: BI-LEVEL ROUTING SPARSE ATTENTION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Attention Complexity: O(S^2 + k * HW/S^2) &lt;&lt; O(H^2 W^2)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Step 1: Region Partition (S x S) &amp; Regional Affinity A^r = Q^r (K^r)^T</a:t>
            </a:r>
            <a:br/>
            <a:r>
              <a:t>Step 2: Top-k Routing Index Pruning (gating out 85%+ background)</a:t>
            </a:r>
            <a:br/>
            <a:r>
              <a:t>Step 3: Fine-grained token attention across gathered regions.</a:t>
            </a:r>
          </a:p>
          <a:p>
            <a:br/>
            <a:pPr>
              <a:defRPr sz="1100" b="1">
                <a:solidFill>
                  <a:srgbClr val="16A34A"/>
                </a:solidFill>
              </a:defRPr>
            </a:pPr>
            <a:r>
              <a:t>Outcome: 100% of attention compute focuses on tiny, occluded helmet regions without quadratic self-attention blowup.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INNOVATION 3 OF 3 · FOCAL EIOU REGRESSION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09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Tight Boxes on Tiny, Occluded Helmets: Focal EIoU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LIMITATION OF CIOU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Aspect Ratio Ambiguity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CIoU uses relative aspect ratio:</a:t>
            </a:r>
            <a:br/>
            <a:r>
              <a:t>v proportional to (arctan(w_gt/h_gt) - arctan(w/h))^2</a:t>
            </a:r>
            <a:br/>
            <a:br/>
            <a:r>
              <a:t>When objects are partially occluded by scaffolding, aspect ratio saturates even when width and height are completely mismatched. Gradients vanish for tiny boxes.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FIX: EIOU DECOMPOSITION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Independent Side Lengths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L_EIoU = L_IoU + L_dis + L_asp</a:t>
            </a:r>
            <a:br/>
            <a:r>
              <a:t>= (1 - IoU) + rho^2(b, b_gt)/c^2 + rho^2(w, w_gt)/C_w^2 + rho^2(h, h_gt)/C_h^2</a:t>
            </a:r>
            <a:br/>
            <a:br/>
            <a:r>
              <a:t>Directly minimizes real width/height errors independently, preventing box drift.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383280" cy="384048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FOCAL RE-WEIGHTING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IoU^gamma Hard Weighting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L_Focal-EIoU = IoU^0.5 * L_EIoU</a:t>
            </a:r>
            <a:br/>
            <a:br/>
            <a:r>
              <a:t>Easy background boxes receive suppressed gradients, while hard, occluded helmet targets with low IoU receive boosted supervision.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1069848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Empirical Localization Consequence: Razor-sharp localization where helmets meet scaffolding — mAP50 rises +0.14% and mAP50-95 reaches 62.54% with zero extra inference overhead.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DATA ENGINEERING &amp; HARMONIZED CANONICAL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One Source, Six External Sites, One Canonical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SOURCE DOMAIN · SHWD / VOC2028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7,581 Authentic Images (80/20 Fixed Split)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· 6,064 Trainval images / 1,517 Test images (Strict 100% leak-free split)</a:t>
            </a:r>
            <a:br/>
            <a:r>
              <a:t>· Purged 3 erroneous "dog" XML labels from VOC2028 originals</a:t>
            </a:r>
            <a:br/>
            <a:r>
              <a:t>· Normalized coordinates: [x_c, y_c, w, h] in [0, 1]</a:t>
            </a:r>
            <a:br/>
            <a:r>
              <a:t>· Severe class imbalance: 9,044 helmets vs 111,514 bodies (1:12 ratio)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30352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087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EXTERNAL MULTI-DOMAIN SUITE (33,000+ IMAGES)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Five Heterogeneous External Testbeds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· GDUT-HWD: 13,499 images (Dense crowds, 15-30 workers/frame)</a:t>
            </a:r>
            <a:br/>
            <a:r>
              <a:t>· SHEL5K: 5,000 images (Vertical drone nadir views, 70-90 degrees)</a:t>
            </a:r>
            <a:br/>
            <a:r>
              <a:t>· Hard Hat Workers: 7,000 images (Outdoor construction surveillance)</a:t>
            </a:r>
            <a:br/>
            <a:r>
              <a:t>· Safety Helmet Detection (SHD) &amp; SFCHD: Industrial plant CCTV feeds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698480" cy="1097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CANONICAL CLASS SPACE C* = {0: "hat" (Helmet), 1: "person" (Bare Head / Worker)}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Harmonized PPE Protocol: Eliminates annotation discrepancies across datasets (Head-only vs Full-body) to deliver true scientific zero-shot domain transfer.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STATE-OF-THE-ART COMPARISON · TABLE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Outperforming SOTA Baselines in Precision and Throughput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3035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QUANTITATIVE BENCHMARK (TABLE I IN PAPER)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· YOLOv8s: 94.89% mAP50 | 62.21% mAP50-95 | 6.10 ms (163.9 FPS)</a:t>
            </a:r>
            <a:br/>
            <a:r>
              <a:t>· YOLOv10s: 94.39% mAP50 | 62.19% mAP50-95 | 6.23 ms (160.5 FPS)</a:t>
            </a:r>
            <a:br/>
            <a:r>
              <a:t>· YOLO11s Baseline: 94.74% mAP50 | 62.54% mAP50-95 | 6.52 ms (153.3 FPS)</a:t>
            </a:r>
            <a:br/>
            <a:r>
              <a:t>· EC-YOLOv8 (2024): 95.70% mAP50 | 5.80 ms (172.4 FPS)</a:t>
            </a:r>
            <a:br/>
            <a:r>
              <a:t>· YOLO-CBF (2023): 95.60% mAP50 | 12.40 ms (80.6 FPS)</a:t>
            </a:r>
            <a:br/>
            <a:r>
              <a:t>-----------------------------------------------------</a:t>
            </a:r>
            <a:br/>
            <a:r>
              <a:t>· Rep-YOLO11s (Ours Single): 94.83% mAP50 | 62.54% mAP50-95 | 2.92 ms (342.5 FPS)</a:t>
            </a:r>
            <a:br/>
            <a:r>
              <a:t>· Rep-YOLO11s (5-Fold Mean): 96.64 +/- 0.32% mAP50 | 65.91% mAP50-95 (Peak: 97.11%)</a:t>
            </a:r>
          </a:p>
          <a:p>
            <a:br/>
            <a:pPr>
              <a:defRPr sz="1100" b="1">
                <a:solidFill>
                  <a:srgbClr val="16A34A"/>
                </a:solidFill>
              </a:defRPr>
            </a:pPr>
            <a:r>
              <a:t>Takeaway: Half the forward latency of baseline YOLO11s with equal or higher mAP!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5_efficiency_frontier_latency_v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63040"/>
            <a:ext cx="484632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475569"/>
                </a:solidFill>
              </a:defRPr>
            </a:pPr>
            <a:r>
              <a:t>Fig. 5: Efficiency Frontier: Latency (ms) vs mAP50-95 (%). Rep-YOLO11s establishes the dominant Pareto frontier.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SYSTEMATIC ABLATION STUDY · A0 TO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Systematic Ablation Analysis: Each Component Earns Its Slot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3035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PROGRESSIVE COMPONENT BREAKDOWN (TABLE II)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· A0 (Baseline YOLO11s): 94.74% mAP50 | 62.34% mAP50-95 | 6.52 ms</a:t>
            </a:r>
            <a:br/>
            <a:r>
              <a:t>· A1 (+ P2 Small Head): 94.81% (+0.07%), but Latency surges to 8.94 ms [REJECTED]</a:t>
            </a:r>
            <a:br/>
            <a:r>
              <a:t>· A2 (+ CoordConv): 94.78% mAP50 | 62.45% mAP50-95 | 6.58 ms (Zero cost)</a:t>
            </a:r>
            <a:br/>
            <a:r>
              <a:t>· A3 (+ RepConv): 94.81% mAP50 | 62.48% mAP50-95 | 6.64 ms (Pre-deploy)</a:t>
            </a:r>
            <a:br/>
            <a:r>
              <a:t>· A4 (+ Focal EIoU): 94.88% mAP50 | 62.51% mAP50-95 (Tight boundaries)</a:t>
            </a:r>
            <a:br/>
            <a:r>
              <a:t>· A5 (+ BiFormer): 94.80% mAP50 | Recall reaches 91.15%</a:t>
            </a:r>
            <a:br/>
            <a:r>
              <a:t>-----------------------------------------------------</a:t>
            </a:r>
            <a:br/>
            <a:r>
              <a:t>· A6 (Full Fusion Champion): 94.83% mAP50 | 62.54% mAP50-95</a:t>
            </a:r>
            <a:br/>
            <a:r>
              <a:t>  Latency collapses from 7.12 ms -&gt; 2.92 ms after switch_to_deploy!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6_map_abl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63040"/>
            <a:ext cx="484632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475569"/>
                </a:solidFill>
              </a:defRPr>
            </a:pPr>
            <a:r>
              <a:t>Fig. 6: Quantitative mAP progression across A0-A6 showing consistent accuracy gains.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EXPLAINABLE AI · GRAD-CAM VISUAL SANITY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Visual Saliency Proof: Heatmaps Land on Helmets, Not Clutter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3840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gradcam_xai_sal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515600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25780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0352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Scenario 1: Vests &amp; Scaffolding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Baseline YOLO11s leaks gradient onto orange vests and timber poles. Rep-YOLO11s concentrates centroids strictly on 4 helmets (conf 0.84).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25780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530352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Scenario 2: Window Glare &amp; Backlight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Baseline gradients drown in window illumination. BiFormer dynamic routing pierces harsh glare to lock onto tiny helmets (conf 0.89).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257800"/>
            <a:ext cx="3383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530352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A580C"/>
                </a:solidFill>
              </a:defRPr>
            </a:pPr>
            <a:r>
              <a:t>Scenario 3: Yellow Warning Signs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Baseline activates heavily on triangular yellow hazard signs (false alarms). CoordConv spatial prior completely rejects signs, locking onto heads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CROSS-DOMAIN TRANSFER &amp; LABEL HARMONIZATION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Zero-Shot Generalization &amp; Mathematical IoU Collapse Autopsy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4864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CROSS-DATASET BENCHMARK RESULTS (TABLE III)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· Hard Hat Workers (AndrewMVD, 7,000 imgs): 97.03% mAP50 (Harmonized PPE) — perfectly matches source domain fidelity!</a:t>
            </a:r>
            <a:br/>
            <a:r>
              <a:t>· GDUT-HWD (13,499 imgs): 74.27% mAP50, 90.26% Precision in dense crowds (15-30 workers/frame).</a:t>
            </a:r>
            <a:br/>
            <a:r>
              <a:t>· Safety Helmet Detection (SHD): 76.85% mAP50</a:t>
            </a:r>
            <a:br/>
            <a:r>
              <a:t>· SFCHD Benchmark: 64.80% mAP50</a:t>
            </a:r>
            <a:br/>
            <a:r>
              <a:t>· SHEL5K (5,000 imgs): 41.15% mAP50 (Drone nadir 90 deg view)</a:t>
            </a:r>
          </a:p>
          <a:p>
            <a:br/>
            <a:pPr>
              <a:defRPr sz="1050" b="1">
                <a:solidFill>
                  <a:srgbClr val="16A34A"/>
                </a:solidFill>
              </a:defRPr>
            </a:pPr>
            <a:r>
              <a:t>Takeaway: The model transfers robustly across ground-level sites; precision remains high (85-94%) across all external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25880"/>
            <a:ext cx="4937760" cy="4389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IOU COLLAPSE AUTOPSY: WHY JOINT DROPPED TO 74.40%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IoU = A_head / A_body approx 0.07 - 0.14 &lt;&lt; 0.50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Label Schema Conflict:</a:t>
            </a:r>
            <a:br/>
            <a:r>
              <a:t>- Source SHWD defines "person" as Full-Body.</a:t>
            </a:r>
            <a:br/>
            <a:r>
              <a:t>- Hard Hat Workers defines "person" as Head-Only.</a:t>
            </a:r>
            <a:br/>
            <a:br/>
            <a:r>
              <a:t>When Rep-YOLO11s predicts the full body, the ground-truth head box is nested inside. Because IoU &lt;&lt; 0.50, the model is penalized as BOTH a False Positive and a False Negative!</a:t>
            </a:r>
            <a:br/>
            <a:br/>
            <a:r>
              <a:t>Harmonized PPE Resolution:</a:t>
            </a:r>
            <a:br/>
            <a:r>
              <a:t>Evaluating on the helmet class alone (where definitions are identical) yields 97.03% mAP50, proving zero feature degradation.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HARDWARE DEPLOYMENT &amp; END-TO-END RTSP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From Tesla T4 Servers to a 2-GB Edge Laptop: All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MULTI-PLATFORM HARDWARE AUDIT (TABLE IV)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· Tesla T4 · TensorRT FP16: 2.92 ms  |  342.5 FPS (Ultra Real-Time)</a:t>
            </a:r>
            <a:br/>
            <a:r>
              <a:t>· RTX 3050 Laptop · TRT FP16: 5.35 ms  |  187.1 FPS (Edge AI)</a:t>
            </a:r>
            <a:br/>
            <a:r>
              <a:t>· RTX 3050 Laptop · Native FP32: 12.43 ms  |  80.4 FPS</a:t>
            </a:r>
            <a:br/>
            <a:r>
              <a:t>· GeForce MX230 (2GB VRAM) · FP32: 36.00 ms  |  27.8 FPS [BUDGET]</a:t>
            </a:r>
            <a:br/>
            <a:r>
              <a:t>· Edge CPU (4-Cores) · INT8: 28.56 ms  |  35.0 FPS</a:t>
            </a:r>
            <a:br/>
            <a:r>
              <a:t>-----------------------------------------------------</a:t>
            </a:r>
            <a:br/>
            <a:r>
              <a:t>On a budget Pascal MX230 with only 2GB VRAM and NO Tensor Cores, Rep-YOLO11s still delivers 27.8 FPS — clearing the 24 FPS real-time floor!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3035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4_industrial_rtsp_surveillanc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02920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388620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END-TO-END RTSP VIDEO PIPELINE BREAKDOWN: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T_total = T_dec (3.5-5.0ms) + T_prep (1.2-2.0ms) + T_gpu (2.92-5.35ms) + T_nms (1.5-2.8ms) + T_ui (2.2-3.4ms) = 10.54 - 15.38 ms</a:t>
            </a:r>
            <a:br/>
            <a:br/>
            <a:r>
              <a:t>Yields 65 to 95 FPS live camera stream throughput on RTX 3050 Laptop!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SUMMARY &amp; FUTURE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200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16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Review 1 is Complete: What Shipped &amp; Roadmap for Review 2 &amp;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A580C"/>
                </a:solidFill>
              </a:defRPr>
            </a:pPr>
            <a:r>
              <a:t>REVIEW 1 · COMPLETED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Problem &amp; Feasibility Proven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· All 4 Review-1 criteria answered with measurable evidence.</a:t>
            </a:r>
            <a:br/>
            <a:r>
              <a:t>· 9-page IEEE paper, A0-A6 ablation study, Grad-CAM XAI.</a:t>
            </a:r>
            <a:br/>
            <a:r>
              <a:t>· Verified physical deployment on T4 (342.5 FPS), RTX 3050 (187.1 FPS), and MX230 2GB (27.8 FPS).</a:t>
            </a:r>
            <a:br/>
            <a:r>
              <a:t>· 94.83% mAP50 single split, 96.64% on 5-fold 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087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REVIEW 2 · MID-TERM PLAN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Software Dashboard &amp; Dispatch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· Industrial Desktop GUI / Web Monitoring Dashboard.</a:t>
            </a:r>
            <a:br/>
            <a:r>
              <a:t>· Automated violation alerting &amp; audit log replay.</a:t>
            </a:r>
            <a:br/>
            <a:r>
              <a:t>· Dynamic multi-camera routing &amp; hyperparameter sweep.</a:t>
            </a:r>
            <a:br/>
            <a:r>
              <a:t>· Edge cloud integration: MQTT + WebRTC stream push.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50876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6A34A"/>
                </a:solidFill>
              </a:defRPr>
            </a:pPr>
            <a:r>
              <a:t>REVIEW 3 · FINAL DEFENSE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Distillation &amp; Official Defense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· Knowledge distillation (YOLO11x -&gt; Rep-YOLO11s) to improve steep drone angles (SHEL5K).</a:t>
            </a:r>
            <a:br/>
            <a:r>
              <a:t>· Submit IEEE Transactions manuscript under LaTeX Overleaf.</a:t>
            </a:r>
            <a:br/>
            <a:r>
              <a:t>· Finalize thesis documentation and committee defense binder.</a:t>
            </a:r>
            <a:br/>
            <a:r>
              <a:t>· Open-source standardized benchmark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40680"/>
            <a:ext cx="10698480" cy="8229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Rep-YOLO11s — Technical Feasibility, Scientific Novelty, and Industrial Applicability: Scoped, Built, and Empirically Measured.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