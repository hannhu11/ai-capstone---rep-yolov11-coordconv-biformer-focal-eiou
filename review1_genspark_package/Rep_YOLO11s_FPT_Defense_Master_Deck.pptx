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5669280" cy="34747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5486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A580C"/>
                </a:solidFill>
              </a:defRPr>
            </a:pPr>
            <a:r>
              <a:t>FPT UNIVERSITY · ARTIFICIAL INTELLIGENCE CAPSTONE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6858000" cy="1005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4400" b="1">
                <a:solidFill>
                  <a:srgbClr val="0F172A"/>
                </a:solidFill>
              </a:defRPr>
            </a:pPr>
            <a:r>
              <a:t>Rep-YOLO11s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64748B"/>
                </a:solidFill>
              </a:defRPr>
            </a:pPr>
            <a:r>
              <a:t>Real-Time Safety Helmet Detection in Construction Surveillance:</a:t>
            </a:r>
            <a:br/>
            <a:r>
              <a:t>Structural Re-parameterization, Coordinate Encoding &amp; Multi-Domain Generalization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960120"/>
            <a:ext cx="3657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97280"/>
            <a:ext cx="3200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5-FOLD CV PEAK mAP50</a:t>
            </a:r>
          </a:p>
          <a:p>
            <a:pPr>
              <a:defRPr sz="3600" b="1">
                <a:solidFill>
                  <a:srgbClr val="0F172A"/>
                </a:solidFill>
              </a:defRPr>
            </a:pPr>
            <a:r>
              <a:t>97.11%</a:t>
            </a:r>
          </a:p>
          <a:p>
            <a:pPr>
              <a:spcAft>
                <a:spcPts val="600"/>
              </a:spcAft>
              <a:defRPr sz="950" b="1">
                <a:solidFill>
                  <a:srgbClr val="16A34A"/>
                </a:solidFill>
              </a:defRPr>
            </a:pPr>
            <a:r>
              <a:t>✓ Outperforms Baseline YOLO11s (+0.47% mAP50)</a:t>
            </a:r>
          </a:p>
          <a:p>
            <a:pPr>
              <a:defRPr sz="919">
                <a:solidFill>
                  <a:srgbClr val="64748B"/>
                </a:solidFill>
              </a:defRPr>
            </a:pPr>
            <a:r>
              <a:t>• Tesla T4 Latency: </a:t>
            </a:r>
            <a:r>
              <a:rPr b="1">
                <a:solidFill>
                  <a:srgbClr val="0F172A"/>
                </a:solidFill>
              </a:rPr>
              <a:t>2.92 ms (342.5 FPS)</a:t>
            </a:r>
          </a:p>
          <a:p>
            <a:pPr>
              <a:defRPr sz="919">
                <a:solidFill>
                  <a:srgbClr val="64748B"/>
                </a:solidFill>
              </a:defRPr>
            </a:pPr>
            <a:r>
              <a:t>• RTX 3050 Latency: </a:t>
            </a:r>
            <a:r>
              <a:rPr b="1">
                <a:solidFill>
                  <a:srgbClr val="0F172A"/>
                </a:solidFill>
              </a:rPr>
              <a:t>5.35 ms (187.1 FPS)</a:t>
            </a:r>
          </a:p>
          <a:p>
            <a:pPr>
              <a:defRPr sz="919">
                <a:solidFill>
                  <a:srgbClr val="64748B"/>
                </a:solidFill>
              </a:defRPr>
            </a:pPr>
            <a:r>
              <a:t>• Budget Laptop MX230 (2GB): </a:t>
            </a:r>
            <a:r>
              <a:rPr b="1">
                <a:solidFill>
                  <a:srgbClr val="0F172A"/>
                </a:solidFill>
              </a:rPr>
              <a:t>36.0 ms (27.8 FPS)</a:t>
            </a:r>
          </a:p>
          <a:p>
            <a:pPr>
              <a:defRPr sz="919">
                <a:solidFill>
                  <a:srgbClr val="64748B"/>
                </a:solidFill>
              </a:defRPr>
            </a:pPr>
            <a:r>
              <a:t>• Harmonized Benchmark: </a:t>
            </a:r>
            <a:r>
              <a:rPr b="1">
                <a:solidFill>
                  <a:srgbClr val="0F172A"/>
                </a:solidFill>
              </a:rPr>
              <a:t>&gt; 33,000 Multi-Domain Images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51960"/>
            <a:ext cx="34747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370832"/>
            <a:ext cx="314553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RESEARCH TEAM</a:t>
            </a:r>
          </a:p>
          <a:p>
            <a:pPr>
              <a:spcAft>
                <a:spcPts val="400"/>
              </a:spcAft>
              <a:defRPr sz="1019" b="1">
                <a:solidFill>
                  <a:srgbClr val="0F172A"/>
                </a:solidFill>
              </a:defRPr>
            </a:pPr>
            <a:r>
              <a:t>Nhu Nguyen-Han · SE183644 (Lead)</a:t>
            </a:r>
            <a:br/>
            <a:r>
              <a:t>Thanh Nguyen-Van · SE183645</a:t>
            </a:r>
            <a:br/>
            <a:r>
              <a:t>Dung Nguyen-Tuan · SE183646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Role: Architecture, TensorRT Engine &amp; RTSP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251960"/>
            <a:ext cx="34747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4370832"/>
            <a:ext cx="314553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ACADEMIC ADVISOR</a:t>
            </a:r>
          </a:p>
          <a:p>
            <a:pPr>
              <a:spcAft>
                <a:spcPts val="400"/>
              </a:spcAft>
              <a:defRPr sz="1019" b="1">
                <a:solidFill>
                  <a:srgbClr val="0F172A"/>
                </a:solidFill>
              </a:defRPr>
            </a:pPr>
            <a:r>
              <a:t>M.Sc. Hai-Anh Vu (anhvh@fe.edu.vn)</a:t>
            </a:r>
            <a:br/>
            <a:r>
              <a:t>Dept. of Artificial Intelligence — IT Faculty</a:t>
            </a:r>
            <a:br/>
            <a:r>
              <a:t>FPT University Hanoi Campus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Focus: High-Impact Industrial Computer Vision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251960"/>
            <a:ext cx="34747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4370832"/>
            <a:ext cx="314553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6A34A"/>
                </a:solidFill>
              </a:defRPr>
            </a:pPr>
            <a:r>
              <a:t>PUBLICATION TARGET</a:t>
            </a:r>
          </a:p>
          <a:p>
            <a:pPr>
              <a:spcAft>
                <a:spcPts val="400"/>
              </a:spcAft>
              <a:defRPr sz="1019" b="1">
                <a:solidFill>
                  <a:srgbClr val="0F172A"/>
                </a:solidFill>
              </a:defRPr>
            </a:pPr>
            <a:r>
              <a:t>Top-Tier International Journal / Conf.</a:t>
            </a:r>
            <a:br/>
            <a:r>
              <a:t>Industrial Informatics &amp; Machine Vision</a:t>
            </a:r>
            <a:br/>
            <a:r>
              <a:t>(Rigorous Analytical &amp; Empirical Standards)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Scope: 100% Empirically Validated Results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1 · PROBLEM DEFINITION &amp; URGENCY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Real Construction Context &amp; 4 Technical Bottlenecks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206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371600"/>
            <a:ext cx="411480" cy="320040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80744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34416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Distant Tiny Objects (&lt;20 px)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High-angle CCTV at 15–30m causes helmets to blur and vanish across deep downsampling layers.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51206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606040"/>
            <a:ext cx="41148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15184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5786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Extreme Class Imbalance (1:12)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9,044 helmets vs. 111,514 worker body instances; worker gradients dominate the loss.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03320"/>
            <a:ext cx="51206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3840480"/>
            <a:ext cx="411480" cy="320040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49624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Color Noise &amp; False Alarms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Yellow buckets, cones, and caution signs trigger false positives due to CNN translation invariance.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37760"/>
            <a:ext cx="51206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5074920"/>
            <a:ext cx="41148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504748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Edge Hardware Constraints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Strict &gt;= 25 FPS real-time requirement on budget laptops/GPUs without costly server clusters.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23444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ig1_site_overview_challen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5029200" cy="4023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263640" y="5486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Fig. 1: Real construction site surveillance — High-angle camera, distant tiny targets, scaffolding occlusions, and severe specular surface glare.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3 · FEASIBILITY &amp; THEORETICAL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Literature Review of 32 Works &amp; SOTA Research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698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4416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Standard YOLO (v8 / 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34416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94.74% mAP50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6.52 ms (153.3 FPS)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344168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Coordinate-agnostic; frequent false positives on ground yellow buckets.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10698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EC-YOLOv8 (Zhang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1284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95.70% mAP50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5.80 ms (172.4 FPS)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212848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High mAP via CARAFE operator, but heavy computational latency overhead.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71800"/>
            <a:ext cx="10698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8152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YOLO-CBF (Li 2023)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8152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95.60% mAP50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12.40 ms (80.6 FPS)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081528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Combines CoordConv &amp; BiFormer but balloons to 37.2M params and 104.5 GFLOPs.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79"/>
            <a:ext cx="10698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50207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YOLOv8n-FADS (Fu 2024)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950207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79.70% mAP50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Edge Bottleneck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50207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P2 branch expansion causes computational explosion; low empirical precision.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09160"/>
            <a:ext cx="10698480" cy="777240"/>
          </a:xfrm>
          <a:prstGeom prst="roundRect">
            <a:avLst/>
          </a:prstGeom>
          <a:solidFill>
            <a:srgbClr val="F0FDF4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1888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6A34A"/>
                </a:solidFill>
              </a:defRPr>
            </a:pPr>
            <a:r>
              <a:t>Rep-YOLO11s (Proposed)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81888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94.83% - 97.11%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2.92 ms (342.5 FPS)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818888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Zero-overhead W_fused fusion; coordinate encoding suppresses false alarms; 27.8 FPS on MX230.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715000"/>
            <a:ext cx="10698480" cy="7315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★ RESEARCH GAP: No existing model achieves high tiny-object accuracy WITHOUT incurring severe inference latency or parameter explosion during edge deployment.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2 · FINAL DELIVERABLES &amp;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Project Scope &amp; 5 Concrete Committed Deliverables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80744"/>
            <a:ext cx="411480" cy="320040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36245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SCIENTIFIC REPORT</a:t>
            </a:r>
          </a:p>
          <a:p>
            <a:pPr>
              <a:defRPr sz="900" b="1">
                <a:solidFill>
                  <a:srgbClr val="EA580C"/>
                </a:solidFill>
              </a:defRPr>
            </a:pPr>
            <a:r>
              <a:t>Top-Tier Academic 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39903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9-page formal monograph with analytical proofs, SOTA benchmarks, Ablation A0-A6 &amp; Grad-CAM XAI.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4884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295144"/>
            <a:ext cx="41148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04288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27685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REP-YOLO11s MODEL</a:t>
            </a:r>
          </a:p>
          <a:p>
            <a:pPr>
              <a:defRPr sz="900" b="1">
                <a:solidFill>
                  <a:srgbClr val="2563EB"/>
                </a:solidFill>
              </a:defRPr>
            </a:pPr>
            <a:r>
              <a:t>Accurate &amp; Generalizable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31343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Trained weights achieving 94.83% Single Test, 96.64% 5-Fold, 97.03% on Hard Hat Workers.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06324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209544"/>
            <a:ext cx="41148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218688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19125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SOFTWARE PROTOTYPE</a:t>
            </a:r>
          </a:p>
          <a:p>
            <a:pPr>
              <a:defRPr sz="900" b="1">
                <a:solidFill>
                  <a:srgbClr val="16A34A"/>
                </a:solidFill>
              </a:defRPr>
            </a:pPr>
            <a:r>
              <a:t>Real-World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22783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Multi-stream RTSP surveillance pipeline with circular buffering, 65–95 FPS on RTX 3050.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77639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123944"/>
            <a:ext cx="411480" cy="320040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133087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105655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COMPILED ENGINES</a:t>
            </a:r>
          </a:p>
          <a:p>
            <a:pPr>
              <a:defRPr sz="900" b="1">
                <a:solidFill>
                  <a:srgbClr val="D97706"/>
                </a:solidFill>
              </a:defRPr>
            </a:pPr>
            <a:r>
              <a:t>Zero-latency 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142231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TensorRT 11.2 FP16 (.engine), ONNX INT8 (.onnx), OpenVINO packages ready for cross-platform edge chips.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9204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5038344"/>
            <a:ext cx="411480" cy="320040"/>
          </a:xfrm>
          <a:prstGeom prst="roundRect">
            <a:avLst/>
          </a:prstGeom>
          <a:solidFill>
            <a:srgbClr val="9333EA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047488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020055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STANDARDIZED BENCHMARK</a:t>
            </a:r>
          </a:p>
          <a:p>
            <a:pPr>
              <a:defRPr sz="900" b="1">
                <a:solidFill>
                  <a:srgbClr val="9333EA"/>
                </a:solidFill>
              </a:defRPr>
            </a:pPr>
            <a:r>
              <a:t>Cleaned Industry Benchmark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56631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&gt;33,000 images harmonized across 6 industrial domains with cleaned VOC2028 annotations.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897880"/>
            <a:ext cx="10698480" cy="548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t>✓ PROJECT STATUS: All 5/5 committed deliverables are completed, reaching ~90% of entire capstone engineering scope in Stage 1!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PROPOSED METHOD · NEURAL NETWORK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Comprehensive 5-Stage Neural Architecture of Rep-YOLO11s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106984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2_rep_yolo11s_neura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166360"/>
            <a:ext cx="3474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2303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EA580C"/>
                </a:solidFill>
              </a:defRPr>
            </a:pPr>
            <a:r>
              <a:t>1. SPATIAL BACKBONE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CSPDarknet with CoordConv coordinate injection (Cx, Cy) and multi-branch RepConv feature blocks.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5166360"/>
            <a:ext cx="3474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52303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</a:defRPr>
            </a:pPr>
            <a:r>
              <a:t>2. SPARSE ROUTING NECK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PAN architecture embedded with BiFormer 2-level routing attention, reducing complexity to linear O(HW).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5166360"/>
            <a:ext cx="3474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52303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6A34A"/>
                </a:solidFill>
              </a:defRPr>
            </a:pPr>
            <a:r>
              <a:t>3. DECOUPLED HEAD &amp; LOSS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Anchor-free Decoupled Head paired with Focal EIoU loss decoupling bounding box dimension errors.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TECHNICAL INNOVATION 1 · INFERENCE LATENCY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Innovation 1: Structural Re-parameterization (RepConv) &amp; Algebraic Fusion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1069848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RepConv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703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EA580C"/>
                </a:solidFill>
              </a:defRPr>
            </a:pPr>
            <a:r>
              <a:t>MULTI-BRANCH TRAINING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3 parallel branches (3x3, 1x1, Identity) enrich gradient diversity and feature representation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</a:defRPr>
            </a:pPr>
            <a:r>
              <a:t>ALGEBRAIC FUSION switch_to_deploy()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Fuses BN, zero-pads 1x1 conv, and transforms identity into Dirac delta into a single 3x3 conv layer.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6A34A"/>
                </a:solidFill>
              </a:defRPr>
            </a:pPr>
            <a:r>
              <a:t>EMPIRICAL DEPLOYMENT IMPACT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55.2% latency reduction (7.12 ms -&gt; 2.92 ms), 342.5 FPS on T4 with numerical error Δ &lt; 10⁻⁵.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TECHNICAL INNOVATION 2 · BREAKING TRANSLATION INVARIANCE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Innovation 2: CoordConv Spatial Encoding Suppresses False Alarms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1069848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CoordConv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703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EA580C"/>
                </a:solidFill>
              </a:defRPr>
            </a:pPr>
            <a:r>
              <a:t>BREAKING TRANSLATION INVARIANCE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Augments input RGB tensor with normalized coordinates Cx, Cy ∈ [-1, 1] (forming 5 channels).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</a:defRPr>
            </a:pPr>
            <a:r>
              <a:t>SITE GEOMETRIC AXIOM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Forces kernels to learn anatomical priors: Helmets reside on worker heads (Cy &lt; 0), never on the ground.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6A34A"/>
                </a:solidFill>
              </a:defRPr>
            </a:pPr>
            <a:r>
              <a:t>FALSE ALARM SUPPRESSION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Eradicates &gt;28% of false alarms triggered by yellow buckets, safety cones, and caution signs on the floor.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TECHNICAL INNOVATION 3 · TINY TARGET SALIENCY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Innovation 3: BiFormer 2-Level Sparse Routing Attention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1069848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BiFormer_Sparse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703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EA580C"/>
                </a:solidFill>
              </a:defRPr>
            </a:pPr>
            <a:r>
              <a:t>REGION ROUTING (S×S)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Partitions feature maps into S x S regions (S=8), builds region affinity graph, filters Top-k (k=4).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</a:defRPr>
            </a:pPr>
            <a:r>
              <a:t>LINEAR COMPLEXITY O(HW)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Eliminates standard Transformer O(H²W²) bottleneck, preventing VRAM overflow on edge devices.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6A34A"/>
                </a:solidFill>
              </a:defRPr>
            </a:pPr>
            <a:r>
              <a:t>TINY TARGET SALIENCY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Prunes 80% background context, concentrating computation on distant helmet tokens, raising Recall to 91.33%.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TECHNICAL INNOVATION 4 · BOUNDING BOX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Innovation 4: Focal EIoU Loss &amp; Small Target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1069848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Focal_EIoU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703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EA580C"/>
                </a:solidFill>
              </a:defRPr>
            </a:pPr>
            <a:r>
              <a:t>DECOUPLED DIMENSION PENALTY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Replaces CIoU aspect ratio penalty with explicit independent width (dw) and height (dh) loss.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</a:defRPr>
            </a:pPr>
            <a:r>
              <a:t>FOCAL HARD-SAMPLE MINING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IoU^0.5 weighting amplifies gradients for heavily occluded helmets obscured by scaffolding.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5120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5193792"/>
            <a:ext cx="32004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6A34A"/>
                </a:solidFill>
              </a:defRPr>
            </a:pPr>
            <a:r>
              <a:t>MITIGATING 1:12 CLASS IMBALANCE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Combined with weighted BCE to prevent worker body instances from drowning helmet gradients.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3 · TECHNICAL AUTONOMY &amp; 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Independent Development: 4 Custom Mathematical Modules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6984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35608"/>
            <a:ext cx="411480" cy="320040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44752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37160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100% PURE PYTORCH CODE</a:t>
            </a:r>
          </a:p>
          <a:p>
            <a:pPr>
              <a:defRPr sz="950" b="1">
                <a:solidFill>
                  <a:srgbClr val="EA580C"/>
                </a:solidFill>
              </a:defRPr>
            </a:pPr>
            <a:r>
              <a:t>custom_ablation_modules.py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4173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Engineered from scratch 360 lines of native PyTorch code for CoordConv, RepConv, BiFormer, and Focal EIoU with zero external dependencies.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106984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578608"/>
            <a:ext cx="41148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87752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51460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PHYSICAL LOSS INTERVENTION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Physical File Hard-Patch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603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Bypassed PyTorch DDP process isolation on Kaggle via runtime file hard-patching to enforce exact custom loss computation.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20440"/>
            <a:ext cx="106984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721608"/>
            <a:ext cx="41148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30752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65760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PYTORCH 2.6 SECURITY BYPASS</a:t>
            </a:r>
          </a:p>
          <a:p>
            <a:pPr>
              <a:defRPr sz="950" b="1">
                <a:solidFill>
                  <a:srgbClr val="16A34A"/>
                </a:solidFill>
              </a:defRPr>
            </a:pPr>
            <a:r>
              <a:t>add_safe_globals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7033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Resolved PyTorch 2.6 weights_only=True deserialization failure across 117 custom tensor layers, enabling seamless checkpoint loading.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663440"/>
            <a:ext cx="106984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864607"/>
            <a:ext cx="411480" cy="320040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73752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80060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HARMONIZED PPE PROTOCOL</a:t>
            </a:r>
          </a:p>
          <a:p>
            <a:pPr>
              <a:defRPr sz="950" b="1">
                <a:solidFill>
                  <a:srgbClr val="D97706"/>
                </a:solidFill>
              </a:defRPr>
            </a:pPr>
            <a:r>
              <a:t>Harmonized PPE Benchmark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8463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Discovered and solved cross-dataset taxonomy conflict (full-body vs. head-only), restoring cross-domain helmet mAP to 97.03%.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897880"/>
            <a:ext cx="10698480" cy="54864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★ TECHNICAL AUTONOMY: Ultralytics serves as infrastructure; all 4 custom mathematical modules and low-level patches are 100% self-developed!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3 · DATA INTEGRITY &amp; BENCHMARK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 Engineering: Multi-Domain Harmonization &amp; Anomaly Cleaning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37160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PRIMARY IN-DOMAIN DATASET (VOC2028 / SHWD)</a:t>
            </a:r>
          </a:p>
          <a:p>
            <a:pPr>
              <a:spcAft>
                <a:spcPts val="600"/>
              </a:spcAft>
              <a:defRPr sz="1600" b="1">
                <a:solidFill>
                  <a:srgbClr val="0F172A"/>
                </a:solidFill>
              </a:defRPr>
            </a:pPr>
            <a:r>
              <a:t>7,581 Real Construction Images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Rigorous 80/20 Partitioning: </a:t>
            </a:r>
            <a:r>
              <a:rPr b="0">
                <a:solidFill>
                  <a:srgbClr val="334155"/>
                </a:solidFill>
              </a:rPr>
              <a:t>6,064 TrainVal images / 1,517 independent Test images (Zero Data Leakage).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Noise &amp; Anomaly Cleaning: </a:t>
            </a:r>
            <a:r>
              <a:rPr b="0">
                <a:solidFill>
                  <a:srgbClr val="334155"/>
                </a:solidFill>
              </a:rPr>
              <a:t>Detected and purged 3 corrupted XML annotations labeled as "dog" in image 000377.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Extreme Label Imbalance: </a:t>
            </a:r>
            <a:r>
              <a:rPr b="0">
                <a:solidFill>
                  <a:srgbClr val="334155"/>
                </a:solidFill>
              </a:rPr>
              <a:t>1:12 class ratio (9,044 helmet labels vs. 111,514 person body labels).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Multi-Scale Standardization: </a:t>
            </a:r>
            <a:r>
              <a:rPr b="0">
                <a:solidFill>
                  <a:srgbClr val="334155"/>
                </a:solidFill>
              </a:rPr>
              <a:t>960×960 native training resolution with 640×640 / 1024×1024 multi-scale scaling.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37160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5 CROSS-DOMAIN BENCHMARKS (&gt;25,000 IMAGES)</a:t>
            </a:r>
          </a:p>
          <a:p>
            <a:pPr>
              <a:spcAft>
                <a:spcPts val="600"/>
              </a:spcAft>
              <a:defRPr sz="1600" b="1">
                <a:solidFill>
                  <a:srgbClr val="0F172A"/>
                </a:solidFill>
              </a:defRPr>
            </a:pPr>
            <a:r>
              <a:t>Extreme Zero-Shot Generalization Test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GDUT-HWD (13,499 images): </a:t>
            </a:r>
            <a:r>
              <a:rPr b="0">
                <a:solidFill>
                  <a:srgbClr val="334155"/>
                </a:solidFill>
              </a:rPr>
              <a:t>Ultra-dense worker crowding (15–30 persons per camera frame).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SHEL5K (5,000 images): </a:t>
            </a:r>
            <a:r>
              <a:rPr b="0">
                <a:solidFill>
                  <a:srgbClr val="334155"/>
                </a:solidFill>
              </a:rPr>
              <a:t>Vertical drone overhead perspective (70–90°), tiny helmets &lt;15px.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Hard Hat Workers (7,000 images): </a:t>
            </a:r>
            <a:r>
              <a:rPr b="0">
                <a:solidFill>
                  <a:srgbClr val="334155"/>
                </a:solidFill>
              </a:rPr>
              <a:t>Outdoor surveillance under extreme natural lighting and shadows.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SHD &amp; SFCHD Benchmark: </a:t>
            </a:r>
            <a:r>
              <a:rPr b="0">
                <a:solidFill>
                  <a:srgbClr val="334155"/>
                </a:solidFill>
              </a:rPr>
              <a:t>Heavy industry metallurgical plants, oil refineries, and shipyards.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06440"/>
            <a:ext cx="106984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70448"/>
            <a:ext cx="1033272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★ UNIFIED LABEL TAXONOMY C* = {0: "hat" (Safety Helmet), 1: "person" (Worker Body)} — Fully synchronized across 33,000+ images!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EMPIRICAL VERIFICATION &amp; SCIENTIFIC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Ablation Study (A0–A6): Rigorous Component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43891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0233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A580C"/>
                </a:solidFill>
              </a:defRPr>
            </a:pPr>
            <a:r>
              <a:t>STEP-BY-STEP MODULE CONTRIBUTIONS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A0 (Baseline YOLO11s): </a:t>
            </a:r>
            <a:r>
              <a:rPr b="0">
                <a:solidFill>
                  <a:srgbClr val="334155"/>
                </a:solidFill>
              </a:rPr>
              <a:t>94.74% mAP50 · 6.52 ms latency.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A1 (+ P2 Small Head): </a:t>
            </a:r>
            <a:r>
              <a:rPr b="0">
                <a:solidFill>
                  <a:srgbClr val="334155"/>
                </a:solidFill>
              </a:rPr>
              <a:t>94.81% mAP50 · Latency surged to 8.94 ms (+37%) -&gt; Pruned as suboptimal.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A2 (+ CoordConv): </a:t>
            </a:r>
            <a:r>
              <a:rPr b="0">
                <a:solidFill>
                  <a:srgbClr val="334155"/>
                </a:solidFill>
              </a:rPr>
              <a:t>94.78% mAP50 · Spatial awareness without latency overhead.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A3 (+ RepConv): </a:t>
            </a:r>
            <a:r>
              <a:rPr b="0">
                <a:solidFill>
                  <a:srgbClr val="334155"/>
                </a:solidFill>
              </a:rPr>
              <a:t>94.81% mAP50 · Rich gradient representation in training.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A4 (+ Focal EIoU): </a:t>
            </a:r>
            <a:r>
              <a:rPr b="0">
                <a:solidFill>
                  <a:srgbClr val="334155"/>
                </a:solidFill>
              </a:rPr>
              <a:t>94.88% mAP50 · Precise bounding box regression for tiny objects.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A5 (+ BiFormer): </a:t>
            </a:r>
            <a:r>
              <a:rPr b="0">
                <a:solidFill>
                  <a:srgbClr val="334155"/>
                </a:solidFill>
              </a:rPr>
              <a:t>94.80% mAP50 · Peak helmet Recall reaching 91.15%.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A6 (Full Fusion): </a:t>
            </a:r>
            <a:r>
              <a:rPr b="0">
                <a:solidFill>
                  <a:srgbClr val="334155"/>
                </a:solidFill>
              </a:rPr>
              <a:t>94.83% mAP50 · Latency plummets to a record 2.92 ms!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234440"/>
            <a:ext cx="61264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6_ablation_A0_A6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371600"/>
            <a:ext cx="585216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0680" y="562356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Fig. 6: Empirical Ablation Tradeoff (A0-A6) — Re-parameterized W_fused slashes latency by 55.2% while retaining optimal detection accuracy.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SOTA BENCHMARKING &amp; PARETO DOMINANCE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State-of-the-Art Benchmarking: Pareto Frontier Dominance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43891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0233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A580C"/>
                </a:solidFill>
              </a:defRPr>
            </a:pPr>
            <a:r>
              <a:t>COMPETITIVE EDGE OF REP-YOLO11s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2.23x Faster than Baseline: </a:t>
            </a:r>
            <a:r>
              <a:rPr b="0">
                <a:solidFill>
                  <a:srgbClr val="334155"/>
                </a:solidFill>
              </a:rPr>
              <a:t>2.92 ms vs 6.52 ms on Tesla T4 (342.5 FPS throughput).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4.25x Faster than YOLO-CBF: </a:t>
            </a:r>
            <a:r>
              <a:rPr b="0">
                <a:solidFill>
                  <a:srgbClr val="334155"/>
                </a:solidFill>
              </a:rPr>
              <a:t>YOLO-CBF takes 12.4 ms (80.6 FPS); our model takes only 2.92 ms.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2x Faster than EC-YOLOv8: </a:t>
            </a:r>
            <a:r>
              <a:rPr b="0">
                <a:solidFill>
                  <a:srgbClr val="334155"/>
                </a:solidFill>
              </a:rPr>
              <a:t>EC-YOLOv8 reaches 172.4 FPS; our model achieves 342.5 FPS.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5-Fold Stratified Peak: </a:t>
            </a:r>
            <a:r>
              <a:rPr b="0">
                <a:solidFill>
                  <a:srgbClr val="334155"/>
                </a:solidFill>
              </a:rPr>
              <a:t>96.64% ± 0.32% mAP50, peak fold reaching 97.11% mAP50 and F1: 0.9396.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Top-Left Pareto Dominance: </a:t>
            </a:r>
            <a:r>
              <a:rPr b="0">
                <a:solidFill>
                  <a:srgbClr val="334155"/>
                </a:solidFill>
              </a:rPr>
              <a:t>Ideal benchmark quadrant: Highest detection accuracy at lowest forward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234440"/>
            <a:ext cx="61264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5_efficiency_frontier_latency_v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371600"/>
            <a:ext cx="585216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0680" y="562356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Fig. 5: Pareto Efficiency Frontier (Latency vs. mAP50-95) — Rep-YOLO11s establishes the new efficiency benchmark per millisecond of compute.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MODEL TRANSPARENCY &amp; EXPLAINABLE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Explainability (Grad-CAM XAI): Saliency &amp; Noise Suppression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40233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36576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A580C"/>
                </a:solidFill>
              </a:defRPr>
            </a:pPr>
            <a:r>
              <a:t>3 HARD INDUSTRIAL SCENARIOS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SCENARIO 1: REFLECTIVE ORANGE VEST</a:t>
            </a:r>
          </a:p>
          <a:p>
            <a:pPr>
              <a:spcAft>
                <a:spcPts val="400"/>
              </a:spcAft>
              <a:defRPr sz="919">
                <a:solidFill>
                  <a:srgbClr val="334155"/>
                </a:solidFill>
              </a:defRPr>
            </a:pPr>
            <a:r>
              <a:t>Baseline disperses gradient across torso and scaffolding; Rep-YOLO11s focuses exclusively on helmet dome (conf 0.84).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SCENARIO 2: SEVERE SPECULAR GLARE</a:t>
            </a:r>
          </a:p>
          <a:p>
            <a:pPr>
              <a:spcAft>
                <a:spcPts val="400"/>
              </a:spcAft>
              <a:defRPr sz="919">
                <a:solidFill>
                  <a:srgbClr val="334155"/>
                </a:solidFill>
              </a:defRPr>
            </a:pPr>
            <a:r>
              <a:t>Strong backlight obscures contrast; BiFormer maintains tight focus on the worker head (conf 0.89).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SCENARIO 3: YELLOW WARNING SIGN</a:t>
            </a:r>
          </a:p>
          <a:p>
            <a:pPr>
              <a:spcAft>
                <a:spcPts val="400"/>
              </a:spcAft>
              <a:defRPr sz="919">
                <a:solidFill>
                  <a:srgbClr val="334155"/>
                </a:solidFill>
              </a:defRPr>
            </a:pPr>
            <a:r>
              <a:t>Baseline misclassifies yellow caution sign as helmet; CoordConv coordinates correctly suppress false alarm on the floor!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234440"/>
            <a:ext cx="64922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_gradcam_xai_sali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353312"/>
            <a:ext cx="6217920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74920" y="562356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Fig. 3: Head-to-head Grad-CAM saliency comparison — (a) Input; (b) Baseline YOLO11s noise; (c) Rep-YOLO11s focused saliency; (d) Final detections.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CROSS-DOMAIN GENERALIZATION &amp;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Cross-Domain Generalization &amp; IoU Collapse Autopsy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32004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HARD HAT WORKERS (7,000 IMAGES)</a:t>
            </a:r>
          </a:p>
          <a:p>
            <a:pPr>
              <a:defRPr sz="2800" b="1">
                <a:solidFill>
                  <a:srgbClr val="16A34A"/>
                </a:solidFill>
              </a:defRPr>
            </a:pPr>
            <a:r>
              <a:t>97.03%</a:t>
            </a:r>
          </a:p>
          <a:p>
            <a:pPr>
              <a:spcAft>
                <a:spcPts val="200"/>
              </a:spcAft>
              <a:defRPr sz="900" b="1">
                <a:solidFill>
                  <a:srgbClr val="16A34A"/>
                </a:solidFill>
              </a:defRPr>
            </a:pPr>
            <a:r>
              <a:t>Harmonized PPE Protocol (Hat-Only)</a:t>
            </a:r>
          </a:p>
          <a:p>
            <a:pPr>
              <a:defRPr sz="880">
                <a:solidFill>
                  <a:srgbClr val="64748B"/>
                </a:solidFill>
              </a:defRPr>
            </a:pPr>
            <a:r>
              <a:t>Matches in-domain SHWD accuracy; perfect transfer of helmet visual features.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344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32004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GDUT-HWD (13,499 IMAGES)</a:t>
            </a:r>
          </a:p>
          <a:p>
            <a:pPr>
              <a:defRPr sz="2800" b="1">
                <a:solidFill>
                  <a:srgbClr val="2563EB"/>
                </a:solidFill>
              </a:defRPr>
            </a:pPr>
            <a:r>
              <a:t>74.27%</a:t>
            </a:r>
          </a:p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</a:defRPr>
            </a:pPr>
            <a:r>
              <a:t>Precision: 90.26% (15-30 workers/frame)</a:t>
            </a:r>
          </a:p>
          <a:p>
            <a:pPr>
              <a:defRPr sz="880">
                <a:solidFill>
                  <a:srgbClr val="64748B"/>
                </a:solidFill>
              </a:defRPr>
            </a:pPr>
            <a:r>
              <a:t>Exceptional resilience under extreme worker crowd density and mutual occlusion.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344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353312"/>
            <a:ext cx="32004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SHEL5K (5,000 DRONE IMAGES)</a:t>
            </a:r>
          </a:p>
          <a:p>
            <a:pPr>
              <a:defRPr sz="2800" b="1">
                <a:solidFill>
                  <a:srgbClr val="D97706"/>
                </a:solidFill>
              </a:defRPr>
            </a:pPr>
            <a:r>
              <a:t>41.15%</a:t>
            </a:r>
          </a:p>
          <a:p>
            <a:pPr>
              <a:spcAft>
                <a:spcPts val="200"/>
              </a:spcAft>
              <a:defRPr sz="900" b="1">
                <a:solidFill>
                  <a:srgbClr val="D97706"/>
                </a:solidFill>
              </a:defRPr>
            </a:pPr>
            <a:r>
              <a:t>Precision: 85.62% (90° vertical angle)</a:t>
            </a:r>
          </a:p>
          <a:p>
            <a:pPr>
              <a:defRPr sz="880">
                <a:solidFill>
                  <a:srgbClr val="64748B"/>
                </a:solidFill>
              </a:defRPr>
            </a:pPr>
            <a:r>
              <a:t>Model conservatively suppresses ground clutter rather than generating false alarms.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03320"/>
            <a:ext cx="106984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22191"/>
            <a:ext cx="1024128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EA580C"/>
                </a:solidFill>
              </a:defRPr>
            </a:pPr>
            <a:r>
              <a:t>MATHEMATICAL AUTOPSY: THE CROSS-DOMAIN IOU COLLAPSE</a:t>
            </a:r>
          </a:p>
          <a:p>
            <a:pPr>
              <a:defRPr sz="980" b="1">
                <a:solidFill>
                  <a:srgbClr val="0F172A"/>
                </a:solidFill>
              </a:defRPr>
            </a:pPr>
            <a:r>
              <a:t>• Academic Label Taxonomy Conflict: </a:t>
            </a:r>
            <a:r>
              <a:rPr b="0">
                <a:solidFill>
                  <a:srgbClr val="334155"/>
                </a:solidFill>
              </a:rPr>
              <a:t>The source SHWD dataset annotates "person" as FULL-BODY, while Hard Hat Workers annotates "person" as HEAD-ONLY.</a:t>
            </a:r>
          </a:p>
          <a:p>
            <a:pPr>
              <a:defRPr sz="980" b="1">
                <a:solidFill>
                  <a:srgbClr val="0F172A"/>
                </a:solidFill>
              </a:defRPr>
            </a:pPr>
            <a:r>
              <a:t>• Mathematical Degradation: </a:t>
            </a:r>
            <a:r>
              <a:rPr b="0">
                <a:solidFill>
                  <a:srgbClr val="334155"/>
                </a:solidFill>
              </a:rPr>
              <a:t>When the detector accurately identifies a full worker body, ground-truth is only the tiny head. Intersection IoU = Area(head) / Area(body) ≈ 0.07 – 0.14 &lt;&lt; 0.50! The model is penalized as both False Positive and False Negative, artificially dropping combined mAP to 74.40%.</a:t>
            </a:r>
          </a:p>
          <a:p>
            <a:pPr>
              <a:defRPr sz="980" b="1">
                <a:solidFill>
                  <a:srgbClr val="16A34A"/>
                </a:solidFill>
              </a:defRPr>
            </a:pPr>
            <a:r>
              <a:t>• Empirical Exoneration: </a:t>
            </a:r>
            <a:r>
              <a:rPr b="0">
                <a:solidFill>
                  <a:srgbClr val="334155"/>
                </a:solidFill>
              </a:rPr>
              <a:t>Evaluating under the Harmonized PPE Protocol (Hat-Only), mAP instantly surges to 97.03%, proving the learned visual representations are pristine!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REAL-WORLD DEPLOYMENT ON BUDGET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Edge Hardware Realization: Real-Time on 2GB MX230 Laptop GPU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32004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EA580C"/>
                </a:solidFill>
              </a:defRPr>
            </a:pPr>
            <a:r>
              <a:t>SERVER / CLUSTER GPU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NVIDIA Tesla T4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Latency: 2.92 ms</a:t>
            </a:r>
          </a:p>
          <a:p>
            <a:pPr>
              <a:spcAft>
                <a:spcPts val="300"/>
              </a:spcAft>
              <a:defRPr sz="2600" b="1">
                <a:solidFill>
                  <a:srgbClr val="EA580C"/>
                </a:solidFill>
              </a:defRPr>
            </a:pPr>
            <a:r>
              <a:t>342.5 FPS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TensorRT 11.2 FP16 · 640×640</a:t>
            </a:r>
            <a:br/>
            <a:r>
              <a:t>Handles 12 RTSP camera streams concurrently.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3444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32004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MID-RANGE LAPTOP GPU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RTX 3050 Laptop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Latency: 5.35 ms</a:t>
            </a:r>
          </a:p>
          <a:p>
            <a:pPr>
              <a:spcAft>
                <a:spcPts val="300"/>
              </a:spcAft>
              <a:defRPr sz="2600" b="1">
                <a:solidFill>
                  <a:srgbClr val="2563EB"/>
                </a:solidFill>
              </a:defRPr>
            </a:pPr>
            <a:r>
              <a:t>187.1 FPS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TensorRT 11.2 FP16 · 640×640</a:t>
            </a:r>
            <a:br/>
            <a:r>
              <a:t>Portable edge surveillance workstation.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34440"/>
            <a:ext cx="3474720" cy="2468880"/>
          </a:xfrm>
          <a:prstGeom prst="roundRect">
            <a:avLst/>
          </a:prstGeom>
          <a:solidFill>
            <a:srgbClr val="F0FDF4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353312"/>
            <a:ext cx="32004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</a:defRPr>
            </a:pPr>
            <a:r>
              <a:t>BUDGET OFFICE LAPTOP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GeForce MX230 (2GB VRAM)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Latency: 36.0 ms</a:t>
            </a:r>
          </a:p>
          <a:p>
            <a:pPr>
              <a:spcAft>
                <a:spcPts val="300"/>
              </a:spcAft>
              <a:defRPr sz="2600" b="1">
                <a:solidFill>
                  <a:srgbClr val="16A34A"/>
                </a:solidFill>
              </a:defRPr>
            </a:pPr>
            <a:r>
              <a:t>27.8 FPS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Native PyTorch FP32 · 640×640</a:t>
            </a:r>
            <a:br/>
            <a:r>
              <a:t>EXCEEDS 24 FPS CINEMATIC REAL-TIME!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06984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6908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16A34A"/>
                </a:solidFill>
              </a:defRPr>
            </a:pPr>
            <a:r>
              <a:t>ECONOMIC &amp; PRACTICAL VALUE OF GEFORCE MX230 (2GB VRAM) VERIFICATION</a:t>
            </a:r>
          </a:p>
          <a:p>
            <a:pPr>
              <a:defRPr sz="980" b="1">
                <a:solidFill>
                  <a:srgbClr val="0F172A"/>
                </a:solidFill>
              </a:defRPr>
            </a:pPr>
            <a:r>
              <a:t>• Breaking the Hardware Barrier: </a:t>
            </a:r>
            <a:r>
              <a:rPr b="0">
                <a:solidFill>
                  <a:srgbClr val="334155"/>
                </a:solidFill>
              </a:rPr>
              <a:t>NVIDIA GeForce MX230 is an entry-level Pascal-generation mobile GPU (2019) lacking Tensor Cores and constrained by a 2GB VRAM ceiling. Most modern deep learning models crash with CUDA Out-Of-Memory (OOM) or choke at &lt;10 FPS on this tier.</a:t>
            </a:r>
          </a:p>
          <a:p>
            <a:pPr>
              <a:defRPr sz="980" b="1">
                <a:solidFill>
                  <a:srgbClr val="16A34A"/>
                </a:solidFill>
              </a:defRPr>
            </a:pPr>
            <a:r>
              <a:t>• 100% Commercial Feasibility: </a:t>
            </a:r>
            <a:r>
              <a:rPr b="0">
                <a:solidFill>
                  <a:srgbClr val="334155"/>
                </a:solidFill>
              </a:rPr>
              <a:t>Rep-YOLO11s sustains 27.8 FPS with only 485 MB VRAM usage. Construction contractors can directly deploy safety surveillance on existing site laptops without investing thousands of dollars in dedicated server infrastructure!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PROTOTYPE DELIVERABLE · REAL-TIME SURVEILLANCE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End-to-End Industrial Multi-Stream RTSP Surveillance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106984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4_industrial_rtsp_surveillanc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166360"/>
            <a:ext cx="3474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2303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19" b="1">
                <a:solidFill>
                  <a:srgbClr val="EA580C"/>
                </a:solidFill>
              </a:defRPr>
            </a:pPr>
            <a:r>
              <a:t>HARDWARE H.264/H.265 DECODING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Independent multi-stream RTSP worker threads with ring buffer queue, decoding latency &lt; 4.5 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5166360"/>
            <a:ext cx="3474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52303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19" b="1">
                <a:solidFill>
                  <a:srgbClr val="2563EB"/>
                </a:solidFill>
              </a:defRPr>
            </a:pPr>
            <a:r>
              <a:t>ACCELERATED TENSORRT INFERENCE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Parallel letterboxing with 5-channel CoordConv injection; FP16 forward latency of 2.92–5.35 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5166360"/>
            <a:ext cx="3474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52303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19" b="1">
                <a:solidFill>
                  <a:srgbClr val="16A34A"/>
                </a:solidFill>
              </a:defRPr>
            </a:pPr>
            <a:r>
              <a:t>REAL-TIME ALERTING &amp; HUD STREAMING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Vectorized NMS filtering, bounding box HUD rendering, and violation logging at 65–95 FPS.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CAPSTONE ROADMAP · IT FACULTY - FPT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 Accomplishments &amp; Roadmap for Stages 2 –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371600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16A34A"/>
                </a:solidFill>
              </a:defRPr>
            </a:pPr>
            <a:r>
              <a:t>COMPLETED ENGINEERING MILESTONES</a:t>
            </a:r>
          </a:p>
          <a:p>
            <a:pPr>
              <a:spcAft>
                <a:spcPts val="600"/>
              </a:spcAft>
              <a:defRPr sz="1080" b="1">
                <a:solidFill>
                  <a:srgbClr val="0F172A"/>
                </a:solidFill>
              </a:defRPr>
            </a:pPr>
            <a:r>
              <a:t>STAGE 1 (COMPLETED ~90%)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48840"/>
            <a:ext cx="3145536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500"/>
              </a:spcAft>
              <a:defRPr sz="930" b="1">
                <a:solidFill>
                  <a:srgbClr val="0F172A"/>
                </a:solidFill>
              </a:defRPr>
            </a:pPr>
            <a:r>
              <a:t>✓ Mathematical foundations &amp; 4 custom modules formulated.</a:t>
            </a:r>
          </a:p>
          <a:p>
            <a:pPr>
              <a:spcAft>
                <a:spcPts val="500"/>
              </a:spcAft>
              <a:defRPr sz="930" b="1">
                <a:solidFill>
                  <a:srgbClr val="0F172A"/>
                </a:solidFill>
              </a:defRPr>
            </a:pPr>
            <a:r>
              <a:t>✓ Full A0–A6 ablation &amp; 5-Fold CV (97.11% peak) validated.</a:t>
            </a:r>
          </a:p>
          <a:p>
            <a:pPr>
              <a:spcAft>
                <a:spcPts val="500"/>
              </a:spcAft>
              <a:defRPr sz="930" b="1">
                <a:solidFill>
                  <a:srgbClr val="0F172A"/>
                </a:solidFill>
              </a:defRPr>
            </a:pPr>
            <a:r>
              <a:t>✓ Real-time feasibility confirmed on MX230 (27.8 FPS, 485MB).</a:t>
            </a:r>
          </a:p>
          <a:p>
            <a:pPr>
              <a:spcAft>
                <a:spcPts val="500"/>
              </a:spcAft>
              <a:defRPr sz="930" b="1">
                <a:solidFill>
                  <a:srgbClr val="0F172A"/>
                </a:solidFill>
              </a:defRPr>
            </a:pPr>
            <a:r>
              <a:t>✓ 9-page formal scientific research paper authored in LaTeX.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4747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371600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2563EB"/>
                </a:solidFill>
              </a:defRPr>
            </a:pPr>
            <a:r>
              <a:t>PLANNED CAPSTONE MILESTONES</a:t>
            </a:r>
          </a:p>
          <a:p>
            <a:pPr>
              <a:spcAft>
                <a:spcPts val="600"/>
              </a:spcAft>
              <a:defRPr sz="1080" b="1">
                <a:solidFill>
                  <a:srgbClr val="0F172A"/>
                </a:solidFill>
              </a:defRPr>
            </a:pPr>
            <a:r>
              <a:t>STAGE 2 (UPCOMING ROADMAP)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148840"/>
            <a:ext cx="3145536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Develop comprehensive Desktop GUI &amp; Web Admin Dashboard.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Integrate multi-camera RTSP concurrent stream manager.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Implement automated acoustic buzzer and instant email dispatch.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Deploy pilot trial on-site with industry partner.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34440"/>
            <a:ext cx="34747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371600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EA580C"/>
                </a:solidFill>
              </a:defRPr>
            </a:pPr>
            <a:r>
              <a:t>TERM CONCLUSION &amp; PUBLICATION</a:t>
            </a:r>
          </a:p>
          <a:p>
            <a:pPr>
              <a:spcAft>
                <a:spcPts val="600"/>
              </a:spcAft>
              <a:defRPr sz="1080" b="1">
                <a:solidFill>
                  <a:srgbClr val="0F172A"/>
                </a:solidFill>
              </a:defRPr>
            </a:pPr>
            <a:r>
              <a:t>STAGE 3 (FINAL DEFENSE)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148840"/>
            <a:ext cx="3145536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Execute Knowledge Distillation (YOLO11x teacher -&gt; s student).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Enhance extreme drone-view performance on SHEL5K.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Finalize formal Capstone Graduation Dossier.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Submit research paper to international computer vision venue.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1069848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8348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ACKNOWLEDGMENT &amp; DEFENSE READINESS</a:t>
            </a:r>
          </a:p>
          <a:p>
            <a:pPr>
              <a:spcAft>
                <a:spcPts val="300"/>
              </a:spcAft>
              <a:defRPr sz="1019">
                <a:solidFill>
                  <a:srgbClr val="334155"/>
                </a:solidFill>
              </a:defRPr>
            </a:pPr>
            <a:r>
              <a:t>The research team expresses sincere gratitude to M.Sc. Hai-Anh Vu for dedicated academic supervision and to the Defense Committee for your attention.</a:t>
            </a:r>
            <a:br/>
            <a:r>
              <a:t>We warmly welcome constructive feedback, critiques, and questions from the esteemed Committee members.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Presenter: Nhu Nguyen-Han (SE183644) · Dept. of Artificial Intelligence — FPT University Hanoi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