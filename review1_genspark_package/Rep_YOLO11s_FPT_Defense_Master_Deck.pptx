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5303520" cy="347472"/>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57200"/>
            <a:ext cx="5120640" cy="256032"/>
          </a:xfrm>
          <a:prstGeom prst="rect">
            <a:avLst/>
          </a:prstGeom>
          <a:noFill/>
        </p:spPr>
        <p:txBody>
          <a:bodyPr wrap="none" lIns="0" rIns="0" tIns="0" bIns="0">
            <a:spAutoFit/>
          </a:bodyPr>
          <a:lstStyle/>
          <a:p>
            <a:pPr>
              <a:defRPr sz="950" b="1">
                <a:solidFill>
                  <a:srgbClr val="EA580C"/>
                </a:solidFill>
              </a:defRPr>
            </a:pPr>
            <a:r>
              <a:t>ĐẠI HỌC FPT · BÁO CÁO TIẾN ĐỘ ĐỒ ÁN TỐT NGHIỆP KỸ SƯ AI</a:t>
            </a:r>
          </a:p>
        </p:txBody>
      </p:sp>
      <p:sp>
        <p:nvSpPr>
          <p:cNvPr id="5" name="TextBox 4"/>
          <p:cNvSpPr txBox="1"/>
          <p:nvPr/>
        </p:nvSpPr>
        <p:spPr>
          <a:xfrm>
            <a:off x="731520" y="960120"/>
            <a:ext cx="6858000" cy="1005840"/>
          </a:xfrm>
          <a:prstGeom prst="rect">
            <a:avLst/>
          </a:prstGeom>
          <a:noFill/>
        </p:spPr>
        <p:txBody>
          <a:bodyPr wrap="none" lIns="0" rIns="0" tIns="0" bIns="0">
            <a:spAutoFit/>
          </a:bodyPr>
          <a:lstStyle/>
          <a:p>
            <a:pPr>
              <a:defRPr sz="4400" b="1">
                <a:solidFill>
                  <a:srgbClr val="0F172A"/>
                </a:solidFill>
              </a:defRPr>
            </a:pPr>
            <a:r>
              <a:t>Rep-YOLO11s</a:t>
            </a:r>
          </a:p>
        </p:txBody>
      </p:sp>
      <p:sp>
        <p:nvSpPr>
          <p:cNvPr id="6" name="TextBox 5"/>
          <p:cNvSpPr txBox="1"/>
          <p:nvPr/>
        </p:nvSpPr>
        <p:spPr>
          <a:xfrm>
            <a:off x="731520" y="2011680"/>
            <a:ext cx="6858000" cy="1188720"/>
          </a:xfrm>
          <a:prstGeom prst="rect">
            <a:avLst/>
          </a:prstGeom>
          <a:noFill/>
        </p:spPr>
        <p:txBody>
          <a:bodyPr wrap="square" lIns="0" rIns="0" tIns="0" bIns="0">
            <a:spAutoFit/>
          </a:bodyPr>
          <a:lstStyle/>
          <a:p>
            <a:pPr>
              <a:defRPr sz="1400" b="1">
                <a:solidFill>
                  <a:srgbClr val="64748B"/>
                </a:solidFill>
              </a:defRPr>
            </a:pPr>
            <a:r>
              <a:t>Phát Hiện Mũ Bảo Hộ Thời Gian Thực Trong Giám Sát Công Trường:</a:t>
            </a:r>
            <a:br/>
            <a:r>
              <a:t>Tái Tham Số Hóa Cấu Trúc, Mã Hóa Tọa Độ &amp; Khái Quát Hóa Đa Miền</a:t>
            </a:r>
          </a:p>
        </p:txBody>
      </p:sp>
      <p:sp>
        <p:nvSpPr>
          <p:cNvPr id="7" name="Rounded Rectangle 6"/>
          <p:cNvSpPr/>
          <p:nvPr/>
        </p:nvSpPr>
        <p:spPr>
          <a:xfrm>
            <a:off x="7772400" y="960120"/>
            <a:ext cx="3657600" cy="310896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097280"/>
            <a:ext cx="3200400" cy="2834640"/>
          </a:xfrm>
          <a:prstGeom prst="rect">
            <a:avLst/>
          </a:prstGeom>
          <a:noFill/>
        </p:spPr>
        <p:txBody>
          <a:bodyPr wrap="square" lIns="0" rIns="0" tIns="0" bIns="0">
            <a:spAutoFit/>
          </a:bodyPr>
          <a:lstStyle/>
          <a:p>
            <a:pPr>
              <a:defRPr sz="1100" b="1">
                <a:solidFill>
                  <a:srgbClr val="EA580C"/>
                </a:solidFill>
              </a:defRPr>
            </a:pPr>
            <a:r>
              <a:t>ĐỈNH 5-FOLD CV mAP50</a:t>
            </a:r>
          </a:p>
          <a:p>
            <a:pPr>
              <a:defRPr sz="3600" b="1">
                <a:solidFill>
                  <a:srgbClr val="0F172A"/>
                </a:solidFill>
              </a:defRPr>
            </a:pPr>
            <a:r>
              <a:t>97.11%</a:t>
            </a:r>
          </a:p>
          <a:p>
            <a:pPr>
              <a:spcAft>
                <a:spcPts val="600"/>
              </a:spcAft>
              <a:defRPr sz="950" b="1">
                <a:solidFill>
                  <a:srgbClr val="16A34A"/>
                </a:solidFill>
              </a:defRPr>
            </a:pPr>
            <a:r>
              <a:t>✓ Vượt trội Baseline YOLO11s (+0.47% mAP50)</a:t>
            </a:r>
          </a:p>
          <a:p>
            <a:pPr>
              <a:defRPr sz="919">
                <a:solidFill>
                  <a:srgbClr val="64748B"/>
                </a:solidFill>
              </a:defRPr>
            </a:pPr>
            <a:r>
              <a:t>• Độ trễ Tesla T4: </a:t>
            </a:r>
            <a:r>
              <a:rPr b="1">
                <a:solidFill>
                  <a:srgbClr val="0F172A"/>
                </a:solidFill>
              </a:rPr>
              <a:t>2.92 ms (342.5 FPS)</a:t>
            </a:r>
          </a:p>
          <a:p>
            <a:pPr>
              <a:defRPr sz="919">
                <a:solidFill>
                  <a:srgbClr val="64748B"/>
                </a:solidFill>
              </a:defRPr>
            </a:pPr>
            <a:r>
              <a:t>• Độ trễ RTX 3050: </a:t>
            </a:r>
            <a:r>
              <a:rPr b="1">
                <a:solidFill>
                  <a:srgbClr val="0F172A"/>
                </a:solidFill>
              </a:rPr>
              <a:t>5.35 ms (187.1 FPS)</a:t>
            </a:r>
          </a:p>
          <a:p>
            <a:pPr>
              <a:defRPr sz="919">
                <a:solidFill>
                  <a:srgbClr val="64748B"/>
                </a:solidFill>
              </a:defRPr>
            </a:pPr>
            <a:r>
              <a:t>• Laptop rẻ MX230 (2GB): </a:t>
            </a:r>
            <a:r>
              <a:rPr b="1">
                <a:solidFill>
                  <a:srgbClr val="0F172A"/>
                </a:solidFill>
              </a:rPr>
              <a:t>36.0 ms (27.8 FPS)</a:t>
            </a:r>
          </a:p>
          <a:p>
            <a:pPr>
              <a:defRPr sz="919">
                <a:solidFill>
                  <a:srgbClr val="64748B"/>
                </a:solidFill>
              </a:defRPr>
            </a:pPr>
            <a:r>
              <a:t>• Tập dữ liệu chuẩn hóa: </a:t>
            </a:r>
            <a:r>
              <a:rPr b="1">
                <a:solidFill>
                  <a:srgbClr val="0F172A"/>
                </a:solidFill>
              </a:rPr>
              <a:t>&gt; 33,000 ảnh đa miền</a:t>
            </a:r>
          </a:p>
        </p:txBody>
      </p:sp>
      <p:sp>
        <p:nvSpPr>
          <p:cNvPr id="9" name="Rounded Rectangle 8"/>
          <p:cNvSpPr/>
          <p:nvPr/>
        </p:nvSpPr>
        <p:spPr>
          <a:xfrm>
            <a:off x="731520" y="42519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4370832"/>
            <a:ext cx="3145536" cy="1874519"/>
          </a:xfrm>
          <a:prstGeom prst="rect">
            <a:avLst/>
          </a:prstGeom>
          <a:noFill/>
        </p:spPr>
        <p:txBody>
          <a:bodyPr wrap="square" lIns="0" rIns="0" tIns="0" bIns="0">
            <a:spAutoFit/>
          </a:bodyPr>
          <a:lstStyle/>
          <a:p>
            <a:pPr>
              <a:defRPr sz="1000" b="1">
                <a:solidFill>
                  <a:srgbClr val="EA580C"/>
                </a:solidFill>
              </a:defRPr>
            </a:pPr>
            <a:r>
              <a:t>NHÓM NGHIÊN CỨU</a:t>
            </a:r>
          </a:p>
          <a:p>
            <a:pPr>
              <a:spcAft>
                <a:spcPts val="400"/>
              </a:spcAft>
              <a:defRPr sz="1050" b="1">
                <a:solidFill>
                  <a:srgbClr val="0F172A"/>
                </a:solidFill>
              </a:defRPr>
            </a:pPr>
            <a:r>
              <a:t>Nguyễn Hàn Như · SE183644 (Trưởng nhóm)</a:t>
            </a:r>
            <a:br/>
            <a:r>
              <a:t>Nguyễn Văn Thành · SE183645</a:t>
            </a:r>
            <a:br/>
            <a:r>
              <a:t>Nguyễn Tuấn Dũng · SE183646</a:t>
            </a:r>
          </a:p>
          <a:p>
            <a:pPr>
              <a:defRPr sz="900">
                <a:solidFill>
                  <a:srgbClr val="64748B"/>
                </a:solidFill>
              </a:defRPr>
            </a:pPr>
            <a:r>
              <a:t>Phụ trách: Mô hình, Tối ưu hóa TensorRT &amp; Pipeline RTSP</a:t>
            </a:r>
          </a:p>
        </p:txBody>
      </p:sp>
      <p:sp>
        <p:nvSpPr>
          <p:cNvPr id="11" name="Rounded Rectangle 10"/>
          <p:cNvSpPr/>
          <p:nvPr/>
        </p:nvSpPr>
        <p:spPr>
          <a:xfrm>
            <a:off x="4389120" y="42519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4370832"/>
            <a:ext cx="3145536" cy="1874519"/>
          </a:xfrm>
          <a:prstGeom prst="rect">
            <a:avLst/>
          </a:prstGeom>
          <a:noFill/>
        </p:spPr>
        <p:txBody>
          <a:bodyPr wrap="square" lIns="0" rIns="0" tIns="0" bIns="0">
            <a:spAutoFit/>
          </a:bodyPr>
          <a:lstStyle/>
          <a:p>
            <a:pPr>
              <a:defRPr sz="1000" b="1">
                <a:solidFill>
                  <a:srgbClr val="2563EB"/>
                </a:solidFill>
              </a:defRPr>
            </a:pPr>
            <a:r>
              <a:t>GIẢNG VIÊN HƯỚNG DẪN</a:t>
            </a:r>
          </a:p>
          <a:p>
            <a:pPr>
              <a:spcAft>
                <a:spcPts val="400"/>
              </a:spcAft>
              <a:defRPr sz="1050" b="1">
                <a:solidFill>
                  <a:srgbClr val="0F172A"/>
                </a:solidFill>
              </a:defRPr>
            </a:pPr>
            <a:r>
              <a:t>ThS. Vũ Hải Anh (anhvh@fe.edu.vn)</a:t>
            </a:r>
            <a:br/>
            <a:r>
              <a:t>Bộ môn Trí tuệ Nhân tạo — Khoa CNTT</a:t>
            </a:r>
            <a:br/>
            <a:r>
              <a:t>Trường Đại học FPT Hà Nội</a:t>
            </a:r>
          </a:p>
          <a:p>
            <a:pPr>
              <a:defRPr sz="900">
                <a:solidFill>
                  <a:srgbClr val="64748B"/>
                </a:solidFill>
              </a:defRPr>
            </a:pPr>
            <a:r>
              <a:t>Định hướng: Nghiên cứu ứng dụng công nghiệp chất lượng cao</a:t>
            </a:r>
          </a:p>
        </p:txBody>
      </p:sp>
      <p:sp>
        <p:nvSpPr>
          <p:cNvPr id="13" name="Rounded Rectangle 12"/>
          <p:cNvSpPr/>
          <p:nvPr/>
        </p:nvSpPr>
        <p:spPr>
          <a:xfrm>
            <a:off x="8046720" y="42519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4370832"/>
            <a:ext cx="3145536" cy="1874519"/>
          </a:xfrm>
          <a:prstGeom prst="rect">
            <a:avLst/>
          </a:prstGeom>
          <a:noFill/>
        </p:spPr>
        <p:txBody>
          <a:bodyPr wrap="square" lIns="0" rIns="0" tIns="0" bIns="0">
            <a:spAutoFit/>
          </a:bodyPr>
          <a:lstStyle/>
          <a:p>
            <a:pPr>
              <a:defRPr sz="1000" b="1">
                <a:solidFill>
                  <a:srgbClr val="16A34A"/>
                </a:solidFill>
              </a:defRPr>
            </a:pPr>
            <a:r>
              <a:t>ĐỊNH HƯỚNG CÔNG BỐ</a:t>
            </a:r>
          </a:p>
          <a:p>
            <a:pPr>
              <a:spcAft>
                <a:spcPts val="400"/>
              </a:spcAft>
              <a:defRPr sz="1050" b="1">
                <a:solidFill>
                  <a:srgbClr val="0F172A"/>
                </a:solidFill>
              </a:defRPr>
            </a:pPr>
            <a:r>
              <a:t>Kỷ Yếu / Tạp Chí Quốc Tế Hạng Q1</a:t>
            </a:r>
            <a:br/>
            <a:r>
              <a:t>Chuyên ngành Tin học Công nghiệp</a:t>
            </a:r>
            <a:br/>
            <a:r>
              <a:t>&amp; Thị giác Máy tính</a:t>
            </a:r>
          </a:p>
          <a:p>
            <a:pPr>
              <a:defRPr sz="900">
                <a:solidFill>
                  <a:srgbClr val="64748B"/>
                </a:solidFill>
              </a:defRPr>
            </a:pPr>
            <a:r>
              <a:t>Chuẩn mực: Toán học giải tích, thực nghiệm kiểm chứng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1 · MỤC TIÊU ĐỀ TÀI &amp; TÍNH CẤP THIẾT</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02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Bối Cảnh Thực Tế Công Trường &amp; 4 Nút Thắt Kỹ Thuật</a:t>
            </a:r>
          </a:p>
        </p:txBody>
      </p:sp>
      <p:sp>
        <p:nvSpPr>
          <p:cNvPr id="6" name="Rounded Rectangle 5"/>
          <p:cNvSpPr/>
          <p:nvPr/>
        </p:nvSpPr>
        <p:spPr>
          <a:xfrm>
            <a:off x="731520" y="1234440"/>
            <a:ext cx="5120640"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371600"/>
            <a:ext cx="411480" cy="320040"/>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80744"/>
            <a:ext cx="411480" cy="320040"/>
          </a:xfrm>
          <a:prstGeom prst="rect">
            <a:avLst/>
          </a:prstGeom>
          <a:noFill/>
        </p:spPr>
        <p:txBody>
          <a:bodyPr wrap="none" lIns="0" rIns="0" tIns="0" bIns="0">
            <a:spAutoFit/>
          </a:bodyPr>
          <a:lstStyle/>
          <a:p>
            <a:pPr algn="ctr">
              <a:defRPr sz="1100" b="1">
                <a:solidFill>
                  <a:srgbClr val="FFFFFF"/>
                </a:solidFill>
              </a:defRPr>
            </a:pPr>
            <a:r>
              <a:t>01</a:t>
            </a:r>
          </a:p>
        </p:txBody>
      </p:sp>
      <p:sp>
        <p:nvSpPr>
          <p:cNvPr id="9" name="TextBox 8"/>
          <p:cNvSpPr txBox="1"/>
          <p:nvPr/>
        </p:nvSpPr>
        <p:spPr>
          <a:xfrm>
            <a:off x="1389888" y="1344168"/>
            <a:ext cx="4297680" cy="960120"/>
          </a:xfrm>
          <a:prstGeom prst="rect">
            <a:avLst/>
          </a:prstGeom>
          <a:noFill/>
        </p:spPr>
        <p:txBody>
          <a:bodyPr wrap="square" lIns="0" rIns="0" tIns="0" bIns="0">
            <a:spAutoFit/>
          </a:bodyPr>
          <a:lstStyle/>
          <a:p>
            <a:pPr>
              <a:defRPr sz="1150" b="1">
                <a:solidFill>
                  <a:srgbClr val="0F172A"/>
                </a:solidFill>
              </a:defRPr>
            </a:pPr>
            <a:r>
              <a:t>Vi Vật Thể Từ Xa (&lt;20 px)</a:t>
            </a:r>
          </a:p>
          <a:p>
            <a:pPr>
              <a:defRPr sz="919">
                <a:solidFill>
                  <a:srgbClr val="334155"/>
                </a:solidFill>
              </a:defRPr>
            </a:pPr>
            <a:r>
              <a:t>Camera góc cao 15–30m, mũ bị mờ nhòe và biến mất qua các tầng trích xuất sâu.</a:t>
            </a:r>
          </a:p>
        </p:txBody>
      </p:sp>
      <p:sp>
        <p:nvSpPr>
          <p:cNvPr id="10" name="Rounded Rectangle 9"/>
          <p:cNvSpPr/>
          <p:nvPr/>
        </p:nvSpPr>
        <p:spPr>
          <a:xfrm>
            <a:off x="731520" y="2468880"/>
            <a:ext cx="5120640"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606040"/>
            <a:ext cx="411480" cy="320040"/>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15184"/>
            <a:ext cx="411480" cy="320040"/>
          </a:xfrm>
          <a:prstGeom prst="rect">
            <a:avLst/>
          </a:prstGeom>
          <a:noFill/>
        </p:spPr>
        <p:txBody>
          <a:bodyPr wrap="none" lIns="0" rIns="0" tIns="0" bIns="0">
            <a:spAutoFit/>
          </a:bodyPr>
          <a:lstStyle/>
          <a:p>
            <a:pPr algn="ctr">
              <a:defRPr sz="1100" b="1">
                <a:solidFill>
                  <a:srgbClr val="FFFFFF"/>
                </a:solidFill>
              </a:defRPr>
            </a:pPr>
            <a:r>
              <a:t>02</a:t>
            </a:r>
          </a:p>
        </p:txBody>
      </p:sp>
      <p:sp>
        <p:nvSpPr>
          <p:cNvPr id="13" name="TextBox 12"/>
          <p:cNvSpPr txBox="1"/>
          <p:nvPr/>
        </p:nvSpPr>
        <p:spPr>
          <a:xfrm>
            <a:off x="1389888" y="2578608"/>
            <a:ext cx="4297680" cy="960120"/>
          </a:xfrm>
          <a:prstGeom prst="rect">
            <a:avLst/>
          </a:prstGeom>
          <a:noFill/>
        </p:spPr>
        <p:txBody>
          <a:bodyPr wrap="square" lIns="0" rIns="0" tIns="0" bIns="0">
            <a:spAutoFit/>
          </a:bodyPr>
          <a:lstStyle/>
          <a:p>
            <a:pPr>
              <a:defRPr sz="1150" b="1">
                <a:solidFill>
                  <a:srgbClr val="0F172A"/>
                </a:solidFill>
              </a:defRPr>
            </a:pPr>
            <a:r>
              <a:t>Mất Cân Bằng Nhãn (1:12)</a:t>
            </a:r>
          </a:p>
          <a:p>
            <a:pPr>
              <a:defRPr sz="919">
                <a:solidFill>
                  <a:srgbClr val="334155"/>
                </a:solidFill>
              </a:defRPr>
            </a:pPr>
            <a:r>
              <a:t>9,044 mũ bảo hộ đối đầu 111,514 thân người, gradient lớp người áp đảo hoàn toàn.</a:t>
            </a:r>
          </a:p>
        </p:txBody>
      </p:sp>
      <p:sp>
        <p:nvSpPr>
          <p:cNvPr id="14" name="Rounded Rectangle 13"/>
          <p:cNvSpPr/>
          <p:nvPr/>
        </p:nvSpPr>
        <p:spPr>
          <a:xfrm>
            <a:off x="731520" y="3703320"/>
            <a:ext cx="5120640"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840480"/>
            <a:ext cx="411480" cy="32004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49624"/>
            <a:ext cx="411480" cy="320040"/>
          </a:xfrm>
          <a:prstGeom prst="rect">
            <a:avLst/>
          </a:prstGeom>
          <a:noFill/>
        </p:spPr>
        <p:txBody>
          <a:bodyPr wrap="none" lIns="0" rIns="0" tIns="0" bIns="0">
            <a:spAutoFit/>
          </a:bodyPr>
          <a:lstStyle/>
          <a:p>
            <a:pPr algn="ctr">
              <a:defRPr sz="1100" b="1">
                <a:solidFill>
                  <a:srgbClr val="FFFFFF"/>
                </a:solidFill>
              </a:defRPr>
            </a:pPr>
            <a:r>
              <a:t>03</a:t>
            </a:r>
          </a:p>
        </p:txBody>
      </p:sp>
      <p:sp>
        <p:nvSpPr>
          <p:cNvPr id="17" name="TextBox 16"/>
          <p:cNvSpPr txBox="1"/>
          <p:nvPr/>
        </p:nvSpPr>
        <p:spPr>
          <a:xfrm>
            <a:off x="1389888" y="3813048"/>
            <a:ext cx="4297680" cy="960120"/>
          </a:xfrm>
          <a:prstGeom prst="rect">
            <a:avLst/>
          </a:prstGeom>
          <a:noFill/>
        </p:spPr>
        <p:txBody>
          <a:bodyPr wrap="square" lIns="0" rIns="0" tIns="0" bIns="0">
            <a:spAutoFit/>
          </a:bodyPr>
          <a:lstStyle/>
          <a:p>
            <a:pPr>
              <a:defRPr sz="1150" b="1">
                <a:solidFill>
                  <a:srgbClr val="0F172A"/>
                </a:solidFill>
              </a:defRPr>
            </a:pPr>
            <a:r>
              <a:t>Nhiễu Màu Sắc &amp; Báo Động Giả</a:t>
            </a:r>
          </a:p>
          <a:p>
            <a:pPr>
              <a:defRPr sz="919">
                <a:solidFill>
                  <a:srgbClr val="334155"/>
                </a:solidFill>
              </a:defRPr>
            </a:pPr>
            <a:r>
              <a:t>Xô vữa vàng, cọc tiêu, biển báo nguy hiểm bị nhận diện nhầm do CNN bất biến tịnh tiến.</a:t>
            </a:r>
          </a:p>
        </p:txBody>
      </p:sp>
      <p:sp>
        <p:nvSpPr>
          <p:cNvPr id="18" name="Rounded Rectangle 17"/>
          <p:cNvSpPr/>
          <p:nvPr/>
        </p:nvSpPr>
        <p:spPr>
          <a:xfrm>
            <a:off x="731520" y="4937760"/>
            <a:ext cx="5120640" cy="1143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5074920"/>
            <a:ext cx="411480" cy="320040"/>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84064"/>
            <a:ext cx="411480" cy="320040"/>
          </a:xfrm>
          <a:prstGeom prst="rect">
            <a:avLst/>
          </a:prstGeom>
          <a:noFill/>
        </p:spPr>
        <p:txBody>
          <a:bodyPr wrap="none" lIns="0" rIns="0" tIns="0" bIns="0">
            <a:spAutoFit/>
          </a:bodyPr>
          <a:lstStyle/>
          <a:p>
            <a:pPr algn="ctr">
              <a:defRPr sz="1100" b="1">
                <a:solidFill>
                  <a:srgbClr val="FFFFFF"/>
                </a:solidFill>
              </a:defRPr>
            </a:pPr>
            <a:r>
              <a:t>04</a:t>
            </a:r>
          </a:p>
        </p:txBody>
      </p:sp>
      <p:sp>
        <p:nvSpPr>
          <p:cNvPr id="21" name="TextBox 20"/>
          <p:cNvSpPr txBox="1"/>
          <p:nvPr/>
        </p:nvSpPr>
        <p:spPr>
          <a:xfrm>
            <a:off x="1389888" y="5047488"/>
            <a:ext cx="4297680" cy="960120"/>
          </a:xfrm>
          <a:prstGeom prst="rect">
            <a:avLst/>
          </a:prstGeom>
          <a:noFill/>
        </p:spPr>
        <p:txBody>
          <a:bodyPr wrap="square" lIns="0" rIns="0" tIns="0" bIns="0">
            <a:spAutoFit/>
          </a:bodyPr>
          <a:lstStyle/>
          <a:p>
            <a:pPr>
              <a:defRPr sz="1150" b="1">
                <a:solidFill>
                  <a:srgbClr val="0F172A"/>
                </a:solidFill>
              </a:defRPr>
            </a:pPr>
            <a:r>
              <a:t>Rào Cản Phần Cứng Biên</a:t>
            </a:r>
          </a:p>
          <a:p>
            <a:pPr>
              <a:defRPr sz="919">
                <a:solidFill>
                  <a:srgbClr val="334155"/>
                </a:solidFill>
              </a:defRPr>
            </a:pPr>
            <a:r>
              <a:t>Đòi hỏi &gt;= 25 FPS thời gian thực trên laptop/GPU giá rẻ, không dùng cụm server đắt đỏ.</a:t>
            </a:r>
          </a:p>
        </p:txBody>
      </p:sp>
      <p:sp>
        <p:nvSpPr>
          <p:cNvPr id="22" name="Rounded Rectangle 21"/>
          <p:cNvSpPr/>
          <p:nvPr/>
        </p:nvSpPr>
        <p:spPr>
          <a:xfrm>
            <a:off x="6126480" y="1234440"/>
            <a:ext cx="53035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g1_site_overview_challenges.jpg"/>
          <p:cNvPicPr>
            <a:picLocks noChangeAspect="1"/>
          </p:cNvPicPr>
          <p:nvPr/>
        </p:nvPicPr>
        <p:blipFill>
          <a:blip r:embed="rId2"/>
          <a:stretch>
            <a:fillRect/>
          </a:stretch>
        </p:blipFill>
        <p:spPr>
          <a:xfrm>
            <a:off x="6263640" y="1371600"/>
            <a:ext cx="5029200" cy="4023360"/>
          </a:xfrm>
          <a:prstGeom prst="rect">
            <a:avLst/>
          </a:prstGeom>
        </p:spPr>
      </p:pic>
      <p:sp>
        <p:nvSpPr>
          <p:cNvPr id="24" name="TextBox 23"/>
          <p:cNvSpPr txBox="1"/>
          <p:nvPr/>
        </p:nvSpPr>
        <p:spPr>
          <a:xfrm>
            <a:off x="6263640" y="5486400"/>
            <a:ext cx="5029200" cy="457200"/>
          </a:xfrm>
          <a:prstGeom prst="rect">
            <a:avLst/>
          </a:prstGeom>
          <a:noFill/>
        </p:spPr>
        <p:txBody>
          <a:bodyPr wrap="square" lIns="0" rIns="0" tIns="0" bIns="0">
            <a:spAutoFit/>
          </a:bodyPr>
          <a:lstStyle/>
          <a:p>
            <a:pPr>
              <a:defRPr sz="850">
                <a:solidFill>
                  <a:srgbClr val="64748B"/>
                </a:solidFill>
              </a:defRPr>
            </a:pPr>
            <a:r>
              <a:t>Hình 1: Hiện trường công trường thực tế — Góc quay camera trên cao, vi vật thể nhỏ, công nhân bị giàn giáo che khuất và bề mặt bê tông gây lóa sáng.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3 · TÍNH KHẢ THI &amp; CƠ SỞ KHOA HỌC</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03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Khảo Sát 32 Công Trình Quốc Tế &amp; Khoảng Trống Nghiên Cứu</a:t>
            </a:r>
          </a:p>
        </p:txBody>
      </p:sp>
      <p:sp>
        <p:nvSpPr>
          <p:cNvPr id="6" name="Rounded Rectangle 5"/>
          <p:cNvSpPr/>
          <p:nvPr/>
        </p:nvSpPr>
        <p:spPr>
          <a:xfrm>
            <a:off x="731520" y="1234440"/>
            <a:ext cx="10698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44168"/>
            <a:ext cx="2743200" cy="548640"/>
          </a:xfrm>
          <a:prstGeom prst="rect">
            <a:avLst/>
          </a:prstGeom>
          <a:noFill/>
        </p:spPr>
        <p:txBody>
          <a:bodyPr wrap="square" lIns="0" rIns="0" tIns="0" bIns="0">
            <a:spAutoFit/>
          </a:bodyPr>
          <a:lstStyle/>
          <a:p>
            <a:pPr>
              <a:defRPr sz="1100" b="1">
                <a:solidFill>
                  <a:srgbClr val="0F172A"/>
                </a:solidFill>
              </a:defRPr>
            </a:pPr>
            <a:r>
              <a:t>YOLOv8 / YOLO11 Gốc</a:t>
            </a:r>
          </a:p>
        </p:txBody>
      </p:sp>
      <p:sp>
        <p:nvSpPr>
          <p:cNvPr id="8" name="TextBox 7"/>
          <p:cNvSpPr txBox="1"/>
          <p:nvPr/>
        </p:nvSpPr>
        <p:spPr>
          <a:xfrm>
            <a:off x="3749039" y="1344168"/>
            <a:ext cx="2103120" cy="548640"/>
          </a:xfrm>
          <a:prstGeom prst="rect">
            <a:avLst/>
          </a:prstGeom>
          <a:noFill/>
        </p:spPr>
        <p:txBody>
          <a:bodyPr wrap="square" lIns="0" rIns="0" tIns="0" bIns="0">
            <a:spAutoFit/>
          </a:bodyPr>
          <a:lstStyle/>
          <a:p>
            <a:pPr>
              <a:defRPr sz="1000" b="1">
                <a:solidFill>
                  <a:srgbClr val="0F172A"/>
                </a:solidFill>
              </a:defRPr>
            </a:pPr>
            <a:r>
              <a:t>mAP50: 94.74% mAP50</a:t>
            </a:r>
          </a:p>
          <a:p>
            <a:pPr>
              <a:defRPr sz="900">
                <a:solidFill>
                  <a:srgbClr val="64748B"/>
                </a:solidFill>
              </a:defRPr>
            </a:pPr>
            <a:r>
              <a:t>Độ trễ: 6.52 ms (153.3 FPS)</a:t>
            </a:r>
          </a:p>
        </p:txBody>
      </p:sp>
      <p:sp>
        <p:nvSpPr>
          <p:cNvPr id="9" name="TextBox 8"/>
          <p:cNvSpPr txBox="1"/>
          <p:nvPr/>
        </p:nvSpPr>
        <p:spPr>
          <a:xfrm>
            <a:off x="5943600" y="1344168"/>
            <a:ext cx="5303520" cy="548640"/>
          </a:xfrm>
          <a:prstGeom prst="rect">
            <a:avLst/>
          </a:prstGeom>
          <a:noFill/>
        </p:spPr>
        <p:txBody>
          <a:bodyPr wrap="square" lIns="0" rIns="0" tIns="0" bIns="0">
            <a:spAutoFit/>
          </a:bodyPr>
          <a:lstStyle/>
          <a:p>
            <a:pPr>
              <a:defRPr sz="950">
                <a:solidFill>
                  <a:srgbClr val="334155"/>
                </a:solidFill>
              </a:defRPr>
            </a:pPr>
            <a:r>
              <a:t>Tốc độ tốt nhưng thiếu nhận biết tọa độ; báo động giả nhiều ở xô vữa mặt đất.</a:t>
            </a:r>
          </a:p>
        </p:txBody>
      </p:sp>
      <p:sp>
        <p:nvSpPr>
          <p:cNvPr id="10" name="Rounded Rectangle 9"/>
          <p:cNvSpPr/>
          <p:nvPr/>
        </p:nvSpPr>
        <p:spPr>
          <a:xfrm>
            <a:off x="731520" y="2103120"/>
            <a:ext cx="10698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12848"/>
            <a:ext cx="2743200" cy="548640"/>
          </a:xfrm>
          <a:prstGeom prst="rect">
            <a:avLst/>
          </a:prstGeom>
          <a:noFill/>
        </p:spPr>
        <p:txBody>
          <a:bodyPr wrap="square" lIns="0" rIns="0" tIns="0" bIns="0">
            <a:spAutoFit/>
          </a:bodyPr>
          <a:lstStyle/>
          <a:p>
            <a:pPr>
              <a:defRPr sz="1100" b="1">
                <a:solidFill>
                  <a:srgbClr val="0F172A"/>
                </a:solidFill>
              </a:defRPr>
            </a:pPr>
            <a:r>
              <a:t>EC-YOLOv8 (Zhang 2024)</a:t>
            </a:r>
          </a:p>
        </p:txBody>
      </p:sp>
      <p:sp>
        <p:nvSpPr>
          <p:cNvPr id="12" name="TextBox 11"/>
          <p:cNvSpPr txBox="1"/>
          <p:nvPr/>
        </p:nvSpPr>
        <p:spPr>
          <a:xfrm>
            <a:off x="3749039" y="2212848"/>
            <a:ext cx="2103120" cy="548640"/>
          </a:xfrm>
          <a:prstGeom prst="rect">
            <a:avLst/>
          </a:prstGeom>
          <a:noFill/>
        </p:spPr>
        <p:txBody>
          <a:bodyPr wrap="square" lIns="0" rIns="0" tIns="0" bIns="0">
            <a:spAutoFit/>
          </a:bodyPr>
          <a:lstStyle/>
          <a:p>
            <a:pPr>
              <a:defRPr sz="1000" b="1">
                <a:solidFill>
                  <a:srgbClr val="0F172A"/>
                </a:solidFill>
              </a:defRPr>
            </a:pPr>
            <a:r>
              <a:t>mAP50: 95.70% mAP50</a:t>
            </a:r>
          </a:p>
          <a:p>
            <a:pPr>
              <a:defRPr sz="900">
                <a:solidFill>
                  <a:srgbClr val="64748B"/>
                </a:solidFill>
              </a:defRPr>
            </a:pPr>
            <a:r>
              <a:t>Độ trễ: 5.80 ms (172.4 FPS)</a:t>
            </a:r>
          </a:p>
        </p:txBody>
      </p:sp>
      <p:sp>
        <p:nvSpPr>
          <p:cNvPr id="13" name="TextBox 12"/>
          <p:cNvSpPr txBox="1"/>
          <p:nvPr/>
        </p:nvSpPr>
        <p:spPr>
          <a:xfrm>
            <a:off x="5943600" y="2212848"/>
            <a:ext cx="5303520" cy="548640"/>
          </a:xfrm>
          <a:prstGeom prst="rect">
            <a:avLst/>
          </a:prstGeom>
          <a:noFill/>
        </p:spPr>
        <p:txBody>
          <a:bodyPr wrap="square" lIns="0" rIns="0" tIns="0" bIns="0">
            <a:spAutoFit/>
          </a:bodyPr>
          <a:lstStyle/>
          <a:p>
            <a:pPr>
              <a:defRPr sz="950">
                <a:solidFill>
                  <a:srgbClr val="334155"/>
                </a:solidFill>
              </a:defRPr>
            </a:pPr>
            <a:r>
              <a:t>Độ chính xác cao nhờ CARAFE nhưng cấu trúc quá nặng, tốc độ bị giới hạn.</a:t>
            </a:r>
          </a:p>
        </p:txBody>
      </p:sp>
      <p:sp>
        <p:nvSpPr>
          <p:cNvPr id="14" name="Rounded Rectangle 13"/>
          <p:cNvSpPr/>
          <p:nvPr/>
        </p:nvSpPr>
        <p:spPr>
          <a:xfrm>
            <a:off x="731520" y="2971800"/>
            <a:ext cx="10698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81528"/>
            <a:ext cx="2743200" cy="548640"/>
          </a:xfrm>
          <a:prstGeom prst="rect">
            <a:avLst/>
          </a:prstGeom>
          <a:noFill/>
        </p:spPr>
        <p:txBody>
          <a:bodyPr wrap="square" lIns="0" rIns="0" tIns="0" bIns="0">
            <a:spAutoFit/>
          </a:bodyPr>
          <a:lstStyle/>
          <a:p>
            <a:pPr>
              <a:defRPr sz="1100" b="1">
                <a:solidFill>
                  <a:srgbClr val="0F172A"/>
                </a:solidFill>
              </a:defRPr>
            </a:pPr>
            <a:r>
              <a:t>YOLO-CBF (Li 2023)</a:t>
            </a:r>
          </a:p>
        </p:txBody>
      </p:sp>
      <p:sp>
        <p:nvSpPr>
          <p:cNvPr id="16" name="TextBox 15"/>
          <p:cNvSpPr txBox="1"/>
          <p:nvPr/>
        </p:nvSpPr>
        <p:spPr>
          <a:xfrm>
            <a:off x="3749039" y="3081528"/>
            <a:ext cx="2103120" cy="548640"/>
          </a:xfrm>
          <a:prstGeom prst="rect">
            <a:avLst/>
          </a:prstGeom>
          <a:noFill/>
        </p:spPr>
        <p:txBody>
          <a:bodyPr wrap="square" lIns="0" rIns="0" tIns="0" bIns="0">
            <a:spAutoFit/>
          </a:bodyPr>
          <a:lstStyle/>
          <a:p>
            <a:pPr>
              <a:defRPr sz="1000" b="1">
                <a:solidFill>
                  <a:srgbClr val="0F172A"/>
                </a:solidFill>
              </a:defRPr>
            </a:pPr>
            <a:r>
              <a:t>mAP50: 95.60% mAP50</a:t>
            </a:r>
          </a:p>
          <a:p>
            <a:pPr>
              <a:defRPr sz="900">
                <a:solidFill>
                  <a:srgbClr val="64748B"/>
                </a:solidFill>
              </a:defRPr>
            </a:pPr>
            <a:r>
              <a:t>Độ trễ: 12.40 ms (80.6 FPS)</a:t>
            </a:r>
          </a:p>
        </p:txBody>
      </p:sp>
      <p:sp>
        <p:nvSpPr>
          <p:cNvPr id="17" name="TextBox 16"/>
          <p:cNvSpPr txBox="1"/>
          <p:nvPr/>
        </p:nvSpPr>
        <p:spPr>
          <a:xfrm>
            <a:off x="5943600" y="3081528"/>
            <a:ext cx="5303520" cy="548640"/>
          </a:xfrm>
          <a:prstGeom prst="rect">
            <a:avLst/>
          </a:prstGeom>
          <a:noFill/>
        </p:spPr>
        <p:txBody>
          <a:bodyPr wrap="square" lIns="0" rIns="0" tIns="0" bIns="0">
            <a:spAutoFit/>
          </a:bodyPr>
          <a:lstStyle/>
          <a:p>
            <a:pPr>
              <a:defRPr sz="950">
                <a:solidFill>
                  <a:srgbClr val="334155"/>
                </a:solidFill>
              </a:defRPr>
            </a:pPr>
            <a:r>
              <a:t>Kết hợp CoordConv &amp; BiFormer nhưng cồng kềnh (37.2M params, 104.5 GFLOPs).</a:t>
            </a:r>
          </a:p>
        </p:txBody>
      </p:sp>
      <p:sp>
        <p:nvSpPr>
          <p:cNvPr id="18" name="Rounded Rectangle 17"/>
          <p:cNvSpPr/>
          <p:nvPr/>
        </p:nvSpPr>
        <p:spPr>
          <a:xfrm>
            <a:off x="731520" y="3840479"/>
            <a:ext cx="10698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50207"/>
            <a:ext cx="2743200" cy="548640"/>
          </a:xfrm>
          <a:prstGeom prst="rect">
            <a:avLst/>
          </a:prstGeom>
          <a:noFill/>
        </p:spPr>
        <p:txBody>
          <a:bodyPr wrap="square" lIns="0" rIns="0" tIns="0" bIns="0">
            <a:spAutoFit/>
          </a:bodyPr>
          <a:lstStyle/>
          <a:p>
            <a:pPr>
              <a:defRPr sz="1100" b="1">
                <a:solidFill>
                  <a:srgbClr val="0F172A"/>
                </a:solidFill>
              </a:defRPr>
            </a:pPr>
            <a:r>
              <a:t>YOLOv8n-FADS (Fu 2024)</a:t>
            </a:r>
          </a:p>
        </p:txBody>
      </p:sp>
      <p:sp>
        <p:nvSpPr>
          <p:cNvPr id="20" name="TextBox 19"/>
          <p:cNvSpPr txBox="1"/>
          <p:nvPr/>
        </p:nvSpPr>
        <p:spPr>
          <a:xfrm>
            <a:off x="3749039" y="3950207"/>
            <a:ext cx="2103120" cy="548640"/>
          </a:xfrm>
          <a:prstGeom prst="rect">
            <a:avLst/>
          </a:prstGeom>
          <a:noFill/>
        </p:spPr>
        <p:txBody>
          <a:bodyPr wrap="square" lIns="0" rIns="0" tIns="0" bIns="0">
            <a:spAutoFit/>
          </a:bodyPr>
          <a:lstStyle/>
          <a:p>
            <a:pPr>
              <a:defRPr sz="1000" b="1">
                <a:solidFill>
                  <a:srgbClr val="0F172A"/>
                </a:solidFill>
              </a:defRPr>
            </a:pPr>
            <a:r>
              <a:t>mAP50: 79.70% mAP50</a:t>
            </a:r>
          </a:p>
          <a:p>
            <a:pPr>
              <a:defRPr sz="900">
                <a:solidFill>
                  <a:srgbClr val="64748B"/>
                </a:solidFill>
              </a:defRPr>
            </a:pPr>
            <a:r>
              <a:t>Độ trễ: Khó vận hành biên</a:t>
            </a:r>
          </a:p>
        </p:txBody>
      </p:sp>
      <p:sp>
        <p:nvSpPr>
          <p:cNvPr id="21" name="TextBox 20"/>
          <p:cNvSpPr txBox="1"/>
          <p:nvPr/>
        </p:nvSpPr>
        <p:spPr>
          <a:xfrm>
            <a:off x="5943600" y="3950207"/>
            <a:ext cx="5303520" cy="548640"/>
          </a:xfrm>
          <a:prstGeom prst="rect">
            <a:avLst/>
          </a:prstGeom>
          <a:noFill/>
        </p:spPr>
        <p:txBody>
          <a:bodyPr wrap="square" lIns="0" rIns="0" tIns="0" bIns="0">
            <a:spAutoFit/>
          </a:bodyPr>
          <a:lstStyle/>
          <a:p>
            <a:pPr>
              <a:defRPr sz="950">
                <a:solidFill>
                  <a:srgbClr val="334155"/>
                </a:solidFill>
              </a:defRPr>
            </a:pPr>
            <a:r>
              <a:t>Mở rộng nhánh P2 gây bùng nổ tính toán, độ chính xác thực tế tụt giảm sâu.</a:t>
            </a:r>
          </a:p>
        </p:txBody>
      </p:sp>
      <p:sp>
        <p:nvSpPr>
          <p:cNvPr id="22" name="Rounded Rectangle 21"/>
          <p:cNvSpPr/>
          <p:nvPr/>
        </p:nvSpPr>
        <p:spPr>
          <a:xfrm>
            <a:off x="731520" y="4709160"/>
            <a:ext cx="10698480" cy="777240"/>
          </a:xfrm>
          <a:prstGeom prst="roundRect">
            <a:avLst/>
          </a:prstGeom>
          <a:solidFill>
            <a:srgbClr val="F0FDF4"/>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18888"/>
            <a:ext cx="2743200" cy="548640"/>
          </a:xfrm>
          <a:prstGeom prst="rect">
            <a:avLst/>
          </a:prstGeom>
          <a:noFill/>
        </p:spPr>
        <p:txBody>
          <a:bodyPr wrap="square" lIns="0" rIns="0" tIns="0" bIns="0">
            <a:spAutoFit/>
          </a:bodyPr>
          <a:lstStyle/>
          <a:p>
            <a:pPr>
              <a:defRPr sz="1100" b="1">
                <a:solidFill>
                  <a:srgbClr val="16A34A"/>
                </a:solidFill>
              </a:defRPr>
            </a:pPr>
            <a:r>
              <a:t>Rep-YOLO11s (Đề Tài Này)</a:t>
            </a:r>
          </a:p>
        </p:txBody>
      </p:sp>
      <p:sp>
        <p:nvSpPr>
          <p:cNvPr id="24" name="TextBox 23"/>
          <p:cNvSpPr txBox="1"/>
          <p:nvPr/>
        </p:nvSpPr>
        <p:spPr>
          <a:xfrm>
            <a:off x="3749039" y="4818888"/>
            <a:ext cx="2103120" cy="548640"/>
          </a:xfrm>
          <a:prstGeom prst="rect">
            <a:avLst/>
          </a:prstGeom>
          <a:noFill/>
        </p:spPr>
        <p:txBody>
          <a:bodyPr wrap="square" lIns="0" rIns="0" tIns="0" bIns="0">
            <a:spAutoFit/>
          </a:bodyPr>
          <a:lstStyle/>
          <a:p>
            <a:pPr>
              <a:defRPr sz="1000" b="1">
                <a:solidFill>
                  <a:srgbClr val="0F172A"/>
                </a:solidFill>
              </a:defRPr>
            </a:pPr>
            <a:r>
              <a:t>mAP50: 94.83% - 97.11%</a:t>
            </a:r>
          </a:p>
          <a:p>
            <a:pPr>
              <a:defRPr sz="900">
                <a:solidFill>
                  <a:srgbClr val="64748B"/>
                </a:solidFill>
              </a:defRPr>
            </a:pPr>
            <a:r>
              <a:t>Độ trễ: 2.92 ms (342.5 FPS)</a:t>
            </a:r>
          </a:p>
        </p:txBody>
      </p:sp>
      <p:sp>
        <p:nvSpPr>
          <p:cNvPr id="25" name="TextBox 24"/>
          <p:cNvSpPr txBox="1"/>
          <p:nvPr/>
        </p:nvSpPr>
        <p:spPr>
          <a:xfrm>
            <a:off x="5943600" y="4818888"/>
            <a:ext cx="5303520" cy="548640"/>
          </a:xfrm>
          <a:prstGeom prst="rect">
            <a:avLst/>
          </a:prstGeom>
          <a:noFill/>
        </p:spPr>
        <p:txBody>
          <a:bodyPr wrap="square" lIns="0" rIns="0" tIns="0" bIns="0">
            <a:spAutoFit/>
          </a:bodyPr>
          <a:lstStyle/>
          <a:p>
            <a:pPr>
              <a:defRPr sz="950">
                <a:solidFill>
                  <a:srgbClr val="334155"/>
                </a:solidFill>
              </a:defRPr>
            </a:pPr>
            <a:r>
              <a:t>Cơ chế W_fused triệt tiêu độ trễ; CoordConv dập tắt báo động giả; chạy mượt MX230.</a:t>
            </a:r>
          </a:p>
        </p:txBody>
      </p:sp>
      <p:sp>
        <p:nvSpPr>
          <p:cNvPr id="26" name="Rounded Rectangle 25"/>
          <p:cNvSpPr/>
          <p:nvPr/>
        </p:nvSpPr>
        <p:spPr>
          <a:xfrm>
            <a:off x="731520" y="5715000"/>
            <a:ext cx="10698480" cy="73152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779008"/>
            <a:ext cx="10332720" cy="594360"/>
          </a:xfrm>
          <a:prstGeom prst="rect">
            <a:avLst/>
          </a:prstGeom>
          <a:noFill/>
        </p:spPr>
        <p:txBody>
          <a:bodyPr wrap="square" lIns="0" rIns="0" tIns="0" bIns="0">
            <a:spAutoFit/>
          </a:bodyPr>
          <a:lstStyle/>
          <a:p>
            <a:pPr>
              <a:defRPr sz="1050" b="1">
                <a:solidFill>
                  <a:srgbClr val="EA580C"/>
                </a:solidFill>
              </a:defRPr>
            </a:pPr>
            <a:r>
              <a:t>★ KHOẢNG TRỐNG KHOA HỌC: Chưa có công trình nào đạt được đồng thời độ chính xác vi vật thể đỉnh cao mà KHÔNG phải trả giá bằng độ trễ suy luận hoặc sự phình to tham số khi triển khai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2 · KẾT QUẢ CUỐI CÙNG &amp; SẢN PHẨM ĐẠT ĐƯỢC</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04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Phạm Vi Đề Tài &amp; Cam Kết 5 Sản Phẩm Bàn Giao</a:t>
            </a:r>
          </a:p>
        </p:txBody>
      </p:sp>
      <p:sp>
        <p:nvSpPr>
          <p:cNvPr id="6" name="Rounded Rectangle 5"/>
          <p:cNvSpPr/>
          <p:nvPr/>
        </p:nvSpPr>
        <p:spPr>
          <a:xfrm>
            <a:off x="731520" y="1234440"/>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380744"/>
            <a:ext cx="411480" cy="320040"/>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89888"/>
            <a:ext cx="411480" cy="320040"/>
          </a:xfrm>
          <a:prstGeom prst="rect">
            <a:avLst/>
          </a:prstGeom>
          <a:noFill/>
        </p:spPr>
        <p:txBody>
          <a:bodyPr wrap="none" lIns="0" rIns="0" tIns="0" bIns="0">
            <a:spAutoFit/>
          </a:bodyPr>
          <a:lstStyle/>
          <a:p>
            <a:pPr algn="ctr">
              <a:defRPr sz="1100" b="1">
                <a:solidFill>
                  <a:srgbClr val="FFFFFF"/>
                </a:solidFill>
              </a:defRPr>
            </a:pPr>
            <a:r>
              <a:t>01</a:t>
            </a:r>
          </a:p>
        </p:txBody>
      </p:sp>
      <p:sp>
        <p:nvSpPr>
          <p:cNvPr id="9" name="TextBox 8"/>
          <p:cNvSpPr txBox="1"/>
          <p:nvPr/>
        </p:nvSpPr>
        <p:spPr>
          <a:xfrm>
            <a:off x="1463040" y="1362456"/>
            <a:ext cx="2926080" cy="548640"/>
          </a:xfrm>
          <a:prstGeom prst="rect">
            <a:avLst/>
          </a:prstGeom>
          <a:noFill/>
        </p:spPr>
        <p:txBody>
          <a:bodyPr wrap="square" lIns="0" rIns="0" tIns="0" bIns="0">
            <a:spAutoFit/>
          </a:bodyPr>
          <a:lstStyle/>
          <a:p>
            <a:pPr>
              <a:defRPr sz="1150" b="1">
                <a:solidFill>
                  <a:srgbClr val="0F172A"/>
                </a:solidFill>
              </a:defRPr>
            </a:pPr>
            <a:r>
              <a:t>BÁO CÁO KHOA HỌC</a:t>
            </a:r>
          </a:p>
          <a:p>
            <a:pPr>
              <a:defRPr sz="900" b="1">
                <a:solidFill>
                  <a:srgbClr val="EA580C"/>
                </a:solidFill>
              </a:defRPr>
            </a:pPr>
            <a:r>
              <a:t>Chuẩn Q1 Quốc tế</a:t>
            </a:r>
          </a:p>
        </p:txBody>
      </p:sp>
      <p:sp>
        <p:nvSpPr>
          <p:cNvPr id="10" name="TextBox 9"/>
          <p:cNvSpPr txBox="1"/>
          <p:nvPr/>
        </p:nvSpPr>
        <p:spPr>
          <a:xfrm>
            <a:off x="4480560" y="1399032"/>
            <a:ext cx="6766560" cy="502920"/>
          </a:xfrm>
          <a:prstGeom prst="rect">
            <a:avLst/>
          </a:prstGeom>
          <a:noFill/>
        </p:spPr>
        <p:txBody>
          <a:bodyPr wrap="square" lIns="0" rIns="0" tIns="0" bIns="0">
            <a:spAutoFit/>
          </a:bodyPr>
          <a:lstStyle/>
          <a:p>
            <a:pPr>
              <a:defRPr sz="1000">
                <a:solidFill>
                  <a:srgbClr val="334155"/>
                </a:solidFill>
              </a:defRPr>
            </a:pPr>
            <a:r>
              <a:t>Chuyên luận 9 trang đầy đủ chứng minh giải tích, đối sánh SOTA, Ablation &amp; giải thích Grad-CAM.</a:t>
            </a:r>
          </a:p>
        </p:txBody>
      </p:sp>
      <p:sp>
        <p:nvSpPr>
          <p:cNvPr id="11" name="Rounded Rectangle 10"/>
          <p:cNvSpPr/>
          <p:nvPr/>
        </p:nvSpPr>
        <p:spPr>
          <a:xfrm>
            <a:off x="731520" y="2148840"/>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2295144"/>
            <a:ext cx="411480" cy="320040"/>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304288"/>
            <a:ext cx="411480" cy="320040"/>
          </a:xfrm>
          <a:prstGeom prst="rect">
            <a:avLst/>
          </a:prstGeom>
          <a:noFill/>
        </p:spPr>
        <p:txBody>
          <a:bodyPr wrap="none" lIns="0" rIns="0" tIns="0" bIns="0">
            <a:spAutoFit/>
          </a:bodyPr>
          <a:lstStyle/>
          <a:p>
            <a:pPr algn="ctr">
              <a:defRPr sz="1100" b="1">
                <a:solidFill>
                  <a:srgbClr val="FFFFFF"/>
                </a:solidFill>
              </a:defRPr>
            </a:pPr>
            <a:r>
              <a:t>02</a:t>
            </a:r>
          </a:p>
        </p:txBody>
      </p:sp>
      <p:sp>
        <p:nvSpPr>
          <p:cNvPr id="14" name="TextBox 13"/>
          <p:cNvSpPr txBox="1"/>
          <p:nvPr/>
        </p:nvSpPr>
        <p:spPr>
          <a:xfrm>
            <a:off x="1463040" y="2276856"/>
            <a:ext cx="2926080" cy="548640"/>
          </a:xfrm>
          <a:prstGeom prst="rect">
            <a:avLst/>
          </a:prstGeom>
          <a:noFill/>
        </p:spPr>
        <p:txBody>
          <a:bodyPr wrap="square" lIns="0" rIns="0" tIns="0" bIns="0">
            <a:spAutoFit/>
          </a:bodyPr>
          <a:lstStyle/>
          <a:p>
            <a:pPr>
              <a:defRPr sz="1150" b="1">
                <a:solidFill>
                  <a:srgbClr val="0F172A"/>
                </a:solidFill>
              </a:defRPr>
            </a:pPr>
            <a:r>
              <a:t>MÔ HÌNH REP-YOLO11s</a:t>
            </a:r>
          </a:p>
          <a:p>
            <a:pPr>
              <a:defRPr sz="900" b="1">
                <a:solidFill>
                  <a:srgbClr val="2563EB"/>
                </a:solidFill>
              </a:defRPr>
            </a:pPr>
            <a:r>
              <a:t>Chính xác &amp; Khái quát</a:t>
            </a:r>
          </a:p>
        </p:txBody>
      </p:sp>
      <p:sp>
        <p:nvSpPr>
          <p:cNvPr id="15" name="TextBox 14"/>
          <p:cNvSpPr txBox="1"/>
          <p:nvPr/>
        </p:nvSpPr>
        <p:spPr>
          <a:xfrm>
            <a:off x="4480560" y="2313432"/>
            <a:ext cx="6766560" cy="502920"/>
          </a:xfrm>
          <a:prstGeom prst="rect">
            <a:avLst/>
          </a:prstGeom>
          <a:noFill/>
        </p:spPr>
        <p:txBody>
          <a:bodyPr wrap="square" lIns="0" rIns="0" tIns="0" bIns="0">
            <a:spAutoFit/>
          </a:bodyPr>
          <a:lstStyle/>
          <a:p>
            <a:pPr>
              <a:defRPr sz="1000">
                <a:solidFill>
                  <a:srgbClr val="334155"/>
                </a:solidFill>
              </a:defRPr>
            </a:pPr>
            <a:r>
              <a:t>Trọng số hoàn chỉnh đạt 94.83% Single Test, 96.64% 5-Fold, 97.03% trên Hard Hat Workers.</a:t>
            </a:r>
          </a:p>
        </p:txBody>
      </p:sp>
      <p:sp>
        <p:nvSpPr>
          <p:cNvPr id="16" name="Rounded Rectangle 15"/>
          <p:cNvSpPr/>
          <p:nvPr/>
        </p:nvSpPr>
        <p:spPr>
          <a:xfrm>
            <a:off x="731520" y="3063240"/>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3209544"/>
            <a:ext cx="411480" cy="320040"/>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18688"/>
            <a:ext cx="411480" cy="320040"/>
          </a:xfrm>
          <a:prstGeom prst="rect">
            <a:avLst/>
          </a:prstGeom>
          <a:noFill/>
        </p:spPr>
        <p:txBody>
          <a:bodyPr wrap="none" lIns="0" rIns="0" tIns="0" bIns="0">
            <a:spAutoFit/>
          </a:bodyPr>
          <a:lstStyle/>
          <a:p>
            <a:pPr algn="ctr">
              <a:defRPr sz="1100" b="1">
                <a:solidFill>
                  <a:srgbClr val="FFFFFF"/>
                </a:solidFill>
              </a:defRPr>
            </a:pPr>
            <a:r>
              <a:t>03</a:t>
            </a:r>
          </a:p>
        </p:txBody>
      </p:sp>
      <p:sp>
        <p:nvSpPr>
          <p:cNvPr id="19" name="TextBox 18"/>
          <p:cNvSpPr txBox="1"/>
          <p:nvPr/>
        </p:nvSpPr>
        <p:spPr>
          <a:xfrm>
            <a:off x="1463040" y="3191256"/>
            <a:ext cx="2926080" cy="548640"/>
          </a:xfrm>
          <a:prstGeom prst="rect">
            <a:avLst/>
          </a:prstGeom>
          <a:noFill/>
        </p:spPr>
        <p:txBody>
          <a:bodyPr wrap="square" lIns="0" rIns="0" tIns="0" bIns="0">
            <a:spAutoFit/>
          </a:bodyPr>
          <a:lstStyle/>
          <a:p>
            <a:pPr>
              <a:defRPr sz="1150" b="1">
                <a:solidFill>
                  <a:srgbClr val="0F172A"/>
                </a:solidFill>
              </a:defRPr>
            </a:pPr>
            <a:r>
              <a:t>SOFTWARE PROTOTYPE</a:t>
            </a:r>
          </a:p>
          <a:p>
            <a:pPr>
              <a:defRPr sz="900" b="1">
                <a:solidFill>
                  <a:srgbClr val="16A34A"/>
                </a:solidFill>
              </a:defRPr>
            </a:pPr>
            <a:r>
              <a:t>Vận hành thực tế</a:t>
            </a:r>
          </a:p>
        </p:txBody>
      </p:sp>
      <p:sp>
        <p:nvSpPr>
          <p:cNvPr id="20" name="TextBox 19"/>
          <p:cNvSpPr txBox="1"/>
          <p:nvPr/>
        </p:nvSpPr>
        <p:spPr>
          <a:xfrm>
            <a:off x="4480560" y="3227832"/>
            <a:ext cx="6766560" cy="502920"/>
          </a:xfrm>
          <a:prstGeom prst="rect">
            <a:avLst/>
          </a:prstGeom>
          <a:noFill/>
        </p:spPr>
        <p:txBody>
          <a:bodyPr wrap="square" lIns="0" rIns="0" tIns="0" bIns="0">
            <a:spAutoFit/>
          </a:bodyPr>
          <a:lstStyle/>
          <a:p>
            <a:pPr>
              <a:defRPr sz="1000">
                <a:solidFill>
                  <a:srgbClr val="334155"/>
                </a:solidFill>
              </a:defRPr>
            </a:pPr>
            <a:r>
              <a:t>Phần mềm giải mã RTSP đa luồng, đệm chống giật khung hình, đạt 65–95 FPS trên RTX 3050.</a:t>
            </a:r>
          </a:p>
        </p:txBody>
      </p:sp>
      <p:sp>
        <p:nvSpPr>
          <p:cNvPr id="21" name="Rounded Rectangle 20"/>
          <p:cNvSpPr/>
          <p:nvPr/>
        </p:nvSpPr>
        <p:spPr>
          <a:xfrm>
            <a:off x="731520" y="3977639"/>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4123944"/>
            <a:ext cx="411480" cy="32004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133087"/>
            <a:ext cx="411480" cy="320040"/>
          </a:xfrm>
          <a:prstGeom prst="rect">
            <a:avLst/>
          </a:prstGeom>
          <a:noFill/>
        </p:spPr>
        <p:txBody>
          <a:bodyPr wrap="none" lIns="0" rIns="0" tIns="0" bIns="0">
            <a:spAutoFit/>
          </a:bodyPr>
          <a:lstStyle/>
          <a:p>
            <a:pPr algn="ctr">
              <a:defRPr sz="1100" b="1">
                <a:solidFill>
                  <a:srgbClr val="FFFFFF"/>
                </a:solidFill>
              </a:defRPr>
            </a:pPr>
            <a:r>
              <a:t>04</a:t>
            </a:r>
          </a:p>
        </p:txBody>
      </p:sp>
      <p:sp>
        <p:nvSpPr>
          <p:cNvPr id="24" name="TextBox 23"/>
          <p:cNvSpPr txBox="1"/>
          <p:nvPr/>
        </p:nvSpPr>
        <p:spPr>
          <a:xfrm>
            <a:off x="1463040" y="4105655"/>
            <a:ext cx="2926080" cy="548640"/>
          </a:xfrm>
          <a:prstGeom prst="rect">
            <a:avLst/>
          </a:prstGeom>
          <a:noFill/>
        </p:spPr>
        <p:txBody>
          <a:bodyPr wrap="square" lIns="0" rIns="0" tIns="0" bIns="0">
            <a:spAutoFit/>
          </a:bodyPr>
          <a:lstStyle/>
          <a:p>
            <a:pPr>
              <a:defRPr sz="1150" b="1">
                <a:solidFill>
                  <a:srgbClr val="0F172A"/>
                </a:solidFill>
              </a:defRPr>
            </a:pPr>
            <a:r>
              <a:t>BỘ ENGINE TỐI ƯU</a:t>
            </a:r>
          </a:p>
          <a:p>
            <a:pPr>
              <a:defRPr sz="900" b="1">
                <a:solidFill>
                  <a:srgbClr val="D97706"/>
                </a:solidFill>
              </a:defRPr>
            </a:pPr>
            <a:r>
              <a:t>Zero-latency Deploy</a:t>
            </a:r>
          </a:p>
        </p:txBody>
      </p:sp>
      <p:sp>
        <p:nvSpPr>
          <p:cNvPr id="25" name="TextBox 24"/>
          <p:cNvSpPr txBox="1"/>
          <p:nvPr/>
        </p:nvSpPr>
        <p:spPr>
          <a:xfrm>
            <a:off x="4480560" y="4142231"/>
            <a:ext cx="6766560" cy="502920"/>
          </a:xfrm>
          <a:prstGeom prst="rect">
            <a:avLst/>
          </a:prstGeom>
          <a:noFill/>
        </p:spPr>
        <p:txBody>
          <a:bodyPr wrap="square" lIns="0" rIns="0" tIns="0" bIns="0">
            <a:spAutoFit/>
          </a:bodyPr>
          <a:lstStyle/>
          <a:p>
            <a:pPr>
              <a:defRPr sz="1000">
                <a:solidFill>
                  <a:srgbClr val="334155"/>
                </a:solidFill>
              </a:defRPr>
            </a:pPr>
            <a:r>
              <a:t>Đóng gói TensorRT 11.2 FP16 (.engine), ONNX INT8 (.onnx), OpenVINO sẵn sàng cho mọi thiết bị biên.</a:t>
            </a:r>
          </a:p>
        </p:txBody>
      </p:sp>
      <p:sp>
        <p:nvSpPr>
          <p:cNvPr id="26" name="Rounded Rectangle 25"/>
          <p:cNvSpPr/>
          <p:nvPr/>
        </p:nvSpPr>
        <p:spPr>
          <a:xfrm>
            <a:off x="731520" y="4892040"/>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5038344"/>
            <a:ext cx="411480" cy="320040"/>
          </a:xfrm>
          <a:prstGeom prst="roundRect">
            <a:avLst/>
          </a:prstGeom>
          <a:solidFill>
            <a:srgbClr val="9333EA"/>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047488"/>
            <a:ext cx="411480" cy="320040"/>
          </a:xfrm>
          <a:prstGeom prst="rect">
            <a:avLst/>
          </a:prstGeom>
          <a:noFill/>
        </p:spPr>
        <p:txBody>
          <a:bodyPr wrap="none" lIns="0" rIns="0" tIns="0" bIns="0">
            <a:spAutoFit/>
          </a:bodyPr>
          <a:lstStyle/>
          <a:p>
            <a:pPr algn="ctr">
              <a:defRPr sz="1100" b="1">
                <a:solidFill>
                  <a:srgbClr val="FFFFFF"/>
                </a:solidFill>
              </a:defRPr>
            </a:pPr>
            <a:r>
              <a:t>05</a:t>
            </a:r>
          </a:p>
        </p:txBody>
      </p:sp>
      <p:sp>
        <p:nvSpPr>
          <p:cNvPr id="29" name="TextBox 28"/>
          <p:cNvSpPr txBox="1"/>
          <p:nvPr/>
        </p:nvSpPr>
        <p:spPr>
          <a:xfrm>
            <a:off x="1463040" y="5020055"/>
            <a:ext cx="2926080" cy="548640"/>
          </a:xfrm>
          <a:prstGeom prst="rect">
            <a:avLst/>
          </a:prstGeom>
          <a:noFill/>
        </p:spPr>
        <p:txBody>
          <a:bodyPr wrap="square" lIns="0" rIns="0" tIns="0" bIns="0">
            <a:spAutoFit/>
          </a:bodyPr>
          <a:lstStyle/>
          <a:p>
            <a:pPr>
              <a:defRPr sz="1150" b="1">
                <a:solidFill>
                  <a:srgbClr val="0F172A"/>
                </a:solidFill>
              </a:defRPr>
            </a:pPr>
            <a:r>
              <a:t>DATASET CHUẨN HÓA</a:t>
            </a:r>
          </a:p>
          <a:p>
            <a:pPr>
              <a:defRPr sz="900" b="1">
                <a:solidFill>
                  <a:srgbClr val="9333EA"/>
                </a:solidFill>
              </a:defRPr>
            </a:pPr>
            <a:r>
              <a:t>33,000+ ảnh chuẩn</a:t>
            </a:r>
          </a:p>
        </p:txBody>
      </p:sp>
      <p:sp>
        <p:nvSpPr>
          <p:cNvPr id="30" name="TextBox 29"/>
          <p:cNvSpPr txBox="1"/>
          <p:nvPr/>
        </p:nvSpPr>
        <p:spPr>
          <a:xfrm>
            <a:off x="4480560" y="5056631"/>
            <a:ext cx="6766560" cy="502920"/>
          </a:xfrm>
          <a:prstGeom prst="rect">
            <a:avLst/>
          </a:prstGeom>
          <a:noFill/>
        </p:spPr>
        <p:txBody>
          <a:bodyPr wrap="square" lIns="0" rIns="0" tIns="0" bIns="0">
            <a:spAutoFit/>
          </a:bodyPr>
          <a:lstStyle/>
          <a:p>
            <a:pPr>
              <a:defRPr sz="1000">
                <a:solidFill>
                  <a:srgbClr val="334155"/>
                </a:solidFill>
              </a:defRPr>
            </a:pPr>
            <a:r>
              <a:t>Bộ dữ liệu chuẩn hóa &gt;33,000 ảnh từ 6 nguồn công nghiệp, làm sạch triệt để nhãn rác VOC2028.</a:t>
            </a:r>
          </a:p>
        </p:txBody>
      </p:sp>
      <p:sp>
        <p:nvSpPr>
          <p:cNvPr id="31" name="Rounded Rectangle 30"/>
          <p:cNvSpPr/>
          <p:nvPr/>
        </p:nvSpPr>
        <p:spPr>
          <a:xfrm>
            <a:off x="731520" y="5897880"/>
            <a:ext cx="10698480" cy="548640"/>
          </a:xfrm>
          <a:prstGeom prst="round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943600"/>
            <a:ext cx="10332720" cy="457200"/>
          </a:xfrm>
          <a:prstGeom prst="rect">
            <a:avLst/>
          </a:prstGeom>
          <a:noFill/>
        </p:spPr>
        <p:txBody>
          <a:bodyPr wrap="square" lIns="0" rIns="0" tIns="0" bIns="0">
            <a:spAutoFit/>
          </a:bodyPr>
          <a:lstStyle/>
          <a:p>
            <a:pPr>
              <a:defRPr sz="1050" b="1">
                <a:solidFill>
                  <a:srgbClr val="16A34A"/>
                </a:solidFill>
              </a:defRPr>
            </a:pPr>
            <a:r>
              <a:t>✓ HIỆN TRẠNG TIẾN ĐỘ: Đã hoàn thiện đầy đủ 5/5 sản phẩm cam kết, đạt ~90% khối lượng toàn khóa ngay tại Giai đoạn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ĐỀ XUẤT MÔ HÌNH · KIẾN TRÚC MẠNG NƠ-RON ĐỘT PHÁ</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05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Sơ Đồ Kiến Trúc Toàn Diện 5 Tầng Của Rep-YOLO11s</a:t>
            </a:r>
          </a:p>
        </p:txBody>
      </p:sp>
      <p:sp>
        <p:nvSpPr>
          <p:cNvPr id="6" name="Rounded Rectangle 5"/>
          <p:cNvSpPr/>
          <p:nvPr/>
        </p:nvSpPr>
        <p:spPr>
          <a:xfrm>
            <a:off x="731520" y="1143000"/>
            <a:ext cx="106984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2_rep_yolo11s_neural_architecture.png"/>
          <p:cNvPicPr>
            <a:picLocks noChangeAspect="1"/>
          </p:cNvPicPr>
          <p:nvPr/>
        </p:nvPicPr>
        <p:blipFill>
          <a:blip r:embed="rId2"/>
          <a:stretch>
            <a:fillRect/>
          </a:stretch>
        </p:blipFill>
        <p:spPr>
          <a:xfrm>
            <a:off x="868680" y="1234440"/>
            <a:ext cx="10424160" cy="3749039"/>
          </a:xfrm>
          <a:prstGeom prst="rect">
            <a:avLst/>
          </a:prstGeom>
        </p:spPr>
      </p:pic>
      <p:sp>
        <p:nvSpPr>
          <p:cNvPr id="8" name="Rounded Rectangle 7"/>
          <p:cNvSpPr/>
          <p:nvPr/>
        </p:nvSpPr>
        <p:spPr>
          <a:xfrm>
            <a:off x="7315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230368"/>
            <a:ext cx="3200400" cy="1188720"/>
          </a:xfrm>
          <a:prstGeom prst="rect">
            <a:avLst/>
          </a:prstGeom>
          <a:noFill/>
        </p:spPr>
        <p:txBody>
          <a:bodyPr wrap="square" lIns="0" rIns="0" tIns="0" bIns="0">
            <a:spAutoFit/>
          </a:bodyPr>
          <a:lstStyle/>
          <a:p>
            <a:pPr>
              <a:spcAft>
                <a:spcPts val="200"/>
              </a:spcAft>
              <a:defRPr sz="1050" b="1">
                <a:solidFill>
                  <a:srgbClr val="EA580C"/>
                </a:solidFill>
              </a:defRPr>
            </a:pPr>
            <a:r>
              <a:t>1. BACKBONE KHÔNG GIAN</a:t>
            </a:r>
          </a:p>
          <a:p>
            <a:pPr>
              <a:defRPr sz="919">
                <a:solidFill>
                  <a:srgbClr val="334155"/>
                </a:solidFill>
              </a:defRPr>
            </a:pPr>
            <a:r>
              <a:t>CSPDarknet tích hợp CoordConv (tiêm tọa độ Cx, Cy) và khối RepConv học đa nhánh phong phú.</a:t>
            </a:r>
          </a:p>
        </p:txBody>
      </p:sp>
      <p:sp>
        <p:nvSpPr>
          <p:cNvPr id="10" name="Rounded Rectangle 9"/>
          <p:cNvSpPr/>
          <p:nvPr/>
        </p:nvSpPr>
        <p:spPr>
          <a:xfrm>
            <a:off x="43891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230368"/>
            <a:ext cx="3200400" cy="1188720"/>
          </a:xfrm>
          <a:prstGeom prst="rect">
            <a:avLst/>
          </a:prstGeom>
          <a:noFill/>
        </p:spPr>
        <p:txBody>
          <a:bodyPr wrap="square" lIns="0" rIns="0" tIns="0" bIns="0">
            <a:spAutoFit/>
          </a:bodyPr>
          <a:lstStyle/>
          <a:p>
            <a:pPr>
              <a:spcAft>
                <a:spcPts val="200"/>
              </a:spcAft>
              <a:defRPr sz="1050" b="1">
                <a:solidFill>
                  <a:srgbClr val="2563EB"/>
                </a:solidFill>
              </a:defRPr>
            </a:pPr>
            <a:r>
              <a:t>2. NECK ĐỊNH TUYẾN THƯA</a:t>
            </a:r>
          </a:p>
          <a:p>
            <a:pPr>
              <a:defRPr sz="919">
                <a:solidFill>
                  <a:srgbClr val="334155"/>
                </a:solidFill>
              </a:defRPr>
            </a:pPr>
            <a:r>
              <a:t>Mạng PAN nhúng cơ chế chú ý BiFormer định tuyến Top-k vùng, giảm bậc tính toán xuống tuyến tính.</a:t>
            </a:r>
          </a:p>
        </p:txBody>
      </p:sp>
      <p:sp>
        <p:nvSpPr>
          <p:cNvPr id="12" name="Rounded Rectangle 11"/>
          <p:cNvSpPr/>
          <p:nvPr/>
        </p:nvSpPr>
        <p:spPr>
          <a:xfrm>
            <a:off x="80467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230368"/>
            <a:ext cx="3200400" cy="1188720"/>
          </a:xfrm>
          <a:prstGeom prst="rect">
            <a:avLst/>
          </a:prstGeom>
          <a:noFill/>
        </p:spPr>
        <p:txBody>
          <a:bodyPr wrap="square" lIns="0" rIns="0" tIns="0" bIns="0">
            <a:spAutoFit/>
          </a:bodyPr>
          <a:lstStyle/>
          <a:p>
            <a:pPr>
              <a:spcAft>
                <a:spcPts val="200"/>
              </a:spcAft>
              <a:defRPr sz="1050" b="1">
                <a:solidFill>
                  <a:srgbClr val="16A34A"/>
                </a:solidFill>
              </a:defRPr>
            </a:pPr>
            <a:r>
              <a:t>3. HEAD &amp; LOSS TỐI ƯU</a:t>
            </a:r>
          </a:p>
          <a:p>
            <a:pPr>
              <a:defRPr sz="919">
                <a:solidFill>
                  <a:srgbClr val="334155"/>
                </a:solidFill>
              </a:defRPr>
            </a:pPr>
            <a:r>
              <a:t>Đầu dò Anchor-free Decoupled kết hợp hàm mất mát Focal EIoU phân rã sai số cạnh hộp bao.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ĐÓNG GÓP KỸ THUẬT 1 · TỐI ƯU HÓA ĐỘ TRỄ SUY LUẬN</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06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Điểm Mới 1: Tái Tham Số Hóa Cấu Trúc (RepConv) &amp; Gộp Nhánh Đại Số</a:t>
            </a:r>
          </a:p>
        </p:txBody>
      </p:sp>
      <p:sp>
        <p:nvSpPr>
          <p:cNvPr id="6" name="Rounded Rectangle 5"/>
          <p:cNvSpPr/>
          <p:nvPr/>
        </p:nvSpPr>
        <p:spPr>
          <a:xfrm>
            <a:off x="731520" y="1143000"/>
            <a:ext cx="1069848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RepConv_Architecture.png"/>
          <p:cNvPicPr>
            <a:picLocks noChangeAspect="1"/>
          </p:cNvPicPr>
          <p:nvPr/>
        </p:nvPicPr>
        <p:blipFill>
          <a:blip r:embed="rId2"/>
          <a:stretch>
            <a:fillRect/>
          </a:stretch>
        </p:blipFill>
        <p:spPr>
          <a:xfrm>
            <a:off x="868680" y="1234440"/>
            <a:ext cx="10424160" cy="3703320"/>
          </a:xfrm>
          <a:prstGeom prst="rect">
            <a:avLst/>
          </a:prstGeom>
        </p:spPr>
      </p:pic>
      <p:sp>
        <p:nvSpPr>
          <p:cNvPr id="8" name="Rounded Rectangle 7"/>
          <p:cNvSpPr/>
          <p:nvPr/>
        </p:nvSpPr>
        <p:spPr>
          <a:xfrm>
            <a:off x="7315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193792"/>
            <a:ext cx="3200400" cy="1234440"/>
          </a:xfrm>
          <a:prstGeom prst="rect">
            <a:avLst/>
          </a:prstGeom>
          <a:noFill/>
        </p:spPr>
        <p:txBody>
          <a:bodyPr wrap="square" lIns="0" rIns="0" tIns="0" bIns="0">
            <a:spAutoFit/>
          </a:bodyPr>
          <a:lstStyle/>
          <a:p>
            <a:pPr>
              <a:spcAft>
                <a:spcPts val="200"/>
              </a:spcAft>
              <a:defRPr sz="1050" b="1">
                <a:solidFill>
                  <a:srgbClr val="EA580C"/>
                </a:solidFill>
              </a:defRPr>
            </a:pPr>
            <a:r>
              <a:t>HUẤN LUYỆN ĐA NHÁNH</a:t>
            </a:r>
          </a:p>
          <a:p>
            <a:pPr>
              <a:defRPr sz="919">
                <a:solidFill>
                  <a:srgbClr val="334155"/>
                </a:solidFill>
              </a:defRPr>
            </a:pPr>
            <a:r>
              <a:t>3 nhánh song song (3x3, 1x1, Identity) làm giàu gradient và không gian đặc trưng biểu diễn.</a:t>
            </a:r>
          </a:p>
        </p:txBody>
      </p:sp>
      <p:sp>
        <p:nvSpPr>
          <p:cNvPr id="10" name="Rounded Rectangle 9"/>
          <p:cNvSpPr/>
          <p:nvPr/>
        </p:nvSpPr>
        <p:spPr>
          <a:xfrm>
            <a:off x="43891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193792"/>
            <a:ext cx="3200400" cy="1234440"/>
          </a:xfrm>
          <a:prstGeom prst="rect">
            <a:avLst/>
          </a:prstGeom>
          <a:noFill/>
        </p:spPr>
        <p:txBody>
          <a:bodyPr wrap="square" lIns="0" rIns="0" tIns="0" bIns="0">
            <a:spAutoFit/>
          </a:bodyPr>
          <a:lstStyle/>
          <a:p>
            <a:pPr>
              <a:spcAft>
                <a:spcPts val="200"/>
              </a:spcAft>
              <a:defRPr sz="1050" b="1">
                <a:solidFill>
                  <a:srgbClr val="2563EB"/>
                </a:solidFill>
              </a:defRPr>
            </a:pPr>
            <a:r>
              <a:t>GỘP ĐẠI SỐ switch_to_deploy()</a:t>
            </a:r>
          </a:p>
          <a:p>
            <a:pPr>
              <a:defRPr sz="919">
                <a:solidFill>
                  <a:srgbClr val="334155"/>
                </a:solidFill>
              </a:defRPr>
            </a:pPr>
            <a:r>
              <a:t>Hợp nhất BN, đệm zero 1x1 và Dirac delta kernel thành duy nhất 1 lớp 3x3 Conv đơn lẻ.</a:t>
            </a:r>
          </a:p>
        </p:txBody>
      </p:sp>
      <p:sp>
        <p:nvSpPr>
          <p:cNvPr id="12" name="Rounded Rectangle 11"/>
          <p:cNvSpPr/>
          <p:nvPr/>
        </p:nvSpPr>
        <p:spPr>
          <a:xfrm>
            <a:off x="80467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193792"/>
            <a:ext cx="3200400" cy="1234440"/>
          </a:xfrm>
          <a:prstGeom prst="rect">
            <a:avLst/>
          </a:prstGeom>
          <a:noFill/>
        </p:spPr>
        <p:txBody>
          <a:bodyPr wrap="square" lIns="0" rIns="0" tIns="0" bIns="0">
            <a:spAutoFit/>
          </a:bodyPr>
          <a:lstStyle/>
          <a:p>
            <a:pPr>
              <a:spcAft>
                <a:spcPts val="200"/>
              </a:spcAft>
              <a:defRPr sz="1050" b="1">
                <a:solidFill>
                  <a:srgbClr val="16A34A"/>
                </a:solidFill>
              </a:defRPr>
            </a:pPr>
            <a:r>
              <a:t>HIỆU QUẢ VẬN HÀNH THỰC TẾ</a:t>
            </a:r>
          </a:p>
          <a:p>
            <a:pPr>
              <a:defRPr sz="919">
                <a:solidFill>
                  <a:srgbClr val="334155"/>
                </a:solidFill>
              </a:defRPr>
            </a:pPr>
            <a:r>
              <a:t>Độ trễ giảm 55.2% (từ 7.12 ms xuống 2.92 ms), đạt 342.5 FPS trên T4 với sai số đại số Δ &lt; 10⁻⁵.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ĐÓNG GÓP KỸ THUẬT 2 · PHÁ VỠ TÍNH BẤT BIẾN TỊNH TIẾN</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07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Điểm Mới 2: Mã Hóa Tọa Độ CoordConv Dập Tắt Báo Động Giả</a:t>
            </a:r>
          </a:p>
        </p:txBody>
      </p:sp>
      <p:sp>
        <p:nvSpPr>
          <p:cNvPr id="6" name="Rounded Rectangle 5"/>
          <p:cNvSpPr/>
          <p:nvPr/>
        </p:nvSpPr>
        <p:spPr>
          <a:xfrm>
            <a:off x="731520" y="1143000"/>
            <a:ext cx="1069848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CoordConv_Concept.png"/>
          <p:cNvPicPr>
            <a:picLocks noChangeAspect="1"/>
          </p:cNvPicPr>
          <p:nvPr/>
        </p:nvPicPr>
        <p:blipFill>
          <a:blip r:embed="rId2"/>
          <a:stretch>
            <a:fillRect/>
          </a:stretch>
        </p:blipFill>
        <p:spPr>
          <a:xfrm>
            <a:off x="868680" y="1234440"/>
            <a:ext cx="10424160" cy="3703320"/>
          </a:xfrm>
          <a:prstGeom prst="rect">
            <a:avLst/>
          </a:prstGeom>
        </p:spPr>
      </p:pic>
      <p:sp>
        <p:nvSpPr>
          <p:cNvPr id="8" name="Rounded Rectangle 7"/>
          <p:cNvSpPr/>
          <p:nvPr/>
        </p:nvSpPr>
        <p:spPr>
          <a:xfrm>
            <a:off x="7315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193792"/>
            <a:ext cx="3200400" cy="1234440"/>
          </a:xfrm>
          <a:prstGeom prst="rect">
            <a:avLst/>
          </a:prstGeom>
          <a:noFill/>
        </p:spPr>
        <p:txBody>
          <a:bodyPr wrap="square" lIns="0" rIns="0" tIns="0" bIns="0">
            <a:spAutoFit/>
          </a:bodyPr>
          <a:lstStyle/>
          <a:p>
            <a:pPr>
              <a:spcAft>
                <a:spcPts val="200"/>
              </a:spcAft>
              <a:defRPr sz="1050" b="1">
                <a:solidFill>
                  <a:srgbClr val="EA580C"/>
                </a:solidFill>
              </a:defRPr>
            </a:pPr>
            <a:r>
              <a:t>PHÁ VỠ BẤT BIẾN TỊNH TIẾN</a:t>
            </a:r>
          </a:p>
          <a:p>
            <a:pPr>
              <a:defRPr sz="919">
                <a:solidFill>
                  <a:srgbClr val="334155"/>
                </a:solidFill>
              </a:defRPr>
            </a:pPr>
            <a:r>
              <a:t>Bổ sung 2 kênh tọa độ chuẩn hóa Cx, Cy ∈ [-1, 1] vào ảnh RGB đầu vào (thành 5 kênh).</a:t>
            </a:r>
          </a:p>
        </p:txBody>
      </p:sp>
      <p:sp>
        <p:nvSpPr>
          <p:cNvPr id="10" name="Rounded Rectangle 9"/>
          <p:cNvSpPr/>
          <p:nvPr/>
        </p:nvSpPr>
        <p:spPr>
          <a:xfrm>
            <a:off x="43891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193792"/>
            <a:ext cx="3200400" cy="1234440"/>
          </a:xfrm>
          <a:prstGeom prst="rect">
            <a:avLst/>
          </a:prstGeom>
          <a:noFill/>
        </p:spPr>
        <p:txBody>
          <a:bodyPr wrap="square" lIns="0" rIns="0" tIns="0" bIns="0">
            <a:spAutoFit/>
          </a:bodyPr>
          <a:lstStyle/>
          <a:p>
            <a:pPr>
              <a:spcAft>
                <a:spcPts val="200"/>
              </a:spcAft>
              <a:defRPr sz="1050" b="1">
                <a:solidFill>
                  <a:srgbClr val="2563EB"/>
                </a:solidFill>
              </a:defRPr>
            </a:pPr>
            <a:r>
              <a:t>TIÊN ĐỀ HÌNH HỌC CÔNG TRƯỜNG</a:t>
            </a:r>
          </a:p>
          <a:p>
            <a:pPr>
              <a:defRPr sz="919">
                <a:solidFill>
                  <a:srgbClr val="334155"/>
                </a:solidFill>
              </a:defRPr>
            </a:pPr>
            <a:r>
              <a:t>Ép kernel học quy luật giải phẫu: Mũ bảo hộ nằm trên đầu người (Cy &lt; 0), không nằm ở mặt đất.</a:t>
            </a:r>
          </a:p>
        </p:txBody>
      </p:sp>
      <p:sp>
        <p:nvSpPr>
          <p:cNvPr id="12" name="Rounded Rectangle 11"/>
          <p:cNvSpPr/>
          <p:nvPr/>
        </p:nvSpPr>
        <p:spPr>
          <a:xfrm>
            <a:off x="80467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193792"/>
            <a:ext cx="3200400" cy="1234440"/>
          </a:xfrm>
          <a:prstGeom prst="rect">
            <a:avLst/>
          </a:prstGeom>
          <a:noFill/>
        </p:spPr>
        <p:txBody>
          <a:bodyPr wrap="square" lIns="0" rIns="0" tIns="0" bIns="0">
            <a:spAutoFit/>
          </a:bodyPr>
          <a:lstStyle/>
          <a:p>
            <a:pPr>
              <a:spcAft>
                <a:spcPts val="200"/>
              </a:spcAft>
              <a:defRPr sz="1050" b="1">
                <a:solidFill>
                  <a:srgbClr val="16A34A"/>
                </a:solidFill>
              </a:defRPr>
            </a:pPr>
            <a:r>
              <a:t>TRIỆT TIÊU BÁO ĐỘNG GIẢ</a:t>
            </a:r>
          </a:p>
          <a:p>
            <a:pPr>
              <a:defRPr sz="919">
                <a:solidFill>
                  <a:srgbClr val="334155"/>
                </a:solidFill>
              </a:defRPr>
            </a:pPr>
            <a:r>
              <a:t>Loại bỏ hoàn toàn &gt;28% cảnh báo sai vào xô vữa vàng, cọc tiêu và biển báo nguy hiểm dưới sàn.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ĐÓNG GÓP KỸ THUẬT 3 · KHÓA NÉT VI VẬT THỂ MŨ &lt; 20 PX</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08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Điểm Mới 3: Cơ Chế Chú Ý Định Tuyến Thưa 2 Cấp Độ (BiFormer)</a:t>
            </a:r>
          </a:p>
        </p:txBody>
      </p:sp>
      <p:sp>
        <p:nvSpPr>
          <p:cNvPr id="6" name="Rounded Rectangle 5"/>
          <p:cNvSpPr/>
          <p:nvPr/>
        </p:nvSpPr>
        <p:spPr>
          <a:xfrm>
            <a:off x="731520" y="1143000"/>
            <a:ext cx="1069848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BiFormer_Sparse_Attention.png"/>
          <p:cNvPicPr>
            <a:picLocks noChangeAspect="1"/>
          </p:cNvPicPr>
          <p:nvPr/>
        </p:nvPicPr>
        <p:blipFill>
          <a:blip r:embed="rId2"/>
          <a:stretch>
            <a:fillRect/>
          </a:stretch>
        </p:blipFill>
        <p:spPr>
          <a:xfrm>
            <a:off x="868680" y="1234440"/>
            <a:ext cx="10424160" cy="3703320"/>
          </a:xfrm>
          <a:prstGeom prst="rect">
            <a:avLst/>
          </a:prstGeom>
        </p:spPr>
      </p:pic>
      <p:sp>
        <p:nvSpPr>
          <p:cNvPr id="8" name="Rounded Rectangle 7"/>
          <p:cNvSpPr/>
          <p:nvPr/>
        </p:nvSpPr>
        <p:spPr>
          <a:xfrm>
            <a:off x="7315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193792"/>
            <a:ext cx="3200400" cy="1234440"/>
          </a:xfrm>
          <a:prstGeom prst="rect">
            <a:avLst/>
          </a:prstGeom>
          <a:noFill/>
        </p:spPr>
        <p:txBody>
          <a:bodyPr wrap="square" lIns="0" rIns="0" tIns="0" bIns="0">
            <a:spAutoFit/>
          </a:bodyPr>
          <a:lstStyle/>
          <a:p>
            <a:pPr>
              <a:spcAft>
                <a:spcPts val="200"/>
              </a:spcAft>
              <a:defRPr sz="1050" b="1">
                <a:solidFill>
                  <a:srgbClr val="EA580C"/>
                </a:solidFill>
              </a:defRPr>
            </a:pPr>
            <a:r>
              <a:t>ĐỊNH TUYẾN THƯA VÙNG (S×S)</a:t>
            </a:r>
          </a:p>
          <a:p>
            <a:pPr>
              <a:defRPr sz="919">
                <a:solidFill>
                  <a:srgbClr val="334155"/>
                </a:solidFill>
              </a:defRPr>
            </a:pPr>
            <a:r>
              <a:t>Chia lưới S x S (S=8), tính ma trận tương quan vùng A^r và chỉ giữ lại Top-k (k=4) vùng liên quan.</a:t>
            </a:r>
          </a:p>
        </p:txBody>
      </p:sp>
      <p:sp>
        <p:nvSpPr>
          <p:cNvPr id="10" name="Rounded Rectangle 9"/>
          <p:cNvSpPr/>
          <p:nvPr/>
        </p:nvSpPr>
        <p:spPr>
          <a:xfrm>
            <a:off x="43891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193792"/>
            <a:ext cx="3200400" cy="1234440"/>
          </a:xfrm>
          <a:prstGeom prst="rect">
            <a:avLst/>
          </a:prstGeom>
          <a:noFill/>
        </p:spPr>
        <p:txBody>
          <a:bodyPr wrap="square" lIns="0" rIns="0" tIns="0" bIns="0">
            <a:spAutoFit/>
          </a:bodyPr>
          <a:lstStyle/>
          <a:p>
            <a:pPr>
              <a:spcAft>
                <a:spcPts val="200"/>
              </a:spcAft>
              <a:defRPr sz="1050" b="1">
                <a:solidFill>
                  <a:srgbClr val="2563EB"/>
                </a:solidFill>
              </a:defRPr>
            </a:pPr>
            <a:r>
              <a:t>ĐỘ PHỨC TẠP TUYẾN TÍNH</a:t>
            </a:r>
          </a:p>
          <a:p>
            <a:pPr>
              <a:defRPr sz="919">
                <a:solidFill>
                  <a:srgbClr val="334155"/>
                </a:solidFill>
              </a:defRPr>
            </a:pPr>
            <a:r>
              <a:t>Giảm độ phức tạp tự chú ý từ bậc hai O(H²W²) xuống tuyến tính O(HW), không làm tràn bộ nhớ VRAM.</a:t>
            </a:r>
          </a:p>
        </p:txBody>
      </p:sp>
      <p:sp>
        <p:nvSpPr>
          <p:cNvPr id="12" name="Rounded Rectangle 11"/>
          <p:cNvSpPr/>
          <p:nvPr/>
        </p:nvSpPr>
        <p:spPr>
          <a:xfrm>
            <a:off x="80467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193792"/>
            <a:ext cx="3200400" cy="1234440"/>
          </a:xfrm>
          <a:prstGeom prst="rect">
            <a:avLst/>
          </a:prstGeom>
          <a:noFill/>
        </p:spPr>
        <p:txBody>
          <a:bodyPr wrap="square" lIns="0" rIns="0" tIns="0" bIns="0">
            <a:spAutoFit/>
          </a:bodyPr>
          <a:lstStyle/>
          <a:p>
            <a:pPr>
              <a:spcAft>
                <a:spcPts val="200"/>
              </a:spcAft>
              <a:defRPr sz="1050" b="1">
                <a:solidFill>
                  <a:srgbClr val="16A34A"/>
                </a:solidFill>
              </a:defRPr>
            </a:pPr>
            <a:r>
              <a:t>TĂNG RECALL VI VẬT THỂ</a:t>
            </a:r>
          </a:p>
          <a:p>
            <a:pPr>
              <a:defRPr sz="919">
                <a:solidFill>
                  <a:srgbClr val="334155"/>
                </a:solidFill>
              </a:defRPr>
            </a:pPr>
            <a:r>
              <a:t>Loại bỏ 80% nền rác, tập trung 100% tài nguyên tính toán vào vòm mũ, đẩy Recall mũ lên 91.33%.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ĐÓNG GÓP KỸ THUẬT 4 · TỐI ƯU BOUNDING BOX &amp; THU GỌN MÔ HÌNH</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09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Điểm Mới 4: Hàm Mất Mát Focal EIoU &amp; Nhánh Vi Vật Thể P2</a:t>
            </a:r>
          </a:p>
        </p:txBody>
      </p:sp>
      <p:sp>
        <p:nvSpPr>
          <p:cNvPr id="6" name="Rounded Rectangle 5"/>
          <p:cNvSpPr/>
          <p:nvPr/>
        </p:nvSpPr>
        <p:spPr>
          <a:xfrm>
            <a:off x="731520" y="1143000"/>
            <a:ext cx="10698480"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Focal_EIoU_Decomposition.png"/>
          <p:cNvPicPr>
            <a:picLocks noChangeAspect="1"/>
          </p:cNvPicPr>
          <p:nvPr/>
        </p:nvPicPr>
        <p:blipFill>
          <a:blip r:embed="rId2"/>
          <a:stretch>
            <a:fillRect/>
          </a:stretch>
        </p:blipFill>
        <p:spPr>
          <a:xfrm>
            <a:off x="868680" y="1234440"/>
            <a:ext cx="10424160" cy="3703320"/>
          </a:xfrm>
          <a:prstGeom prst="rect">
            <a:avLst/>
          </a:prstGeom>
        </p:spPr>
      </p:pic>
      <p:sp>
        <p:nvSpPr>
          <p:cNvPr id="8" name="Rounded Rectangle 7"/>
          <p:cNvSpPr/>
          <p:nvPr/>
        </p:nvSpPr>
        <p:spPr>
          <a:xfrm>
            <a:off x="7315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193792"/>
            <a:ext cx="3200400" cy="1234440"/>
          </a:xfrm>
          <a:prstGeom prst="rect">
            <a:avLst/>
          </a:prstGeom>
          <a:noFill/>
        </p:spPr>
        <p:txBody>
          <a:bodyPr wrap="square" lIns="0" rIns="0" tIns="0" bIns="0">
            <a:spAutoFit/>
          </a:bodyPr>
          <a:lstStyle/>
          <a:p>
            <a:pPr>
              <a:spcAft>
                <a:spcPts val="200"/>
              </a:spcAft>
              <a:defRPr sz="1050" b="1">
                <a:solidFill>
                  <a:srgbClr val="EA580C"/>
                </a:solidFill>
              </a:defRPr>
            </a:pPr>
            <a:r>
              <a:t>PHÂN RÃ CẠNH ĐỘC LẬP</a:t>
            </a:r>
          </a:p>
          <a:p>
            <a:pPr>
              <a:defRPr sz="919">
                <a:solidFill>
                  <a:srgbClr val="334155"/>
                </a:solidFill>
              </a:defRPr>
            </a:pPr>
            <a:r>
              <a:t>Khắc phục hàm CIoU bằng cách tách độc lập phạt chiều rộng w và chiều cao h, chống biến dạng hộp.</a:t>
            </a:r>
          </a:p>
        </p:txBody>
      </p:sp>
      <p:sp>
        <p:nvSpPr>
          <p:cNvPr id="10" name="Rounded Rectangle 9"/>
          <p:cNvSpPr/>
          <p:nvPr/>
        </p:nvSpPr>
        <p:spPr>
          <a:xfrm>
            <a:off x="43891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193792"/>
            <a:ext cx="3200400" cy="1234440"/>
          </a:xfrm>
          <a:prstGeom prst="rect">
            <a:avLst/>
          </a:prstGeom>
          <a:noFill/>
        </p:spPr>
        <p:txBody>
          <a:bodyPr wrap="square" lIns="0" rIns="0" tIns="0" bIns="0">
            <a:spAutoFit/>
          </a:bodyPr>
          <a:lstStyle/>
          <a:p>
            <a:pPr>
              <a:spcAft>
                <a:spcPts val="200"/>
              </a:spcAft>
              <a:defRPr sz="1050" b="1">
                <a:solidFill>
                  <a:srgbClr val="2563EB"/>
                </a:solidFill>
              </a:defRPr>
            </a:pPr>
            <a:r>
              <a:t>ĐIỀU TIẾT MẪU KHÓ FOCAL</a:t>
            </a:r>
          </a:p>
          <a:p>
            <a:pPr>
              <a:defRPr sz="919">
                <a:solidFill>
                  <a:srgbClr val="334155"/>
                </a:solidFill>
              </a:defRPr>
            </a:pPr>
            <a:r>
              <a:t>Trọng số IoU^0.5 tự động khuếch đại gradient cho các mũ bảo hộ bị che khuất một phần dưới giàn giáo.</a:t>
            </a:r>
          </a:p>
        </p:txBody>
      </p:sp>
      <p:sp>
        <p:nvSpPr>
          <p:cNvPr id="12" name="Rounded Rectangle 11"/>
          <p:cNvSpPr/>
          <p:nvPr/>
        </p:nvSpPr>
        <p:spPr>
          <a:xfrm>
            <a:off x="8046720" y="5120640"/>
            <a:ext cx="34747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193792"/>
            <a:ext cx="3200400" cy="1234440"/>
          </a:xfrm>
          <a:prstGeom prst="rect">
            <a:avLst/>
          </a:prstGeom>
          <a:noFill/>
        </p:spPr>
        <p:txBody>
          <a:bodyPr wrap="square" lIns="0" rIns="0" tIns="0" bIns="0">
            <a:spAutoFit/>
          </a:bodyPr>
          <a:lstStyle/>
          <a:p>
            <a:pPr>
              <a:spcAft>
                <a:spcPts val="200"/>
              </a:spcAft>
              <a:defRPr sz="1050" b="1">
                <a:solidFill>
                  <a:srgbClr val="16A34A"/>
                </a:solidFill>
              </a:defRPr>
            </a:pPr>
            <a:r>
              <a:t>CẤU TRÚC 4-HEAD P2 AFPN</a:t>
            </a:r>
          </a:p>
          <a:p>
            <a:pPr>
              <a:defRPr sz="919">
                <a:solidFill>
                  <a:srgbClr val="334155"/>
                </a:solidFill>
              </a:defRPr>
            </a:pPr>
            <a:r>
              <a:t>Bổ sung nhánh P2 (160x160/stride 4) nhưng cắt giảm 51.9% tham số (từ 9.85M xuống 4.74M params).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3 · TÍNH TỰ CHỦ KỸ THUẬT CỦA NHÓM</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10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Khẳng Định Bản Quyền: Tự Phát Triển &amp; Tùy Biến Mã Nguồn Lõi</a:t>
            </a:r>
          </a:p>
        </p:txBody>
      </p:sp>
      <p:sp>
        <p:nvSpPr>
          <p:cNvPr id="6" name="Rounded Rectangle 5"/>
          <p:cNvSpPr/>
          <p:nvPr/>
        </p:nvSpPr>
        <p:spPr>
          <a:xfrm>
            <a:off x="731520" y="1234440"/>
            <a:ext cx="10698480" cy="10241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435608"/>
            <a:ext cx="411480" cy="320040"/>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44752"/>
            <a:ext cx="411480" cy="320040"/>
          </a:xfrm>
          <a:prstGeom prst="rect">
            <a:avLst/>
          </a:prstGeom>
          <a:noFill/>
        </p:spPr>
        <p:txBody>
          <a:bodyPr wrap="none" lIns="0" rIns="0" tIns="0" bIns="0">
            <a:spAutoFit/>
          </a:bodyPr>
          <a:lstStyle/>
          <a:p>
            <a:pPr algn="ctr">
              <a:defRPr sz="1100" b="1">
                <a:solidFill>
                  <a:srgbClr val="FFFFFF"/>
                </a:solidFill>
              </a:defRPr>
            </a:pPr>
            <a:r>
              <a:t>01</a:t>
            </a:r>
          </a:p>
        </p:txBody>
      </p:sp>
      <p:sp>
        <p:nvSpPr>
          <p:cNvPr id="9" name="TextBox 8"/>
          <p:cNvSpPr txBox="1"/>
          <p:nvPr/>
        </p:nvSpPr>
        <p:spPr>
          <a:xfrm>
            <a:off x="1463040" y="1371600"/>
            <a:ext cx="3200400" cy="731520"/>
          </a:xfrm>
          <a:prstGeom prst="rect">
            <a:avLst/>
          </a:prstGeom>
          <a:noFill/>
        </p:spPr>
        <p:txBody>
          <a:bodyPr wrap="square" lIns="0" rIns="0" tIns="0" bIns="0">
            <a:spAutoFit/>
          </a:bodyPr>
          <a:lstStyle/>
          <a:p>
            <a:pPr>
              <a:defRPr sz="1150" b="1">
                <a:solidFill>
                  <a:srgbClr val="0F172A"/>
                </a:solidFill>
              </a:defRPr>
            </a:pPr>
            <a:r>
              <a:t>TỰ VIẾT 100% PYTORCH</a:t>
            </a:r>
          </a:p>
          <a:p>
            <a:pPr>
              <a:defRPr sz="950" b="1">
                <a:solidFill>
                  <a:srgbClr val="EA580C"/>
                </a:solidFill>
              </a:defRPr>
            </a:pPr>
            <a:r>
              <a:t>custom_ablation_modules.py</a:t>
            </a:r>
          </a:p>
        </p:txBody>
      </p:sp>
      <p:sp>
        <p:nvSpPr>
          <p:cNvPr id="10" name="TextBox 9"/>
          <p:cNvSpPr txBox="1"/>
          <p:nvPr/>
        </p:nvSpPr>
        <p:spPr>
          <a:xfrm>
            <a:off x="4754880" y="1417320"/>
            <a:ext cx="6492240" cy="640080"/>
          </a:xfrm>
          <a:prstGeom prst="rect">
            <a:avLst/>
          </a:prstGeom>
          <a:noFill/>
        </p:spPr>
        <p:txBody>
          <a:bodyPr wrap="square" lIns="0" rIns="0" tIns="0" bIns="0">
            <a:spAutoFit/>
          </a:bodyPr>
          <a:lstStyle/>
          <a:p>
            <a:pPr>
              <a:defRPr sz="1000">
                <a:solidFill>
                  <a:srgbClr val="334155"/>
                </a:solidFill>
              </a:defRPr>
            </a:pPr>
            <a:r>
              <a:t>Tự lập trình từ đầu 360 dòng mã nguồn thuần PyTorch cho CoordConv, RepConv, BiFormer và Focal EIoU; không dùng thư viện ngoài.</a:t>
            </a:r>
          </a:p>
        </p:txBody>
      </p:sp>
      <p:sp>
        <p:nvSpPr>
          <p:cNvPr id="11" name="Rounded Rectangle 10"/>
          <p:cNvSpPr/>
          <p:nvPr/>
        </p:nvSpPr>
        <p:spPr>
          <a:xfrm>
            <a:off x="731520" y="2377440"/>
            <a:ext cx="10698480" cy="10241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2578608"/>
            <a:ext cx="411480" cy="320040"/>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87752"/>
            <a:ext cx="411480" cy="320040"/>
          </a:xfrm>
          <a:prstGeom prst="rect">
            <a:avLst/>
          </a:prstGeom>
          <a:noFill/>
        </p:spPr>
        <p:txBody>
          <a:bodyPr wrap="none" lIns="0" rIns="0" tIns="0" bIns="0">
            <a:spAutoFit/>
          </a:bodyPr>
          <a:lstStyle/>
          <a:p>
            <a:pPr algn="ctr">
              <a:defRPr sz="1100" b="1">
                <a:solidFill>
                  <a:srgbClr val="FFFFFF"/>
                </a:solidFill>
              </a:defRPr>
            </a:pPr>
            <a:r>
              <a:t>02</a:t>
            </a:r>
          </a:p>
        </p:txBody>
      </p:sp>
      <p:sp>
        <p:nvSpPr>
          <p:cNvPr id="14" name="TextBox 13"/>
          <p:cNvSpPr txBox="1"/>
          <p:nvPr/>
        </p:nvSpPr>
        <p:spPr>
          <a:xfrm>
            <a:off x="1463040" y="2514600"/>
            <a:ext cx="3200400" cy="731520"/>
          </a:xfrm>
          <a:prstGeom prst="rect">
            <a:avLst/>
          </a:prstGeom>
          <a:noFill/>
        </p:spPr>
        <p:txBody>
          <a:bodyPr wrap="square" lIns="0" rIns="0" tIns="0" bIns="0">
            <a:spAutoFit/>
          </a:bodyPr>
          <a:lstStyle/>
          <a:p>
            <a:pPr>
              <a:defRPr sz="1150" b="1">
                <a:solidFill>
                  <a:srgbClr val="0F172A"/>
                </a:solidFill>
              </a:defRPr>
            </a:pPr>
            <a:r>
              <a:t>CAN THIỆP VẬT LÝ FILE LOSS.PY</a:t>
            </a:r>
          </a:p>
          <a:p>
            <a:pPr>
              <a:defRPr sz="950" b="1">
                <a:solidFill>
                  <a:srgbClr val="2563EB"/>
                </a:solidFill>
              </a:defRPr>
            </a:pPr>
            <a:r>
              <a:t>Physical File Hard-Patch</a:t>
            </a:r>
          </a:p>
        </p:txBody>
      </p:sp>
      <p:sp>
        <p:nvSpPr>
          <p:cNvPr id="15" name="TextBox 14"/>
          <p:cNvSpPr txBox="1"/>
          <p:nvPr/>
        </p:nvSpPr>
        <p:spPr>
          <a:xfrm>
            <a:off x="4754880" y="2560320"/>
            <a:ext cx="6492240" cy="640080"/>
          </a:xfrm>
          <a:prstGeom prst="rect">
            <a:avLst/>
          </a:prstGeom>
          <a:noFill/>
        </p:spPr>
        <p:txBody>
          <a:bodyPr wrap="square" lIns="0" rIns="0" tIns="0" bIns="0">
            <a:spAutoFit/>
          </a:bodyPr>
          <a:lstStyle/>
          <a:p>
            <a:pPr>
              <a:defRPr sz="1000">
                <a:solidFill>
                  <a:srgbClr val="334155"/>
                </a:solidFill>
              </a:defRPr>
            </a:pPr>
            <a:r>
              <a:t>Khắc phục hạn chế cô lập tiến trình của PyTorch DDP trên Kaggle bằng kỹ thuật ghi đè trực tiếp loss.py để ép tính loss tùy biến.</a:t>
            </a:r>
          </a:p>
        </p:txBody>
      </p:sp>
      <p:sp>
        <p:nvSpPr>
          <p:cNvPr id="16" name="Rounded Rectangle 15"/>
          <p:cNvSpPr/>
          <p:nvPr/>
        </p:nvSpPr>
        <p:spPr>
          <a:xfrm>
            <a:off x="731520" y="3520440"/>
            <a:ext cx="10698480" cy="10241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3721608"/>
            <a:ext cx="411480" cy="320040"/>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730752"/>
            <a:ext cx="411480" cy="320040"/>
          </a:xfrm>
          <a:prstGeom prst="rect">
            <a:avLst/>
          </a:prstGeom>
          <a:noFill/>
        </p:spPr>
        <p:txBody>
          <a:bodyPr wrap="none" lIns="0" rIns="0" tIns="0" bIns="0">
            <a:spAutoFit/>
          </a:bodyPr>
          <a:lstStyle/>
          <a:p>
            <a:pPr algn="ctr">
              <a:defRPr sz="1100" b="1">
                <a:solidFill>
                  <a:srgbClr val="FFFFFF"/>
                </a:solidFill>
              </a:defRPr>
            </a:pPr>
            <a:r>
              <a:t>03</a:t>
            </a:r>
          </a:p>
        </p:txBody>
      </p:sp>
      <p:sp>
        <p:nvSpPr>
          <p:cNvPr id="19" name="TextBox 18"/>
          <p:cNvSpPr txBox="1"/>
          <p:nvPr/>
        </p:nvSpPr>
        <p:spPr>
          <a:xfrm>
            <a:off x="1463040" y="3657600"/>
            <a:ext cx="3200400" cy="731520"/>
          </a:xfrm>
          <a:prstGeom prst="rect">
            <a:avLst/>
          </a:prstGeom>
          <a:noFill/>
        </p:spPr>
        <p:txBody>
          <a:bodyPr wrap="square" lIns="0" rIns="0" tIns="0" bIns="0">
            <a:spAutoFit/>
          </a:bodyPr>
          <a:lstStyle/>
          <a:p>
            <a:pPr>
              <a:defRPr sz="1150" b="1">
                <a:solidFill>
                  <a:srgbClr val="0F172A"/>
                </a:solidFill>
              </a:defRPr>
            </a:pPr>
            <a:r>
              <a:t>BẺ KHÓA BẢO MẬT PYTORCH 2.6</a:t>
            </a:r>
          </a:p>
          <a:p>
            <a:pPr>
              <a:defRPr sz="950" b="1">
                <a:solidFill>
                  <a:srgbClr val="16A34A"/>
                </a:solidFill>
              </a:defRPr>
            </a:pPr>
            <a:r>
              <a:t>add_safe_globals Integration</a:t>
            </a:r>
          </a:p>
        </p:txBody>
      </p:sp>
      <p:sp>
        <p:nvSpPr>
          <p:cNvPr id="20" name="TextBox 19"/>
          <p:cNvSpPr txBox="1"/>
          <p:nvPr/>
        </p:nvSpPr>
        <p:spPr>
          <a:xfrm>
            <a:off x="4754880" y="3703320"/>
            <a:ext cx="6492240" cy="640080"/>
          </a:xfrm>
          <a:prstGeom prst="rect">
            <a:avLst/>
          </a:prstGeom>
          <a:noFill/>
        </p:spPr>
        <p:txBody>
          <a:bodyPr wrap="square" lIns="0" rIns="0" tIns="0" bIns="0">
            <a:spAutoFit/>
          </a:bodyPr>
          <a:lstStyle/>
          <a:p>
            <a:pPr>
              <a:defRPr sz="1000">
                <a:solidFill>
                  <a:srgbClr val="334155"/>
                </a:solidFill>
              </a:defRPr>
            </a:pPr>
            <a:r>
              <a:t>Xử lý lỗi chặn nạp trọng số weights_only=True của PyTorch 2.6, chuyển giao thành công 117 layer tensor tương thích.</a:t>
            </a:r>
          </a:p>
        </p:txBody>
      </p:sp>
      <p:sp>
        <p:nvSpPr>
          <p:cNvPr id="21" name="Rounded Rectangle 20"/>
          <p:cNvSpPr/>
          <p:nvPr/>
        </p:nvSpPr>
        <p:spPr>
          <a:xfrm>
            <a:off x="731520" y="4663440"/>
            <a:ext cx="10698480" cy="10241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4864607"/>
            <a:ext cx="411480" cy="32004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73752"/>
            <a:ext cx="411480" cy="320040"/>
          </a:xfrm>
          <a:prstGeom prst="rect">
            <a:avLst/>
          </a:prstGeom>
          <a:noFill/>
        </p:spPr>
        <p:txBody>
          <a:bodyPr wrap="none" lIns="0" rIns="0" tIns="0" bIns="0">
            <a:spAutoFit/>
          </a:bodyPr>
          <a:lstStyle/>
          <a:p>
            <a:pPr algn="ctr">
              <a:defRPr sz="1100" b="1">
                <a:solidFill>
                  <a:srgbClr val="FFFFFF"/>
                </a:solidFill>
              </a:defRPr>
            </a:pPr>
            <a:r>
              <a:t>04</a:t>
            </a:r>
          </a:p>
        </p:txBody>
      </p:sp>
      <p:sp>
        <p:nvSpPr>
          <p:cNvPr id="24" name="TextBox 23"/>
          <p:cNvSpPr txBox="1"/>
          <p:nvPr/>
        </p:nvSpPr>
        <p:spPr>
          <a:xfrm>
            <a:off x="1463040" y="4800600"/>
            <a:ext cx="3200400" cy="731520"/>
          </a:xfrm>
          <a:prstGeom prst="rect">
            <a:avLst/>
          </a:prstGeom>
          <a:noFill/>
        </p:spPr>
        <p:txBody>
          <a:bodyPr wrap="square" lIns="0" rIns="0" tIns="0" bIns="0">
            <a:spAutoFit/>
          </a:bodyPr>
          <a:lstStyle/>
          <a:p>
            <a:pPr>
              <a:defRPr sz="1150" b="1">
                <a:solidFill>
                  <a:srgbClr val="0F172A"/>
                </a:solidFill>
              </a:defRPr>
            </a:pPr>
            <a:r>
              <a:t>SÁNG CHẾ GIAO THỨC HARMONIZED</a:t>
            </a:r>
          </a:p>
          <a:p>
            <a:pPr>
              <a:defRPr sz="950" b="1">
                <a:solidFill>
                  <a:srgbClr val="D97706"/>
                </a:solidFill>
              </a:defRPr>
            </a:pPr>
            <a:r>
              <a:t>Harmonized PPE Protocol</a:t>
            </a:r>
          </a:p>
        </p:txBody>
      </p:sp>
      <p:sp>
        <p:nvSpPr>
          <p:cNvPr id="25" name="TextBox 24"/>
          <p:cNvSpPr txBox="1"/>
          <p:nvPr/>
        </p:nvSpPr>
        <p:spPr>
          <a:xfrm>
            <a:off x="4754880" y="4846320"/>
            <a:ext cx="6492240" cy="640080"/>
          </a:xfrm>
          <a:prstGeom prst="rect">
            <a:avLst/>
          </a:prstGeom>
          <a:noFill/>
        </p:spPr>
        <p:txBody>
          <a:bodyPr wrap="square" lIns="0" rIns="0" tIns="0" bIns="0">
            <a:spAutoFit/>
          </a:bodyPr>
          <a:lstStyle/>
          <a:p>
            <a:pPr>
              <a:defRPr sz="1000">
                <a:solidFill>
                  <a:srgbClr val="334155"/>
                </a:solidFill>
              </a:defRPr>
            </a:pPr>
            <a:r>
              <a:t>Phát hiện và giải mã hiện tượng Sụp đổ IoU do xung đột định nghĩa nhãn thân người, cứu vãn mAP ngoại miền lên 97.03%.</a:t>
            </a:r>
          </a:p>
        </p:txBody>
      </p:sp>
      <p:sp>
        <p:nvSpPr>
          <p:cNvPr id="26" name="Rounded Rectangle 25"/>
          <p:cNvSpPr/>
          <p:nvPr/>
        </p:nvSpPr>
        <p:spPr>
          <a:xfrm>
            <a:off x="731520" y="5897880"/>
            <a:ext cx="10698480" cy="54864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943600"/>
            <a:ext cx="10332720" cy="457200"/>
          </a:xfrm>
          <a:prstGeom prst="rect">
            <a:avLst/>
          </a:prstGeom>
          <a:noFill/>
        </p:spPr>
        <p:txBody>
          <a:bodyPr wrap="none" lIns="0" rIns="0" tIns="0" bIns="0">
            <a:spAutoFit/>
          </a:bodyPr>
          <a:lstStyle/>
          <a:p>
            <a:pPr>
              <a:defRPr sz="1050" b="1">
                <a:solidFill>
                  <a:srgbClr val="EA580C"/>
                </a:solidFill>
              </a:defRPr>
            </a:pPr>
            <a:r>
              <a:t>★ KHẲNG ĐỊNH: Nhóm kế thừa khung sườn Ultralytics nhưng tự chủ hoàn toàn 100% thuật toán tùy biến và kỹ nghệ can thiệp tầng thấp!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3 · TÍNH TOÀN VẸN &amp; QUY CHUẨN TẬP DỮ LIỆU</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11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Kỹ Nghệ Dữ Liệu: Thanh Lọc VOC2028 &amp; Chuẩn Hóa Đa Miền</a:t>
            </a:r>
          </a:p>
        </p:txBody>
      </p:sp>
      <p:sp>
        <p:nvSpPr>
          <p:cNvPr id="6" name="Rounded Rectangle 5"/>
          <p:cNvSpPr/>
          <p:nvPr/>
        </p:nvSpPr>
        <p:spPr>
          <a:xfrm>
            <a:off x="731520" y="123444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71600"/>
            <a:ext cx="4663440" cy="4206240"/>
          </a:xfrm>
          <a:prstGeom prst="rect">
            <a:avLst/>
          </a:prstGeom>
          <a:noFill/>
        </p:spPr>
        <p:txBody>
          <a:bodyPr wrap="square" lIns="0" rIns="0" tIns="0" bIns="0">
            <a:spAutoFit/>
          </a:bodyPr>
          <a:lstStyle/>
          <a:p>
            <a:pPr>
              <a:defRPr sz="1200" b="1">
                <a:solidFill>
                  <a:srgbClr val="EA580C"/>
                </a:solidFill>
              </a:defRPr>
            </a:pPr>
            <a:r>
              <a:t>TẬP DỮ LIỆU NGUỒN CHUẨN (VOC2028 / SHWD)</a:t>
            </a:r>
          </a:p>
          <a:p>
            <a:pPr>
              <a:spcAft>
                <a:spcPts val="600"/>
              </a:spcAft>
              <a:defRPr sz="1600" b="1">
                <a:solidFill>
                  <a:srgbClr val="0F172A"/>
                </a:solidFill>
              </a:defRPr>
            </a:pPr>
            <a:r>
              <a:t>7,581 Ảnh Công Trường Thực Tế</a:t>
            </a:r>
          </a:p>
          <a:p>
            <a:pPr>
              <a:spcAft>
                <a:spcPts val="400"/>
              </a:spcAft>
              <a:defRPr sz="980" b="1">
                <a:solidFill>
                  <a:srgbClr val="0F172A"/>
                </a:solidFill>
              </a:defRPr>
            </a:pPr>
            <a:r>
              <a:t>• Phân chia nghiêm ngặt 80/20: </a:t>
            </a:r>
            <a:r>
              <a:rPr b="0">
                <a:solidFill>
                  <a:srgbClr val="334155"/>
                </a:solidFill>
              </a:rPr>
              <a:t>6,064 ảnh TrainVal / 1,517 ảnh Test độc lập (Zero Leakage).</a:t>
            </a:r>
          </a:p>
          <a:p>
            <a:pPr>
              <a:spcAft>
                <a:spcPts val="400"/>
              </a:spcAft>
              <a:defRPr sz="980" b="1">
                <a:solidFill>
                  <a:srgbClr val="0F172A"/>
                </a:solidFill>
              </a:defRPr>
            </a:pPr>
            <a:r>
              <a:t>• Thanh lọc nhãn rác: </a:t>
            </a:r>
            <a:r>
              <a:rPr b="0">
                <a:solidFill>
                  <a:srgbClr val="334155"/>
                </a:solidFill>
              </a:rPr>
              <a:t>Phát hiện &amp; xóa bỏ 3 nhãn dị thường gán nhãn "dog" trong file XML 000377.</a:t>
            </a:r>
          </a:p>
          <a:p>
            <a:pPr>
              <a:spcAft>
                <a:spcPts val="400"/>
              </a:spcAft>
              <a:defRPr sz="980" b="1">
                <a:solidFill>
                  <a:srgbClr val="0F172A"/>
                </a:solidFill>
              </a:defRPr>
            </a:pPr>
            <a:r>
              <a:t>• Tỷ lệ mất cân bằng cực đoan: </a:t>
            </a:r>
            <a:r>
              <a:rPr b="0">
                <a:solidFill>
                  <a:srgbClr val="334155"/>
                </a:solidFill>
              </a:rPr>
              <a:t>1:12 (9,044 nhãn mũ đối đầu 111,514 nhãn thân người).</a:t>
            </a:r>
          </a:p>
          <a:p>
            <a:pPr>
              <a:spcAft>
                <a:spcPts val="400"/>
              </a:spcAft>
              <a:defRPr sz="980" b="1">
                <a:solidFill>
                  <a:srgbClr val="0F172A"/>
                </a:solidFill>
              </a:defRPr>
            </a:pPr>
            <a:r>
              <a:t>• Độ phân giải chuẩn hóa: </a:t>
            </a:r>
            <a:r>
              <a:rPr b="0">
                <a:solidFill>
                  <a:srgbClr val="334155"/>
                </a:solidFill>
              </a:rPr>
              <a:t>960×960 native và 640×640 / 1024×1024 đa tỉ xích.</a:t>
            </a:r>
          </a:p>
        </p:txBody>
      </p:sp>
      <p:sp>
        <p:nvSpPr>
          <p:cNvPr id="8" name="Rounded Rectangle 7"/>
          <p:cNvSpPr/>
          <p:nvPr/>
        </p:nvSpPr>
        <p:spPr>
          <a:xfrm>
            <a:off x="6126480" y="1234440"/>
            <a:ext cx="53035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71600"/>
            <a:ext cx="4846320" cy="4206240"/>
          </a:xfrm>
          <a:prstGeom prst="rect">
            <a:avLst/>
          </a:prstGeom>
          <a:noFill/>
        </p:spPr>
        <p:txBody>
          <a:bodyPr wrap="square" lIns="0" rIns="0" tIns="0" bIns="0">
            <a:spAutoFit/>
          </a:bodyPr>
          <a:lstStyle/>
          <a:p>
            <a:pPr>
              <a:defRPr sz="1200" b="1">
                <a:solidFill>
                  <a:srgbClr val="2563EB"/>
                </a:solidFill>
              </a:defRPr>
            </a:pPr>
            <a:r>
              <a:t>5 TẬP DỮ LIỆU KIỂM THỬ NGOẠI MIỀN (&gt;25,000 ẢNH)</a:t>
            </a:r>
          </a:p>
          <a:p>
            <a:pPr>
              <a:spcAft>
                <a:spcPts val="600"/>
              </a:spcAft>
              <a:defRPr sz="1600" b="1">
                <a:solidFill>
                  <a:srgbClr val="0F172A"/>
                </a:solidFill>
              </a:defRPr>
            </a:pPr>
            <a:r>
              <a:t>Thử Thách Khái Quát Hóa Cực Đoan</a:t>
            </a:r>
          </a:p>
          <a:p>
            <a:pPr>
              <a:spcAft>
                <a:spcPts val="400"/>
              </a:spcAft>
              <a:defRPr sz="980" b="1">
                <a:solidFill>
                  <a:srgbClr val="0F172A"/>
                </a:solidFill>
              </a:defRPr>
            </a:pPr>
            <a:r>
              <a:t>• GDUT-HWD (13,499 ảnh): </a:t>
            </a:r>
            <a:r>
              <a:rPr b="0">
                <a:solidFill>
                  <a:srgbClr val="334155"/>
                </a:solidFill>
              </a:rPr>
              <a:t>Đám đông công nhân cực dày đặc (15–30 người/khung hình).</a:t>
            </a:r>
          </a:p>
          <a:p>
            <a:pPr>
              <a:spcAft>
                <a:spcPts val="400"/>
              </a:spcAft>
              <a:defRPr sz="980" b="1">
                <a:solidFill>
                  <a:srgbClr val="0F172A"/>
                </a:solidFill>
              </a:defRPr>
            </a:pPr>
            <a:r>
              <a:t>• SHEL5K (5,000 ảnh): </a:t>
            </a:r>
            <a:r>
              <a:rPr b="0">
                <a:solidFill>
                  <a:srgbClr val="334155"/>
                </a:solidFill>
              </a:rPr>
              <a:t>Góc nhìn Flycam thẳng đứng từ trên cao (70–90°), mũ cực nhỏ &lt;15px.</a:t>
            </a:r>
          </a:p>
          <a:p>
            <a:pPr>
              <a:spcAft>
                <a:spcPts val="400"/>
              </a:spcAft>
              <a:defRPr sz="980" b="1">
                <a:solidFill>
                  <a:srgbClr val="0F172A"/>
                </a:solidFill>
              </a:defRPr>
            </a:pPr>
            <a:r>
              <a:t>• Hard Hat Workers (7,000 ảnh): </a:t>
            </a:r>
            <a:r>
              <a:rPr b="0">
                <a:solidFill>
                  <a:srgbClr val="334155"/>
                </a:solidFill>
              </a:rPr>
              <a:t>Giám sát công trường ngoài trời với ánh sáng tự nhiên phức tạp.</a:t>
            </a:r>
          </a:p>
          <a:p>
            <a:pPr>
              <a:spcAft>
                <a:spcPts val="400"/>
              </a:spcAft>
              <a:defRPr sz="980" b="1">
                <a:solidFill>
                  <a:srgbClr val="0F172A"/>
                </a:solidFill>
              </a:defRPr>
            </a:pPr>
            <a:r>
              <a:t>• SHD &amp; SFCHD Benchmark: </a:t>
            </a:r>
            <a:r>
              <a:rPr b="0">
                <a:solidFill>
                  <a:srgbClr val="334155"/>
                </a:solidFill>
              </a:rPr>
              <a:t>Hạ tầng nhà máy luyện kim, dầu khí và xưởng đóng tàu công nghiệp.</a:t>
            </a:r>
          </a:p>
        </p:txBody>
      </p:sp>
      <p:sp>
        <p:nvSpPr>
          <p:cNvPr id="10" name="Rounded Rectangle 9"/>
          <p:cNvSpPr/>
          <p:nvPr/>
        </p:nvSpPr>
        <p:spPr>
          <a:xfrm>
            <a:off x="731520" y="5806440"/>
            <a:ext cx="10698480" cy="6400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70448"/>
            <a:ext cx="10332720" cy="502920"/>
          </a:xfrm>
          <a:prstGeom prst="rect">
            <a:avLst/>
          </a:prstGeom>
          <a:noFill/>
        </p:spPr>
        <p:txBody>
          <a:bodyPr wrap="none" lIns="0" rIns="0" tIns="0" bIns="0">
            <a:spAutoFit/>
          </a:bodyPr>
          <a:lstStyle/>
          <a:p>
            <a:pPr>
              <a:defRPr sz="1050" b="1">
                <a:solidFill>
                  <a:srgbClr val="2563EB"/>
                </a:solidFill>
              </a:defRPr>
            </a:pPr>
            <a:r>
              <a:t>★ KHÔNG GIAN NHÃN THỐNG NHẤT C* = {0: "hat" (Mũ bảo hộ), 1: "person" (Người / Công nhân)} — Đồng bộ hóa toàn bộ 33,000+ ảnh!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3 · KIỂM ĐỊNH ĐÓNG GÓP TỪNG THÀNH PHẦN</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12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Thực Nghiệm Cắt Bỏ (Ablation Study A0–A6): Minh Chứng Khoa Học</a:t>
            </a:r>
          </a:p>
        </p:txBody>
      </p:sp>
      <p:sp>
        <p:nvSpPr>
          <p:cNvPr id="6" name="Rounded Rectangle 5"/>
          <p:cNvSpPr/>
          <p:nvPr/>
        </p:nvSpPr>
        <p:spPr>
          <a:xfrm>
            <a:off x="731520" y="1234440"/>
            <a:ext cx="43891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023360" cy="4663440"/>
          </a:xfrm>
          <a:prstGeom prst="rect">
            <a:avLst/>
          </a:prstGeom>
          <a:noFill/>
        </p:spPr>
        <p:txBody>
          <a:bodyPr wrap="square" lIns="0" rIns="0" tIns="0" bIns="0">
            <a:spAutoFit/>
          </a:bodyPr>
          <a:lstStyle/>
          <a:p>
            <a:pPr>
              <a:spcAft>
                <a:spcPts val="400"/>
              </a:spcAft>
              <a:defRPr sz="1100" b="1">
                <a:solidFill>
                  <a:srgbClr val="EA580C"/>
                </a:solidFill>
              </a:defRPr>
            </a:pPr>
            <a:r>
              <a:t>ĐÓNG GÓP TỪNG MODULE</a:t>
            </a:r>
          </a:p>
          <a:p>
            <a:pPr>
              <a:spcAft>
                <a:spcPts val="300"/>
              </a:spcAft>
              <a:defRPr sz="950" b="1">
                <a:solidFill>
                  <a:srgbClr val="0F172A"/>
                </a:solidFill>
              </a:defRPr>
            </a:pPr>
            <a:r>
              <a:t>• A0 (Baseline YOLO11s): </a:t>
            </a:r>
            <a:r>
              <a:rPr b="0">
                <a:solidFill>
                  <a:srgbClr val="334155"/>
                </a:solidFill>
              </a:rPr>
              <a:t>94.74% mAP50 · 6.52 ms latency.</a:t>
            </a:r>
          </a:p>
          <a:p>
            <a:pPr>
              <a:spcAft>
                <a:spcPts val="300"/>
              </a:spcAft>
              <a:defRPr sz="950" b="1">
                <a:solidFill>
                  <a:srgbClr val="0F172A"/>
                </a:solidFill>
              </a:defRPr>
            </a:pPr>
            <a:r>
              <a:t>• A1 (+ P2 Small Head): </a:t>
            </a:r>
            <a:r>
              <a:rPr b="0">
                <a:solidFill>
                  <a:srgbClr val="334155"/>
                </a:solidFill>
              </a:rPr>
              <a:t>94.81% mAP50 · Trễ vọt lên 8.94 ms (+37%) -&gt; Bị loại bỏ vì không tối ưu.</a:t>
            </a:r>
          </a:p>
          <a:p>
            <a:pPr>
              <a:spcAft>
                <a:spcPts val="300"/>
              </a:spcAft>
              <a:defRPr sz="950" b="1">
                <a:solidFill>
                  <a:srgbClr val="0F172A"/>
                </a:solidFill>
              </a:defRPr>
            </a:pPr>
            <a:r>
              <a:t>• A2 (+ CoordConv): </a:t>
            </a:r>
            <a:r>
              <a:rPr b="0">
                <a:solidFill>
                  <a:srgbClr val="334155"/>
                </a:solidFill>
              </a:rPr>
              <a:t>94.78% mAP50 · Tăng độ nhận diện không gian mà không tốn chi phí.</a:t>
            </a:r>
          </a:p>
          <a:p>
            <a:pPr>
              <a:spcAft>
                <a:spcPts val="300"/>
              </a:spcAft>
              <a:defRPr sz="950" b="1">
                <a:solidFill>
                  <a:srgbClr val="0F172A"/>
                </a:solidFill>
              </a:defRPr>
            </a:pPr>
            <a:r>
              <a:t>• A3 (+ RepConv): </a:t>
            </a:r>
            <a:r>
              <a:rPr b="0">
                <a:solidFill>
                  <a:srgbClr val="334155"/>
                </a:solidFill>
              </a:rPr>
              <a:t>94.81% mAP50 · Làm giàu gradient huấn luyện.</a:t>
            </a:r>
          </a:p>
          <a:p>
            <a:pPr>
              <a:spcAft>
                <a:spcPts val="300"/>
              </a:spcAft>
              <a:defRPr sz="950" b="1">
                <a:solidFill>
                  <a:srgbClr val="0F172A"/>
                </a:solidFill>
              </a:defRPr>
            </a:pPr>
            <a:r>
              <a:t>• A4 (+ Focal EIoU): </a:t>
            </a:r>
            <a:r>
              <a:rPr b="0">
                <a:solidFill>
                  <a:srgbClr val="334155"/>
                </a:solidFill>
              </a:rPr>
              <a:t>94.88% mAP50 · Bắt dính bounding box vi vật thể.</a:t>
            </a:r>
          </a:p>
          <a:p>
            <a:pPr>
              <a:spcAft>
                <a:spcPts val="300"/>
              </a:spcAft>
              <a:defRPr sz="950" b="1">
                <a:solidFill>
                  <a:srgbClr val="0F172A"/>
                </a:solidFill>
              </a:defRPr>
            </a:pPr>
            <a:r>
              <a:t>• A5 (+ BiFormer): </a:t>
            </a:r>
            <a:r>
              <a:rPr b="0">
                <a:solidFill>
                  <a:srgbClr val="334155"/>
                </a:solidFill>
              </a:rPr>
              <a:t>94.80% mAP50 · Đẩy Recall mũ lên đỉnh 91.15%.</a:t>
            </a:r>
          </a:p>
          <a:p>
            <a:pPr>
              <a:spcAft>
                <a:spcPts val="300"/>
              </a:spcAft>
              <a:defRPr sz="950" b="1">
                <a:solidFill>
                  <a:srgbClr val="0F172A"/>
                </a:solidFill>
              </a:defRPr>
            </a:pPr>
            <a:r>
              <a:t>• A6 (Full Fusion): </a:t>
            </a:r>
            <a:r>
              <a:rPr b="0">
                <a:solidFill>
                  <a:srgbClr val="334155"/>
                </a:solidFill>
              </a:rPr>
              <a:t>94.83% mAP50 · Độ trễ giảm kỷ lục còn 2.92 ms!</a:t>
            </a:r>
          </a:p>
        </p:txBody>
      </p:sp>
      <p:sp>
        <p:nvSpPr>
          <p:cNvPr id="8" name="Rounded Rectangle 7"/>
          <p:cNvSpPr/>
          <p:nvPr/>
        </p:nvSpPr>
        <p:spPr>
          <a:xfrm>
            <a:off x="5303520" y="1234440"/>
            <a:ext cx="6126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6_ablation_A0_A6_tradeoff.png"/>
          <p:cNvPicPr>
            <a:picLocks noChangeAspect="1"/>
          </p:cNvPicPr>
          <p:nvPr/>
        </p:nvPicPr>
        <p:blipFill>
          <a:blip r:embed="rId2"/>
          <a:stretch>
            <a:fillRect/>
          </a:stretch>
        </p:blipFill>
        <p:spPr>
          <a:xfrm>
            <a:off x="5440680" y="1371600"/>
            <a:ext cx="5852160" cy="4114800"/>
          </a:xfrm>
          <a:prstGeom prst="rect">
            <a:avLst/>
          </a:prstGeom>
        </p:spPr>
      </p:pic>
      <p:sp>
        <p:nvSpPr>
          <p:cNvPr id="10" name="TextBox 9"/>
          <p:cNvSpPr txBox="1"/>
          <p:nvPr/>
        </p:nvSpPr>
        <p:spPr>
          <a:xfrm>
            <a:off x="5440680" y="5623560"/>
            <a:ext cx="5852160" cy="457200"/>
          </a:xfrm>
          <a:prstGeom prst="rect">
            <a:avLst/>
          </a:prstGeom>
          <a:noFill/>
        </p:spPr>
        <p:txBody>
          <a:bodyPr wrap="square" lIns="0" rIns="0" tIns="0" bIns="0">
            <a:spAutoFit/>
          </a:bodyPr>
          <a:lstStyle/>
          <a:p>
            <a:pPr>
              <a:defRPr sz="850">
                <a:solidFill>
                  <a:srgbClr val="64748B"/>
                </a:solidFill>
              </a:defRPr>
            </a:pPr>
            <a:r>
              <a:t>Hình 6: Biểu đồ đánh đổi thực nghiệm A0–A6 — Sau khi gộp nhánh W_fused, độ trễ giảm 55.2% trong khi độ chính xác duy trì ở mức tối ưu.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4 · Ý NGHĨA KHOA HỌC &amp; GIÁ TRỊ ĐỘT PHÁ</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13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Đối Sánh SOTA: Vị Thế Thống Trị Trên Đường Biên Pareto</a:t>
            </a:r>
          </a:p>
        </p:txBody>
      </p:sp>
      <p:sp>
        <p:nvSpPr>
          <p:cNvPr id="6" name="Rounded Rectangle 5"/>
          <p:cNvSpPr/>
          <p:nvPr/>
        </p:nvSpPr>
        <p:spPr>
          <a:xfrm>
            <a:off x="731520" y="1234440"/>
            <a:ext cx="43891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023360" cy="4663440"/>
          </a:xfrm>
          <a:prstGeom prst="rect">
            <a:avLst/>
          </a:prstGeom>
          <a:noFill/>
        </p:spPr>
        <p:txBody>
          <a:bodyPr wrap="square" lIns="0" rIns="0" tIns="0" bIns="0">
            <a:spAutoFit/>
          </a:bodyPr>
          <a:lstStyle/>
          <a:p>
            <a:pPr>
              <a:spcAft>
                <a:spcPts val="400"/>
              </a:spcAft>
              <a:defRPr sz="1100" b="1">
                <a:solidFill>
                  <a:srgbClr val="EA580C"/>
                </a:solidFill>
              </a:defRPr>
            </a:pPr>
            <a:r>
              <a:t>ƯU THẾ TUYỆT ĐỐI CỦA REP-YOLO11s</a:t>
            </a:r>
          </a:p>
          <a:p>
            <a:pPr>
              <a:spcAft>
                <a:spcPts val="400"/>
              </a:spcAft>
              <a:defRPr sz="950" b="1">
                <a:solidFill>
                  <a:srgbClr val="0F172A"/>
                </a:solidFill>
              </a:defRPr>
            </a:pPr>
            <a:r>
              <a:t>★ Nhanh gấp 2.23x Baseline: </a:t>
            </a:r>
            <a:r>
              <a:rPr b="0">
                <a:solidFill>
                  <a:srgbClr val="334155"/>
                </a:solidFill>
              </a:rPr>
              <a:t>Độ trễ 2.92 ms vs 6.52 ms của YOLO11s gốc (342.5 FPS trên Tesla T4).</a:t>
            </a:r>
          </a:p>
          <a:p>
            <a:pPr>
              <a:spcAft>
                <a:spcPts val="400"/>
              </a:spcAft>
              <a:defRPr sz="950" b="1">
                <a:solidFill>
                  <a:srgbClr val="0F172A"/>
                </a:solidFill>
              </a:defRPr>
            </a:pPr>
            <a:r>
              <a:t>★ Nhanh gấp 4.25x YOLO-CBF: </a:t>
            </a:r>
            <a:r>
              <a:rPr b="0">
                <a:solidFill>
                  <a:srgbClr val="334155"/>
                </a:solidFill>
              </a:rPr>
              <a:t>YOLO-CBF mất 12.4 ms (80.6 FPS), mô hình của đề tài chỉ mất 2.92 ms.</a:t>
            </a:r>
          </a:p>
          <a:p>
            <a:pPr>
              <a:spcAft>
                <a:spcPts val="400"/>
              </a:spcAft>
              <a:defRPr sz="950" b="1">
                <a:solidFill>
                  <a:srgbClr val="0F172A"/>
                </a:solidFill>
              </a:defRPr>
            </a:pPr>
            <a:r>
              <a:t>★ Vượt trội EC-YOLOv8 về FPS: </a:t>
            </a:r>
            <a:r>
              <a:rPr b="0">
                <a:solidFill>
                  <a:srgbClr val="334155"/>
                </a:solidFill>
              </a:rPr>
              <a:t>EC-YOLOv8 đạt 172.4 FPS, mô hình của đề tài đạt 342.5 FPS (nhanh gấp đôi).</a:t>
            </a:r>
          </a:p>
          <a:p>
            <a:pPr>
              <a:spcAft>
                <a:spcPts val="400"/>
              </a:spcAft>
              <a:defRPr sz="950" b="1">
                <a:solidFill>
                  <a:srgbClr val="0F172A"/>
                </a:solidFill>
              </a:defRPr>
            </a:pPr>
            <a:r>
              <a:t>★ Đỉnh cao 5-Fold Stratified: </a:t>
            </a:r>
            <a:r>
              <a:rPr b="0">
                <a:solidFill>
                  <a:srgbClr val="334155"/>
                </a:solidFill>
              </a:rPr>
              <a:t>Đạt 96.64% ± 0.32% mAP50, đỉnh Fold 3 đạt 97.11% mAP50 và F1: 0.9396.</a:t>
            </a:r>
          </a:p>
          <a:p>
            <a:pPr>
              <a:spcAft>
                <a:spcPts val="400"/>
              </a:spcAft>
              <a:defRPr sz="950" b="1">
                <a:solidFill>
                  <a:srgbClr val="0F172A"/>
                </a:solidFill>
              </a:defRPr>
            </a:pPr>
            <a:r>
              <a:t>★ Chiếm lĩnh góc trên - bên trái: </a:t>
            </a:r>
            <a:r>
              <a:rPr b="0">
                <a:solidFill>
                  <a:srgbClr val="334155"/>
                </a:solidFill>
              </a:rPr>
              <a:t>Vị trí lý tưởng nhất trên biểu đồ Pareto: Độ chính xác cao nhất với độ trễ thấp nhất.</a:t>
            </a:r>
          </a:p>
        </p:txBody>
      </p:sp>
      <p:sp>
        <p:nvSpPr>
          <p:cNvPr id="8" name="Rounded Rectangle 7"/>
          <p:cNvSpPr/>
          <p:nvPr/>
        </p:nvSpPr>
        <p:spPr>
          <a:xfrm>
            <a:off x="5303520" y="1234440"/>
            <a:ext cx="6126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5_efficiency_frontier_latency_vs_map.png"/>
          <p:cNvPicPr>
            <a:picLocks noChangeAspect="1"/>
          </p:cNvPicPr>
          <p:nvPr/>
        </p:nvPicPr>
        <p:blipFill>
          <a:blip r:embed="rId2"/>
          <a:stretch>
            <a:fillRect/>
          </a:stretch>
        </p:blipFill>
        <p:spPr>
          <a:xfrm>
            <a:off x="5440680" y="1371600"/>
            <a:ext cx="5852160" cy="4114800"/>
          </a:xfrm>
          <a:prstGeom prst="rect">
            <a:avLst/>
          </a:prstGeom>
        </p:spPr>
      </p:pic>
      <p:sp>
        <p:nvSpPr>
          <p:cNvPr id="10" name="TextBox 9"/>
          <p:cNvSpPr txBox="1"/>
          <p:nvPr/>
        </p:nvSpPr>
        <p:spPr>
          <a:xfrm>
            <a:off x="5440680" y="5623560"/>
            <a:ext cx="5852160" cy="457200"/>
          </a:xfrm>
          <a:prstGeom prst="rect">
            <a:avLst/>
          </a:prstGeom>
          <a:noFill/>
        </p:spPr>
        <p:txBody>
          <a:bodyPr wrap="square" lIns="0" rIns="0" tIns="0" bIns="0">
            <a:spAutoFit/>
          </a:bodyPr>
          <a:lstStyle/>
          <a:p>
            <a:pPr>
              <a:defRPr sz="850">
                <a:solidFill>
                  <a:srgbClr val="64748B"/>
                </a:solidFill>
              </a:defRPr>
            </a:pPr>
            <a:r>
              <a:t>Hình 5: Đường biên hiệu quả Pareto (Latency vs mAP50-95) — Rep-YOLO11s đứng đầu về tỷ lệ chính xác trên mỗi mili-giây suy luận.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4 · TÍNH MINH BẠCH &amp; KHẢ NĂNG GIẢI THÍCH CỦA AI</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14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Giải Thích Thị Giác (Grad-CAM XAI): Dập Tắt Báo Động Giả</a:t>
            </a:r>
          </a:p>
        </p:txBody>
      </p:sp>
      <p:sp>
        <p:nvSpPr>
          <p:cNvPr id="6" name="Rounded Rectangle 5"/>
          <p:cNvSpPr/>
          <p:nvPr/>
        </p:nvSpPr>
        <p:spPr>
          <a:xfrm>
            <a:off x="731520" y="1234440"/>
            <a:ext cx="40233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657600" cy="4663440"/>
          </a:xfrm>
          <a:prstGeom prst="rect">
            <a:avLst/>
          </a:prstGeom>
          <a:noFill/>
        </p:spPr>
        <p:txBody>
          <a:bodyPr wrap="square" lIns="0" rIns="0" tIns="0" bIns="0">
            <a:spAutoFit/>
          </a:bodyPr>
          <a:lstStyle/>
          <a:p>
            <a:pPr>
              <a:spcAft>
                <a:spcPts val="400"/>
              </a:spcAft>
              <a:defRPr sz="1100" b="1">
                <a:solidFill>
                  <a:srgbClr val="EA580C"/>
                </a:solidFill>
              </a:defRPr>
            </a:pPr>
            <a:r>
              <a:t>KIỂM CHỨNG 3 KỊCH BẢN THỰC TẾ</a:t>
            </a:r>
          </a:p>
          <a:p>
            <a:pPr>
              <a:defRPr sz="1000" b="1">
                <a:solidFill>
                  <a:srgbClr val="0F172A"/>
                </a:solidFill>
              </a:defRPr>
            </a:pPr>
            <a:r>
              <a:t>KỊCH BẢN 1: ÁO CAM PHẢN QUANG</a:t>
            </a:r>
          </a:p>
          <a:p>
            <a:pPr>
              <a:spcAft>
                <a:spcPts val="400"/>
              </a:spcAft>
              <a:defRPr sz="919">
                <a:solidFill>
                  <a:srgbClr val="334155"/>
                </a:solidFill>
              </a:defRPr>
            </a:pPr>
            <a:r>
              <a:t>Baseline bị phân tán gradient vào ngực áo và giàn giáo; Rep-YOLO11s tập trung duy nhất vào vòm mũ xanh (conf 0.84).</a:t>
            </a:r>
          </a:p>
          <a:p>
            <a:pPr>
              <a:defRPr sz="1000" b="1">
                <a:solidFill>
                  <a:srgbClr val="0F172A"/>
                </a:solidFill>
              </a:defRPr>
            </a:pPr>
            <a:r>
              <a:t>KỊCH BẢN 2: LÓA SÁNG NGƯỢC NGUY HIỂM</a:t>
            </a:r>
          </a:p>
          <a:p>
            <a:pPr>
              <a:spcAft>
                <a:spcPts val="400"/>
              </a:spcAft>
              <a:defRPr sz="919">
                <a:solidFill>
                  <a:srgbClr val="334155"/>
                </a:solidFill>
              </a:defRPr>
            </a:pPr>
            <a:r>
              <a:t>Ánh sáng cửa kính làm mờ độ tương phản; BiFormer duy trì cụm kích hoạt đậm đặc tại đỉnh đầu (conf 0.89).</a:t>
            </a:r>
          </a:p>
          <a:p>
            <a:pPr>
              <a:defRPr sz="1000" b="1">
                <a:solidFill>
                  <a:srgbClr val="0F172A"/>
                </a:solidFill>
              </a:defRPr>
            </a:pPr>
            <a:r>
              <a:t>KỊCH BẢN 3: BIỂN BÁO TAM GIÁC VÀNG</a:t>
            </a:r>
          </a:p>
          <a:p>
            <a:pPr>
              <a:spcAft>
                <a:spcPts val="400"/>
              </a:spcAft>
              <a:defRPr sz="919">
                <a:solidFill>
                  <a:srgbClr val="334155"/>
                </a:solidFill>
              </a:defRPr>
            </a:pPr>
            <a:r>
              <a:t>Baseline kích hoạt nhầm biển báo nguy hiểm màu vàng; kênh tọa độ CoordConv dập tắt hoàn toàn báo động giả!</a:t>
            </a:r>
          </a:p>
        </p:txBody>
      </p:sp>
      <p:sp>
        <p:nvSpPr>
          <p:cNvPr id="8" name="Rounded Rectangle 7"/>
          <p:cNvSpPr/>
          <p:nvPr/>
        </p:nvSpPr>
        <p:spPr>
          <a:xfrm>
            <a:off x="4937760" y="1234440"/>
            <a:ext cx="6492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3_gradcam_xai_saliency_comparison.png"/>
          <p:cNvPicPr>
            <a:picLocks noChangeAspect="1"/>
          </p:cNvPicPr>
          <p:nvPr/>
        </p:nvPicPr>
        <p:blipFill>
          <a:blip r:embed="rId2"/>
          <a:stretch>
            <a:fillRect/>
          </a:stretch>
        </p:blipFill>
        <p:spPr>
          <a:xfrm>
            <a:off x="5074920" y="1353312"/>
            <a:ext cx="6217920" cy="4160520"/>
          </a:xfrm>
          <a:prstGeom prst="rect">
            <a:avLst/>
          </a:prstGeom>
        </p:spPr>
      </p:pic>
      <p:sp>
        <p:nvSpPr>
          <p:cNvPr id="10" name="TextBox 9"/>
          <p:cNvSpPr txBox="1"/>
          <p:nvPr/>
        </p:nvSpPr>
        <p:spPr>
          <a:xfrm>
            <a:off x="5074920" y="5623560"/>
            <a:ext cx="6217920" cy="457200"/>
          </a:xfrm>
          <a:prstGeom prst="rect">
            <a:avLst/>
          </a:prstGeom>
          <a:noFill/>
        </p:spPr>
        <p:txBody>
          <a:bodyPr wrap="square" lIns="0" rIns="0" tIns="0" bIns="0">
            <a:spAutoFit/>
          </a:bodyPr>
          <a:lstStyle/>
          <a:p>
            <a:pPr>
              <a:defRPr sz="850">
                <a:solidFill>
                  <a:srgbClr val="64748B"/>
                </a:solidFill>
              </a:defRPr>
            </a:pPr>
            <a:r>
              <a:t>Hình 3: Bản đồ nhiệt Grad-CAM đối sánh đối đầu trực tiếp — Cột (a) Ảnh gốc; (b) Baseline YOLO11s bị nhiễu; (c) Rep-YOLO11s khóa nét đỉnh đầu; (d) Hộp phát hiện cuối cùng.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4 · THỬ THÁCH CHUYỂN GIAO CÔNG NGHIỆP</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15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Kiểm Thử Khái Quát Hóa Đa Miền &amp; Giải Mã Hiện Tượng Sụp Đổ IoU</a:t>
            </a:r>
          </a:p>
        </p:txBody>
      </p:sp>
      <p:sp>
        <p:nvSpPr>
          <p:cNvPr id="6" name="Rounded Rectangle 5"/>
          <p:cNvSpPr/>
          <p:nvPr/>
        </p:nvSpPr>
        <p:spPr>
          <a:xfrm>
            <a:off x="731520" y="123444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53312"/>
            <a:ext cx="3200400" cy="2057400"/>
          </a:xfrm>
          <a:prstGeom prst="rect">
            <a:avLst/>
          </a:prstGeom>
          <a:noFill/>
        </p:spPr>
        <p:txBody>
          <a:bodyPr wrap="square" lIns="0" rIns="0" tIns="0" bIns="0">
            <a:spAutoFit/>
          </a:bodyPr>
          <a:lstStyle/>
          <a:p>
            <a:pPr>
              <a:defRPr sz="1000" b="1">
                <a:solidFill>
                  <a:srgbClr val="0F172A"/>
                </a:solidFill>
              </a:defRPr>
            </a:pPr>
            <a:r>
              <a:t>HARD HAT WORKERS (7,000 ẢNH)</a:t>
            </a:r>
          </a:p>
          <a:p>
            <a:pPr>
              <a:defRPr sz="2800" b="1">
                <a:solidFill>
                  <a:srgbClr val="16A34A"/>
                </a:solidFill>
              </a:defRPr>
            </a:pPr>
            <a:r>
              <a:t>97.03%</a:t>
            </a:r>
          </a:p>
          <a:p>
            <a:pPr>
              <a:spcAft>
                <a:spcPts val="200"/>
              </a:spcAft>
              <a:defRPr sz="900" b="1">
                <a:solidFill>
                  <a:srgbClr val="16A34A"/>
                </a:solidFill>
              </a:defRPr>
            </a:pPr>
            <a:r>
              <a:t>Giao thức Harmonized PPE (Hat-Only)</a:t>
            </a:r>
          </a:p>
          <a:p>
            <a:pPr>
              <a:defRPr sz="880">
                <a:solidFill>
                  <a:srgbClr val="64748B"/>
                </a:solidFill>
              </a:defRPr>
            </a:pPr>
            <a:r>
              <a:t>Đạt độ chính xác tương đương tập nguồn SHWD; biểu diễn mũ chuyển giao hoàn hảo.</a:t>
            </a:r>
          </a:p>
        </p:txBody>
      </p:sp>
      <p:sp>
        <p:nvSpPr>
          <p:cNvPr id="8" name="Rounded Rectangle 7"/>
          <p:cNvSpPr/>
          <p:nvPr/>
        </p:nvSpPr>
        <p:spPr>
          <a:xfrm>
            <a:off x="4389120" y="123444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353312"/>
            <a:ext cx="3200400" cy="2057400"/>
          </a:xfrm>
          <a:prstGeom prst="rect">
            <a:avLst/>
          </a:prstGeom>
          <a:noFill/>
        </p:spPr>
        <p:txBody>
          <a:bodyPr wrap="square" lIns="0" rIns="0" tIns="0" bIns="0">
            <a:spAutoFit/>
          </a:bodyPr>
          <a:lstStyle/>
          <a:p>
            <a:pPr>
              <a:defRPr sz="1000" b="1">
                <a:solidFill>
                  <a:srgbClr val="0F172A"/>
                </a:solidFill>
              </a:defRPr>
            </a:pPr>
            <a:r>
              <a:t>GDUT-HWD (13,499 ẢNH)</a:t>
            </a:r>
          </a:p>
          <a:p>
            <a:pPr>
              <a:defRPr sz="2800" b="1">
                <a:solidFill>
                  <a:srgbClr val="2563EB"/>
                </a:solidFill>
              </a:defRPr>
            </a:pPr>
            <a:r>
              <a:t>74.27%</a:t>
            </a:r>
          </a:p>
          <a:p>
            <a:pPr>
              <a:spcAft>
                <a:spcPts val="200"/>
              </a:spcAft>
              <a:defRPr sz="900" b="1">
                <a:solidFill>
                  <a:srgbClr val="2563EB"/>
                </a:solidFill>
              </a:defRPr>
            </a:pPr>
            <a:r>
              <a:t>Precision: 90.26% (Đám đông 15-30 người)</a:t>
            </a:r>
          </a:p>
          <a:p>
            <a:pPr>
              <a:defRPr sz="880">
                <a:solidFill>
                  <a:srgbClr val="64748B"/>
                </a:solidFill>
              </a:defRPr>
            </a:pPr>
            <a:r>
              <a:t>Chống chịu tuyệt vời trong điều kiện công nhân đứng san sát che khuất lẫn nhau.</a:t>
            </a:r>
          </a:p>
        </p:txBody>
      </p:sp>
      <p:sp>
        <p:nvSpPr>
          <p:cNvPr id="10" name="Rounded Rectangle 9"/>
          <p:cNvSpPr/>
          <p:nvPr/>
        </p:nvSpPr>
        <p:spPr>
          <a:xfrm>
            <a:off x="8046720" y="123444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353312"/>
            <a:ext cx="3200400" cy="2057400"/>
          </a:xfrm>
          <a:prstGeom prst="rect">
            <a:avLst/>
          </a:prstGeom>
          <a:noFill/>
        </p:spPr>
        <p:txBody>
          <a:bodyPr wrap="square" lIns="0" rIns="0" tIns="0" bIns="0">
            <a:spAutoFit/>
          </a:bodyPr>
          <a:lstStyle/>
          <a:p>
            <a:pPr>
              <a:defRPr sz="1000" b="1">
                <a:solidFill>
                  <a:srgbClr val="0F172A"/>
                </a:solidFill>
              </a:defRPr>
            </a:pPr>
            <a:r>
              <a:t>SHEL5K (5,000 ẢNH FLYCAM)</a:t>
            </a:r>
          </a:p>
          <a:p>
            <a:pPr>
              <a:defRPr sz="2800" b="1">
                <a:solidFill>
                  <a:srgbClr val="D97706"/>
                </a:solidFill>
              </a:defRPr>
            </a:pPr>
            <a:r>
              <a:t>41.15%</a:t>
            </a:r>
          </a:p>
          <a:p>
            <a:pPr>
              <a:spcAft>
                <a:spcPts val="200"/>
              </a:spcAft>
              <a:defRPr sz="900" b="1">
                <a:solidFill>
                  <a:srgbClr val="D97706"/>
                </a:solidFill>
              </a:defRPr>
            </a:pPr>
            <a:r>
              <a:t>Precision: 85.62% (Góc nhìn 90° cực đoan)</a:t>
            </a:r>
          </a:p>
          <a:p>
            <a:pPr>
              <a:defRPr sz="880">
                <a:solidFill>
                  <a:srgbClr val="64748B"/>
                </a:solidFill>
              </a:defRPr>
            </a:pPr>
            <a:r>
              <a:t>Mô hình thà bỏ sót vi vật thể &lt;15px chứ không báo động giả vào sỏi đá, mặt đất.</a:t>
            </a:r>
          </a:p>
        </p:txBody>
      </p:sp>
      <p:sp>
        <p:nvSpPr>
          <p:cNvPr id="12" name="Rounded Rectangle 11"/>
          <p:cNvSpPr/>
          <p:nvPr/>
        </p:nvSpPr>
        <p:spPr>
          <a:xfrm>
            <a:off x="731520" y="3703320"/>
            <a:ext cx="10698480" cy="2468880"/>
          </a:xfrm>
          <a:prstGeom prst="round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22191"/>
            <a:ext cx="10241280" cy="2240280"/>
          </a:xfrm>
          <a:prstGeom prst="rect">
            <a:avLst/>
          </a:prstGeom>
          <a:noFill/>
        </p:spPr>
        <p:txBody>
          <a:bodyPr wrap="square" lIns="0" rIns="0" tIns="0" bIns="0">
            <a:spAutoFit/>
          </a:bodyPr>
          <a:lstStyle/>
          <a:p>
            <a:pPr>
              <a:spcAft>
                <a:spcPts val="400"/>
              </a:spcAft>
              <a:defRPr sz="1150" b="1">
                <a:solidFill>
                  <a:srgbClr val="EA580C"/>
                </a:solidFill>
              </a:defRPr>
            </a:pPr>
            <a:r>
              <a:t>GIẢI MÃ TOÁN HỌC: HIỆN TƯỢNG SỤP ĐỔ IOU (IOU COLLAPSE AUTOPSY)</a:t>
            </a:r>
          </a:p>
          <a:p>
            <a:pPr>
              <a:defRPr sz="980" b="1">
                <a:solidFill>
                  <a:srgbClr val="0F172A"/>
                </a:solidFill>
              </a:defRPr>
            </a:pPr>
            <a:r>
              <a:t>• Xung đột định nghĩa nhãn học thuật: </a:t>
            </a:r>
            <a:r>
              <a:rPr b="0">
                <a:solidFill>
                  <a:srgbClr val="334155"/>
                </a:solidFill>
              </a:rPr>
              <a:t>Tập nguồn SHWD gán nhãn "person" là TOÀN THÂN (Full-body), trong khi Hard Hat Workers gán nhãn "person" chỉ là NỬA ĐẦU (Head-only).</a:t>
            </a:r>
          </a:p>
          <a:p>
            <a:pPr>
              <a:defRPr sz="980" b="1">
                <a:solidFill>
                  <a:srgbClr val="0F172A"/>
                </a:solidFill>
              </a:defRPr>
            </a:pPr>
            <a:r>
              <a:t>• Sụp đổ toán học: </a:t>
            </a:r>
            <a:r>
              <a:rPr b="0">
                <a:solidFill>
                  <a:srgbClr val="334155"/>
                </a:solidFill>
              </a:rPr>
              <a:t>Khi detector dự đoán đúng thân người, hộp ground-truth chỉ là cái đầu nằm lọt bên trong. Chỉ số IoU = Diện tích đầu / Diện tích thân ≈ 0.07 – 0.14 &lt;&lt; 0.50! Hệ thống bị phạt đồng thời cả False Positive và False Negative, kéo mAP gộp tụt xuống 74.40%.</a:t>
            </a:r>
          </a:p>
          <a:p>
            <a:pPr>
              <a:defRPr sz="980" b="1">
                <a:solidFill>
                  <a:srgbClr val="16A34A"/>
                </a:solidFill>
              </a:defRPr>
            </a:pPr>
            <a:r>
              <a:t>• Bằng chứng minh oan: </a:t>
            </a:r>
            <a:r>
              <a:rPr b="0">
                <a:solidFill>
                  <a:srgbClr val="334155"/>
                </a:solidFill>
              </a:rPr>
              <a:t>Khi áp dụng Giao thức Harmonized PPE (đánh giá riêng lớp mũ "hat"), mAP lập tức nhảy vọt lên 97.03%, chứng minh mô hình học bản chất thị giác cực chuẩn!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TIÊU CHÍ 4 · TÍNH KHẢ THI TRIỂN KHAI THỰC TIỄN</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16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Hiện Thực Hóa Phần Cứng: Chạy Mượt Trên GPU Laptop MX230 2GB</a:t>
            </a:r>
          </a:p>
        </p:txBody>
      </p:sp>
      <p:sp>
        <p:nvSpPr>
          <p:cNvPr id="6" name="Rounded Rectangle 5"/>
          <p:cNvSpPr/>
          <p:nvPr/>
        </p:nvSpPr>
        <p:spPr>
          <a:xfrm>
            <a:off x="731520" y="1234440"/>
            <a:ext cx="3474720" cy="2468880"/>
          </a:xfrm>
          <a:prstGeom prst="roundRect">
            <a:avLst/>
          </a:prstGeom>
          <a:solidFill>
            <a:srgbClr val="FFFFFF"/>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53312"/>
            <a:ext cx="3200400" cy="2240280"/>
          </a:xfrm>
          <a:prstGeom prst="rect">
            <a:avLst/>
          </a:prstGeom>
          <a:noFill/>
        </p:spPr>
        <p:txBody>
          <a:bodyPr wrap="square" lIns="0" rIns="0" tIns="0" bIns="0">
            <a:spAutoFit/>
          </a:bodyPr>
          <a:lstStyle/>
          <a:p>
            <a:pPr>
              <a:defRPr sz="950" b="1">
                <a:solidFill>
                  <a:srgbClr val="EA580C"/>
                </a:solidFill>
              </a:defRPr>
            </a:pPr>
            <a:r>
              <a:t>SERVER / CLOUD GPU</a:t>
            </a:r>
          </a:p>
          <a:p>
            <a:pPr>
              <a:defRPr sz="1200" b="1">
                <a:solidFill>
                  <a:srgbClr val="0F172A"/>
                </a:solidFill>
              </a:defRPr>
            </a:pPr>
            <a:r>
              <a:t>NVIDIA Tesla T4</a:t>
            </a:r>
          </a:p>
          <a:p>
            <a:pPr>
              <a:defRPr sz="1000" b="1">
                <a:solidFill>
                  <a:srgbClr val="64748B"/>
                </a:solidFill>
              </a:defRPr>
            </a:pPr>
            <a:r>
              <a:t>Độ trễ: 2.92 ms</a:t>
            </a:r>
          </a:p>
          <a:p>
            <a:pPr>
              <a:spcAft>
                <a:spcPts val="300"/>
              </a:spcAft>
              <a:defRPr sz="2600" b="1">
                <a:solidFill>
                  <a:srgbClr val="EA580C"/>
                </a:solidFill>
              </a:defRPr>
            </a:pPr>
            <a:r>
              <a:t>342.5 FPS</a:t>
            </a:r>
          </a:p>
          <a:p>
            <a:pPr>
              <a:defRPr sz="880">
                <a:solidFill>
                  <a:srgbClr val="334155"/>
                </a:solidFill>
              </a:defRPr>
            </a:pPr>
            <a:r>
              <a:t>TensorRT 11.2 FP16 · 640×640</a:t>
            </a:r>
            <a:br/>
            <a:r>
              <a:t>Chạy song song 12 luồng camera.</a:t>
            </a:r>
          </a:p>
        </p:txBody>
      </p:sp>
      <p:sp>
        <p:nvSpPr>
          <p:cNvPr id="8" name="Rounded Rectangle 7"/>
          <p:cNvSpPr/>
          <p:nvPr/>
        </p:nvSpPr>
        <p:spPr>
          <a:xfrm>
            <a:off x="4389120" y="1234440"/>
            <a:ext cx="3474720" cy="24688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353312"/>
            <a:ext cx="3200400" cy="2240280"/>
          </a:xfrm>
          <a:prstGeom prst="rect">
            <a:avLst/>
          </a:prstGeom>
          <a:noFill/>
        </p:spPr>
        <p:txBody>
          <a:bodyPr wrap="square" lIns="0" rIns="0" tIns="0" bIns="0">
            <a:spAutoFit/>
          </a:bodyPr>
          <a:lstStyle/>
          <a:p>
            <a:pPr>
              <a:defRPr sz="950" b="1">
                <a:solidFill>
                  <a:srgbClr val="2563EB"/>
                </a:solidFill>
              </a:defRPr>
            </a:pPr>
            <a:r>
              <a:t>LAPTOP GPU CẬN CAO CẤP</a:t>
            </a:r>
          </a:p>
          <a:p>
            <a:pPr>
              <a:defRPr sz="1200" b="1">
                <a:solidFill>
                  <a:srgbClr val="0F172A"/>
                </a:solidFill>
              </a:defRPr>
            </a:pPr>
            <a:r>
              <a:t>RTX 3050 Laptop</a:t>
            </a:r>
          </a:p>
          <a:p>
            <a:pPr>
              <a:defRPr sz="1000" b="1">
                <a:solidFill>
                  <a:srgbClr val="64748B"/>
                </a:solidFill>
              </a:defRPr>
            </a:pPr>
            <a:r>
              <a:t>Độ trễ: 5.35 ms</a:t>
            </a:r>
          </a:p>
          <a:p>
            <a:pPr>
              <a:spcAft>
                <a:spcPts val="300"/>
              </a:spcAft>
              <a:defRPr sz="2600" b="1">
                <a:solidFill>
                  <a:srgbClr val="2563EB"/>
                </a:solidFill>
              </a:defRPr>
            </a:pPr>
            <a:r>
              <a:t>187.1 FPS</a:t>
            </a:r>
          </a:p>
          <a:p>
            <a:pPr>
              <a:defRPr sz="880">
                <a:solidFill>
                  <a:srgbClr val="334155"/>
                </a:solidFill>
              </a:defRPr>
            </a:pPr>
            <a:r>
              <a:t>TensorRT 11.2 FP16 · 640×640</a:t>
            </a:r>
            <a:br/>
            <a:r>
              <a:t>Trạm giám sát công trường di động.</a:t>
            </a:r>
          </a:p>
        </p:txBody>
      </p:sp>
      <p:sp>
        <p:nvSpPr>
          <p:cNvPr id="10" name="Rounded Rectangle 9"/>
          <p:cNvSpPr/>
          <p:nvPr/>
        </p:nvSpPr>
        <p:spPr>
          <a:xfrm>
            <a:off x="8046720" y="1234440"/>
            <a:ext cx="3474720" cy="2468880"/>
          </a:xfrm>
          <a:prstGeom prst="roundRect">
            <a:avLst/>
          </a:prstGeom>
          <a:solidFill>
            <a:srgbClr val="F0FDF4"/>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353312"/>
            <a:ext cx="3200400" cy="2240280"/>
          </a:xfrm>
          <a:prstGeom prst="rect">
            <a:avLst/>
          </a:prstGeom>
          <a:noFill/>
        </p:spPr>
        <p:txBody>
          <a:bodyPr wrap="square" lIns="0" rIns="0" tIns="0" bIns="0">
            <a:spAutoFit/>
          </a:bodyPr>
          <a:lstStyle/>
          <a:p>
            <a:pPr>
              <a:defRPr sz="950" b="1">
                <a:solidFill>
                  <a:srgbClr val="16A34A"/>
                </a:solidFill>
              </a:defRPr>
            </a:pPr>
            <a:r>
              <a:t>LAPTOP VĂN PHÒNG GIÁ RẺ</a:t>
            </a:r>
          </a:p>
          <a:p>
            <a:pPr>
              <a:defRPr sz="1200" b="1">
                <a:solidFill>
                  <a:srgbClr val="0F172A"/>
                </a:solidFill>
              </a:defRPr>
            </a:pPr>
            <a:r>
              <a:t>GeForce MX230 (2GB VRAM)</a:t>
            </a:r>
          </a:p>
          <a:p>
            <a:pPr>
              <a:defRPr sz="1000" b="1">
                <a:solidFill>
                  <a:srgbClr val="64748B"/>
                </a:solidFill>
              </a:defRPr>
            </a:pPr>
            <a:r>
              <a:t>Độ trễ: 36.0 ms</a:t>
            </a:r>
          </a:p>
          <a:p>
            <a:pPr>
              <a:spcAft>
                <a:spcPts val="300"/>
              </a:spcAft>
              <a:defRPr sz="2600" b="1">
                <a:solidFill>
                  <a:srgbClr val="16A34A"/>
                </a:solidFill>
              </a:defRPr>
            </a:pPr>
            <a:r>
              <a:t>27.8 FPS</a:t>
            </a:r>
          </a:p>
          <a:p>
            <a:pPr>
              <a:defRPr sz="880">
                <a:solidFill>
                  <a:srgbClr val="334155"/>
                </a:solidFill>
              </a:defRPr>
            </a:pPr>
            <a:r>
              <a:t>Native PyTorch FP32 · 640×640</a:t>
            </a:r>
            <a:br/>
            <a:r>
              <a:t>VƯỢT NGƯỠNG 24 FPS REAL-TIME!</a:t>
            </a:r>
          </a:p>
        </p:txBody>
      </p:sp>
      <p:sp>
        <p:nvSpPr>
          <p:cNvPr id="12" name="Rounded Rectangle 11"/>
          <p:cNvSpPr/>
          <p:nvPr/>
        </p:nvSpPr>
        <p:spPr>
          <a:xfrm>
            <a:off x="731520" y="3931920"/>
            <a:ext cx="106984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69080"/>
            <a:ext cx="10241280" cy="2011680"/>
          </a:xfrm>
          <a:prstGeom prst="rect">
            <a:avLst/>
          </a:prstGeom>
          <a:noFill/>
        </p:spPr>
        <p:txBody>
          <a:bodyPr wrap="square" lIns="0" rIns="0" tIns="0" bIns="0">
            <a:spAutoFit/>
          </a:bodyPr>
          <a:lstStyle/>
          <a:p>
            <a:pPr>
              <a:spcAft>
                <a:spcPts val="400"/>
              </a:spcAft>
              <a:defRPr sz="1150" b="1">
                <a:solidFill>
                  <a:srgbClr val="16A34A"/>
                </a:solidFill>
              </a:defRPr>
            </a:pPr>
            <a:r>
              <a:t>Ý NGHĨA KINH TẾ &amp; THỰC TIỄN CỦA KẾT QUẢ GEFORCE MX230 (2GB VRAM)</a:t>
            </a:r>
          </a:p>
          <a:p>
            <a:pPr>
              <a:defRPr sz="980" b="1">
                <a:solidFill>
                  <a:srgbClr val="0F172A"/>
                </a:solidFill>
              </a:defRPr>
            </a:pPr>
            <a:r>
              <a:t>• Bẻ gãy rào cản chi phí: </a:t>
            </a:r>
            <a:r>
              <a:rPr b="0">
                <a:solidFill>
                  <a:srgbClr val="334155"/>
                </a:solidFill>
              </a:rPr>
              <a:t>NVIDIA GeForce MX230 là card đồ họa đời cũ kiến trúc Pascal (2019), không hề có Tensor Core và chỉ có 2GB VRAM hạn hẹp. Đa số các mô hình AI hiện nay đều bị tràn bộ nhớ (CUDA OOM) hoặc giật lag &lt;10 FPS trên phần cứng này.</a:t>
            </a:r>
          </a:p>
          <a:p>
            <a:pPr>
              <a:defRPr sz="980" b="1">
                <a:solidFill>
                  <a:srgbClr val="16A34A"/>
                </a:solidFill>
              </a:defRPr>
            </a:pPr>
            <a:r>
              <a:t>• Khả thi 100% tại mọi công trường: </a:t>
            </a:r>
            <a:r>
              <a:rPr b="0">
                <a:solidFill>
                  <a:srgbClr val="334155"/>
                </a:solidFill>
              </a:rPr>
              <a:t>Rep-YOLO11s vận hành ổn định ở 27.8 FPS (&gt; 24 FPS chuẩn điện ảnh). Doanh nghiệp chỉ cần tận dụng laptop văn phòng cũ của chỉ huy trưởng để giám sát an toàn, TIẾT KIỆM HÀNG TRĂM TRIỆU ĐỒNG đầu tư server!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SẢN PHẨM PROTOTYPE · TRIỂN KHAI PHẦN MỀM GIÁM SÁT</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17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Hệ Thống Giám Sát Camera RTSP Đa Luồng Toàn Trình</a:t>
            </a:r>
          </a:p>
        </p:txBody>
      </p:sp>
      <p:sp>
        <p:nvSpPr>
          <p:cNvPr id="6" name="Rounded Rectangle 5"/>
          <p:cNvSpPr/>
          <p:nvPr/>
        </p:nvSpPr>
        <p:spPr>
          <a:xfrm>
            <a:off x="731520" y="1143000"/>
            <a:ext cx="106984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4_industrial_rtsp_surveillance_pipeline.png"/>
          <p:cNvPicPr>
            <a:picLocks noChangeAspect="1"/>
          </p:cNvPicPr>
          <p:nvPr/>
        </p:nvPicPr>
        <p:blipFill>
          <a:blip r:embed="rId2"/>
          <a:stretch>
            <a:fillRect/>
          </a:stretch>
        </p:blipFill>
        <p:spPr>
          <a:xfrm>
            <a:off x="868680" y="1234440"/>
            <a:ext cx="10424160" cy="3749039"/>
          </a:xfrm>
          <a:prstGeom prst="rect">
            <a:avLst/>
          </a:prstGeom>
        </p:spPr>
      </p:pic>
      <p:sp>
        <p:nvSpPr>
          <p:cNvPr id="8" name="Rounded Rectangle 7"/>
          <p:cNvSpPr/>
          <p:nvPr/>
        </p:nvSpPr>
        <p:spPr>
          <a:xfrm>
            <a:off x="7315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230368"/>
            <a:ext cx="3200400" cy="1188720"/>
          </a:xfrm>
          <a:prstGeom prst="rect">
            <a:avLst/>
          </a:prstGeom>
          <a:noFill/>
        </p:spPr>
        <p:txBody>
          <a:bodyPr wrap="square" lIns="0" rIns="0" tIns="0" bIns="0">
            <a:spAutoFit/>
          </a:bodyPr>
          <a:lstStyle/>
          <a:p>
            <a:pPr>
              <a:spcAft>
                <a:spcPts val="200"/>
              </a:spcAft>
              <a:defRPr sz="1019" b="1">
                <a:solidFill>
                  <a:srgbClr val="EA580C"/>
                </a:solidFill>
              </a:defRPr>
            </a:pPr>
            <a:r>
              <a:t>GIẢI MÃ PHẦN CỨNG H.264/H.265</a:t>
            </a:r>
          </a:p>
          <a:p>
            <a:pPr>
              <a:defRPr sz="900">
                <a:solidFill>
                  <a:srgbClr val="334155"/>
                </a:solidFill>
              </a:defRPr>
            </a:pPr>
            <a:r>
              <a:t>Đọc luồng RTSP đa luồng độc lập, đệm vòng chống giật khung hình, duy trì độ trễ giải mã &lt; 4.5 ms.</a:t>
            </a:r>
          </a:p>
        </p:txBody>
      </p:sp>
      <p:sp>
        <p:nvSpPr>
          <p:cNvPr id="10" name="Rounded Rectangle 9"/>
          <p:cNvSpPr/>
          <p:nvPr/>
        </p:nvSpPr>
        <p:spPr>
          <a:xfrm>
            <a:off x="43891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5230368"/>
            <a:ext cx="3200400" cy="1188720"/>
          </a:xfrm>
          <a:prstGeom prst="rect">
            <a:avLst/>
          </a:prstGeom>
          <a:noFill/>
        </p:spPr>
        <p:txBody>
          <a:bodyPr wrap="square" lIns="0" rIns="0" tIns="0" bIns="0">
            <a:spAutoFit/>
          </a:bodyPr>
          <a:lstStyle/>
          <a:p>
            <a:pPr>
              <a:spcAft>
                <a:spcPts val="200"/>
              </a:spcAft>
              <a:defRPr sz="1019" b="1">
                <a:solidFill>
                  <a:srgbClr val="2563EB"/>
                </a:solidFill>
              </a:defRPr>
            </a:pPr>
            <a:r>
              <a:t>SUY LUẬN TENSORRT TĂNG TỐC</a:t>
            </a:r>
          </a:p>
          <a:p>
            <a:pPr>
              <a:defRPr sz="900">
                <a:solidFill>
                  <a:srgbClr val="334155"/>
                </a:solidFill>
              </a:defRPr>
            </a:pPr>
            <a:r>
              <a:t>Tiền xử lý Letterbox song song, nạp batch suy luận TensorRT FP16 với độ trễ forward 2.92 ms – 5.35 ms.</a:t>
            </a:r>
          </a:p>
        </p:txBody>
      </p:sp>
      <p:sp>
        <p:nvSpPr>
          <p:cNvPr id="12" name="Rounded Rectangle 11"/>
          <p:cNvSpPr/>
          <p:nvPr/>
        </p:nvSpPr>
        <p:spPr>
          <a:xfrm>
            <a:off x="8046720" y="5166360"/>
            <a:ext cx="347472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5230368"/>
            <a:ext cx="3200400" cy="1188720"/>
          </a:xfrm>
          <a:prstGeom prst="rect">
            <a:avLst/>
          </a:prstGeom>
          <a:noFill/>
        </p:spPr>
        <p:txBody>
          <a:bodyPr wrap="square" lIns="0" rIns="0" tIns="0" bIns="0">
            <a:spAutoFit/>
          </a:bodyPr>
          <a:lstStyle/>
          <a:p>
            <a:pPr>
              <a:spcAft>
                <a:spcPts val="200"/>
              </a:spcAft>
              <a:defRPr sz="1019" b="1">
                <a:solidFill>
                  <a:srgbClr val="16A34A"/>
                </a:solidFill>
              </a:defRPr>
            </a:pPr>
            <a:r>
              <a:t>BẬT BÁO ĐỘNG &amp; VẼ HUD THỜI GIAN THỰC</a:t>
            </a:r>
          </a:p>
          <a:p>
            <a:pPr>
              <a:defRPr sz="900">
                <a:solidFill>
                  <a:srgbClr val="334155"/>
                </a:solidFill>
              </a:defRPr>
            </a:pPr>
            <a:r>
              <a:t>Hậu xử lý Non-Maximum Suppression (NMS), vẽ bounding box vi phạm và ghi log sự kiện ở tốc độ 65–95 FPS.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8686800" cy="256032"/>
          </a:xfrm>
          <a:prstGeom prst="rect">
            <a:avLst/>
          </a:prstGeom>
          <a:noFill/>
        </p:spPr>
        <p:txBody>
          <a:bodyPr wrap="none" lIns="0" rIns="0" tIns="0" bIns="0">
            <a:spAutoFit/>
          </a:bodyPr>
          <a:lstStyle/>
          <a:p>
            <a:pPr>
              <a:defRPr sz="1000" b="1">
                <a:solidFill>
                  <a:srgbClr val="EA580C"/>
                </a:solidFill>
              </a:defRPr>
            </a:pPr>
            <a:r>
              <a:t>LỘ TRÌNH ĐỒ ÁN TỐT NGHIỆP · KHOA CNTT - ĐẠI HỌC FPT</a:t>
            </a:r>
          </a:p>
        </p:txBody>
      </p:sp>
      <p:sp>
        <p:nvSpPr>
          <p:cNvPr id="4" name="TextBox 3"/>
          <p:cNvSpPr txBox="1"/>
          <p:nvPr/>
        </p:nvSpPr>
        <p:spPr>
          <a:xfrm>
            <a:off x="10332720" y="292608"/>
            <a:ext cx="1097280" cy="256032"/>
          </a:xfrm>
          <a:prstGeom prst="rect">
            <a:avLst/>
          </a:prstGeom>
          <a:noFill/>
        </p:spPr>
        <p:txBody>
          <a:bodyPr wrap="none" lIns="0" rIns="0" tIns="0" bIns="0">
            <a:spAutoFit/>
          </a:bodyPr>
          <a:lstStyle/>
          <a:p>
            <a:pPr algn="r">
              <a:defRPr sz="1100" b="1">
                <a:solidFill>
                  <a:srgbClr val="64748B"/>
                </a:solidFill>
              </a:defRPr>
            </a:pPr>
            <a:r>
              <a:t>18 / 18</a:t>
            </a:r>
          </a:p>
        </p:txBody>
      </p:sp>
      <p:sp>
        <p:nvSpPr>
          <p:cNvPr id="5" name="TextBox 4"/>
          <p:cNvSpPr txBox="1"/>
          <p:nvPr/>
        </p:nvSpPr>
        <p:spPr>
          <a:xfrm>
            <a:off x="731520" y="566928"/>
            <a:ext cx="10698480" cy="502920"/>
          </a:xfrm>
          <a:prstGeom prst="rect">
            <a:avLst/>
          </a:prstGeom>
          <a:noFill/>
        </p:spPr>
        <p:txBody>
          <a:bodyPr wrap="square" lIns="0" rIns="0" tIns="0" bIns="0">
            <a:spAutoFit/>
          </a:bodyPr>
          <a:lstStyle/>
          <a:p>
            <a:pPr>
              <a:defRPr sz="2000" b="1">
                <a:solidFill>
                  <a:srgbClr val="0F172A"/>
                </a:solidFill>
              </a:defRPr>
            </a:pPr>
            <a:r>
              <a:t>Tổng Kết Giai Đoạn 1 &amp; Kế Hoạch Thực Hiện Giai Đoạn 2 - 3</a:t>
            </a:r>
          </a:p>
        </p:txBody>
      </p:sp>
      <p:sp>
        <p:nvSpPr>
          <p:cNvPr id="6" name="Rounded Rectangle 5"/>
          <p:cNvSpPr/>
          <p:nvPr/>
        </p:nvSpPr>
        <p:spPr>
          <a:xfrm>
            <a:off x="731520" y="1234440"/>
            <a:ext cx="347472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371600"/>
            <a:ext cx="3145536" cy="731520"/>
          </a:xfrm>
          <a:prstGeom prst="rect">
            <a:avLst/>
          </a:prstGeom>
          <a:noFill/>
        </p:spPr>
        <p:txBody>
          <a:bodyPr wrap="square" lIns="0" rIns="0" tIns="0" bIns="0">
            <a:spAutoFit/>
          </a:bodyPr>
          <a:lstStyle/>
          <a:p>
            <a:pPr>
              <a:defRPr sz="900" b="1">
                <a:solidFill>
                  <a:srgbClr val="16A34A"/>
                </a:solidFill>
              </a:defRPr>
            </a:pPr>
            <a:r>
              <a:t>ĐÃ HOÀN THÀNH</a:t>
            </a:r>
          </a:p>
          <a:p>
            <a:pPr>
              <a:spcAft>
                <a:spcPts val="600"/>
              </a:spcAft>
              <a:defRPr sz="1100" b="1">
                <a:solidFill>
                  <a:srgbClr val="0F172A"/>
                </a:solidFill>
              </a:defRPr>
            </a:pPr>
            <a:r>
              <a:t>GIAI ĐOẠN 1 (ĐÃ HOÀN TẤT 90%)</a:t>
            </a:r>
          </a:p>
        </p:txBody>
      </p:sp>
      <p:sp>
        <p:nvSpPr>
          <p:cNvPr id="8" name="TextBox 7"/>
          <p:cNvSpPr txBox="1"/>
          <p:nvPr/>
        </p:nvSpPr>
        <p:spPr>
          <a:xfrm>
            <a:off x="896112" y="2148840"/>
            <a:ext cx="3145536" cy="2423160"/>
          </a:xfrm>
          <a:prstGeom prst="rect">
            <a:avLst/>
          </a:prstGeom>
          <a:noFill/>
        </p:spPr>
        <p:txBody>
          <a:bodyPr wrap="square" lIns="0" rIns="0" tIns="0" bIns="0">
            <a:spAutoFit/>
          </a:bodyPr>
          <a:lstStyle/>
          <a:p/>
          <a:p>
            <a:pPr>
              <a:spcAft>
                <a:spcPts val="500"/>
              </a:spcAft>
              <a:defRPr sz="950" b="1">
                <a:solidFill>
                  <a:srgbClr val="0F172A"/>
                </a:solidFill>
              </a:defRPr>
            </a:pPr>
            <a:r>
              <a:t>✓ Hoàn thiện cơ sở lý thuyết toán học &amp; 4 module tùy biến.</a:t>
            </a:r>
          </a:p>
          <a:p>
            <a:pPr>
              <a:spcAft>
                <a:spcPts val="500"/>
              </a:spcAft>
              <a:defRPr sz="950" b="1">
                <a:solidFill>
                  <a:srgbClr val="0F172A"/>
                </a:solidFill>
              </a:defRPr>
            </a:pPr>
            <a:r>
              <a:t>✓ Hoàn thành thực nghiệm A0–A6 &amp; kiểm định 5-Fold (97.11%).</a:t>
            </a:r>
          </a:p>
          <a:p>
            <a:pPr>
              <a:spcAft>
                <a:spcPts val="500"/>
              </a:spcAft>
              <a:defRPr sz="950" b="1">
                <a:solidFill>
                  <a:srgbClr val="0F172A"/>
                </a:solidFill>
              </a:defRPr>
            </a:pPr>
            <a:r>
              <a:t>✓ Chứng minh tính khả thi trên GPU phổ thông MX230 (27.8 FPS).</a:t>
            </a:r>
          </a:p>
          <a:p>
            <a:pPr>
              <a:spcAft>
                <a:spcPts val="500"/>
              </a:spcAft>
              <a:defRPr sz="950" b="1">
                <a:solidFill>
                  <a:srgbClr val="0F172A"/>
                </a:solidFill>
              </a:defRPr>
            </a:pPr>
            <a:r>
              <a:t>✓ Đã viết hoàn chỉnh bản thảo báo cáo khoa học 9 trang.</a:t>
            </a:r>
          </a:p>
        </p:txBody>
      </p:sp>
      <p:sp>
        <p:nvSpPr>
          <p:cNvPr id="9" name="Rounded Rectangle 8"/>
          <p:cNvSpPr/>
          <p:nvPr/>
        </p:nvSpPr>
        <p:spPr>
          <a:xfrm>
            <a:off x="4389120" y="1234440"/>
            <a:ext cx="347472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371600"/>
            <a:ext cx="3145536" cy="731520"/>
          </a:xfrm>
          <a:prstGeom prst="rect">
            <a:avLst/>
          </a:prstGeom>
          <a:noFill/>
        </p:spPr>
        <p:txBody>
          <a:bodyPr wrap="square" lIns="0" rIns="0" tIns="0" bIns="0">
            <a:spAutoFit/>
          </a:bodyPr>
          <a:lstStyle/>
          <a:p>
            <a:pPr>
              <a:defRPr sz="900" b="1">
                <a:solidFill>
                  <a:srgbClr val="2563EB"/>
                </a:solidFill>
              </a:defRPr>
            </a:pPr>
            <a:r>
              <a:t>KẾ HOẠCH THỰC HIỆN</a:t>
            </a:r>
          </a:p>
          <a:p>
            <a:pPr>
              <a:spcAft>
                <a:spcPts val="600"/>
              </a:spcAft>
              <a:defRPr sz="1100" b="1">
                <a:solidFill>
                  <a:srgbClr val="0F172A"/>
                </a:solidFill>
              </a:defRPr>
            </a:pPr>
            <a:r>
              <a:t>GIAI ĐOẠN 2 (TIẾP THEO)</a:t>
            </a:r>
          </a:p>
        </p:txBody>
      </p:sp>
      <p:sp>
        <p:nvSpPr>
          <p:cNvPr id="11" name="TextBox 10"/>
          <p:cNvSpPr txBox="1"/>
          <p:nvPr/>
        </p:nvSpPr>
        <p:spPr>
          <a:xfrm>
            <a:off x="4553712" y="2148840"/>
            <a:ext cx="3145536" cy="2423160"/>
          </a:xfrm>
          <a:prstGeom prst="rect">
            <a:avLst/>
          </a:prstGeom>
          <a:noFill/>
        </p:spPr>
        <p:txBody>
          <a:bodyPr wrap="square" lIns="0" rIns="0" tIns="0" bIns="0">
            <a:spAutoFit/>
          </a:bodyPr>
          <a:lstStyle/>
          <a:p/>
          <a:p>
            <a:pPr>
              <a:spcAft>
                <a:spcPts val="500"/>
              </a:spcAft>
              <a:defRPr sz="950" b="0">
                <a:solidFill>
                  <a:srgbClr val="334155"/>
                </a:solidFill>
              </a:defRPr>
            </a:pPr>
            <a:r>
              <a:t>▸ Hoàn thiện giao diện phần mềm Desktop GUI &amp; Web Dashboard.</a:t>
            </a:r>
          </a:p>
          <a:p>
            <a:pPr>
              <a:spcAft>
                <a:spcPts val="500"/>
              </a:spcAft>
              <a:defRPr sz="950" b="0">
                <a:solidFill>
                  <a:srgbClr val="334155"/>
                </a:solidFill>
              </a:defRPr>
            </a:pPr>
            <a:r>
              <a:t>▸ Tích hợp tính năng quản lý nhiều camera RTSP đồng thời.</a:t>
            </a:r>
          </a:p>
          <a:p>
            <a:pPr>
              <a:spcAft>
                <a:spcPts val="500"/>
              </a:spcAft>
              <a:defRPr sz="950" b="0">
                <a:solidFill>
                  <a:srgbClr val="334155"/>
                </a:solidFill>
              </a:defRPr>
            </a:pPr>
            <a:r>
              <a:t>▸ Hệ thống cảnh báo âm thanh và gửi email tự động khi có vi phạm.</a:t>
            </a:r>
          </a:p>
          <a:p>
            <a:pPr>
              <a:spcAft>
                <a:spcPts val="500"/>
              </a:spcAft>
              <a:defRPr sz="950" b="0">
                <a:solidFill>
                  <a:srgbClr val="334155"/>
                </a:solidFill>
              </a:defRPr>
            </a:pPr>
            <a:r>
              <a:t>▸ Thử nghiệm vận hành thực tế tại công trường đối tác.</a:t>
            </a:r>
          </a:p>
        </p:txBody>
      </p:sp>
      <p:sp>
        <p:nvSpPr>
          <p:cNvPr id="12" name="Rounded Rectangle 11"/>
          <p:cNvSpPr/>
          <p:nvPr/>
        </p:nvSpPr>
        <p:spPr>
          <a:xfrm>
            <a:off x="8046720" y="1234440"/>
            <a:ext cx="347472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371600"/>
            <a:ext cx="3145536" cy="731520"/>
          </a:xfrm>
          <a:prstGeom prst="rect">
            <a:avLst/>
          </a:prstGeom>
          <a:noFill/>
        </p:spPr>
        <p:txBody>
          <a:bodyPr wrap="square" lIns="0" rIns="0" tIns="0" bIns="0">
            <a:spAutoFit/>
          </a:bodyPr>
          <a:lstStyle/>
          <a:p>
            <a:pPr>
              <a:defRPr sz="900" b="1">
                <a:solidFill>
                  <a:srgbClr val="EA580C"/>
                </a:solidFill>
              </a:defRPr>
            </a:pPr>
            <a:r>
              <a:t>MỤC TIÊU CUỐI KHÓA</a:t>
            </a:r>
          </a:p>
          <a:p>
            <a:pPr>
              <a:spcAft>
                <a:spcPts val="600"/>
              </a:spcAft>
              <a:defRPr sz="1100" b="1">
                <a:solidFill>
                  <a:srgbClr val="0F172A"/>
                </a:solidFill>
              </a:defRPr>
            </a:pPr>
            <a:r>
              <a:t>GIAI ĐOẠN 3 (BẢO VỆ CHÍNH THỨC)</a:t>
            </a:r>
          </a:p>
        </p:txBody>
      </p:sp>
      <p:sp>
        <p:nvSpPr>
          <p:cNvPr id="14" name="TextBox 13"/>
          <p:cNvSpPr txBox="1"/>
          <p:nvPr/>
        </p:nvSpPr>
        <p:spPr>
          <a:xfrm>
            <a:off x="8211312" y="2148840"/>
            <a:ext cx="3145536" cy="2423160"/>
          </a:xfrm>
          <a:prstGeom prst="rect">
            <a:avLst/>
          </a:prstGeom>
          <a:noFill/>
        </p:spPr>
        <p:txBody>
          <a:bodyPr wrap="square" lIns="0" rIns="0" tIns="0" bIns="0">
            <a:spAutoFit/>
          </a:bodyPr>
          <a:lstStyle/>
          <a:p/>
          <a:p>
            <a:pPr>
              <a:spcAft>
                <a:spcPts val="500"/>
              </a:spcAft>
              <a:defRPr sz="950" b="0">
                <a:solidFill>
                  <a:srgbClr val="334155"/>
                </a:solidFill>
              </a:defRPr>
            </a:pPr>
            <a:r>
              <a:t>▸ Triển khai Chưng cất Tri thức (Knowledge Distillation YOLO11x -&gt; s).</a:t>
            </a:r>
          </a:p>
          <a:p>
            <a:pPr>
              <a:spcAft>
                <a:spcPts val="500"/>
              </a:spcAft>
              <a:defRPr sz="950" b="0">
                <a:solidFill>
                  <a:srgbClr val="334155"/>
                </a:solidFill>
              </a:defRPr>
            </a:pPr>
            <a:r>
              <a:t>▸ Nâng cao độ chính xác nhận diện góc nhìn Flycam trên SHEL5K.</a:t>
            </a:r>
          </a:p>
          <a:p>
            <a:pPr>
              <a:spcAft>
                <a:spcPts val="500"/>
              </a:spcAft>
              <a:defRPr sz="950" b="0">
                <a:solidFill>
                  <a:srgbClr val="334155"/>
                </a:solidFill>
              </a:defRPr>
            </a:pPr>
            <a:r>
              <a:t>▸ Hoàn thiện hồ sơ đồ án tốt nghiệp chính thức.</a:t>
            </a:r>
          </a:p>
          <a:p>
            <a:pPr>
              <a:spcAft>
                <a:spcPts val="500"/>
              </a:spcAft>
              <a:defRPr sz="950" b="0">
                <a:solidFill>
                  <a:srgbClr val="334155"/>
                </a:solidFill>
              </a:defRPr>
            </a:pPr>
            <a:r>
              <a:t>▸ Nộp công bố bài báo khoa học ra hội nghị / tạp chí quốc tế.</a:t>
            </a:r>
          </a:p>
        </p:txBody>
      </p:sp>
      <p:sp>
        <p:nvSpPr>
          <p:cNvPr id="15" name="Rounded Rectangle 14"/>
          <p:cNvSpPr/>
          <p:nvPr/>
        </p:nvSpPr>
        <p:spPr>
          <a:xfrm>
            <a:off x="731520" y="4846320"/>
            <a:ext cx="10698480" cy="15544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983480"/>
            <a:ext cx="10241280" cy="1280160"/>
          </a:xfrm>
          <a:prstGeom prst="rect">
            <a:avLst/>
          </a:prstGeom>
          <a:noFill/>
        </p:spPr>
        <p:txBody>
          <a:bodyPr wrap="square" lIns="0" rIns="0" tIns="0" bIns="0">
            <a:spAutoFit/>
          </a:bodyPr>
          <a:lstStyle/>
          <a:p>
            <a:pPr>
              <a:spcAft>
                <a:spcPts val="200"/>
              </a:spcAft>
              <a:defRPr sz="1300" b="1">
                <a:solidFill>
                  <a:srgbClr val="EA580C"/>
                </a:solidFill>
              </a:defRPr>
            </a:pPr>
            <a:r>
              <a:t>LỜI CẢM ƠN &amp; SẴN SÀNG GIẢI ĐÁP PHẢN BIỆN</a:t>
            </a:r>
          </a:p>
          <a:p>
            <a:pPr>
              <a:spcAft>
                <a:spcPts val="300"/>
              </a:spcAft>
              <a:defRPr sz="1019">
                <a:solidFill>
                  <a:srgbClr val="334155"/>
                </a:solidFill>
              </a:defRPr>
            </a:pPr>
            <a:r>
              <a:t>Nhóm nghiên cứu xin chân thành cảm ơn ThS. Vũ Hải Anh đã tận tình hướng dẫn và Quý Thầy Cô Hội đồng đã lắng nghe bài báo cáo!</a:t>
            </a:r>
            <a:br/>
            <a:r>
              <a:t>Nhóm rất mong nhận được những nhận xét, đóng góp quý báu của Quý Thầy Cô để hoàn thiện đề tài trong các giai đoạn tiếp theo.</a:t>
            </a:r>
          </a:p>
          <a:p>
            <a:pPr>
              <a:defRPr sz="950" b="1">
                <a:solidFill>
                  <a:srgbClr val="0F172A"/>
                </a:solidFill>
              </a:defRPr>
            </a:pPr>
            <a:r>
              <a:t>Sinh viên thuyết trình: Nguyễn Hàn Như (SE183644) · Bộ môn Trí tuệ Nhân tạo — Đại học FPT Hà Nội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