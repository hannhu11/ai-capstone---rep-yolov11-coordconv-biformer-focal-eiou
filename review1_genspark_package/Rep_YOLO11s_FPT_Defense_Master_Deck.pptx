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11480"/>
            <a:ext cx="5669280" cy="347472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57200"/>
            <a:ext cx="548640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50" b="1">
                <a:solidFill>
                  <a:srgbClr val="EA580C"/>
                </a:solidFill>
              </a:defRPr>
            </a:pPr>
            <a:r>
              <a:t>FPT UNIVERSITY · ARTIFICIAL INTELLIGENCE CAPSTONE DEFENSE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60120"/>
            <a:ext cx="6858000" cy="10058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4400" b="1">
                <a:solidFill>
                  <a:srgbClr val="0F172A"/>
                </a:solidFill>
              </a:defRPr>
            </a:pPr>
            <a:r>
              <a:t>Rep-YOLO11s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68580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50" b="1">
                <a:solidFill>
                  <a:srgbClr val="64748B"/>
                </a:solidFill>
              </a:defRPr>
            </a:pPr>
            <a:r>
              <a:t>Real-Time Safety Helmet Detection in Construction Surveillance:</a:t>
            </a:r>
            <a:br/>
            <a:r>
              <a:t>Structural Re-parameterization, Coordinate Encoding &amp; Multi-Domain Generalization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960120"/>
            <a:ext cx="3657600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1097280"/>
            <a:ext cx="3200400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EA580C"/>
                </a:solidFill>
              </a:defRPr>
            </a:pPr>
            <a:r>
              <a:t>5-FOLD CV PEAK mAP50</a:t>
            </a:r>
          </a:p>
          <a:p>
            <a:pPr>
              <a:defRPr sz="3600" b="1">
                <a:solidFill>
                  <a:srgbClr val="0F172A"/>
                </a:solidFill>
              </a:defRPr>
            </a:pPr>
            <a:r>
              <a:t>97.11%</a:t>
            </a:r>
          </a:p>
          <a:p>
            <a:pPr>
              <a:spcAft>
                <a:spcPts val="600"/>
              </a:spcAft>
              <a:defRPr sz="950" b="1">
                <a:solidFill>
                  <a:srgbClr val="16A34A"/>
                </a:solidFill>
              </a:defRPr>
            </a:pPr>
            <a:r>
              <a:t>✓ Outperforms Baseline YOLO11s (+0.47% mAP50)</a:t>
            </a:r>
          </a:p>
          <a:p>
            <a:pPr>
              <a:defRPr sz="919">
                <a:solidFill>
                  <a:srgbClr val="64748B"/>
                </a:solidFill>
              </a:defRPr>
            </a:pPr>
            <a:r>
              <a:t>• Tesla T4 Latency: </a:t>
            </a:r>
            <a:r>
              <a:rPr b="1">
                <a:solidFill>
                  <a:srgbClr val="0F172A"/>
                </a:solidFill>
              </a:rPr>
              <a:t>2.92 ms (342.5 FPS)</a:t>
            </a:r>
          </a:p>
          <a:p>
            <a:pPr>
              <a:defRPr sz="919">
                <a:solidFill>
                  <a:srgbClr val="64748B"/>
                </a:solidFill>
              </a:defRPr>
            </a:pPr>
            <a:r>
              <a:t>• RTX 3050 Latency: </a:t>
            </a:r>
            <a:r>
              <a:rPr b="1">
                <a:solidFill>
                  <a:srgbClr val="0F172A"/>
                </a:solidFill>
              </a:rPr>
              <a:t>5.35 ms (187.1 FPS)</a:t>
            </a:r>
          </a:p>
          <a:p>
            <a:pPr>
              <a:defRPr sz="919">
                <a:solidFill>
                  <a:srgbClr val="64748B"/>
                </a:solidFill>
              </a:defRPr>
            </a:pPr>
            <a:r>
              <a:t>• Budget Laptop MX230 (2GB): </a:t>
            </a:r>
            <a:r>
              <a:rPr b="1">
                <a:solidFill>
                  <a:srgbClr val="0F172A"/>
                </a:solidFill>
              </a:rPr>
              <a:t>36.0 ms (27.8 FPS)</a:t>
            </a:r>
          </a:p>
          <a:p>
            <a:pPr>
              <a:defRPr sz="919">
                <a:solidFill>
                  <a:srgbClr val="64748B"/>
                </a:solidFill>
              </a:defRPr>
            </a:pPr>
            <a:r>
              <a:t>• Harmonized Benchmark: </a:t>
            </a:r>
            <a:r>
              <a:rPr b="1">
                <a:solidFill>
                  <a:srgbClr val="0F172A"/>
                </a:solidFill>
              </a:rPr>
              <a:t>&gt; 33,000 Multi-Domain Images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251960"/>
            <a:ext cx="347472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4370832"/>
            <a:ext cx="3145536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EA580C"/>
                </a:solidFill>
              </a:defRPr>
            </a:pPr>
            <a:r>
              <a:t>RESEARCH TEAM</a:t>
            </a:r>
          </a:p>
          <a:p>
            <a:pPr>
              <a:spcAft>
                <a:spcPts val="400"/>
              </a:spcAft>
              <a:defRPr sz="1019" b="1">
                <a:solidFill>
                  <a:srgbClr val="0F172A"/>
                </a:solidFill>
              </a:defRPr>
            </a:pPr>
            <a:r>
              <a:t>Nhu Nguyen-Han · SE183644 (Lead)</a:t>
            </a:r>
            <a:br/>
            <a:r>
              <a:t>Thanh Nguyen-Van · SE183645</a:t>
            </a:r>
            <a:br/>
            <a:r>
              <a:t>Dung Nguyen-Tuan · SE183646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Role: Architecture, TensorRT Engine &amp; RTSP Pipeline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4251960"/>
            <a:ext cx="347472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3712" y="4370832"/>
            <a:ext cx="3145536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ACADEMIC ADVISOR</a:t>
            </a:r>
          </a:p>
          <a:p>
            <a:pPr>
              <a:spcAft>
                <a:spcPts val="400"/>
              </a:spcAft>
              <a:defRPr sz="1019" b="1">
                <a:solidFill>
                  <a:srgbClr val="0F172A"/>
                </a:solidFill>
              </a:defRPr>
            </a:pPr>
            <a:r>
              <a:t>M.Sc. Hai-Anh Vu (anhvh@fe.edu.vn)</a:t>
            </a:r>
            <a:br/>
            <a:r>
              <a:t>Dept. of Artificial Intelligence — IT Faculty</a:t>
            </a:r>
            <a:br/>
            <a:r>
              <a:t>FPT University Hanoi Campus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Focus: High-Impact Industrial Computer Vision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4251960"/>
            <a:ext cx="347472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1312" y="4370832"/>
            <a:ext cx="3145536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16A34A"/>
                </a:solidFill>
              </a:defRPr>
            </a:pPr>
            <a:r>
              <a:t>PUBLICATION TARGET</a:t>
            </a:r>
          </a:p>
          <a:p>
            <a:pPr>
              <a:spcAft>
                <a:spcPts val="400"/>
              </a:spcAft>
              <a:defRPr sz="1019" b="1">
                <a:solidFill>
                  <a:srgbClr val="0F172A"/>
                </a:solidFill>
              </a:defRPr>
            </a:pPr>
            <a:r>
              <a:t>Top-Tier International Journal / Conf.</a:t>
            </a:r>
            <a:br/>
            <a:r>
              <a:t>Industrial Informatics &amp; Machine Vision</a:t>
            </a:r>
            <a:br/>
            <a:r>
              <a:t>(Rigorous Analytical &amp; Empirical Standards)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Scope: 100% Empirically Validated Results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92608"/>
            <a:ext cx="868680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000" b="1">
                <a:solidFill>
                  <a:srgbClr val="EA580C"/>
                </a:solidFill>
              </a:defRPr>
            </a:pPr>
            <a:r>
              <a:t>CRITERION 1 · PROBLEM DEFINITION &amp; URGENCY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292608"/>
            <a:ext cx="10972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</a:defRPr>
            </a:pPr>
            <a:r>
              <a:t>02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66928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Real Construction Context &amp; 4 Technical Bottlenecks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34440"/>
            <a:ext cx="512064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68680" y="1371600"/>
            <a:ext cx="411480" cy="320040"/>
          </a:xfrm>
          <a:prstGeom prst="roundRect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380744"/>
            <a:ext cx="4114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9888" y="1344168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0F172A"/>
                </a:solidFill>
              </a:defRPr>
            </a:pPr>
            <a:r>
              <a:t>Distant Tiny Objects (&lt;20 px)</a:t>
            </a:r>
          </a:p>
          <a:p>
            <a:pPr>
              <a:defRPr sz="919">
                <a:solidFill>
                  <a:srgbClr val="334155"/>
                </a:solidFill>
              </a:defRPr>
            </a:pPr>
            <a:r>
              <a:t>High-angle CCTV at 15–30m causes helmets to blur and vanish across deep downsampling layers.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468880"/>
            <a:ext cx="512064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68680" y="2606040"/>
            <a:ext cx="411480" cy="32004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15184"/>
            <a:ext cx="4114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578608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0F172A"/>
                </a:solidFill>
              </a:defRPr>
            </a:pPr>
            <a:r>
              <a:t>Extreme Class Imbalance (1:12)</a:t>
            </a:r>
          </a:p>
          <a:p>
            <a:pPr>
              <a:defRPr sz="919">
                <a:solidFill>
                  <a:srgbClr val="334155"/>
                </a:solidFill>
              </a:defRPr>
            </a:pPr>
            <a:r>
              <a:t>9,044 helmets vs. 111,514 worker body instances; worker gradients dominate the loss.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703320"/>
            <a:ext cx="512064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68680" y="3840480"/>
            <a:ext cx="411480" cy="320040"/>
          </a:xfrm>
          <a:prstGeom prst="roundRect">
            <a:avLst/>
          </a:prstGeom>
          <a:solidFill>
            <a:srgbClr val="D97706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849624"/>
            <a:ext cx="4114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9888" y="3813048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0F172A"/>
                </a:solidFill>
              </a:defRPr>
            </a:pPr>
            <a:r>
              <a:t>Color Noise &amp; False Alarms</a:t>
            </a:r>
          </a:p>
          <a:p>
            <a:pPr>
              <a:defRPr sz="919">
                <a:solidFill>
                  <a:srgbClr val="334155"/>
                </a:solidFill>
              </a:defRPr>
            </a:pPr>
            <a:r>
              <a:t>Yellow buckets, cones, and caution signs trigger false positives due to CNN translation invariance.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937760"/>
            <a:ext cx="512064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68680" y="5074920"/>
            <a:ext cx="411480" cy="320040"/>
          </a:xfrm>
          <a:prstGeom prst="roundRect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084064"/>
            <a:ext cx="4114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9888" y="5047488"/>
            <a:ext cx="42976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0F172A"/>
                </a:solidFill>
              </a:defRPr>
            </a:pPr>
            <a:r>
              <a:t>Edge Hardware Constraints</a:t>
            </a:r>
          </a:p>
          <a:p>
            <a:pPr>
              <a:defRPr sz="919">
                <a:solidFill>
                  <a:srgbClr val="334155"/>
                </a:solidFill>
              </a:defRPr>
            </a:pPr>
            <a:r>
              <a:t>Strict &gt;= 25 FPS real-time requirement on budget laptops/GPUs without costly server clusters.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26480" y="1234440"/>
            <a:ext cx="530352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Fig1_site_overview_challeng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371600"/>
            <a:ext cx="5029200" cy="402336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263640" y="548640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Fig. 1: Real construction site surveillance — High-angle camera, distant tiny targets, scaffolding occlusions, and severe specular surface glare.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92608"/>
            <a:ext cx="868680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000" b="1">
                <a:solidFill>
                  <a:srgbClr val="EA580C"/>
                </a:solidFill>
              </a:defRPr>
            </a:pPr>
            <a:r>
              <a:t>CRITERION 3 · FEASIBILITY &amp; THEORETICAL FOUNDATION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292608"/>
            <a:ext cx="10972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</a:defRPr>
            </a:pPr>
            <a:r>
              <a:t>03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66928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Literature Review of 32 Works &amp; SOTA Research Gap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34440"/>
            <a:ext cx="1069848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344168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Standard YOLO (v8 / 11)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1344168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F172A"/>
                </a:solidFill>
              </a:defRPr>
            </a:pPr>
            <a:r>
              <a:t>mAP50: 94.74% mAP50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Latency: 6.52 ms (153.3 FPS)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1344168"/>
            <a:ext cx="5303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>
                <a:solidFill>
                  <a:srgbClr val="334155"/>
                </a:solidFill>
              </a:defRPr>
            </a:pPr>
            <a:r>
              <a:t>Coordinate-agnostic; frequent false positives on ground yellow buckets.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103120"/>
            <a:ext cx="1069848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212848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EC-YOLOv8 (Zhang 2024)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2212848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F172A"/>
                </a:solidFill>
              </a:defRPr>
            </a:pPr>
            <a:r>
              <a:t>mAP50: 95.70% mAP50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Latency: 5.80 ms (172.4 FPS)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2212848"/>
            <a:ext cx="5303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>
                <a:solidFill>
                  <a:srgbClr val="334155"/>
                </a:solidFill>
              </a:defRPr>
            </a:pPr>
            <a:r>
              <a:t>High mAP via CARAFE operator, but heavy computational latency overhead.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971800"/>
            <a:ext cx="1069848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081528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YOLO-CBF (Li 2023)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3081528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F172A"/>
                </a:solidFill>
              </a:defRPr>
            </a:pPr>
            <a:r>
              <a:t>mAP50: 95.60% mAP50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Latency: 12.40 ms (80.6 FPS)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3081528"/>
            <a:ext cx="5303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>
                <a:solidFill>
                  <a:srgbClr val="334155"/>
                </a:solidFill>
              </a:defRPr>
            </a:pPr>
            <a:r>
              <a:t>Combines CoordConv &amp; BiFormer but balloons to 37.2M params and 104.5 GFLOPs.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840479"/>
            <a:ext cx="1069848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950207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YOLOv8n-FADS (Fu 2024)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49039" y="3950207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F172A"/>
                </a:solidFill>
              </a:defRPr>
            </a:pPr>
            <a:r>
              <a:t>mAP50: 79.70% mAP50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Latency: Edge Bottleneck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3950207"/>
            <a:ext cx="5303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>
                <a:solidFill>
                  <a:srgbClr val="334155"/>
                </a:solidFill>
              </a:defRPr>
            </a:pPr>
            <a:r>
              <a:t>P2 branch expansion causes computational explosion; low empirical precision.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4709160"/>
            <a:ext cx="10698480" cy="777240"/>
          </a:xfrm>
          <a:prstGeom prst="roundRect">
            <a:avLst/>
          </a:prstGeom>
          <a:solidFill>
            <a:srgbClr val="F0FDF4"/>
          </a:solidFill>
          <a:ln w="2286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4818888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16A34A"/>
                </a:solidFill>
              </a:defRPr>
            </a:pPr>
            <a:r>
              <a:t>Rep-YOLO11s (Proposed)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49039" y="4818888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F172A"/>
                </a:solidFill>
              </a:defRPr>
            </a:pPr>
            <a:r>
              <a:t>mAP50: 94.83% - 97.11%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Latency: 2.92 ms (342.5 FPS)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4818888"/>
            <a:ext cx="5303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>
                <a:solidFill>
                  <a:srgbClr val="334155"/>
                </a:solidFill>
              </a:defRPr>
            </a:pPr>
            <a:r>
              <a:t>Zero-overhead W_fused fusion; coordinate encoding suppresses false alarms; 27.8 FPS on MX230.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5715000"/>
            <a:ext cx="10698480" cy="731520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79008"/>
            <a:ext cx="103327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1">
                <a:solidFill>
                  <a:srgbClr val="EA580C"/>
                </a:solidFill>
              </a:defRPr>
            </a:pPr>
            <a:r>
              <a:t>★ RESEARCH GAP: No existing model achieves high tiny-object accuracy WITHOUT incurring severe inference latency or parameter explosion during edge deployment.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92608"/>
            <a:ext cx="868680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000" b="1">
                <a:solidFill>
                  <a:srgbClr val="EA580C"/>
                </a:solidFill>
              </a:defRPr>
            </a:pPr>
            <a:r>
              <a:t>CRITERION 2 · FINAL DELIVERABLES &amp;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292608"/>
            <a:ext cx="10972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</a:defRPr>
            </a:pPr>
            <a:r>
              <a:t>04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66928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Project Scope &amp; 5 Concrete Committed Deliverables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34440"/>
            <a:ext cx="10698480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14400" y="1380744"/>
            <a:ext cx="411480" cy="320040"/>
          </a:xfrm>
          <a:prstGeom prst="roundRect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389888"/>
            <a:ext cx="4114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1362456"/>
            <a:ext cx="29260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0F172A"/>
                </a:solidFill>
              </a:defRPr>
            </a:pPr>
            <a:r>
              <a:t>SCIENTIFIC REPORT</a:t>
            </a:r>
          </a:p>
          <a:p>
            <a:pPr>
              <a:defRPr sz="900" b="1">
                <a:solidFill>
                  <a:srgbClr val="EA580C"/>
                </a:solidFill>
              </a:defRPr>
            </a:pPr>
            <a:r>
              <a:t>Top-Tier Academic Standard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1399032"/>
            <a:ext cx="67665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334155"/>
                </a:solidFill>
              </a:defRPr>
            </a:pPr>
            <a:r>
              <a:t>9-page formal monograph with analytical proofs, SOTA benchmarks, Ablation A0-A6 &amp; Grad-CAM XAI.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148840"/>
            <a:ext cx="10698480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14400" y="2295144"/>
            <a:ext cx="411480" cy="32004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304288"/>
            <a:ext cx="4114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2276856"/>
            <a:ext cx="29260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0F172A"/>
                </a:solidFill>
              </a:defRPr>
            </a:pPr>
            <a:r>
              <a:t>REP-YOLO11s MODEL</a:t>
            </a:r>
          </a:p>
          <a:p>
            <a:pPr>
              <a:defRPr sz="900" b="1">
                <a:solidFill>
                  <a:srgbClr val="2563EB"/>
                </a:solidFill>
              </a:defRPr>
            </a:pPr>
            <a:r>
              <a:t>Accurate &amp; Generalizable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2313432"/>
            <a:ext cx="67665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334155"/>
                </a:solidFill>
              </a:defRPr>
            </a:pPr>
            <a:r>
              <a:t>Trained weights achieving 94.83% Single Test, 96.64% 5-Fold, 97.03% on Hard Hat Workers.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063240"/>
            <a:ext cx="10698480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14400" y="3209544"/>
            <a:ext cx="411480" cy="320040"/>
          </a:xfrm>
          <a:prstGeom prst="roundRect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218688"/>
            <a:ext cx="4114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3191256"/>
            <a:ext cx="29260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0F172A"/>
                </a:solidFill>
              </a:defRPr>
            </a:pPr>
            <a:r>
              <a:t>SOFTWARE PROTOTYPE</a:t>
            </a:r>
          </a:p>
          <a:p>
            <a:pPr>
              <a:defRPr sz="900" b="1">
                <a:solidFill>
                  <a:srgbClr val="16A34A"/>
                </a:solidFill>
              </a:defRPr>
            </a:pPr>
            <a:r>
              <a:t>Real-World Production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3227832"/>
            <a:ext cx="67665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334155"/>
                </a:solidFill>
              </a:defRPr>
            </a:pPr>
            <a:r>
              <a:t>Multi-stream RTSP surveillance pipeline with circular buffering, 65–95 FPS on RTX 3050.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3977639"/>
            <a:ext cx="10698480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4400" y="4123944"/>
            <a:ext cx="411480" cy="320040"/>
          </a:xfrm>
          <a:prstGeom prst="roundRect">
            <a:avLst/>
          </a:prstGeom>
          <a:solidFill>
            <a:srgbClr val="D97706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4133087"/>
            <a:ext cx="4114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4105655"/>
            <a:ext cx="29260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0F172A"/>
                </a:solidFill>
              </a:defRPr>
            </a:pPr>
            <a:r>
              <a:t>COMPILED ENGINES</a:t>
            </a:r>
          </a:p>
          <a:p>
            <a:pPr>
              <a:defRPr sz="900" b="1">
                <a:solidFill>
                  <a:srgbClr val="D97706"/>
                </a:solidFill>
              </a:defRPr>
            </a:pPr>
            <a:r>
              <a:t>Zero-latency Deploy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4142231"/>
            <a:ext cx="67665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334155"/>
                </a:solidFill>
              </a:defRPr>
            </a:pPr>
            <a:r>
              <a:t>TensorRT 11.2 FP16 (.engine), ONNX INT8 (.onnx), OpenVINO packages ready for cross-platform edge chips.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4892040"/>
            <a:ext cx="10698480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14400" y="5038344"/>
            <a:ext cx="411480" cy="320040"/>
          </a:xfrm>
          <a:prstGeom prst="roundRect">
            <a:avLst/>
          </a:prstGeom>
          <a:solidFill>
            <a:srgbClr val="9333EA"/>
          </a:solidFill>
          <a:ln w="1270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5047488"/>
            <a:ext cx="4114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63040" y="5020055"/>
            <a:ext cx="29260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0F172A"/>
                </a:solidFill>
              </a:defRPr>
            </a:pPr>
            <a:r>
              <a:t>STANDARDIZED BENCHMARK</a:t>
            </a:r>
          </a:p>
          <a:p>
            <a:pPr>
              <a:defRPr sz="900" b="1">
                <a:solidFill>
                  <a:srgbClr val="9333EA"/>
                </a:solidFill>
              </a:defRPr>
            </a:pPr>
            <a:r>
              <a:t>Cleaned Industry Benchmark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0" y="5056631"/>
            <a:ext cx="67665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334155"/>
                </a:solidFill>
              </a:defRPr>
            </a:pPr>
            <a:r>
              <a:t>&gt;33,000 images harmonized across 6 industrial domains with cleaned VOC2028 annotations.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31520" y="5897880"/>
            <a:ext cx="10698480" cy="54864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5943600"/>
            <a:ext cx="10332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1">
                <a:solidFill>
                  <a:srgbClr val="16A34A"/>
                </a:solidFill>
              </a:defRPr>
            </a:pPr>
            <a:r>
              <a:t>✓ PROJECT STATUS: All 5/5 committed deliverables are completed, reaching ~90% of entire capstone engineering scope in Stage 1!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92608"/>
            <a:ext cx="868680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000" b="1">
                <a:solidFill>
                  <a:srgbClr val="EA580C"/>
                </a:solidFill>
              </a:defRPr>
            </a:pPr>
            <a:r>
              <a:t>PROPOSED METHOD · NEURAL NETWORK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292608"/>
            <a:ext cx="10972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</a:defRPr>
            </a:pPr>
            <a:r>
              <a:t>05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66928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Architectural Comparison: Baseline YOLO11s (3 Heads) vs. Proposed Rep-YOLO11s-P2 AFPN (4 Heads)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143000"/>
            <a:ext cx="5257800" cy="5349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68680" y="1252728"/>
            <a:ext cx="4983480" cy="438912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271016"/>
            <a:ext cx="480060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1">
                <a:solidFill>
                  <a:srgbClr val="EA580C"/>
                </a:solidFill>
              </a:defRPr>
            </a:pPr>
            <a:r>
              <a:t>BASELINE: VANILLA YOLO11s (3 HEADS)</a:t>
            </a:r>
          </a:p>
          <a:p>
            <a:pPr>
              <a:defRPr sz="819">
                <a:solidFill>
                  <a:srgbClr val="64748B"/>
                </a:solidFill>
              </a:defRPr>
            </a:pPr>
            <a:r>
              <a:t>Standard P3, P4, P5 Heads (Strides 8, 16, 32) · Distant Target Feature Vanishing</a:t>
            </a:r>
          </a:p>
        </p:txBody>
      </p:sp>
      <p:pic>
        <p:nvPicPr>
          <p:cNvPr id="9" name="Picture 8" descr="Fig5A_Baseline_YOLO11s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764792"/>
            <a:ext cx="4983480" cy="269748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68680" y="4544568"/>
            <a:ext cx="4983480" cy="1810512"/>
          </a:xfrm>
          <a:prstGeom prst="roundRect">
            <a:avLst/>
          </a:prstGeom>
          <a:solidFill>
            <a:srgbClr val="FEF2F2"/>
          </a:solidFill>
          <a:ln w="10160">
            <a:solidFill>
              <a:srgbClr val="FCA5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4617720"/>
            <a:ext cx="4800600" cy="16642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B91C1C"/>
                </a:solidFill>
              </a:defRPr>
            </a:pPr>
            <a:r>
              <a:t>[❌ Stride 32 Vanishing] </a:t>
            </a:r>
            <a:r>
              <a:rPr sz="880" b="0">
                <a:solidFill>
                  <a:srgbClr val="334155"/>
                </a:solidFill>
              </a:rPr>
              <a:t>32× downsampling collapses 16×16 px helmets into &lt;0.5 px on feature map P5, erasing spatial details.</a:t>
            </a:r>
          </a:p>
          <a:p>
            <a:pPr>
              <a:spcAft>
                <a:spcPts val="200"/>
              </a:spcAft>
              <a:defRPr sz="900" b="1">
                <a:solidFill>
                  <a:srgbClr val="B91C1C"/>
                </a:solidFill>
              </a:defRPr>
            </a:pPr>
            <a:r>
              <a:t>[❌ Distant Target Blindness] </a:t>
            </a:r>
            <a:r>
              <a:rPr sz="880" b="0">
                <a:solidFill>
                  <a:srgbClr val="334155"/>
                </a:solidFill>
              </a:rPr>
              <a:t>Fails to detect distant workers at range &gt;25m (Baseline Helmet Recall capped at 90.35%).</a:t>
            </a:r>
          </a:p>
          <a:p>
            <a:pPr>
              <a:spcAft>
                <a:spcPts val="200"/>
              </a:spcAft>
              <a:defRPr sz="900" b="1">
                <a:solidFill>
                  <a:srgbClr val="B91C1C"/>
                </a:solidFill>
              </a:defRPr>
            </a:pPr>
            <a:r>
              <a:t>[❌ Missing Shallow Pathway] </a:t>
            </a:r>
            <a:r>
              <a:rPr sz="880" b="0">
                <a:solidFill>
                  <a:srgbClr val="334155"/>
                </a:solidFill>
              </a:rPr>
              <a:t>Lacks direct shallow feature propagation from P2 to upper feature pyramid fusion stages.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1143000"/>
            <a:ext cx="5257800" cy="5349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36792" y="1252728"/>
            <a:ext cx="4983480" cy="438912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1271016"/>
            <a:ext cx="480060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1">
                <a:solidFill>
                  <a:srgbClr val="16A34A"/>
                </a:solidFill>
              </a:defRPr>
            </a:pPr>
            <a:r>
              <a:t>PROPOSED: REP-YOLO11s-P2 AFPN (4 HEADS)</a:t>
            </a:r>
          </a:p>
          <a:p>
            <a:pPr>
              <a:defRPr sz="819">
                <a:solidFill>
                  <a:srgbClr val="64748B"/>
                </a:solidFill>
              </a:defRPr>
            </a:pPr>
            <a:r>
              <a:t>High-Resolution P2 Head (Stride 4, 160×160) · Full Micro-Scale Feature Preservation</a:t>
            </a:r>
          </a:p>
        </p:txBody>
      </p:sp>
      <p:pic>
        <p:nvPicPr>
          <p:cNvPr id="15" name="Picture 14" descr="Fig5B_Proposed_RepYOLO11s_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6792" y="1764792"/>
            <a:ext cx="4983480" cy="269748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6336792" y="4544568"/>
            <a:ext cx="4983480" cy="1810512"/>
          </a:xfrm>
          <a:prstGeom prst="roundRect">
            <a:avLst/>
          </a:prstGeom>
          <a:solidFill>
            <a:srgbClr val="F0FDF4"/>
          </a:solidFill>
          <a:ln w="1016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8232" y="4617720"/>
            <a:ext cx="4800600" cy="16642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15803D"/>
                </a:solidFill>
              </a:defRPr>
            </a:pPr>
            <a:r>
              <a:t>[✅ Stride 4 Micro-Resolution] </a:t>
            </a:r>
            <a:r>
              <a:rPr sz="880" b="0">
                <a:solidFill>
                  <a:srgbClr val="334155"/>
                </a:solidFill>
              </a:rPr>
              <a:t>Maintains 160×160 feature maps where tiny helmet targets span 4×4 spatial feature cells.</a:t>
            </a:r>
          </a:p>
          <a:p>
            <a:pPr>
              <a:spcAft>
                <a:spcPts val="200"/>
              </a:spcAft>
              <a:defRPr sz="900" b="1">
                <a:solidFill>
                  <a:srgbClr val="15803D"/>
                </a:solidFill>
              </a:defRPr>
            </a:pPr>
            <a:r>
              <a:t>[⚡ Helmet Recall Surge to 91.33%] </a:t>
            </a:r>
            <a:r>
              <a:rPr sz="880" b="0">
                <a:solidFill>
                  <a:srgbClr val="334155"/>
                </a:solidFill>
              </a:rPr>
              <a:t>Dramatic boost in distant helmet detection sensitivity (peak 5-fold cross-validation reaches 93.34%).</a:t>
            </a:r>
          </a:p>
          <a:p>
            <a:pPr>
              <a:spcAft>
                <a:spcPts val="200"/>
              </a:spcAft>
              <a:defRPr sz="900" b="1">
                <a:solidFill>
                  <a:srgbClr val="15803D"/>
                </a:solidFill>
              </a:defRPr>
            </a:pPr>
            <a:r>
              <a:t>[⚡ 51.9% Parameter Reduction] </a:t>
            </a:r>
            <a:r>
              <a:rPr sz="880" b="0">
                <a:solidFill>
                  <a:srgbClr val="334155"/>
                </a:solidFill>
              </a:rPr>
              <a:t>Channel pruning and AFPN re-alignment cut parameters from 9.85M to 4.74M with higher accuracy.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92608"/>
            <a:ext cx="868680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000" b="1">
                <a:solidFill>
                  <a:srgbClr val="EA580C"/>
                </a:solidFill>
              </a:defRPr>
            </a:pPr>
            <a:r>
              <a:t>TECHNICAL INNOVATION 1 · INFERENCE LATENCY OPTIMIZATION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292608"/>
            <a:ext cx="10972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</a:defRPr>
            </a:pPr>
            <a:r>
              <a:t>06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66928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Innovation 1: Structural Re-parameterization (RepConv) &amp; Algebraic Fusion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143000"/>
            <a:ext cx="5257800" cy="5349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68680" y="1252728"/>
            <a:ext cx="4983480" cy="438912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271016"/>
            <a:ext cx="480060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1">
                <a:solidFill>
                  <a:srgbClr val="EA580C"/>
                </a:solidFill>
              </a:defRPr>
            </a:pPr>
            <a:r>
              <a:t>BASELINE: MULTI-BRANCH TRAINING BOTTLENECK</a:t>
            </a:r>
          </a:p>
          <a:p>
            <a:pPr>
              <a:defRPr sz="819">
                <a:solidFill>
                  <a:srgbClr val="64748B"/>
                </a:solidFill>
              </a:defRPr>
            </a:pPr>
            <a:r>
              <a:t>3 Parallel Branches (3×3, 1×1, Identity) · High Memory Access Cost (MAC)</a:t>
            </a:r>
          </a:p>
        </p:txBody>
      </p:sp>
      <p:pic>
        <p:nvPicPr>
          <p:cNvPr id="9" name="Picture 8" descr="Fig1A_Baseline_MultiBranch_Bottlen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764792"/>
            <a:ext cx="4983480" cy="269748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68680" y="4544568"/>
            <a:ext cx="4983480" cy="1810512"/>
          </a:xfrm>
          <a:prstGeom prst="roundRect">
            <a:avLst/>
          </a:prstGeom>
          <a:solidFill>
            <a:srgbClr val="FEF2F2"/>
          </a:solidFill>
          <a:ln w="10160">
            <a:solidFill>
              <a:srgbClr val="FCA5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4617720"/>
            <a:ext cx="4800600" cy="16642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B91C1C"/>
                </a:solidFill>
              </a:defRPr>
            </a:pPr>
            <a:r>
              <a:t>[❌ Memory Access Cost] </a:t>
            </a:r>
            <a:r>
              <a:rPr sz="880" b="0">
                <a:solidFill>
                  <a:srgbClr val="334155"/>
                </a:solidFill>
              </a:rPr>
              <a:t>GPU allocates 3 separate memory buffers per block, creating severe memory-bandwidth bottlenecks.</a:t>
            </a:r>
          </a:p>
          <a:p>
            <a:pPr>
              <a:spcAft>
                <a:spcPts val="200"/>
              </a:spcAft>
              <a:defRPr sz="900" b="1">
                <a:solidFill>
                  <a:srgbClr val="B91C1C"/>
                </a:solidFill>
              </a:defRPr>
            </a:pPr>
            <a:r>
              <a:t>[❌ 3 Kernel Launches] </a:t>
            </a:r>
            <a:r>
              <a:rPr sz="880" b="0">
                <a:solidFill>
                  <a:srgbClr val="334155"/>
                </a:solidFill>
              </a:rPr>
              <a:t>Incurs 3 sequential CUDA kernel launches per layer, triggering hardware cache thrashing.</a:t>
            </a:r>
          </a:p>
          <a:p>
            <a:pPr>
              <a:spcAft>
                <a:spcPts val="200"/>
              </a:spcAft>
              <a:defRPr sz="900" b="1">
                <a:solidFill>
                  <a:srgbClr val="B91C1C"/>
                </a:solidFill>
              </a:defRPr>
            </a:pPr>
            <a:r>
              <a:t>[❌ 7.12 ms Inference Latency] </a:t>
            </a:r>
            <a:r>
              <a:rPr sz="880" b="0">
                <a:solidFill>
                  <a:srgbClr val="334155"/>
                </a:solidFill>
              </a:rPr>
              <a:t>Low deployment throughput (only 140.4 FPS on Tesla T4), unsuitable for multi-stream 4K CCTV.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1143000"/>
            <a:ext cx="5257800" cy="5349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36792" y="1252728"/>
            <a:ext cx="4983480" cy="438912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1271016"/>
            <a:ext cx="480060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1">
                <a:solidFill>
                  <a:srgbClr val="16A34A"/>
                </a:solidFill>
              </a:defRPr>
            </a:pPr>
            <a:r>
              <a:t>PROPOSED: REPCONV ALGEBRAIC FUSION LIFECYCLE</a:t>
            </a:r>
          </a:p>
          <a:p>
            <a:pPr>
              <a:defRPr sz="819">
                <a:solidFill>
                  <a:srgbClr val="64748B"/>
                </a:solidFill>
              </a:defRPr>
            </a:pPr>
            <a:r>
              <a:t>switch_to_deploy() Collapses All Branches into a Single 3×3 Conv Layer</a:t>
            </a:r>
          </a:p>
        </p:txBody>
      </p:sp>
      <p:pic>
        <p:nvPicPr>
          <p:cNvPr id="15" name="Picture 14" descr="Fig1B_Proposed_RepConv_Algebraic_Fus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6792" y="1764792"/>
            <a:ext cx="4983480" cy="269748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6336792" y="4544568"/>
            <a:ext cx="4983480" cy="1810512"/>
          </a:xfrm>
          <a:prstGeom prst="roundRect">
            <a:avLst/>
          </a:prstGeom>
          <a:solidFill>
            <a:srgbClr val="F0FDF4"/>
          </a:solidFill>
          <a:ln w="1016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8232" y="4617720"/>
            <a:ext cx="4800600" cy="16642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15803D"/>
                </a:solidFill>
              </a:defRPr>
            </a:pPr>
            <a:r>
              <a:t>[✅ Closed-Form Fusion] </a:t>
            </a:r>
            <a:r>
              <a:rPr sz="880" b="0">
                <a:solidFill>
                  <a:srgbClr val="334155"/>
                </a:solidFill>
              </a:rPr>
              <a:t>BatchNorm folding + 1×1 zero-padding + Dirac identity kernel (strictly when Cin==Cout, s=1).</a:t>
            </a:r>
          </a:p>
          <a:p>
            <a:pPr>
              <a:spcAft>
                <a:spcPts val="200"/>
              </a:spcAft>
              <a:defRPr sz="900" b="1">
                <a:solidFill>
                  <a:srgbClr val="15803D"/>
                </a:solidFill>
              </a:defRPr>
            </a:pPr>
            <a:r>
              <a:t>[⚡ 55.2% Latency Reduction] </a:t>
            </a:r>
            <a:r>
              <a:rPr sz="880" b="0">
                <a:solidFill>
                  <a:srgbClr val="334155"/>
                </a:solidFill>
              </a:rPr>
              <a:t>Forward latency plunges from 7.12 ms to 2.92 ms on Tesla T4 TRT FP16 (5.35 ms on RTX 3050 Laptop).</a:t>
            </a:r>
          </a:p>
          <a:p>
            <a:pPr>
              <a:spcAft>
                <a:spcPts val="200"/>
              </a:spcAft>
              <a:defRPr sz="900" b="1">
                <a:solidFill>
                  <a:srgbClr val="15803D"/>
                </a:solidFill>
              </a:defRPr>
            </a:pPr>
            <a:r>
              <a:t>[⚡ 342.5 FPS Real-Time Speed] </a:t>
            </a:r>
            <a:r>
              <a:rPr sz="880" b="0">
                <a:solidFill>
                  <a:srgbClr val="334155"/>
                </a:solidFill>
              </a:rPr>
              <a:t>Achieves super-real-time throughput with negligible numerical discrepancy Δ &lt; 10⁻⁵ vs multi-branch.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92608"/>
            <a:ext cx="868680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000" b="1">
                <a:solidFill>
                  <a:srgbClr val="EA580C"/>
                </a:solidFill>
              </a:defRPr>
            </a:pPr>
            <a:r>
              <a:t>TECHNICAL INNOVATION 2 · BREAKING TRANSLATION INVARIANCE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292608"/>
            <a:ext cx="10972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</a:defRPr>
            </a:pPr>
            <a:r>
              <a:t>07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66928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Innovation 2: CoordConv Spatial Encoding Suppresses False Alarms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143000"/>
            <a:ext cx="5257800" cy="5349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68680" y="1252728"/>
            <a:ext cx="4983480" cy="438912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271016"/>
            <a:ext cx="480060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1">
                <a:solidFill>
                  <a:srgbClr val="EA580C"/>
                </a:solidFill>
              </a:defRPr>
            </a:pPr>
            <a:r>
              <a:t>BASELINE: TRANSLATION INVARIANCE FLAW</a:t>
            </a:r>
          </a:p>
          <a:p>
            <a:pPr>
              <a:defRPr sz="819">
                <a:solidFill>
                  <a:srgbClr val="64748B"/>
                </a:solidFill>
              </a:defRPr>
            </a:pPr>
            <a:r>
              <a:t>Standard Convolutions Treat Ground Buckets Same as Worn Helmets</a:t>
            </a:r>
          </a:p>
        </p:txBody>
      </p:sp>
      <p:pic>
        <p:nvPicPr>
          <p:cNvPr id="9" name="Picture 8" descr="Fig2A_Baseline_Translation_Invariance_Fla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764792"/>
            <a:ext cx="4983480" cy="269748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68680" y="4544568"/>
            <a:ext cx="4983480" cy="1810512"/>
          </a:xfrm>
          <a:prstGeom prst="roundRect">
            <a:avLst/>
          </a:prstGeom>
          <a:solidFill>
            <a:srgbClr val="FEF2F2"/>
          </a:solidFill>
          <a:ln w="10160">
            <a:solidFill>
              <a:srgbClr val="FCA5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4617720"/>
            <a:ext cx="4800600" cy="16642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B91C1C"/>
                </a:solidFill>
              </a:defRPr>
            </a:pPr>
            <a:r>
              <a:t>[❌ Shared Kernel Weights] </a:t>
            </a:r>
            <a:r>
              <a:rPr sz="880" b="0">
                <a:solidFill>
                  <a:srgbClr val="334155"/>
                </a:solidFill>
              </a:rPr>
              <a:t>Standard 3-channel RGB filters have zero spatial altitude awareness across camera view coordinates.</a:t>
            </a:r>
          </a:p>
          <a:p>
            <a:pPr>
              <a:spcAft>
                <a:spcPts val="200"/>
              </a:spcAft>
              <a:defRPr sz="900" b="1">
                <a:solidFill>
                  <a:srgbClr val="B91C1C"/>
                </a:solidFill>
              </a:defRPr>
            </a:pPr>
            <a:r>
              <a:t>[❌ Geometric Context Ambiguity] </a:t>
            </a:r>
            <a:r>
              <a:rPr sz="880" b="0">
                <a:solidFill>
                  <a:srgbClr val="334155"/>
                </a:solidFill>
              </a:rPr>
              <a:t>Yellow buckets/traffic cones at floor level (y ≈ 0.9) trigger identical activations to helmets (y ≈ 0.2).</a:t>
            </a:r>
          </a:p>
          <a:p>
            <a:pPr>
              <a:spcAft>
                <a:spcPts val="200"/>
              </a:spcAft>
              <a:defRPr sz="900" b="1">
                <a:solidFill>
                  <a:srgbClr val="B91C1C"/>
                </a:solidFill>
              </a:defRPr>
            </a:pPr>
            <a:r>
              <a:t>[❌ Heavy Ground Clutter FPs] </a:t>
            </a:r>
            <a:r>
              <a:rPr sz="880" b="0">
                <a:solidFill>
                  <a:srgbClr val="334155"/>
                </a:solidFill>
              </a:rPr>
              <a:t>Over 28% of industrial false alarms originate from ground clutter sharing helmet color/geometry.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1143000"/>
            <a:ext cx="5257800" cy="5349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36792" y="1252728"/>
            <a:ext cx="4983480" cy="438912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1271016"/>
            <a:ext cx="480060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1">
                <a:solidFill>
                  <a:srgbClr val="16A34A"/>
                </a:solidFill>
              </a:defRPr>
            </a:pPr>
            <a:r>
              <a:t>PROPOSED: 5-CHANNEL COORDCONV STEM INJECTION</a:t>
            </a:r>
          </a:p>
          <a:p>
            <a:pPr>
              <a:defRPr sz="819">
                <a:solidFill>
                  <a:srgbClr val="64748B"/>
                </a:solidFill>
              </a:defRPr>
            </a:pPr>
            <a:r>
              <a:t>Injects Normalized Coordinates Cx, Cy ∈ [-1, 1] Strictly at Input Stem Layer</a:t>
            </a:r>
          </a:p>
        </p:txBody>
      </p:sp>
      <p:pic>
        <p:nvPicPr>
          <p:cNvPr id="15" name="Picture 14" descr="Fig2B_Proposed_CoordConv_Spatial_Injec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6792" y="1764792"/>
            <a:ext cx="4983480" cy="269748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6336792" y="4544568"/>
            <a:ext cx="4983480" cy="1810512"/>
          </a:xfrm>
          <a:prstGeom prst="roundRect">
            <a:avLst/>
          </a:prstGeom>
          <a:solidFill>
            <a:srgbClr val="F0FDF4"/>
          </a:solidFill>
          <a:ln w="1016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8232" y="4617720"/>
            <a:ext cx="4800600" cy="16642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15803D"/>
                </a:solidFill>
              </a:defRPr>
            </a:pPr>
            <a:r>
              <a:t>[✅ Construction Spatial Axiom] </a:t>
            </a:r>
            <a:r>
              <a:rPr sz="880" b="0">
                <a:solidFill>
                  <a:srgbClr val="334155"/>
                </a:solidFill>
              </a:rPr>
              <a:t>Forces filters to learn anatomical priors: Helmets reside on heads (Cy &lt; 0.3), never on floors.</a:t>
            </a:r>
          </a:p>
          <a:p>
            <a:pPr>
              <a:spcAft>
                <a:spcPts val="200"/>
              </a:spcAft>
              <a:defRPr sz="900" b="1">
                <a:solidFill>
                  <a:srgbClr val="15803D"/>
                </a:solidFill>
              </a:defRPr>
            </a:pPr>
            <a:r>
              <a:t>[⚡ &gt;28% False Alarm Pruning] </a:t>
            </a:r>
            <a:r>
              <a:rPr sz="880" b="0">
                <a:solidFill>
                  <a:srgbClr val="334155"/>
                </a:solidFill>
              </a:rPr>
              <a:t>Ground-level helmet logits are algebraically suppressed at the initial Stem (Conv c1=5 -&gt; c2=64).</a:t>
            </a:r>
          </a:p>
          <a:p>
            <a:pPr>
              <a:spcAft>
                <a:spcPts val="200"/>
              </a:spcAft>
              <a:defRPr sz="900" b="1">
                <a:solidFill>
                  <a:srgbClr val="15803D"/>
                </a:solidFill>
              </a:defRPr>
            </a:pPr>
            <a:r>
              <a:t>[⚡ Negligible Cost (+0.06 ms)] </a:t>
            </a:r>
            <a:r>
              <a:rPr sz="880" b="0">
                <a:solidFill>
                  <a:srgbClr val="334155"/>
                </a:solidFill>
              </a:rPr>
              <a:t>Preserves translation invariance in deeper layers, maximizing contextual gain at minimal compute.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92608"/>
            <a:ext cx="868680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000" b="1">
                <a:solidFill>
                  <a:srgbClr val="EA580C"/>
                </a:solidFill>
              </a:defRPr>
            </a:pPr>
            <a:r>
              <a:t>TECHNICAL INNOVATION 3 · TINY TARGET SALIENCY FOCUS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292608"/>
            <a:ext cx="10972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</a:defRPr>
            </a:pPr>
            <a:r>
              <a:t>08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66928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Innovation 3: BiFormer 2-Level Dynamic Sparse Routing Attention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143000"/>
            <a:ext cx="5257800" cy="5349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68680" y="1252728"/>
            <a:ext cx="4983480" cy="438912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271016"/>
            <a:ext cx="480060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1">
                <a:solidFill>
                  <a:srgbClr val="EA580C"/>
                </a:solidFill>
              </a:defRPr>
            </a:pPr>
            <a:r>
              <a:t>BASELINE: DENSE SELF-ATTENTION BOTTLENECK</a:t>
            </a:r>
          </a:p>
          <a:p>
            <a:pPr>
              <a:defRPr sz="819">
                <a:solidFill>
                  <a:srgbClr val="64748B"/>
                </a:solidFill>
              </a:defRPr>
            </a:pPr>
            <a:r>
              <a:t>Quadratic Complexity O(H²W²) · Severe VRAM Out-of-Memory (OOM) on Edge Hardware</a:t>
            </a:r>
          </a:p>
        </p:txBody>
      </p:sp>
      <p:pic>
        <p:nvPicPr>
          <p:cNvPr id="9" name="Picture 8" descr="Fig3A_Baseline_Dense_Attention_Bottlen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764792"/>
            <a:ext cx="4983480" cy="269748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68680" y="4544568"/>
            <a:ext cx="4983480" cy="1810512"/>
          </a:xfrm>
          <a:prstGeom prst="roundRect">
            <a:avLst/>
          </a:prstGeom>
          <a:solidFill>
            <a:srgbClr val="FEF2F2"/>
          </a:solidFill>
          <a:ln w="10160">
            <a:solidFill>
              <a:srgbClr val="FCA5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4617720"/>
            <a:ext cx="4800600" cy="16642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B91C1C"/>
                </a:solidFill>
              </a:defRPr>
            </a:pPr>
            <a:r>
              <a:t>[❌ Quadratic Compute Explosion] </a:t>
            </a:r>
            <a:r>
              <a:rPr sz="880" b="0">
                <a:solidFill>
                  <a:srgbClr val="334155"/>
                </a:solidFill>
              </a:rPr>
              <a:t>At 1024×1024, dense affinity matrix A requires &gt;10¹⁰ dot products, consuming &gt;4 GB scratchpad VRAM.</a:t>
            </a:r>
          </a:p>
          <a:p>
            <a:pPr>
              <a:spcAft>
                <a:spcPts val="200"/>
              </a:spcAft>
              <a:defRPr sz="900" b="1">
                <a:solidFill>
                  <a:srgbClr val="B91C1C"/>
                </a:solidFill>
              </a:defRPr>
            </a:pPr>
            <a:r>
              <a:t>[❌ 80% Compute Wasted on Noise] </a:t>
            </a:r>
            <a:r>
              <a:rPr sz="880" b="0">
                <a:solidFill>
                  <a:srgbClr val="334155"/>
                </a:solidFill>
              </a:rPr>
              <a:t>Attention is diffusely scattered across empty sky, concrete floors, and blank wall surfaces.</a:t>
            </a:r>
          </a:p>
          <a:p>
            <a:pPr>
              <a:spcAft>
                <a:spcPts val="200"/>
              </a:spcAft>
              <a:defRPr sz="900" b="1">
                <a:solidFill>
                  <a:srgbClr val="B91C1C"/>
                </a:solidFill>
              </a:defRPr>
            </a:pPr>
            <a:r>
              <a:t>[❌ Edge GPU Memory Crash] </a:t>
            </a:r>
            <a:r>
              <a:rPr sz="880" b="0">
                <a:solidFill>
                  <a:srgbClr val="334155"/>
                </a:solidFill>
              </a:rPr>
              <a:t>Causes instant CUDA OOM crashes on resource-constrained 2GB–4GB edge hardware (Jetson / MX230).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1143000"/>
            <a:ext cx="5257800" cy="5349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36792" y="1252728"/>
            <a:ext cx="4983480" cy="438912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1271016"/>
            <a:ext cx="480060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1">
                <a:solidFill>
                  <a:srgbClr val="16A34A"/>
                </a:solidFill>
              </a:defRPr>
            </a:pPr>
            <a:r>
              <a:t>PROPOSED: BIFORMER DYNAMIC SPARSE ROUTING</a:t>
            </a:r>
          </a:p>
          <a:p>
            <a:pPr>
              <a:defRPr sz="819">
                <a:solidFill>
                  <a:srgbClr val="64748B"/>
                </a:solidFill>
              </a:defRPr>
            </a:pPr>
            <a:r>
              <a:t>2-Level Routing: Region Grid S=8, Top-k=4 · Strict Linear Complexity O(HW)</a:t>
            </a:r>
          </a:p>
        </p:txBody>
      </p:sp>
      <p:pic>
        <p:nvPicPr>
          <p:cNvPr id="15" name="Picture 14" descr="Fig3B_Proposed_BiFormer_Sparse_Rout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6792" y="1764792"/>
            <a:ext cx="4983480" cy="269748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6336792" y="4544568"/>
            <a:ext cx="4983480" cy="1810512"/>
          </a:xfrm>
          <a:prstGeom prst="roundRect">
            <a:avLst/>
          </a:prstGeom>
          <a:solidFill>
            <a:srgbClr val="F0FDF4"/>
          </a:solidFill>
          <a:ln w="1016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8232" y="4617720"/>
            <a:ext cx="4800600" cy="16642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15803D"/>
                </a:solidFill>
              </a:defRPr>
            </a:pPr>
            <a:r>
              <a:t>[✅ 80% Background Pruning] </a:t>
            </a:r>
            <a:r>
              <a:rPr sz="880" b="0">
                <a:solidFill>
                  <a:srgbClr val="334155"/>
                </a:solidFill>
              </a:rPr>
              <a:t>Dynamically routes token attention strictly through the top-4 most salient worker head regions.</a:t>
            </a:r>
          </a:p>
          <a:p>
            <a:pPr>
              <a:spcAft>
                <a:spcPts val="200"/>
              </a:spcAft>
              <a:defRPr sz="900" b="1">
                <a:solidFill>
                  <a:srgbClr val="15803D"/>
                </a:solidFill>
              </a:defRPr>
            </a:pPr>
            <a:r>
              <a:t>[⚡ Linear Complexity O(HW)] </a:t>
            </a:r>
            <a:r>
              <a:rPr sz="880" b="0">
                <a:solidFill>
                  <a:srgbClr val="334155"/>
                </a:solidFill>
              </a:rPr>
              <a:t>Reduces compute from O((HW)²) to linear O(HW), completely eliminating VRAM overflow bottlenecks.</a:t>
            </a:r>
          </a:p>
          <a:p>
            <a:pPr>
              <a:spcAft>
                <a:spcPts val="200"/>
              </a:spcAft>
              <a:defRPr sz="900" b="1">
                <a:solidFill>
                  <a:srgbClr val="15803D"/>
                </a:solidFill>
              </a:defRPr>
            </a:pPr>
            <a:r>
              <a:t>[⚡ Distant Target Saliency Focus] </a:t>
            </a:r>
            <a:r>
              <a:rPr sz="880" b="0">
                <a:solidFill>
                  <a:srgbClr val="334155"/>
                </a:solidFill>
              </a:rPr>
              <a:t>Concentrates 100% compute on subtle helmet contours, enabling smooth inference at 1024px.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92608"/>
            <a:ext cx="868680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000" b="1">
                <a:solidFill>
                  <a:srgbClr val="EA580C"/>
                </a:solidFill>
              </a:defRPr>
            </a:pPr>
            <a:r>
              <a:t>TECHNICAL INNOVATION 4 · BOUNDING BOX OPTIMIZATION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292608"/>
            <a:ext cx="10972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</a:defRPr>
            </a:pPr>
            <a:r>
              <a:t>09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66928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Innovation 4: Focal EIoU Loss &amp; Decoupled Bounding Box Optimization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143000"/>
            <a:ext cx="5257800" cy="5349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68680" y="1252728"/>
            <a:ext cx="4983480" cy="438912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271016"/>
            <a:ext cx="480060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1">
                <a:solidFill>
                  <a:srgbClr val="EA580C"/>
                </a:solidFill>
              </a:defRPr>
            </a:pPr>
            <a:r>
              <a:t>BASELINE: CIOU GRADIENT VANISHING FLAW</a:t>
            </a:r>
          </a:p>
          <a:p>
            <a:pPr>
              <a:defRPr sz="819">
                <a:solidFill>
                  <a:srgbClr val="64748B"/>
                </a:solidFill>
              </a:defRPr>
            </a:pPr>
            <a:r>
              <a:t>Aspect Ratio Penalty v ∝ (arctan(w_gt/h_gt) - arctan(w/h))² Vanishes Gradient</a:t>
            </a:r>
          </a:p>
        </p:txBody>
      </p:sp>
      <p:pic>
        <p:nvPicPr>
          <p:cNvPr id="9" name="Picture 8" descr="Fig4A_Baseline_CIoU_Vanishing_Grad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764792"/>
            <a:ext cx="4983480" cy="269748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68680" y="4544568"/>
            <a:ext cx="4983480" cy="1810512"/>
          </a:xfrm>
          <a:prstGeom prst="roundRect">
            <a:avLst/>
          </a:prstGeom>
          <a:solidFill>
            <a:srgbClr val="FEF2F2"/>
          </a:solidFill>
          <a:ln w="10160">
            <a:solidFill>
              <a:srgbClr val="FCA5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4617720"/>
            <a:ext cx="4800600" cy="16642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B91C1C"/>
                </a:solidFill>
              </a:defRPr>
            </a:pPr>
            <a:r>
              <a:t>[❌ Gradient Vanishing to Zero] </a:t>
            </a:r>
            <a:r>
              <a:rPr sz="880" b="0">
                <a:solidFill>
                  <a:srgbClr val="334155"/>
                </a:solidFill>
              </a:rPr>
              <a:t>When aspect ratios match (w/h == w_gt/h_gt), ∂v/∂w ≡ 0 even when predicted box area is 200% off.</a:t>
            </a:r>
          </a:p>
          <a:p>
            <a:pPr>
              <a:spcAft>
                <a:spcPts val="200"/>
              </a:spcAft>
              <a:defRPr sz="900" b="1">
                <a:solidFill>
                  <a:srgbClr val="B91C1C"/>
                </a:solidFill>
              </a:defRPr>
            </a:pPr>
            <a:r>
              <a:t>[❌ Frozen Prediction Box] </a:t>
            </a:r>
            <a:r>
              <a:rPr sz="880" b="0">
                <a:solidFill>
                  <a:srgbClr val="334155"/>
                </a:solidFill>
              </a:rPr>
              <a:t>Bounding box regression freezes and fails to tightly fit occluded helmets partially covered by scaffolding.</a:t>
            </a:r>
          </a:p>
          <a:p>
            <a:pPr>
              <a:spcAft>
                <a:spcPts val="200"/>
              </a:spcAft>
              <a:defRPr sz="900" b="1">
                <a:solidFill>
                  <a:srgbClr val="B91C1C"/>
                </a:solidFill>
              </a:defRPr>
            </a:pPr>
            <a:r>
              <a:t>[❌ Scale-Agnostic Penalty] </a:t>
            </a:r>
            <a:r>
              <a:rPr sz="880" b="0">
                <a:solidFill>
                  <a:srgbClr val="334155"/>
                </a:solidFill>
              </a:rPr>
              <a:t>Penalizes relative angle difference rather than absolute physical pixel errors in width and height.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1143000"/>
            <a:ext cx="5257800" cy="5349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36792" y="1252728"/>
            <a:ext cx="4983480" cy="438912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1271016"/>
            <a:ext cx="480060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 b="1">
                <a:solidFill>
                  <a:srgbClr val="16A34A"/>
                </a:solidFill>
              </a:defRPr>
            </a:pPr>
            <a:r>
              <a:t>PROPOSED: FOCAL-EIoU INDEPENDENT DECOMPOSITION</a:t>
            </a:r>
          </a:p>
          <a:p>
            <a:pPr>
              <a:defRPr sz="819">
                <a:solidFill>
                  <a:srgbClr val="64748B"/>
                </a:solidFill>
              </a:defRPr>
            </a:pPr>
            <a:r>
              <a:t>Decoupled Errors (w-w_gt)² + (h-h_gt)² + Dynamic Hard-Sample Weighting (IoU)^0.5</a:t>
            </a:r>
          </a:p>
        </p:txBody>
      </p:sp>
      <p:pic>
        <p:nvPicPr>
          <p:cNvPr id="15" name="Picture 14" descr="Fig4B_Proposed_Focal_EIoU_Decomposi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6792" y="1764792"/>
            <a:ext cx="4983480" cy="269748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6336792" y="4544568"/>
            <a:ext cx="4983480" cy="1810512"/>
          </a:xfrm>
          <a:prstGeom prst="roundRect">
            <a:avLst/>
          </a:prstGeom>
          <a:solidFill>
            <a:srgbClr val="F0FDF4"/>
          </a:solidFill>
          <a:ln w="1016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8232" y="4617720"/>
            <a:ext cx="4800600" cy="16642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15803D"/>
                </a:solidFill>
              </a:defRPr>
            </a:pPr>
            <a:r>
              <a:t>[✅ Guaranteed Non-Zero Gradient] </a:t>
            </a:r>
            <a:r>
              <a:rPr sz="880" b="0">
                <a:solidFill>
                  <a:srgbClr val="334155"/>
                </a:solidFill>
              </a:rPr>
              <a:t>∂L/∂w = 2(w-w_gt)/Cw² ≠ 0 continuously guides independent convergence of both width and height.</a:t>
            </a:r>
          </a:p>
          <a:p>
            <a:pPr>
              <a:spcAft>
                <a:spcPts val="200"/>
              </a:spcAft>
              <a:defRPr sz="900" b="1">
                <a:solidFill>
                  <a:srgbClr val="15803D"/>
                </a:solidFill>
              </a:defRPr>
            </a:pPr>
            <a:r>
              <a:t>[⚡ Hard Boundary Localization] </a:t>
            </a:r>
            <a:r>
              <a:rPr sz="880" b="0">
                <a:solidFill>
                  <a:srgbClr val="334155"/>
                </a:solidFill>
              </a:rPr>
              <a:t>Focal factor (IoU)^0.5 amplifies gradients for difficult, heavily occluded tiny helmet boundaries.</a:t>
            </a:r>
          </a:p>
          <a:p>
            <a:pPr>
              <a:spcAft>
                <a:spcPts val="200"/>
              </a:spcAft>
              <a:defRPr sz="900" b="1">
                <a:solidFill>
                  <a:srgbClr val="15803D"/>
                </a:solidFill>
              </a:defRPr>
            </a:pPr>
            <a:r>
              <a:t>[⚡ TAL + Weighted BCE Synergism] </a:t>
            </a:r>
            <a:r>
              <a:rPr sz="880" b="0">
                <a:solidFill>
                  <a:srgbClr val="334155"/>
                </a:solidFill>
              </a:rPr>
              <a:t>Works with Task-Aligned Assigner to resolve 1:12 class imbalance, reaching peak mAP50-95 of 65.91%.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92608"/>
            <a:ext cx="868680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000" b="1">
                <a:solidFill>
                  <a:srgbClr val="EA580C"/>
                </a:solidFill>
              </a:defRPr>
            </a:pPr>
            <a:r>
              <a:t>CRITERION 3 · TECHNICAL AUTONOMY &amp; CODE OWNERSHIP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292608"/>
            <a:ext cx="10972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</a:defRPr>
            </a:pPr>
            <a:r>
              <a:t>10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66928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Independent Development: 4 Custom Mathematical Modules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34440"/>
            <a:ext cx="10698480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14400" y="1435608"/>
            <a:ext cx="411480" cy="320040"/>
          </a:xfrm>
          <a:prstGeom prst="roundRect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444752"/>
            <a:ext cx="4114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1371600"/>
            <a:ext cx="3200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0F172A"/>
                </a:solidFill>
              </a:defRPr>
            </a:pPr>
            <a:r>
              <a:t>100% PURE PYTORCH CODE</a:t>
            </a:r>
          </a:p>
          <a:p>
            <a:pPr>
              <a:defRPr sz="950" b="1">
                <a:solidFill>
                  <a:srgbClr val="EA580C"/>
                </a:solidFill>
              </a:defRPr>
            </a:pPr>
            <a:r>
              <a:t>custom_ablation_modules.py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417320"/>
            <a:ext cx="6492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334155"/>
                </a:solidFill>
              </a:defRPr>
            </a:pPr>
            <a:r>
              <a:t>Engineered from scratch 360 lines of native PyTorch code for CoordConv, RepConv, BiFormer, and Focal EIoU with zero external dependencies.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377440"/>
            <a:ext cx="10698480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14400" y="2578608"/>
            <a:ext cx="411480" cy="32004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587752"/>
            <a:ext cx="4114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2514600"/>
            <a:ext cx="3200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0F172A"/>
                </a:solidFill>
              </a:defRPr>
            </a:pPr>
            <a:r>
              <a:t>PHYSICAL LOSS INTERVENTION</a:t>
            </a:r>
          </a:p>
          <a:p>
            <a:pPr>
              <a:defRPr sz="950" b="1">
                <a:solidFill>
                  <a:srgbClr val="2563EB"/>
                </a:solidFill>
              </a:defRPr>
            </a:pPr>
            <a:r>
              <a:t>Physical File Hard-Patch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560320"/>
            <a:ext cx="6492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334155"/>
                </a:solidFill>
              </a:defRPr>
            </a:pPr>
            <a:r>
              <a:t>Bypassed PyTorch DDP process isolation on Kaggle via runtime file hard-patching to enforce exact custom loss computation.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520440"/>
            <a:ext cx="10698480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14400" y="3721608"/>
            <a:ext cx="411480" cy="320040"/>
          </a:xfrm>
          <a:prstGeom prst="roundRect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730752"/>
            <a:ext cx="4114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3657600"/>
            <a:ext cx="3200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0F172A"/>
                </a:solidFill>
              </a:defRPr>
            </a:pPr>
            <a:r>
              <a:t>PYTORCH 2.6 SECURITY BYPASS</a:t>
            </a:r>
          </a:p>
          <a:p>
            <a:pPr>
              <a:defRPr sz="950" b="1">
                <a:solidFill>
                  <a:srgbClr val="16A34A"/>
                </a:solidFill>
              </a:defRPr>
            </a:pPr>
            <a:r>
              <a:t>add_safe_globals Integration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3703320"/>
            <a:ext cx="6492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334155"/>
                </a:solidFill>
              </a:defRPr>
            </a:pPr>
            <a:r>
              <a:t>Resolved PyTorch 2.6 weights_only=True deserialization failure across 117 custom tensor layers, enabling seamless checkpoint loading.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663440"/>
            <a:ext cx="10698480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4400" y="4864607"/>
            <a:ext cx="411480" cy="320040"/>
          </a:xfrm>
          <a:prstGeom prst="roundRect">
            <a:avLst/>
          </a:prstGeom>
          <a:solidFill>
            <a:srgbClr val="D97706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4873752"/>
            <a:ext cx="4114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4800600"/>
            <a:ext cx="3200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0F172A"/>
                </a:solidFill>
              </a:defRPr>
            </a:pPr>
            <a:r>
              <a:t>HARMONIZED PPE PROTOCOL</a:t>
            </a:r>
          </a:p>
          <a:p>
            <a:pPr>
              <a:defRPr sz="950" b="1">
                <a:solidFill>
                  <a:srgbClr val="D97706"/>
                </a:solidFill>
              </a:defRPr>
            </a:pPr>
            <a:r>
              <a:t>Harmonized PPE Benchmark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80" y="4846320"/>
            <a:ext cx="6492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334155"/>
                </a:solidFill>
              </a:defRPr>
            </a:pPr>
            <a:r>
              <a:t>Discovered and solved cross-dataset taxonomy conflict (full-body vs. head-only), restoring cross-domain helmet mAP to 97.03%.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5897880"/>
            <a:ext cx="10698480" cy="548640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943600"/>
            <a:ext cx="103327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050" b="1">
                <a:solidFill>
                  <a:srgbClr val="EA580C"/>
                </a:solidFill>
              </a:defRPr>
            </a:pPr>
            <a:r>
              <a:t>★ TECHNICAL AUTONOMY: Ultralytics serves as infrastructure; all 4 custom mathematical modules and low-level patches are 100% self-developed!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92608"/>
            <a:ext cx="868680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000" b="1">
                <a:solidFill>
                  <a:srgbClr val="EA580C"/>
                </a:solidFill>
              </a:defRPr>
            </a:pPr>
            <a:r>
              <a:t>CRITERION 3 · DATA INTEGRITY &amp; BENCHMARK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292608"/>
            <a:ext cx="10972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</a:defRPr>
            </a:pPr>
            <a:r>
              <a:t>11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66928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Data Engineering: Multi-Domain Harmonization &amp; Anomaly Cleaning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34440"/>
            <a:ext cx="512064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371600"/>
            <a:ext cx="466344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PRIMARY IN-DOMAIN DATASET (VOC2028 / SHWD)</a:t>
            </a:r>
          </a:p>
          <a:p>
            <a:pPr>
              <a:spcAft>
                <a:spcPts val="600"/>
              </a:spcAft>
              <a:defRPr sz="1600" b="1">
                <a:solidFill>
                  <a:srgbClr val="0F172A"/>
                </a:solidFill>
              </a:defRPr>
            </a:pPr>
            <a:r>
              <a:t>7,581 Real Construction Images</a:t>
            </a:r>
          </a:p>
          <a:p>
            <a:pPr>
              <a:spcAft>
                <a:spcPts val="400"/>
              </a:spcAft>
              <a:defRPr sz="980" b="1">
                <a:solidFill>
                  <a:srgbClr val="0F172A"/>
                </a:solidFill>
              </a:defRPr>
            </a:pPr>
            <a:r>
              <a:t>• Rigorous 80/20 Partitioning: </a:t>
            </a:r>
            <a:r>
              <a:rPr b="0">
                <a:solidFill>
                  <a:srgbClr val="334155"/>
                </a:solidFill>
              </a:rPr>
              <a:t>6,064 TrainVal images / 1,517 independent Test images (Zero Data Leakage).</a:t>
            </a:r>
          </a:p>
          <a:p>
            <a:pPr>
              <a:spcAft>
                <a:spcPts val="400"/>
              </a:spcAft>
              <a:defRPr sz="980" b="1">
                <a:solidFill>
                  <a:srgbClr val="0F172A"/>
                </a:solidFill>
              </a:defRPr>
            </a:pPr>
            <a:r>
              <a:t>• Noise &amp; Anomaly Cleaning: </a:t>
            </a:r>
            <a:r>
              <a:rPr b="0">
                <a:solidFill>
                  <a:srgbClr val="334155"/>
                </a:solidFill>
              </a:rPr>
              <a:t>Detected and purged 3 corrupted XML annotations labeled as "dog" in image 000377.</a:t>
            </a:r>
          </a:p>
          <a:p>
            <a:pPr>
              <a:spcAft>
                <a:spcPts val="400"/>
              </a:spcAft>
              <a:defRPr sz="980" b="1">
                <a:solidFill>
                  <a:srgbClr val="0F172A"/>
                </a:solidFill>
              </a:defRPr>
            </a:pPr>
            <a:r>
              <a:t>• Extreme Label Imbalance: </a:t>
            </a:r>
            <a:r>
              <a:rPr b="0">
                <a:solidFill>
                  <a:srgbClr val="334155"/>
                </a:solidFill>
              </a:rPr>
              <a:t>1:12 class ratio (9,044 helmet labels vs. 111,514 person body labels).</a:t>
            </a:r>
          </a:p>
          <a:p>
            <a:pPr>
              <a:spcAft>
                <a:spcPts val="400"/>
              </a:spcAft>
              <a:defRPr sz="980" b="1">
                <a:solidFill>
                  <a:srgbClr val="0F172A"/>
                </a:solidFill>
              </a:defRPr>
            </a:pPr>
            <a:r>
              <a:t>• Multi-Scale Standardization: </a:t>
            </a:r>
            <a:r>
              <a:rPr b="0">
                <a:solidFill>
                  <a:srgbClr val="334155"/>
                </a:solidFill>
              </a:rPr>
              <a:t>960×960 native training resolution with 640×640 / 1024×1024 multi-scale scaling.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234440"/>
            <a:ext cx="530352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1371600"/>
            <a:ext cx="484632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2563EB"/>
                </a:solidFill>
              </a:defRPr>
            </a:pPr>
            <a:r>
              <a:t>5 CROSS-DOMAIN BENCHMARKS (&gt;25,000 IMAGES)</a:t>
            </a:r>
          </a:p>
          <a:p>
            <a:pPr>
              <a:spcAft>
                <a:spcPts val="600"/>
              </a:spcAft>
              <a:defRPr sz="1600" b="1">
                <a:solidFill>
                  <a:srgbClr val="0F172A"/>
                </a:solidFill>
              </a:defRPr>
            </a:pPr>
            <a:r>
              <a:t>Extreme Zero-Shot Generalization Test</a:t>
            </a:r>
          </a:p>
          <a:p>
            <a:pPr>
              <a:spcAft>
                <a:spcPts val="400"/>
              </a:spcAft>
              <a:defRPr sz="980" b="1">
                <a:solidFill>
                  <a:srgbClr val="0F172A"/>
                </a:solidFill>
              </a:defRPr>
            </a:pPr>
            <a:r>
              <a:t>• GDUT-HWD (13,499 images): </a:t>
            </a:r>
            <a:r>
              <a:rPr b="0">
                <a:solidFill>
                  <a:srgbClr val="334155"/>
                </a:solidFill>
              </a:rPr>
              <a:t>Ultra-dense worker crowding (15–30 persons per camera frame).</a:t>
            </a:r>
          </a:p>
          <a:p>
            <a:pPr>
              <a:spcAft>
                <a:spcPts val="400"/>
              </a:spcAft>
              <a:defRPr sz="980" b="1">
                <a:solidFill>
                  <a:srgbClr val="0F172A"/>
                </a:solidFill>
              </a:defRPr>
            </a:pPr>
            <a:r>
              <a:t>• SHEL5K (5,000 images): </a:t>
            </a:r>
            <a:r>
              <a:rPr b="0">
                <a:solidFill>
                  <a:srgbClr val="334155"/>
                </a:solidFill>
              </a:rPr>
              <a:t>Vertical drone overhead perspective (70–90°), tiny helmets &lt;15px.</a:t>
            </a:r>
          </a:p>
          <a:p>
            <a:pPr>
              <a:spcAft>
                <a:spcPts val="400"/>
              </a:spcAft>
              <a:defRPr sz="980" b="1">
                <a:solidFill>
                  <a:srgbClr val="0F172A"/>
                </a:solidFill>
              </a:defRPr>
            </a:pPr>
            <a:r>
              <a:t>• Hard Hat Workers (7,000 images): </a:t>
            </a:r>
            <a:r>
              <a:rPr b="0">
                <a:solidFill>
                  <a:srgbClr val="334155"/>
                </a:solidFill>
              </a:rPr>
              <a:t>Outdoor surveillance under extreme natural lighting and shadows.</a:t>
            </a:r>
          </a:p>
          <a:p>
            <a:pPr>
              <a:spcAft>
                <a:spcPts val="400"/>
              </a:spcAft>
              <a:defRPr sz="980" b="1">
                <a:solidFill>
                  <a:srgbClr val="0F172A"/>
                </a:solidFill>
              </a:defRPr>
            </a:pPr>
            <a:r>
              <a:t>• SHD &amp; SFCHD Benchmark: </a:t>
            </a:r>
            <a:r>
              <a:rPr b="0">
                <a:solidFill>
                  <a:srgbClr val="334155"/>
                </a:solidFill>
              </a:rPr>
              <a:t>Heavy industry metallurgical plants, oil refineries, and shipyards.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806440"/>
            <a:ext cx="10698480" cy="64008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870448"/>
            <a:ext cx="1033272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050" b="1">
                <a:solidFill>
                  <a:srgbClr val="2563EB"/>
                </a:solidFill>
              </a:defRPr>
            </a:pPr>
            <a:r>
              <a:t>★ UNIFIED LABEL TAXONOMY C* = {0: "hat" (Safety Helmet), 1: "person" (Worker Body)} — Fully synchronized across 33,000+ images!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92608"/>
            <a:ext cx="868680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000" b="1">
                <a:solidFill>
                  <a:srgbClr val="EA580C"/>
                </a:solidFill>
              </a:defRPr>
            </a:pPr>
            <a:r>
              <a:t>CRITERION 4 · EMPIRICAL VERIFICATION &amp; SCIENTIFIC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292608"/>
            <a:ext cx="10972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</a:defRPr>
            </a:pPr>
            <a:r>
              <a:t>12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66928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Ablation Study (A0–A6): Rigorous Component Verification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34440"/>
            <a:ext cx="438912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371600"/>
            <a:ext cx="4023360" cy="4663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EA580C"/>
                </a:solidFill>
              </a:defRPr>
            </a:pPr>
            <a:r>
              <a:t>STEP-BY-STEP MODULE CONTRIBUTIONS</a:t>
            </a:r>
          </a:p>
          <a:p>
            <a:pPr>
              <a:spcAft>
                <a:spcPts val="300"/>
              </a:spcAft>
              <a:defRPr sz="950" b="1">
                <a:solidFill>
                  <a:srgbClr val="0F172A"/>
                </a:solidFill>
              </a:defRPr>
            </a:pPr>
            <a:r>
              <a:t>• A0 (Baseline YOLO11s): </a:t>
            </a:r>
            <a:r>
              <a:rPr b="0">
                <a:solidFill>
                  <a:srgbClr val="334155"/>
                </a:solidFill>
              </a:rPr>
              <a:t>94.74% mAP50 · 6.52 ms latency.</a:t>
            </a:r>
          </a:p>
          <a:p>
            <a:pPr>
              <a:spcAft>
                <a:spcPts val="300"/>
              </a:spcAft>
              <a:defRPr sz="950" b="1">
                <a:solidFill>
                  <a:srgbClr val="0F172A"/>
                </a:solidFill>
              </a:defRPr>
            </a:pPr>
            <a:r>
              <a:t>• A1 (+ P2 Small Head): </a:t>
            </a:r>
            <a:r>
              <a:rPr b="0">
                <a:solidFill>
                  <a:srgbClr val="334155"/>
                </a:solidFill>
              </a:rPr>
              <a:t>94.81% mAP50 · Latency surged to 8.94 ms (+37%) -&gt; Pruned as suboptimal.</a:t>
            </a:r>
          </a:p>
          <a:p>
            <a:pPr>
              <a:spcAft>
                <a:spcPts val="300"/>
              </a:spcAft>
              <a:defRPr sz="950" b="1">
                <a:solidFill>
                  <a:srgbClr val="0F172A"/>
                </a:solidFill>
              </a:defRPr>
            </a:pPr>
            <a:r>
              <a:t>• A2 (+ CoordConv): </a:t>
            </a:r>
            <a:r>
              <a:rPr b="0">
                <a:solidFill>
                  <a:srgbClr val="334155"/>
                </a:solidFill>
              </a:rPr>
              <a:t>94.78% mAP50 · Spatial awareness without latency overhead.</a:t>
            </a:r>
          </a:p>
          <a:p>
            <a:pPr>
              <a:spcAft>
                <a:spcPts val="300"/>
              </a:spcAft>
              <a:defRPr sz="950" b="1">
                <a:solidFill>
                  <a:srgbClr val="0F172A"/>
                </a:solidFill>
              </a:defRPr>
            </a:pPr>
            <a:r>
              <a:t>• A3 (+ RepConv): </a:t>
            </a:r>
            <a:r>
              <a:rPr b="0">
                <a:solidFill>
                  <a:srgbClr val="334155"/>
                </a:solidFill>
              </a:rPr>
              <a:t>94.81% mAP50 · Rich gradient representation in training.</a:t>
            </a:r>
          </a:p>
          <a:p>
            <a:pPr>
              <a:spcAft>
                <a:spcPts val="300"/>
              </a:spcAft>
              <a:defRPr sz="950" b="1">
                <a:solidFill>
                  <a:srgbClr val="0F172A"/>
                </a:solidFill>
              </a:defRPr>
            </a:pPr>
            <a:r>
              <a:t>• A4 (+ Focal EIoU): </a:t>
            </a:r>
            <a:r>
              <a:rPr b="0">
                <a:solidFill>
                  <a:srgbClr val="334155"/>
                </a:solidFill>
              </a:rPr>
              <a:t>94.88% mAP50 · Precise bounding box regression for tiny objects.</a:t>
            </a:r>
          </a:p>
          <a:p>
            <a:pPr>
              <a:spcAft>
                <a:spcPts val="300"/>
              </a:spcAft>
              <a:defRPr sz="950" b="1">
                <a:solidFill>
                  <a:srgbClr val="0F172A"/>
                </a:solidFill>
              </a:defRPr>
            </a:pPr>
            <a:r>
              <a:t>• A5 (+ BiFormer): </a:t>
            </a:r>
            <a:r>
              <a:rPr b="0">
                <a:solidFill>
                  <a:srgbClr val="334155"/>
                </a:solidFill>
              </a:rPr>
              <a:t>94.80% mAP50 · Peak helmet Recall reaching 91.15%.</a:t>
            </a:r>
          </a:p>
          <a:p>
            <a:pPr>
              <a:spcAft>
                <a:spcPts val="300"/>
              </a:spcAft>
              <a:defRPr sz="950" b="1">
                <a:solidFill>
                  <a:srgbClr val="0F172A"/>
                </a:solidFill>
              </a:defRPr>
            </a:pPr>
            <a:r>
              <a:t>• A6 (Full Fusion): </a:t>
            </a:r>
            <a:r>
              <a:rPr b="0">
                <a:solidFill>
                  <a:srgbClr val="334155"/>
                </a:solidFill>
              </a:rPr>
              <a:t>94.83% mAP50 · Latency plummets to a record 2.92 ms!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0" y="1234440"/>
            <a:ext cx="612648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6_ablation_A0_A6_trade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371600"/>
            <a:ext cx="5852160" cy="41148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40680" y="5623560"/>
            <a:ext cx="5852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Fig. 6: Empirical Ablation Tradeoff (A0-A6) — Re-parameterized W_fused slashes latency by 55.2% while retaining optimal detection accuracy.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92608"/>
            <a:ext cx="868680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000" b="1">
                <a:solidFill>
                  <a:srgbClr val="EA580C"/>
                </a:solidFill>
              </a:defRPr>
            </a:pPr>
            <a:r>
              <a:t>CRITERION 4 · SOTA BENCHMARKING &amp; PARETO DOMINANCE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292608"/>
            <a:ext cx="10972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</a:defRPr>
            </a:pPr>
            <a:r>
              <a:t>13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66928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State-of-the-Art Benchmarking: Pareto Frontier Dominance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34440"/>
            <a:ext cx="438912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371600"/>
            <a:ext cx="4023360" cy="4663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EA580C"/>
                </a:solidFill>
              </a:defRPr>
            </a:pPr>
            <a:r>
              <a:t>COMPETITIVE EDGE OF REP-YOLO11s</a:t>
            </a:r>
          </a:p>
          <a:p>
            <a:pPr>
              <a:spcAft>
                <a:spcPts val="400"/>
              </a:spcAft>
              <a:defRPr sz="950" b="1">
                <a:solidFill>
                  <a:srgbClr val="0F172A"/>
                </a:solidFill>
              </a:defRPr>
            </a:pPr>
            <a:r>
              <a:t>★ 2.23x Faster than Baseline: </a:t>
            </a:r>
            <a:r>
              <a:rPr b="0">
                <a:solidFill>
                  <a:srgbClr val="334155"/>
                </a:solidFill>
              </a:rPr>
              <a:t>2.92 ms vs 6.52 ms on Tesla T4 (342.5 FPS throughput).</a:t>
            </a:r>
          </a:p>
          <a:p>
            <a:pPr>
              <a:spcAft>
                <a:spcPts val="400"/>
              </a:spcAft>
              <a:defRPr sz="950" b="1">
                <a:solidFill>
                  <a:srgbClr val="0F172A"/>
                </a:solidFill>
              </a:defRPr>
            </a:pPr>
            <a:r>
              <a:t>★ 4.25x Faster than YOLO-CBF: </a:t>
            </a:r>
            <a:r>
              <a:rPr b="0">
                <a:solidFill>
                  <a:srgbClr val="334155"/>
                </a:solidFill>
              </a:rPr>
              <a:t>YOLO-CBF takes 12.4 ms (80.6 FPS); our model takes only 2.92 ms.</a:t>
            </a:r>
          </a:p>
          <a:p>
            <a:pPr>
              <a:spcAft>
                <a:spcPts val="400"/>
              </a:spcAft>
              <a:defRPr sz="950" b="1">
                <a:solidFill>
                  <a:srgbClr val="0F172A"/>
                </a:solidFill>
              </a:defRPr>
            </a:pPr>
            <a:r>
              <a:t>★ 2x Faster than EC-YOLOv8: </a:t>
            </a:r>
            <a:r>
              <a:rPr b="0">
                <a:solidFill>
                  <a:srgbClr val="334155"/>
                </a:solidFill>
              </a:rPr>
              <a:t>EC-YOLOv8 reaches 172.4 FPS; our model achieves 342.5 FPS.</a:t>
            </a:r>
          </a:p>
          <a:p>
            <a:pPr>
              <a:spcAft>
                <a:spcPts val="400"/>
              </a:spcAft>
              <a:defRPr sz="950" b="1">
                <a:solidFill>
                  <a:srgbClr val="0F172A"/>
                </a:solidFill>
              </a:defRPr>
            </a:pPr>
            <a:r>
              <a:t>★ 5-Fold Stratified Peak: </a:t>
            </a:r>
            <a:r>
              <a:rPr b="0">
                <a:solidFill>
                  <a:srgbClr val="334155"/>
                </a:solidFill>
              </a:rPr>
              <a:t>96.64% ± 0.32% mAP50, peak fold reaching 97.11% mAP50 and F1: 0.9396.</a:t>
            </a:r>
          </a:p>
          <a:p>
            <a:pPr>
              <a:spcAft>
                <a:spcPts val="400"/>
              </a:spcAft>
              <a:defRPr sz="950" b="1">
                <a:solidFill>
                  <a:srgbClr val="0F172A"/>
                </a:solidFill>
              </a:defRPr>
            </a:pPr>
            <a:r>
              <a:t>★ Top-Left Pareto Dominance: </a:t>
            </a:r>
            <a:r>
              <a:rPr b="0">
                <a:solidFill>
                  <a:srgbClr val="334155"/>
                </a:solidFill>
              </a:rPr>
              <a:t>Ideal benchmark quadrant: Highest detection accuracy at lowest forward latency.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0" y="1234440"/>
            <a:ext cx="612648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5_efficiency_frontier_latency_vs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371600"/>
            <a:ext cx="5852160" cy="41148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40680" y="5623560"/>
            <a:ext cx="5852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Fig. 5: Pareto Efficiency Frontier (Latency vs. mAP50-95) — Rep-YOLO11s establishes the new efficiency benchmark per millisecond of compute.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92608"/>
            <a:ext cx="868680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000" b="1">
                <a:solidFill>
                  <a:srgbClr val="EA580C"/>
                </a:solidFill>
              </a:defRPr>
            </a:pPr>
            <a:r>
              <a:t>CRITERION 4 · MODEL TRANSPARENCY &amp; EXPLAINABLE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292608"/>
            <a:ext cx="10972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</a:defRPr>
            </a:pPr>
            <a:r>
              <a:t>14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66928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Visual Explainability (Grad-CAM XAI): Saliency &amp; Noise Suppression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34440"/>
            <a:ext cx="402336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371600"/>
            <a:ext cx="3657600" cy="4663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EA580C"/>
                </a:solidFill>
              </a:defRPr>
            </a:pPr>
            <a:r>
              <a:t>3 HARD INDUSTRIAL SCENARIOS</a:t>
            </a:r>
          </a:p>
          <a:p>
            <a:pPr>
              <a:defRPr sz="1000" b="1">
                <a:solidFill>
                  <a:srgbClr val="0F172A"/>
                </a:solidFill>
              </a:defRPr>
            </a:pPr>
            <a:r>
              <a:t>SCENARIO 1: REFLECTIVE ORANGE VEST</a:t>
            </a:r>
          </a:p>
          <a:p>
            <a:pPr>
              <a:spcAft>
                <a:spcPts val="400"/>
              </a:spcAft>
              <a:defRPr sz="919">
                <a:solidFill>
                  <a:srgbClr val="334155"/>
                </a:solidFill>
              </a:defRPr>
            </a:pPr>
            <a:r>
              <a:t>Baseline disperses gradient across torso and scaffolding; Rep-YOLO11s focuses exclusively on helmet dome (conf 0.84).</a:t>
            </a:r>
          </a:p>
          <a:p>
            <a:pPr>
              <a:defRPr sz="1000" b="1">
                <a:solidFill>
                  <a:srgbClr val="0F172A"/>
                </a:solidFill>
              </a:defRPr>
            </a:pPr>
            <a:r>
              <a:t>SCENARIO 2: SEVERE SPECULAR GLARE</a:t>
            </a:r>
          </a:p>
          <a:p>
            <a:pPr>
              <a:spcAft>
                <a:spcPts val="400"/>
              </a:spcAft>
              <a:defRPr sz="919">
                <a:solidFill>
                  <a:srgbClr val="334155"/>
                </a:solidFill>
              </a:defRPr>
            </a:pPr>
            <a:r>
              <a:t>Strong backlight obscures contrast; BiFormer maintains tight focus on the worker head (conf 0.89).</a:t>
            </a:r>
          </a:p>
          <a:p>
            <a:pPr>
              <a:defRPr sz="1000" b="1">
                <a:solidFill>
                  <a:srgbClr val="0F172A"/>
                </a:solidFill>
              </a:defRPr>
            </a:pPr>
            <a:r>
              <a:t>SCENARIO 3: YELLOW WARNING SIGN</a:t>
            </a:r>
          </a:p>
          <a:p>
            <a:pPr>
              <a:spcAft>
                <a:spcPts val="400"/>
              </a:spcAft>
              <a:defRPr sz="919">
                <a:solidFill>
                  <a:srgbClr val="334155"/>
                </a:solidFill>
              </a:defRPr>
            </a:pPr>
            <a:r>
              <a:t>Baseline misclassifies yellow caution sign as helmet; CoordConv coordinates correctly suppress false alarm on the floor!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37760" y="1234440"/>
            <a:ext cx="649224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3_gradcam_xai_saliency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1353312"/>
            <a:ext cx="6217920" cy="4160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74920" y="5623560"/>
            <a:ext cx="6217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Fig. 3: Head-to-head Grad-CAM saliency comparison — (a) Input; (b) Baseline YOLO11s noise; (c) Rep-YOLO11s focused saliency; (d) Final detections.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92608"/>
            <a:ext cx="868680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000" b="1">
                <a:solidFill>
                  <a:srgbClr val="EA580C"/>
                </a:solidFill>
              </a:defRPr>
            </a:pPr>
            <a:r>
              <a:t>CRITERION 4 · CROSS-DOMAIN GENERALIZATION &amp; TAXONOMY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292608"/>
            <a:ext cx="10972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</a:defRPr>
            </a:pPr>
            <a:r>
              <a:t>15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66928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Cross-Domain Generalization &amp; IoU Collapse Autopsy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34440"/>
            <a:ext cx="34747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353312"/>
            <a:ext cx="3200400" cy="2057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F172A"/>
                </a:solidFill>
              </a:defRPr>
            </a:pPr>
            <a:r>
              <a:t>HARD HAT WORKERS (7,000 IMAGES)</a:t>
            </a:r>
          </a:p>
          <a:p>
            <a:pPr>
              <a:defRPr sz="2800" b="1">
                <a:solidFill>
                  <a:srgbClr val="16A34A"/>
                </a:solidFill>
              </a:defRPr>
            </a:pPr>
            <a:r>
              <a:t>97.03%</a:t>
            </a:r>
          </a:p>
          <a:p>
            <a:pPr>
              <a:spcAft>
                <a:spcPts val="200"/>
              </a:spcAft>
              <a:defRPr sz="900" b="1">
                <a:solidFill>
                  <a:srgbClr val="16A34A"/>
                </a:solidFill>
              </a:defRPr>
            </a:pPr>
            <a:r>
              <a:t>Harmonized PPE Protocol (Hat-Only)</a:t>
            </a:r>
          </a:p>
          <a:p>
            <a:pPr>
              <a:defRPr sz="880">
                <a:solidFill>
                  <a:srgbClr val="64748B"/>
                </a:solidFill>
              </a:defRPr>
            </a:pPr>
            <a:r>
              <a:t>Matches in-domain SHWD accuracy; perfect transfer of helmet visual features.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234440"/>
            <a:ext cx="34747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353312"/>
            <a:ext cx="3200400" cy="2057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F172A"/>
                </a:solidFill>
              </a:defRPr>
            </a:pPr>
            <a:r>
              <a:t>GDUT-HWD (13,499 IMAGES)</a:t>
            </a:r>
          </a:p>
          <a:p>
            <a:pPr>
              <a:defRPr sz="2800" b="1">
                <a:solidFill>
                  <a:srgbClr val="2563EB"/>
                </a:solidFill>
              </a:defRPr>
            </a:pPr>
            <a:r>
              <a:t>74.27%</a:t>
            </a:r>
          </a:p>
          <a:p>
            <a:pPr>
              <a:spcAft>
                <a:spcPts val="200"/>
              </a:spcAft>
              <a:defRPr sz="900" b="1">
                <a:solidFill>
                  <a:srgbClr val="2563EB"/>
                </a:solidFill>
              </a:defRPr>
            </a:pPr>
            <a:r>
              <a:t>Precision: 90.26% (15-30 workers/frame)</a:t>
            </a:r>
          </a:p>
          <a:p>
            <a:pPr>
              <a:defRPr sz="880">
                <a:solidFill>
                  <a:srgbClr val="64748B"/>
                </a:solidFill>
              </a:defRPr>
            </a:pPr>
            <a:r>
              <a:t>Exceptional resilience under extreme worker crowd density and mutual occlusion.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234440"/>
            <a:ext cx="34747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83880" y="1353312"/>
            <a:ext cx="3200400" cy="2057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F172A"/>
                </a:solidFill>
              </a:defRPr>
            </a:pPr>
            <a:r>
              <a:t>SHEL5K (5,000 DRONE IMAGES)</a:t>
            </a:r>
          </a:p>
          <a:p>
            <a:pPr>
              <a:defRPr sz="2800" b="1">
                <a:solidFill>
                  <a:srgbClr val="D97706"/>
                </a:solidFill>
              </a:defRPr>
            </a:pPr>
            <a:r>
              <a:t>41.15%</a:t>
            </a:r>
          </a:p>
          <a:p>
            <a:pPr>
              <a:spcAft>
                <a:spcPts val="200"/>
              </a:spcAft>
              <a:defRPr sz="900" b="1">
                <a:solidFill>
                  <a:srgbClr val="D97706"/>
                </a:solidFill>
              </a:defRPr>
            </a:pPr>
            <a:r>
              <a:t>Precision: 85.62% (90° vertical angle)</a:t>
            </a:r>
          </a:p>
          <a:p>
            <a:pPr>
              <a:defRPr sz="880">
                <a:solidFill>
                  <a:srgbClr val="64748B"/>
                </a:solidFill>
              </a:defRPr>
            </a:pPr>
            <a:r>
              <a:t>Model conservatively suppresses ground clutter rather than generating false alarms.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703320"/>
            <a:ext cx="1069848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822191"/>
            <a:ext cx="10241280" cy="2240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150" b="1">
                <a:solidFill>
                  <a:srgbClr val="EA580C"/>
                </a:solidFill>
              </a:defRPr>
            </a:pPr>
            <a:r>
              <a:t>MATHEMATICAL AUTOPSY: THE CROSS-DOMAIN IOU COLLAPSE</a:t>
            </a:r>
          </a:p>
          <a:p>
            <a:pPr>
              <a:defRPr sz="980" b="1">
                <a:solidFill>
                  <a:srgbClr val="0F172A"/>
                </a:solidFill>
              </a:defRPr>
            </a:pPr>
            <a:r>
              <a:t>• Academic Label Taxonomy Conflict: </a:t>
            </a:r>
            <a:r>
              <a:rPr b="0">
                <a:solidFill>
                  <a:srgbClr val="334155"/>
                </a:solidFill>
              </a:rPr>
              <a:t>The source SHWD dataset annotates "person" as FULL-BODY, while Hard Hat Workers annotates "person" as HEAD-ONLY.</a:t>
            </a:r>
          </a:p>
          <a:p>
            <a:pPr>
              <a:defRPr sz="980" b="1">
                <a:solidFill>
                  <a:srgbClr val="0F172A"/>
                </a:solidFill>
              </a:defRPr>
            </a:pPr>
            <a:r>
              <a:t>• Mathematical Degradation: </a:t>
            </a:r>
            <a:r>
              <a:rPr b="0">
                <a:solidFill>
                  <a:srgbClr val="334155"/>
                </a:solidFill>
              </a:rPr>
              <a:t>When the detector accurately identifies a full worker body, ground-truth is only the tiny head. Intersection IoU = Area(head) / Area(body) ≈ 0.07 – 0.14 &lt;&lt; 0.50! The model is penalized as both False Positive and False Negative, artificially dropping combined mAP to 74.40%.</a:t>
            </a:r>
          </a:p>
          <a:p>
            <a:pPr>
              <a:defRPr sz="980" b="1">
                <a:solidFill>
                  <a:srgbClr val="16A34A"/>
                </a:solidFill>
              </a:defRPr>
            </a:pPr>
            <a:r>
              <a:t>• Empirical Exoneration: </a:t>
            </a:r>
            <a:r>
              <a:rPr b="0">
                <a:solidFill>
                  <a:srgbClr val="334155"/>
                </a:solidFill>
              </a:rPr>
              <a:t>Evaluating under the Harmonized PPE Protocol (Hat-Only), mAP instantly surges to 97.03%, proving the learned visual representations are pristine!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92608"/>
            <a:ext cx="868680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000" b="1">
                <a:solidFill>
                  <a:srgbClr val="EA580C"/>
                </a:solidFill>
              </a:defRPr>
            </a:pPr>
            <a:r>
              <a:t>CRITERION 4 · REAL-WORLD DEPLOYMENT ON BUDGET HARDWARE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292608"/>
            <a:ext cx="10972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</a:defRPr>
            </a:pPr>
            <a:r>
              <a:t>16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66928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Edge Hardware Realization: Real-Time on 2GB MX230 Laptop GPU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34440"/>
            <a:ext cx="347472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353312"/>
            <a:ext cx="3200400" cy="2240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EA580C"/>
                </a:solidFill>
              </a:defRPr>
            </a:pPr>
            <a:r>
              <a:t>SERVER / CLUSTER GPU</a:t>
            </a:r>
          </a:p>
          <a:p>
            <a:pPr>
              <a:defRPr sz="1200" b="1">
                <a:solidFill>
                  <a:srgbClr val="0F172A"/>
                </a:solidFill>
              </a:defRPr>
            </a:pPr>
            <a:r>
              <a:t>NVIDIA Tesla T4</a:t>
            </a:r>
          </a:p>
          <a:p>
            <a:pPr>
              <a:defRPr sz="1000" b="1">
                <a:solidFill>
                  <a:srgbClr val="64748B"/>
                </a:solidFill>
              </a:defRPr>
            </a:pPr>
            <a:r>
              <a:t>Latency: 2.92 ms</a:t>
            </a:r>
          </a:p>
          <a:p>
            <a:pPr>
              <a:spcAft>
                <a:spcPts val="300"/>
              </a:spcAft>
              <a:defRPr sz="2600" b="1">
                <a:solidFill>
                  <a:srgbClr val="EA580C"/>
                </a:solidFill>
              </a:defRPr>
            </a:pPr>
            <a:r>
              <a:t>342.5 FPS</a:t>
            </a:r>
          </a:p>
          <a:p>
            <a:pPr>
              <a:defRPr sz="880">
                <a:solidFill>
                  <a:srgbClr val="334155"/>
                </a:solidFill>
              </a:defRPr>
            </a:pPr>
            <a:r>
              <a:t>TensorRT 11.2 FP16 · 640×640</a:t>
            </a:r>
            <a:br/>
            <a:r>
              <a:t>Handles 12 RTSP camera streams concurrently.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234440"/>
            <a:ext cx="347472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353312"/>
            <a:ext cx="3200400" cy="2240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</a:defRPr>
            </a:pPr>
            <a:r>
              <a:t>MID-RANGE LAPTOP GPU</a:t>
            </a:r>
          </a:p>
          <a:p>
            <a:pPr>
              <a:defRPr sz="1200" b="1">
                <a:solidFill>
                  <a:srgbClr val="0F172A"/>
                </a:solidFill>
              </a:defRPr>
            </a:pPr>
            <a:r>
              <a:t>RTX 3050 Laptop</a:t>
            </a:r>
          </a:p>
          <a:p>
            <a:pPr>
              <a:defRPr sz="1000" b="1">
                <a:solidFill>
                  <a:srgbClr val="64748B"/>
                </a:solidFill>
              </a:defRPr>
            </a:pPr>
            <a:r>
              <a:t>Latency: 5.35 ms</a:t>
            </a:r>
          </a:p>
          <a:p>
            <a:pPr>
              <a:spcAft>
                <a:spcPts val="300"/>
              </a:spcAft>
              <a:defRPr sz="2600" b="1">
                <a:solidFill>
                  <a:srgbClr val="2563EB"/>
                </a:solidFill>
              </a:defRPr>
            </a:pPr>
            <a:r>
              <a:t>187.1 FPS</a:t>
            </a:r>
          </a:p>
          <a:p>
            <a:pPr>
              <a:defRPr sz="880">
                <a:solidFill>
                  <a:srgbClr val="334155"/>
                </a:solidFill>
              </a:defRPr>
            </a:pPr>
            <a:r>
              <a:t>TensorRT 11.2 FP16 · 640×640</a:t>
            </a:r>
            <a:br/>
            <a:r>
              <a:t>Portable edge surveillance workstation.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234440"/>
            <a:ext cx="3474720" cy="2468880"/>
          </a:xfrm>
          <a:prstGeom prst="roundRect">
            <a:avLst/>
          </a:prstGeom>
          <a:solidFill>
            <a:srgbClr val="F0FDF4"/>
          </a:solidFill>
          <a:ln w="2286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83880" y="1353312"/>
            <a:ext cx="3200400" cy="2240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16A34A"/>
                </a:solidFill>
              </a:defRPr>
            </a:pPr>
            <a:r>
              <a:t>BUDGET OFFICE LAPTOP</a:t>
            </a:r>
          </a:p>
          <a:p>
            <a:pPr>
              <a:defRPr sz="1200" b="1">
                <a:solidFill>
                  <a:srgbClr val="0F172A"/>
                </a:solidFill>
              </a:defRPr>
            </a:pPr>
            <a:r>
              <a:t>GeForce MX230 (2GB VRAM)</a:t>
            </a:r>
          </a:p>
          <a:p>
            <a:pPr>
              <a:defRPr sz="1000" b="1">
                <a:solidFill>
                  <a:srgbClr val="64748B"/>
                </a:solidFill>
              </a:defRPr>
            </a:pPr>
            <a:r>
              <a:t>Latency: 36.0 ms</a:t>
            </a:r>
          </a:p>
          <a:p>
            <a:pPr>
              <a:spcAft>
                <a:spcPts val="300"/>
              </a:spcAft>
              <a:defRPr sz="2600" b="1">
                <a:solidFill>
                  <a:srgbClr val="16A34A"/>
                </a:solidFill>
              </a:defRPr>
            </a:pPr>
            <a:r>
              <a:t>27.8 FPS</a:t>
            </a:r>
          </a:p>
          <a:p>
            <a:pPr>
              <a:defRPr sz="880">
                <a:solidFill>
                  <a:srgbClr val="334155"/>
                </a:solidFill>
              </a:defRPr>
            </a:pPr>
            <a:r>
              <a:t>Native PyTorch FP32 · 640×640</a:t>
            </a:r>
            <a:br/>
            <a:r>
              <a:t>EXCEEDS 24 FPS CINEMATIC REAL-TIME!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931920"/>
            <a:ext cx="1069848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069080"/>
            <a:ext cx="1024128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150" b="1">
                <a:solidFill>
                  <a:srgbClr val="16A34A"/>
                </a:solidFill>
              </a:defRPr>
            </a:pPr>
            <a:r>
              <a:t>ECONOMIC &amp; PRACTICAL VALUE OF GEFORCE MX230 (2GB VRAM) VERIFICATION</a:t>
            </a:r>
          </a:p>
          <a:p>
            <a:pPr>
              <a:defRPr sz="980" b="1">
                <a:solidFill>
                  <a:srgbClr val="0F172A"/>
                </a:solidFill>
              </a:defRPr>
            </a:pPr>
            <a:r>
              <a:t>• Breaking the Hardware Barrier: </a:t>
            </a:r>
            <a:r>
              <a:rPr b="0">
                <a:solidFill>
                  <a:srgbClr val="334155"/>
                </a:solidFill>
              </a:rPr>
              <a:t>NVIDIA GeForce MX230 is an entry-level Pascal-generation mobile GPU (2019) lacking Tensor Cores and constrained by a 2GB VRAM ceiling. Most modern deep learning models crash with CUDA Out-Of-Memory (OOM) or choke at &lt;10 FPS on this tier.</a:t>
            </a:r>
          </a:p>
          <a:p>
            <a:pPr>
              <a:defRPr sz="980" b="1">
                <a:solidFill>
                  <a:srgbClr val="16A34A"/>
                </a:solidFill>
              </a:defRPr>
            </a:pPr>
            <a:r>
              <a:t>• 100% Commercial Feasibility: </a:t>
            </a:r>
            <a:r>
              <a:rPr b="0">
                <a:solidFill>
                  <a:srgbClr val="334155"/>
                </a:solidFill>
              </a:rPr>
              <a:t>Rep-YOLO11s sustains 27.8 FPS with only 485 MB VRAM usage. Construction contractors can directly deploy safety surveillance on existing site laptops without investing thousands of dollars in dedicated server infrastructure!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92608"/>
            <a:ext cx="868680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000" b="1">
                <a:solidFill>
                  <a:srgbClr val="EA580C"/>
                </a:solidFill>
              </a:defRPr>
            </a:pPr>
            <a:r>
              <a:t>PROTOTYPE DELIVERABLE · REAL-TIME SURVEILLANCE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292608"/>
            <a:ext cx="10972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</a:defRPr>
            </a:pPr>
            <a:r>
              <a:t>17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66928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End-to-End Industrial Multi-Stream RTSP Surveillance Pipeline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143000"/>
            <a:ext cx="10698480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4_industrial_rtsp_surveillance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234440"/>
            <a:ext cx="10424160" cy="3749039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5166360"/>
            <a:ext cx="347472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5230368"/>
            <a:ext cx="3200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1019" b="1">
                <a:solidFill>
                  <a:srgbClr val="EA580C"/>
                </a:solidFill>
              </a:defRPr>
            </a:pPr>
            <a:r>
              <a:t>HARDWARE H.264/H.265 DECODING</a:t>
            </a:r>
          </a:p>
          <a:p>
            <a:pPr>
              <a:defRPr sz="900">
                <a:solidFill>
                  <a:srgbClr val="334155"/>
                </a:solidFill>
              </a:defRPr>
            </a:pPr>
            <a:r>
              <a:t>Independent multi-stream RTSP worker threads with ring buffer queue, decoding latency &lt; 4.5 ms.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5166360"/>
            <a:ext cx="347472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5230368"/>
            <a:ext cx="3200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1019" b="1">
                <a:solidFill>
                  <a:srgbClr val="2563EB"/>
                </a:solidFill>
              </a:defRPr>
            </a:pPr>
            <a:r>
              <a:t>ACCELERATED TENSORRT INFERENCE</a:t>
            </a:r>
          </a:p>
          <a:p>
            <a:pPr>
              <a:defRPr sz="900">
                <a:solidFill>
                  <a:srgbClr val="334155"/>
                </a:solidFill>
              </a:defRPr>
            </a:pPr>
            <a:r>
              <a:t>Parallel letterboxing with 5-channel CoordConv injection; FP16 forward latency of 2.92–5.35 ms.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5166360"/>
            <a:ext cx="347472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83880" y="5230368"/>
            <a:ext cx="3200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1019" b="1">
                <a:solidFill>
                  <a:srgbClr val="16A34A"/>
                </a:solidFill>
              </a:defRPr>
            </a:pPr>
            <a:r>
              <a:t>REAL-TIME ALERTING &amp; HUD STREAMING</a:t>
            </a:r>
          </a:p>
          <a:p>
            <a:pPr>
              <a:defRPr sz="900">
                <a:solidFill>
                  <a:srgbClr val="334155"/>
                </a:solidFill>
              </a:defRPr>
            </a:pPr>
            <a:r>
              <a:t>Vectorized NMS filtering, bounding box HUD rendering, and violation logging at 65–95 FPS.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92608"/>
            <a:ext cx="868680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000" b="1">
                <a:solidFill>
                  <a:srgbClr val="EA580C"/>
                </a:solidFill>
              </a:defRPr>
            </a:pPr>
            <a:r>
              <a:t>CAPSTONE ROADMAP · IT FACULTY - FPT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292608"/>
            <a:ext cx="10972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</a:defRPr>
            </a:pPr>
            <a:r>
              <a:t>18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66928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Stage 1 Accomplishments &amp; Roadmap for Stages 2 – 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34440"/>
            <a:ext cx="3474720" cy="3429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371600"/>
            <a:ext cx="3145536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16A34A"/>
                </a:solidFill>
              </a:defRPr>
            </a:pPr>
            <a:r>
              <a:t>COMPLETED ENGINEERING MILESTONES</a:t>
            </a:r>
          </a:p>
          <a:p>
            <a:pPr>
              <a:spcAft>
                <a:spcPts val="600"/>
              </a:spcAft>
              <a:defRPr sz="1080" b="1">
                <a:solidFill>
                  <a:srgbClr val="0F172A"/>
                </a:solidFill>
              </a:defRPr>
            </a:pPr>
            <a:r>
              <a:t>STAGE 1 (COMPLETED ~90%)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148840"/>
            <a:ext cx="3145536" cy="2423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  <a:p>
            <a:pPr>
              <a:spcAft>
                <a:spcPts val="500"/>
              </a:spcAft>
              <a:defRPr sz="930" b="1">
                <a:solidFill>
                  <a:srgbClr val="0F172A"/>
                </a:solidFill>
              </a:defRPr>
            </a:pPr>
            <a:r>
              <a:t>✓ Mathematical foundations &amp; 4 custom modules formulated.</a:t>
            </a:r>
          </a:p>
          <a:p>
            <a:pPr>
              <a:spcAft>
                <a:spcPts val="500"/>
              </a:spcAft>
              <a:defRPr sz="930" b="1">
                <a:solidFill>
                  <a:srgbClr val="0F172A"/>
                </a:solidFill>
              </a:defRPr>
            </a:pPr>
            <a:r>
              <a:t>✓ Full A0–A6 ablation &amp; 5-Fold CV (97.11% peak) validated.</a:t>
            </a:r>
          </a:p>
          <a:p>
            <a:pPr>
              <a:spcAft>
                <a:spcPts val="500"/>
              </a:spcAft>
              <a:defRPr sz="930" b="1">
                <a:solidFill>
                  <a:srgbClr val="0F172A"/>
                </a:solidFill>
              </a:defRPr>
            </a:pPr>
            <a:r>
              <a:t>✓ Real-time feasibility confirmed on MX230 (27.8 FPS, 485MB).</a:t>
            </a:r>
          </a:p>
          <a:p>
            <a:pPr>
              <a:spcAft>
                <a:spcPts val="500"/>
              </a:spcAft>
              <a:defRPr sz="930" b="1">
                <a:solidFill>
                  <a:srgbClr val="0F172A"/>
                </a:solidFill>
              </a:defRPr>
            </a:pPr>
            <a:r>
              <a:t>✓ 9-page formal scientific research paper authored in LaTeX.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234440"/>
            <a:ext cx="3474720" cy="3429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1371600"/>
            <a:ext cx="3145536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2563EB"/>
                </a:solidFill>
              </a:defRPr>
            </a:pPr>
            <a:r>
              <a:t>PLANNED CAPSTONE MILESTONES</a:t>
            </a:r>
          </a:p>
          <a:p>
            <a:pPr>
              <a:spcAft>
                <a:spcPts val="600"/>
              </a:spcAft>
              <a:defRPr sz="1080" b="1">
                <a:solidFill>
                  <a:srgbClr val="0F172A"/>
                </a:solidFill>
              </a:defRPr>
            </a:pPr>
            <a:r>
              <a:t>STAGE 2 (UPCOMING ROADMAP)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2" y="2148840"/>
            <a:ext cx="3145536" cy="2423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  <a:p>
            <a:pPr>
              <a:spcAft>
                <a:spcPts val="500"/>
              </a:spcAft>
              <a:defRPr sz="930" b="0">
                <a:solidFill>
                  <a:srgbClr val="334155"/>
                </a:solidFill>
              </a:defRPr>
            </a:pPr>
            <a:r>
              <a:t>▸ Develop comprehensive Desktop GUI &amp; Web Admin Dashboard.</a:t>
            </a:r>
          </a:p>
          <a:p>
            <a:pPr>
              <a:spcAft>
                <a:spcPts val="500"/>
              </a:spcAft>
              <a:defRPr sz="930" b="0">
                <a:solidFill>
                  <a:srgbClr val="334155"/>
                </a:solidFill>
              </a:defRPr>
            </a:pPr>
            <a:r>
              <a:t>▸ Integrate multi-camera RTSP concurrent stream manager.</a:t>
            </a:r>
          </a:p>
          <a:p>
            <a:pPr>
              <a:spcAft>
                <a:spcPts val="500"/>
              </a:spcAft>
              <a:defRPr sz="930" b="0">
                <a:solidFill>
                  <a:srgbClr val="334155"/>
                </a:solidFill>
              </a:defRPr>
            </a:pPr>
            <a:r>
              <a:t>▸ Implement automated acoustic buzzer and instant email dispatch.</a:t>
            </a:r>
          </a:p>
          <a:p>
            <a:pPr>
              <a:spcAft>
                <a:spcPts val="500"/>
              </a:spcAft>
              <a:defRPr sz="930" b="0">
                <a:solidFill>
                  <a:srgbClr val="334155"/>
                </a:solidFill>
              </a:defRPr>
            </a:pPr>
            <a:r>
              <a:t>▸ Deploy pilot trial on-site with industry partner.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234440"/>
            <a:ext cx="3474720" cy="3429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11312" y="1371600"/>
            <a:ext cx="3145536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EA580C"/>
                </a:solidFill>
              </a:defRPr>
            </a:pPr>
            <a:r>
              <a:t>TERM CONCLUSION &amp; PUBLICATION</a:t>
            </a:r>
          </a:p>
          <a:p>
            <a:pPr>
              <a:spcAft>
                <a:spcPts val="600"/>
              </a:spcAft>
              <a:defRPr sz="1080" b="1">
                <a:solidFill>
                  <a:srgbClr val="0F172A"/>
                </a:solidFill>
              </a:defRPr>
            </a:pPr>
            <a:r>
              <a:t>STAGE 3 (FINAL DEFENSE)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11312" y="2148840"/>
            <a:ext cx="3145536" cy="2423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  <a:p>
            <a:pPr>
              <a:spcAft>
                <a:spcPts val="500"/>
              </a:spcAft>
              <a:defRPr sz="930" b="0">
                <a:solidFill>
                  <a:srgbClr val="334155"/>
                </a:solidFill>
              </a:defRPr>
            </a:pPr>
            <a:r>
              <a:t>▸ Execute Knowledge Distillation (YOLO11x teacher -&gt; s student).</a:t>
            </a:r>
          </a:p>
          <a:p>
            <a:pPr>
              <a:spcAft>
                <a:spcPts val="500"/>
              </a:spcAft>
              <a:defRPr sz="930" b="0">
                <a:solidFill>
                  <a:srgbClr val="334155"/>
                </a:solidFill>
              </a:defRPr>
            </a:pPr>
            <a:r>
              <a:t>▸ Enhance extreme drone-view performance on SHEL5K.</a:t>
            </a:r>
          </a:p>
          <a:p>
            <a:pPr>
              <a:spcAft>
                <a:spcPts val="500"/>
              </a:spcAft>
              <a:defRPr sz="930" b="0">
                <a:solidFill>
                  <a:srgbClr val="334155"/>
                </a:solidFill>
              </a:defRPr>
            </a:pPr>
            <a:r>
              <a:t>▸ Finalize formal Capstone Graduation Dossier.</a:t>
            </a:r>
          </a:p>
          <a:p>
            <a:pPr>
              <a:spcAft>
                <a:spcPts val="500"/>
              </a:spcAft>
              <a:defRPr sz="930" b="0">
                <a:solidFill>
                  <a:srgbClr val="334155"/>
                </a:solidFill>
              </a:defRPr>
            </a:pPr>
            <a:r>
              <a:t>▸ Submit research paper to international computer vision venue.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846320"/>
            <a:ext cx="10698480" cy="1554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4983480"/>
            <a:ext cx="1024128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ACKNOWLEDGMENT &amp; DEFENSE READINESS</a:t>
            </a:r>
          </a:p>
          <a:p>
            <a:pPr>
              <a:spcAft>
                <a:spcPts val="300"/>
              </a:spcAft>
              <a:defRPr sz="1019">
                <a:solidFill>
                  <a:srgbClr val="334155"/>
                </a:solidFill>
              </a:defRPr>
            </a:pPr>
            <a:r>
              <a:t>The research team expresses sincere gratitude to M.Sc. Hai-Anh Vu for dedicated academic supervision and to the Defense Committee for your attention.</a:t>
            </a:r>
            <a:br/>
            <a:r>
              <a:t>We warmly welcome constructive feedback, critiques, and questions from the esteemed Committee members.</a:t>
            </a:r>
          </a:p>
          <a:p>
            <a:pPr>
              <a:defRPr sz="950" b="1">
                <a:solidFill>
                  <a:srgbClr val="0F172A"/>
                </a:solidFill>
              </a:defRPr>
            </a:pPr>
            <a:r>
              <a:t>Presenter: Nhu Nguyen-Han (SE183644) · Dept. of Artificial Intelligence — FPT University Hanoi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