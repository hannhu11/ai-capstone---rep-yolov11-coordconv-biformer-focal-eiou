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292608"/>
          </a:xfrm>
          <a:prstGeom prst="rect">
            <a:avLst/>
          </a:prstGeom>
          <a:noFill/>
        </p:spPr>
        <p:txBody>
          <a:bodyPr wrap="none" lIns="0" rIns="0" tIns="0" bIns="0">
            <a:spAutoFit/>
          </a:bodyPr>
          <a:lstStyle/>
          <a:p>
            <a:pPr>
              <a:defRPr sz="1100" b="1">
                <a:solidFill>
                  <a:srgbClr val="EA580C"/>
                </a:solidFill>
              </a:defRPr>
            </a:pPr>
            <a:r>
              <a:t>TRƯỜNG ĐẠI HỌC FPT · KHOA CÔNG NGHỆ THÔNG TIN · BỘ MÔN TRÍ TUỆ NHÂN TẠO</a:t>
            </a:r>
          </a:p>
        </p:txBody>
      </p:sp>
      <p:sp>
        <p:nvSpPr>
          <p:cNvPr id="4" name="Rounded Rectangle 3"/>
          <p:cNvSpPr/>
          <p:nvPr/>
        </p:nvSpPr>
        <p:spPr>
          <a:xfrm>
            <a:off x="731520" y="841248"/>
            <a:ext cx="4023360" cy="36576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77824"/>
            <a:ext cx="3840480" cy="292608"/>
          </a:xfrm>
          <a:prstGeom prst="rect">
            <a:avLst/>
          </a:prstGeom>
          <a:noFill/>
        </p:spPr>
        <p:txBody>
          <a:bodyPr wrap="none" lIns="0" rIns="0" tIns="0" bIns="0">
            <a:spAutoFit/>
          </a:bodyPr>
          <a:lstStyle/>
          <a:p>
            <a:pPr>
              <a:defRPr sz="950" b="1">
                <a:solidFill>
                  <a:srgbClr val="EA580C"/>
                </a:solidFill>
              </a:defRPr>
            </a:pPr>
            <a:r>
              <a:t>BÁO CÁO ĐỒ ÁN TỐT NGHIỆP KỸ SƯ AI — GIAI ĐOẠN 1</a:t>
            </a:r>
          </a:p>
        </p:txBody>
      </p:sp>
      <p:sp>
        <p:nvSpPr>
          <p:cNvPr id="6" name="TextBox 5"/>
          <p:cNvSpPr txBox="1"/>
          <p:nvPr/>
        </p:nvSpPr>
        <p:spPr>
          <a:xfrm>
            <a:off x="731520" y="1298448"/>
            <a:ext cx="6949440" cy="960120"/>
          </a:xfrm>
          <a:prstGeom prst="rect">
            <a:avLst/>
          </a:prstGeom>
          <a:noFill/>
        </p:spPr>
        <p:txBody>
          <a:bodyPr wrap="none" lIns="0" rIns="0" tIns="0" bIns="0">
            <a:spAutoFit/>
          </a:bodyPr>
          <a:lstStyle/>
          <a:p>
            <a:pPr>
              <a:defRPr sz="4600" b="1">
                <a:solidFill>
                  <a:srgbClr val="0F172A"/>
                </a:solidFill>
              </a:defRPr>
            </a:pPr>
            <a:r>
              <a:t>Rep-YOLO11s</a:t>
            </a:r>
          </a:p>
        </p:txBody>
      </p:sp>
      <p:sp>
        <p:nvSpPr>
          <p:cNvPr id="7" name="TextBox 6"/>
          <p:cNvSpPr txBox="1"/>
          <p:nvPr/>
        </p:nvSpPr>
        <p:spPr>
          <a:xfrm>
            <a:off x="731520" y="2331720"/>
            <a:ext cx="6949440" cy="1325880"/>
          </a:xfrm>
          <a:prstGeom prst="rect">
            <a:avLst/>
          </a:prstGeom>
          <a:noFill/>
        </p:spPr>
        <p:txBody>
          <a:bodyPr wrap="square" lIns="0" rIns="0" tIns="0" bIns="0">
            <a:spAutoFit/>
          </a:bodyPr>
          <a:lstStyle/>
          <a:p>
            <a:pPr>
              <a:defRPr sz="1400" b="1">
                <a:solidFill>
                  <a:srgbClr val="475569"/>
                </a:solidFill>
              </a:defRPr>
            </a:pPr>
            <a:r>
              <a:t>Tái Tham Số Hóa Cấu Trúc, Mã Hóa Tọa Độ Không Gian và Năng Lực Tổng Quát Hóa Đa Miền Cho Phát Hiện Mũ Bảo Hộ Thời Gian Thực Trong Giám Sát Công Trường</a:t>
            </a:r>
          </a:p>
        </p:txBody>
      </p:sp>
      <p:sp>
        <p:nvSpPr>
          <p:cNvPr id="8" name="Rounded Rectangle 7"/>
          <p:cNvSpPr/>
          <p:nvPr/>
        </p:nvSpPr>
        <p:spPr>
          <a:xfrm>
            <a:off x="7863840" y="1170432"/>
            <a:ext cx="3566160" cy="294436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243584"/>
            <a:ext cx="3200400" cy="2779776"/>
          </a:xfrm>
          <a:prstGeom prst="rect">
            <a:avLst/>
          </a:prstGeom>
          <a:noFill/>
        </p:spPr>
        <p:txBody>
          <a:bodyPr wrap="square" lIns="0" rIns="0" tIns="0" bIns="0">
            <a:spAutoFit/>
          </a:bodyPr>
          <a:lstStyle/>
          <a:p>
            <a:pPr>
              <a:defRPr sz="1100" b="1">
                <a:solidFill>
                  <a:srgbClr val="EA580C"/>
                </a:solidFill>
              </a:defRPr>
            </a:pPr>
            <a:r>
              <a:t>ĐỈNH 5-FOLD CV mAP50</a:t>
            </a:r>
          </a:p>
          <a:p>
            <a:pPr>
              <a:defRPr sz="3600" b="1">
                <a:solidFill>
                  <a:srgbClr val="0F172A"/>
                </a:solidFill>
              </a:defRPr>
            </a:pPr>
            <a:r>
              <a:t>97.11%</a:t>
            </a:r>
          </a:p>
          <a:p>
            <a:pPr>
              <a:spcAft>
                <a:spcPts val="300"/>
              </a:spcAft>
              <a:defRPr sz="1000" b="1">
                <a:solidFill>
                  <a:srgbClr val="16A34A"/>
                </a:solidFill>
              </a:defRPr>
            </a:pPr>
            <a:r>
              <a:t>· +0.47% mAP50 so với Baseline YOLO11s</a:t>
            </a:r>
          </a:p>
          <a:p>
            <a:pPr>
              <a:lnSpc>
                <a:spcPct val="108000"/>
              </a:lnSpc>
              <a:spcAft>
                <a:spcPts val="120"/>
              </a:spcAft>
              <a:defRPr sz="880">
                <a:solidFill>
                  <a:srgbClr val="475569"/>
                </a:solidFill>
              </a:defRPr>
            </a:pPr>
            <a:r>
              <a:t>· 5-Fold Stratified Split: 96.64 ± 0.32% (Đỉnh Fold 3: 97.11%)</a:t>
            </a:r>
          </a:p>
          <a:p>
            <a:pPr>
              <a:lnSpc>
                <a:spcPct val="108000"/>
              </a:lnSpc>
              <a:spcAft>
                <a:spcPts val="120"/>
              </a:spcAft>
              <a:defRPr sz="880">
                <a:solidFill>
                  <a:srgbClr val="475569"/>
                </a:solidFill>
              </a:defRPr>
            </a:pPr>
            <a:r>
              <a:t>· Single Test Split: 94.83% mAP50 (Khách quan, Zero Leakage)</a:t>
            </a:r>
          </a:p>
          <a:p>
            <a:pPr>
              <a:lnSpc>
                <a:spcPct val="108000"/>
              </a:lnSpc>
              <a:spcAft>
                <a:spcPts val="120"/>
              </a:spcAft>
              <a:defRPr sz="880">
                <a:solidFill>
                  <a:srgbClr val="475569"/>
                </a:solidFill>
              </a:defRPr>
            </a:pPr>
            <a:r>
              <a:t>· F1-Score Cực Đại: 0.9396 (Ngưỡng IoU = 0.50)</a:t>
            </a:r>
          </a:p>
          <a:p>
            <a:pPr>
              <a:lnSpc>
                <a:spcPct val="108000"/>
              </a:lnSpc>
              <a:spcAft>
                <a:spcPts val="120"/>
              </a:spcAft>
              <a:defRPr sz="880">
                <a:solidFill>
                  <a:srgbClr val="475569"/>
                </a:solidFill>
              </a:defRPr>
            </a:pPr>
            <a:r>
              <a:t>· Thông lượng suy luận: 342.5 FPS (2.92 ms trên Tesla T4 TRT FP16)</a:t>
            </a:r>
          </a:p>
          <a:p>
            <a:pPr>
              <a:lnSpc>
                <a:spcPct val="108000"/>
              </a:lnSpc>
              <a:spcAft>
                <a:spcPts val="120"/>
              </a:spcAft>
              <a:defRPr sz="880">
                <a:solidFill>
                  <a:srgbClr val="475569"/>
                </a:solidFill>
              </a:defRPr>
            </a:pPr>
            <a:r>
              <a:t>· Tăng tốc phần cứng: Nhanh gấp 2.23x Baseline (2.92 ms vs 6.52 ms)</a:t>
            </a:r>
          </a:p>
          <a:p>
            <a:pPr>
              <a:lnSpc>
                <a:spcPct val="108000"/>
              </a:lnSpc>
              <a:spcAft>
                <a:spcPts val="120"/>
              </a:spcAft>
              <a:defRPr sz="880">
                <a:solidFill>
                  <a:srgbClr val="475569"/>
                </a:solidFill>
              </a:defRPr>
            </a:pPr>
            <a:r>
              <a:t>· Kiểm thử đa miền cực đoan: &gt;33,000 ảnh từ 6 nguồn công nghiệp</a:t>
            </a:r>
          </a:p>
          <a:p>
            <a:pPr>
              <a:lnSpc>
                <a:spcPct val="108000"/>
              </a:lnSpc>
              <a:spcAft>
                <a:spcPts val="120"/>
              </a:spcAft>
              <a:defRPr sz="880">
                <a:solidFill>
                  <a:srgbClr val="475569"/>
                </a:solidFill>
              </a:defRPr>
            </a:pPr>
            <a:r>
              <a:t>· Khả thi biên: Vận hành mượt trên laptop GPU MX230 2GB (27.8 FPS)</a:t>
            </a:r>
          </a:p>
        </p:txBody>
      </p:sp>
      <p:sp>
        <p:nvSpPr>
          <p:cNvPr id="10" name="Rounded Rectangle 9"/>
          <p:cNvSpPr/>
          <p:nvPr/>
        </p:nvSpPr>
        <p:spPr>
          <a:xfrm>
            <a:off x="731520" y="4206240"/>
            <a:ext cx="33832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15968"/>
            <a:ext cx="3017520" cy="1874519"/>
          </a:xfrm>
          <a:prstGeom prst="rect">
            <a:avLst/>
          </a:prstGeom>
          <a:noFill/>
        </p:spPr>
        <p:txBody>
          <a:bodyPr wrap="square" lIns="0" rIns="0" tIns="0" bIns="0">
            <a:spAutoFit/>
          </a:bodyPr>
          <a:lstStyle/>
          <a:p>
            <a:pPr>
              <a:defRPr sz="1000" b="1">
                <a:solidFill>
                  <a:srgbClr val="EA580C"/>
                </a:solidFill>
              </a:defRPr>
            </a:pPr>
            <a:r>
              <a:t>NHÓM NGHIÊN CỨU</a:t>
            </a:r>
          </a:p>
          <a:p>
            <a:pPr>
              <a:spcAft>
                <a:spcPts val="400"/>
              </a:spcAft>
              <a:defRPr sz="1100" b="1">
                <a:solidFill>
                  <a:srgbClr val="0F172A"/>
                </a:solidFill>
              </a:defRPr>
            </a:pPr>
            <a:r>
              <a:t>Nguyễn Hàn Như · SE183644 (Trưởng nhóm)</a:t>
            </a:r>
            <a:br/>
            <a:r>
              <a:t>Nguyễn Văn Thành · SE183645</a:t>
            </a:r>
            <a:br/>
            <a:r>
              <a:t>Nguyễn Tuấn Dũng · SE183646</a:t>
            </a:r>
          </a:p>
          <a:p>
            <a:pPr>
              <a:lnSpc>
                <a:spcPct val="115000"/>
              </a:lnSpc>
              <a:spcAft>
                <a:spcPts val="250"/>
              </a:spcAft>
              <a:defRPr sz="919">
                <a:solidFill>
                  <a:srgbClr val="475569"/>
                </a:solidFill>
              </a:defRPr>
            </a:pPr>
            <a:r>
              <a:t>· Phụ trách: Kiến trúc Rep-YOLO11s, Tối ưu hóa TensorRT FP16, Pipeline RTSP &amp; Đánh giá Đa miền</a:t>
            </a:r>
          </a:p>
          <a:p>
            <a:pPr>
              <a:lnSpc>
                <a:spcPct val="115000"/>
              </a:lnSpc>
              <a:spcAft>
                <a:spcPts val="250"/>
              </a:spcAft>
              <a:defRPr sz="919">
                <a:solidFill>
                  <a:srgbClr val="475569"/>
                </a:solidFill>
              </a:defRPr>
            </a:pPr>
            <a:r>
              <a:t>· Phân ban: Thị giác Máy tính &amp; Phần mềm Biên</a:t>
            </a:r>
          </a:p>
        </p:txBody>
      </p:sp>
      <p:sp>
        <p:nvSpPr>
          <p:cNvPr id="12" name="Rounded Rectangle 11"/>
          <p:cNvSpPr/>
          <p:nvPr/>
        </p:nvSpPr>
        <p:spPr>
          <a:xfrm>
            <a:off x="4389120" y="4206240"/>
            <a:ext cx="33832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315968"/>
            <a:ext cx="3017520" cy="1874519"/>
          </a:xfrm>
          <a:prstGeom prst="rect">
            <a:avLst/>
          </a:prstGeom>
          <a:noFill/>
        </p:spPr>
        <p:txBody>
          <a:bodyPr wrap="square" lIns="0" rIns="0" tIns="0" bIns="0">
            <a:spAutoFit/>
          </a:bodyPr>
          <a:lstStyle/>
          <a:p>
            <a:pPr>
              <a:defRPr sz="1000" b="1">
                <a:solidFill>
                  <a:srgbClr val="2563EB"/>
                </a:solidFill>
              </a:defRPr>
            </a:pPr>
            <a:r>
              <a:t>GIẢNG VIÊN HƯỚNG DẪN &amp; ĐƠN VỊ</a:t>
            </a:r>
          </a:p>
          <a:p>
            <a:pPr>
              <a:spcAft>
                <a:spcPts val="400"/>
              </a:spcAft>
              <a:defRPr sz="1100" b="1">
                <a:solidFill>
                  <a:srgbClr val="0F172A"/>
                </a:solidFill>
              </a:defRPr>
            </a:pPr>
            <a:r>
              <a:t>ThS. Vũ Hải Anh (anhvh@fe.edu.vn)</a:t>
            </a:r>
            <a:br/>
            <a:r>
              <a:t>Bộ môn Trí tuệ Nhân tạo — Khoa CNTT</a:t>
            </a:r>
            <a:br/>
            <a:r>
              <a:t>Trường Đại học FPT Hà Nội</a:t>
            </a:r>
          </a:p>
          <a:p>
            <a:pPr>
              <a:lnSpc>
                <a:spcPct val="115000"/>
              </a:lnSpc>
              <a:spcAft>
                <a:spcPts val="250"/>
              </a:spcAft>
              <a:defRPr sz="919">
                <a:solidFill>
                  <a:srgbClr val="475569"/>
                </a:solidFill>
              </a:defRPr>
            </a:pPr>
            <a:r>
              <a:t>· Khóa đào tạo: Kỹ sư AI Khóa K18</a:t>
            </a:r>
          </a:p>
          <a:p>
            <a:pPr>
              <a:lnSpc>
                <a:spcPct val="115000"/>
              </a:lnSpc>
              <a:spcAft>
                <a:spcPts val="250"/>
              </a:spcAft>
              <a:defRPr sz="919">
                <a:solidFill>
                  <a:srgbClr val="475569"/>
                </a:solidFill>
              </a:defRPr>
            </a:pPr>
            <a:r>
              <a:t>· Học kỳ bảo vệ: Fall 2026</a:t>
            </a:r>
          </a:p>
          <a:p>
            <a:pPr>
              <a:lnSpc>
                <a:spcPct val="115000"/>
              </a:lnSpc>
              <a:spcAft>
                <a:spcPts val="250"/>
              </a:spcAft>
              <a:defRPr sz="919">
                <a:solidFill>
                  <a:srgbClr val="475569"/>
                </a:solidFill>
              </a:defRPr>
            </a:pPr>
            <a:r>
              <a:t>· Định hướng: Nghiên cứu ứng dụng công nghiệp</a:t>
            </a:r>
          </a:p>
        </p:txBody>
      </p:sp>
      <p:sp>
        <p:nvSpPr>
          <p:cNvPr id="14" name="Rounded Rectangle 13"/>
          <p:cNvSpPr/>
          <p:nvPr/>
        </p:nvSpPr>
        <p:spPr>
          <a:xfrm>
            <a:off x="8046720" y="4206240"/>
            <a:ext cx="33832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4315968"/>
            <a:ext cx="3017520" cy="1874519"/>
          </a:xfrm>
          <a:prstGeom prst="rect">
            <a:avLst/>
          </a:prstGeom>
          <a:noFill/>
        </p:spPr>
        <p:txBody>
          <a:bodyPr wrap="square" lIns="0" rIns="0" tIns="0" bIns="0">
            <a:spAutoFit/>
          </a:bodyPr>
          <a:lstStyle/>
          <a:p>
            <a:pPr>
              <a:defRPr sz="1000" b="1">
                <a:solidFill>
                  <a:srgbClr val="16A34A"/>
                </a:solidFill>
              </a:defRPr>
            </a:pPr>
            <a:r>
              <a:t>KIỂM CHỨNG THÔNG LƯỢNG THỰC TẾ</a:t>
            </a:r>
          </a:p>
          <a:p>
            <a:pPr>
              <a:spcAft>
                <a:spcPts val="400"/>
              </a:spcAft>
              <a:defRPr sz="1100" b="1">
                <a:solidFill>
                  <a:srgbClr val="0F172A"/>
                </a:solidFill>
              </a:defRPr>
            </a:pPr>
            <a:r>
              <a:t>342.5 FPS · Tesla T4 (TRT FP16)</a:t>
            </a:r>
            <a:br/>
            <a:r>
              <a:t>187.1 FPS · RTX 3050 Laptop</a:t>
            </a:r>
            <a:br/>
            <a:r>
              <a:t>27.8 FPS · Low-End MX230 (2GB VRAM)</a:t>
            </a:r>
          </a:p>
          <a:p>
            <a:pPr>
              <a:lnSpc>
                <a:spcPct val="115000"/>
              </a:lnSpc>
              <a:spcAft>
                <a:spcPts val="250"/>
              </a:spcAft>
              <a:defRPr sz="919">
                <a:solidFill>
                  <a:srgbClr val="475569"/>
                </a:solidFill>
              </a:defRPr>
            </a:pPr>
            <a:r>
              <a:t>· 35.0 FPS · Edge CPU Intel 4-Core (INT8)</a:t>
            </a:r>
          </a:p>
          <a:p>
            <a:pPr>
              <a:lnSpc>
                <a:spcPct val="115000"/>
              </a:lnSpc>
              <a:spcAft>
                <a:spcPts val="250"/>
              </a:spcAft>
              <a:defRPr sz="919">
                <a:solidFill>
                  <a:srgbClr val="475569"/>
                </a:solidFill>
              </a:defRPr>
            </a:pPr>
            <a:r>
              <a:t>· Đo đạc vật lý bằng đồng bộ CUDA Events</a:t>
            </a:r>
          </a:p>
          <a:p>
            <a:pPr>
              <a:lnSpc>
                <a:spcPct val="115000"/>
              </a:lnSpc>
              <a:spcAft>
                <a:spcPts val="250"/>
              </a:spcAft>
              <a:defRPr sz="919">
                <a:solidFill>
                  <a:srgbClr val="475569"/>
                </a:solidFill>
              </a:defRPr>
            </a:pPr>
            <a:r>
              <a:t>· Đảm bảo thời gian thực trên cả máy văn phòng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TỔNG QUAN TIÊU CHÍ ĐÁNH GIÁ &amp; TIẾN ĐỘ THỰC HIỆN</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02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Ma Trận Đáp Ứng Toàn Diện 4 Tiêu Chí Đánh Giá Của Hội Đồng FPT</a:t>
            </a:r>
          </a:p>
        </p:txBody>
      </p:sp>
      <p:sp>
        <p:nvSpPr>
          <p:cNvPr id="6" name="Rounded Rectangle 5"/>
          <p:cNvSpPr/>
          <p:nvPr/>
        </p:nvSpPr>
        <p:spPr>
          <a:xfrm>
            <a:off x="731520" y="118872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61872"/>
            <a:ext cx="4882896" cy="2048256"/>
          </a:xfrm>
          <a:prstGeom prst="rect">
            <a:avLst/>
          </a:prstGeom>
          <a:noFill/>
        </p:spPr>
        <p:txBody>
          <a:bodyPr wrap="square" lIns="0" rIns="0" tIns="0" bIns="0">
            <a:spAutoFit/>
          </a:bodyPr>
          <a:lstStyle/>
          <a:p>
            <a:pPr>
              <a:defRPr sz="1000" b="1">
                <a:solidFill>
                  <a:srgbClr val="EA580C"/>
                </a:solidFill>
              </a:defRPr>
            </a:pPr>
            <a:r>
              <a:t>TIÊU CHÍ 1: MỤC TIÊU ĐỀ TÀI (PROBLEM)</a:t>
            </a:r>
          </a:p>
          <a:p>
            <a:pPr>
              <a:spcAft>
                <a:spcPts val="200"/>
              </a:spcAft>
              <a:defRPr sz="1120" b="1">
                <a:solidFill>
                  <a:srgbClr val="0F172A"/>
                </a:solidFill>
              </a:defRPr>
            </a:pPr>
            <a:r>
              <a:t>Phát biểu bài toán rõ ràng, cấp thiết &amp; định lượng</a:t>
            </a:r>
          </a:p>
          <a:p>
            <a:pPr>
              <a:lnSpc>
                <a:spcPct val="112000"/>
              </a:lnSpc>
              <a:spcAft>
                <a:spcPts val="180"/>
              </a:spcAft>
              <a:defRPr sz="919">
                <a:solidFill>
                  <a:srgbClr val="334155"/>
                </a:solidFill>
              </a:defRPr>
            </a:pPr>
            <a:r>
              <a:t>· Câu hỏi Hội đồng: "Phát biểu bài toán có đủ rõ ràng và cấp thiết hay không?"</a:t>
            </a:r>
          </a:p>
          <a:p>
            <a:pPr>
              <a:lnSpc>
                <a:spcPct val="112000"/>
              </a:lnSpc>
              <a:spcAft>
                <a:spcPts val="180"/>
              </a:spcAft>
              <a:defRPr sz="919">
                <a:solidFill>
                  <a:srgbClr val="334155"/>
                </a:solidFill>
              </a:defRPr>
            </a:pPr>
            <a:r>
              <a:t>· Thực trạng công nghiệp: Tử vong do chấn thương đầu là hiểm họa số 1; giám sát thủ công ngắt quãng bao quát &lt;15% ca trực.</a:t>
            </a:r>
          </a:p>
          <a:p>
            <a:pPr>
              <a:lnSpc>
                <a:spcPct val="112000"/>
              </a:lnSpc>
              <a:spcAft>
                <a:spcPts val="180"/>
              </a:spcAft>
              <a:defRPr sz="919">
                <a:solidFill>
                  <a:srgbClr val="334155"/>
                </a:solidFill>
              </a:defRPr>
            </a:pPr>
            <a:r>
              <a:t>· Giải pháp đột phá: Giải quyết triệt để 4 nút thắt công nghệ: Vi vật thể (&lt;20px), Mất cân bằng nhãn (1:12), Nhiễu không gian và Rào cản phần cứng biên.</a:t>
            </a:r>
          </a:p>
          <a:p>
            <a:pPr>
              <a:lnSpc>
                <a:spcPct val="112000"/>
              </a:lnSpc>
              <a:spcAft>
                <a:spcPts val="180"/>
              </a:spcAft>
              <a:defRPr sz="919">
                <a:solidFill>
                  <a:srgbClr val="334155"/>
                </a:solidFill>
              </a:defRPr>
            </a:pPr>
            <a:r>
              <a:t>· Mục tiêu định lượng: Giám sát tự động 24/7 qua CCTV với chi phí tối thiểu, đạt chuẩn thời gian thực &gt;= 25 FPS trên thiết bị giá rẻ.</a:t>
            </a:r>
          </a:p>
          <a:p>
            <a:pPr>
              <a:lnSpc>
                <a:spcPct val="112000"/>
              </a:lnSpc>
              <a:spcAft>
                <a:spcPts val="180"/>
              </a:spcAft>
              <a:defRPr sz="919" b="1">
                <a:solidFill>
                  <a:srgbClr val="EA580C"/>
                </a:solidFill>
              </a:defRPr>
            </a:pPr>
            <a:r>
              <a:t>■ Cam kết: Đạt chuẩn thời gian thực &gt;= 25 FPS trên GPU biên 2GB VRAM, mAP50 &gt; 95%.</a:t>
            </a:r>
          </a:p>
        </p:txBody>
      </p:sp>
      <p:sp>
        <p:nvSpPr>
          <p:cNvPr id="8" name="Rounded Rectangle 7"/>
          <p:cNvSpPr/>
          <p:nvPr/>
        </p:nvSpPr>
        <p:spPr>
          <a:xfrm>
            <a:off x="6217920" y="118872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261872"/>
            <a:ext cx="4882896" cy="2048256"/>
          </a:xfrm>
          <a:prstGeom prst="rect">
            <a:avLst/>
          </a:prstGeom>
          <a:noFill/>
        </p:spPr>
        <p:txBody>
          <a:bodyPr wrap="square" lIns="0" rIns="0" tIns="0" bIns="0">
            <a:spAutoFit/>
          </a:bodyPr>
          <a:lstStyle/>
          <a:p>
            <a:pPr>
              <a:defRPr sz="1000" b="1">
                <a:solidFill>
                  <a:srgbClr val="2563EB"/>
                </a:solidFill>
              </a:defRPr>
            </a:pPr>
            <a:r>
              <a:t>TIÊU CHÍ 2: KẾT QUẢ CUỐI CÙNG (PROPOSED SOLUTION)</a:t>
            </a:r>
          </a:p>
          <a:p>
            <a:pPr>
              <a:spcAft>
                <a:spcPts val="200"/>
              </a:spcAft>
              <a:defRPr sz="1120" b="1">
                <a:solidFill>
                  <a:srgbClr val="0F172A"/>
                </a:solidFill>
              </a:defRPr>
            </a:pPr>
            <a:r>
              <a:t>Cam kết 5 sản phẩm bàn giao cụ thể theo biểu mẫu</a:t>
            </a:r>
          </a:p>
          <a:p>
            <a:pPr>
              <a:lnSpc>
                <a:spcPct val="112000"/>
              </a:lnSpc>
              <a:spcAft>
                <a:spcPts val="180"/>
              </a:spcAft>
              <a:defRPr sz="919">
                <a:solidFill>
                  <a:srgbClr val="334155"/>
                </a:solidFill>
              </a:defRPr>
            </a:pPr>
            <a:r>
              <a:t>· Câu hỏi Hội đồng: "Kết quả mong muốn phải đạt được của đề tài là gì?"</a:t>
            </a:r>
          </a:p>
          <a:p>
            <a:pPr>
              <a:lnSpc>
                <a:spcPct val="112000"/>
              </a:lnSpc>
              <a:spcAft>
                <a:spcPts val="180"/>
              </a:spcAft>
              <a:defRPr sz="919">
                <a:solidFill>
                  <a:srgbClr val="334155"/>
                </a:solidFill>
              </a:defRPr>
            </a:pPr>
            <a:r>
              <a:t>· 1. Báo cáo khoa học (Bản thảo 9 trang đầy đủ chứng minh toán) &amp; 2. Software Prototype (RTSP 65–95 FPS trên RTX 3050).</a:t>
            </a:r>
          </a:p>
          <a:p>
            <a:pPr>
              <a:lnSpc>
                <a:spcPct val="112000"/>
              </a:lnSpc>
              <a:spcAft>
                <a:spcPts val="180"/>
              </a:spcAft>
              <a:defRPr sz="919">
                <a:solidFill>
                  <a:srgbClr val="334155"/>
                </a:solidFill>
              </a:defRPr>
            </a:pPr>
            <a:r>
              <a:t>· 3. Checkpoint &amp; Engines: Trọng số 94.83% mAP50, TensorRT FP16 (.engine), ONNX Runtime INT8 (.onnx).</a:t>
            </a:r>
          </a:p>
          <a:p>
            <a:pPr>
              <a:lnSpc>
                <a:spcPct val="112000"/>
              </a:lnSpc>
              <a:spcAft>
                <a:spcPts val="180"/>
              </a:spcAft>
              <a:defRPr sz="919">
                <a:solidFill>
                  <a:srgbClr val="334155"/>
                </a:solidFill>
              </a:defRPr>
            </a:pPr>
            <a:r>
              <a:t>· 4. Framework / Module API: 4 module PyTorch tự phát triển mở rộng (custom_ablation_modules.py).</a:t>
            </a:r>
          </a:p>
          <a:p>
            <a:pPr>
              <a:lnSpc>
                <a:spcPct val="112000"/>
              </a:lnSpc>
              <a:spcAft>
                <a:spcPts val="180"/>
              </a:spcAft>
              <a:defRPr sz="919">
                <a:solidFill>
                  <a:srgbClr val="334155"/>
                </a:solidFill>
              </a:defRPr>
            </a:pPr>
            <a:r>
              <a:t>· 5. Dataset: Bộ dữ liệu công nghiệp chuẩn hóa &gt;33,000 ảnh từ 6 nguồn với không gian nhãn chung C*.</a:t>
            </a:r>
          </a:p>
          <a:p>
            <a:pPr>
              <a:lnSpc>
                <a:spcPct val="112000"/>
              </a:lnSpc>
              <a:spcAft>
                <a:spcPts val="180"/>
              </a:spcAft>
              <a:defRPr sz="919" b="1">
                <a:solidFill>
                  <a:srgbClr val="2563EB"/>
                </a:solidFill>
              </a:defRPr>
            </a:pPr>
            <a:r>
              <a:t>■ Hiện trạng: Đã hoàn thiện đầy đủ 5/5 sản phẩm đầu ra cam kết của đề tài.</a:t>
            </a:r>
          </a:p>
        </p:txBody>
      </p:sp>
      <p:sp>
        <p:nvSpPr>
          <p:cNvPr id="10" name="Rounded Rectangle 9"/>
          <p:cNvSpPr/>
          <p:nvPr/>
        </p:nvSpPr>
        <p:spPr>
          <a:xfrm>
            <a:off x="731520" y="347472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547872"/>
            <a:ext cx="4882896" cy="2048256"/>
          </a:xfrm>
          <a:prstGeom prst="rect">
            <a:avLst/>
          </a:prstGeom>
          <a:noFill/>
        </p:spPr>
        <p:txBody>
          <a:bodyPr wrap="square" lIns="0" rIns="0" tIns="0" bIns="0">
            <a:spAutoFit/>
          </a:bodyPr>
          <a:lstStyle/>
          <a:p>
            <a:pPr>
              <a:defRPr sz="1000" b="1">
                <a:solidFill>
                  <a:srgbClr val="16A34A"/>
                </a:solidFill>
              </a:defRPr>
            </a:pPr>
            <a:r>
              <a:t>TIÊU CHÍ 3: TÍNH KHẢ THI &amp; XÁC ĐỊNH SCOPE</a:t>
            </a:r>
          </a:p>
          <a:p>
            <a:pPr>
              <a:spcAft>
                <a:spcPts val="200"/>
              </a:spcAft>
              <a:defRPr sz="1120" b="1">
                <a:solidFill>
                  <a:srgbClr val="0F172A"/>
                </a:solidFill>
              </a:defRPr>
            </a:pPr>
            <a:r>
              <a:t>Cơ sở lý thuyết vững chắc, kế thừa kết hợp đóng góp mới</a:t>
            </a:r>
          </a:p>
          <a:p>
            <a:pPr>
              <a:lnSpc>
                <a:spcPct val="112000"/>
              </a:lnSpc>
              <a:spcAft>
                <a:spcPts val="180"/>
              </a:spcAft>
              <a:defRPr sz="919">
                <a:solidFill>
                  <a:srgbClr val="334155"/>
                </a:solidFill>
              </a:defRPr>
            </a:pPr>
            <a:r>
              <a:t>· Câu hỏi Hội đồng: "Hướng tiếp cận nào? Tái sử dụng hay làm từ đầu? Cải tiến mới bao nhiêu? Dataset?"</a:t>
            </a:r>
          </a:p>
          <a:p>
            <a:pPr>
              <a:lnSpc>
                <a:spcPct val="112000"/>
              </a:lnSpc>
              <a:spcAft>
                <a:spcPts val="180"/>
              </a:spcAft>
              <a:defRPr sz="919">
                <a:solidFill>
                  <a:srgbClr val="334155"/>
                </a:solidFill>
              </a:defRPr>
            </a:pPr>
            <a:r>
              <a:t>· Cơ sở: Khảo sát chuyên sâu 32 bài báo quốc tế (2019–2026), đối sánh định lượng 6 mô hình SOTA.</a:t>
            </a:r>
          </a:p>
          <a:p>
            <a:pPr>
              <a:lnSpc>
                <a:spcPct val="112000"/>
              </a:lnSpc>
              <a:spcAft>
                <a:spcPts val="180"/>
              </a:spcAft>
              <a:defRPr sz="919">
                <a:solidFill>
                  <a:srgbClr val="334155"/>
                </a:solidFill>
              </a:defRPr>
            </a:pPr>
            <a:r>
              <a:t>· Kế thừa: Framework Ultralytics YOLO11 (CSPDarknet, SPPF, Mosaic, TAL, SGD Cosine Annealing).</a:t>
            </a:r>
          </a:p>
          <a:p>
            <a:pPr>
              <a:lnSpc>
                <a:spcPct val="112000"/>
              </a:lnSpc>
              <a:spcAft>
                <a:spcPts val="180"/>
              </a:spcAft>
              <a:defRPr sz="919">
                <a:solidFill>
                  <a:srgbClr val="334155"/>
                </a:solidFill>
              </a:defRPr>
            </a:pPr>
            <a:r>
              <a:t>· Đóng góp tự phát triển: Tự thiết kế 4 module toán học: CoordConv, RepConv, BiFormer, Focal EIoU.</a:t>
            </a:r>
          </a:p>
          <a:p>
            <a:pPr>
              <a:lnSpc>
                <a:spcPct val="112000"/>
              </a:lnSpc>
              <a:spcAft>
                <a:spcPts val="180"/>
              </a:spcAft>
              <a:defRPr sz="919">
                <a:solidFill>
                  <a:srgbClr val="334155"/>
                </a:solidFill>
              </a:defRPr>
            </a:pPr>
            <a:r>
              <a:t>· Dataset: Làm sạch VOC2028 (xóa 3 nhãn rác "dog", chuẩn hóa tọa độ) + 5 tập kiểm thử ngoại miền (&gt;25,000 ảnh).</a:t>
            </a:r>
          </a:p>
          <a:p>
            <a:pPr>
              <a:lnSpc>
                <a:spcPct val="112000"/>
              </a:lnSpc>
              <a:spcAft>
                <a:spcPts val="180"/>
              </a:spcAft>
              <a:defRPr sz="919" b="1">
                <a:solidFill>
                  <a:srgbClr val="16A34A"/>
                </a:solidFill>
              </a:defRPr>
            </a:pPr>
            <a:r>
              <a:t>■ Tính khả thi: Kế thừa nền tảng vững chắc kết hợp đóng góp chuyên biệt, khả thi 100%.</a:t>
            </a:r>
          </a:p>
        </p:txBody>
      </p:sp>
      <p:sp>
        <p:nvSpPr>
          <p:cNvPr id="12" name="Rounded Rectangle 11"/>
          <p:cNvSpPr/>
          <p:nvPr/>
        </p:nvSpPr>
        <p:spPr>
          <a:xfrm>
            <a:off x="6217920" y="347472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3547872"/>
            <a:ext cx="4882896" cy="2048256"/>
          </a:xfrm>
          <a:prstGeom prst="rect">
            <a:avLst/>
          </a:prstGeom>
          <a:noFill/>
        </p:spPr>
        <p:txBody>
          <a:bodyPr wrap="square" lIns="0" rIns="0" tIns="0" bIns="0">
            <a:spAutoFit/>
          </a:bodyPr>
          <a:lstStyle/>
          <a:p>
            <a:pPr>
              <a:defRPr sz="1000" b="1">
                <a:solidFill>
                  <a:srgbClr val="D97706"/>
                </a:solidFill>
              </a:defRPr>
            </a:pPr>
            <a:r>
              <a:t>TIÊU CHÍ 4: GIÁ TRỊ CỦA ĐỀ TÀI</a:t>
            </a:r>
          </a:p>
          <a:p>
            <a:pPr>
              <a:spcAft>
                <a:spcPts val="200"/>
              </a:spcAft>
              <a:defRPr sz="1120" b="1">
                <a:solidFill>
                  <a:srgbClr val="0F172A"/>
                </a:solidFill>
              </a:defRPr>
            </a:pPr>
            <a:r>
              <a:t>Tính thực tế cao, đột phá khoa học &amp; sáng tạo mới</a:t>
            </a:r>
          </a:p>
          <a:p>
            <a:pPr>
              <a:lnSpc>
                <a:spcPct val="112000"/>
              </a:lnSpc>
              <a:spcAft>
                <a:spcPts val="180"/>
              </a:spcAft>
              <a:defRPr sz="919">
                <a:solidFill>
                  <a:srgbClr val="334155"/>
                </a:solidFill>
              </a:defRPr>
            </a:pPr>
            <a:r>
              <a:t>· Câu hỏi Hội đồng: "Đề tài có tính thực tế? Có ý nghĩa khoa học? Có mới và sáng tạo không?"</a:t>
            </a:r>
          </a:p>
          <a:p>
            <a:pPr>
              <a:lnSpc>
                <a:spcPct val="112000"/>
              </a:lnSpc>
              <a:spcAft>
                <a:spcPts val="180"/>
              </a:spcAft>
              <a:defRPr sz="919">
                <a:solidFill>
                  <a:srgbClr val="334155"/>
                </a:solidFill>
              </a:defRPr>
            </a:pPr>
            <a:r>
              <a:t>· Giá trị thực tiễn: Vận hành trực tiếp trên hạ tầng camera CCTV sẵn có; chạy mượt trên laptop văn phòng cũ MX230 2GB VRAM (27.8 FPS &gt; 24 FPS chuẩn), zero chi phí server đắt đỏ.</a:t>
            </a:r>
          </a:p>
          <a:p>
            <a:pPr>
              <a:lnSpc>
                <a:spcPct val="112000"/>
              </a:lnSpc>
              <a:spcAft>
                <a:spcPts val="180"/>
              </a:spcAft>
              <a:defRPr sz="919">
                <a:solidFill>
                  <a:srgbClr val="334155"/>
                </a:solidFill>
              </a:defRPr>
            </a:pPr>
            <a:r>
              <a:t>· Ý nghĩa khoa học: Phá vỡ tính bất biến tịnh tiến của CNN (Grad-CAM XAI); giải mã thành công hiện tượng Sụp đổ IoU và đề xuất giao thức Harmonized PPE (mAP50 phục hồi lên 97.03%).</a:t>
            </a:r>
          </a:p>
          <a:p>
            <a:pPr>
              <a:lnSpc>
                <a:spcPct val="112000"/>
              </a:lnSpc>
              <a:spcAft>
                <a:spcPts val="180"/>
              </a:spcAft>
              <a:defRPr sz="919">
                <a:solidFill>
                  <a:srgbClr val="334155"/>
                </a:solidFill>
              </a:defRPr>
            </a:pPr>
            <a:r>
              <a:t>· Tính sáng tạo: Kiến trúc Rep-YOLO11s đầu tiên đạt SOTA kép: Tăng độ chính xác &amp; Giảm 59% độ trễ.</a:t>
            </a:r>
          </a:p>
          <a:p>
            <a:pPr>
              <a:lnSpc>
                <a:spcPct val="112000"/>
              </a:lnSpc>
              <a:spcAft>
                <a:spcPts val="180"/>
              </a:spcAft>
              <a:defRPr sz="919" b="1">
                <a:solidFill>
                  <a:srgbClr val="D97706"/>
                </a:solidFill>
              </a:defRPr>
            </a:pPr>
            <a:r>
              <a:t>■ Đột phá: Đạt tốc độ cao nhất (342.5 FPS) và độ chính xác đỉnh (97.11% mAP50).</a:t>
            </a:r>
          </a:p>
        </p:txBody>
      </p:sp>
      <p:sp>
        <p:nvSpPr>
          <p:cNvPr id="14" name="Rounded Rectangle 13"/>
          <p:cNvSpPr/>
          <p:nvPr/>
        </p:nvSpPr>
        <p:spPr>
          <a:xfrm>
            <a:off x="731520" y="5870448"/>
            <a:ext cx="10698480" cy="50292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07024"/>
            <a:ext cx="10332720" cy="411480"/>
          </a:xfrm>
          <a:prstGeom prst="rect">
            <a:avLst/>
          </a:prstGeom>
          <a:noFill/>
        </p:spPr>
        <p:txBody>
          <a:bodyPr wrap="none" lIns="0" rIns="0" tIns="0" bIns="0">
            <a:spAutoFit/>
          </a:bodyPr>
          <a:lstStyle/>
          <a:p>
            <a:pPr>
              <a:defRPr sz="1050" b="1">
                <a:solidFill>
                  <a:srgbClr val="EA580C"/>
                </a:solidFill>
              </a:defRPr>
            </a:pPr>
            <a:r>
              <a:t>TIẾN ĐỘ VƯỢT BẬC: Đề tài đã hoàn thành ~90% khối lượng kỹ thuật và thẩm định tính khả thi 100% trên phần cứng thật!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1 · MỤC TIÊU ĐỀ TÀI &amp; Ý NGHĨA THỰC TIỄN</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03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Thực Trạng Công Trường: Nhu Cầu Cấp Thiết Giám Sát Mũ Bảo Hộ</a:t>
            </a:r>
          </a:p>
        </p:txBody>
      </p:sp>
      <p:sp>
        <p:nvSpPr>
          <p:cNvPr id="6" name="Rounded Rectangle 5"/>
          <p:cNvSpPr/>
          <p:nvPr/>
        </p:nvSpPr>
        <p:spPr>
          <a:xfrm>
            <a:off x="731520" y="1188720"/>
            <a:ext cx="502920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80160"/>
            <a:ext cx="4663440" cy="1188720"/>
          </a:xfrm>
          <a:prstGeom prst="rect">
            <a:avLst/>
          </a:prstGeom>
          <a:noFill/>
        </p:spPr>
        <p:txBody>
          <a:bodyPr wrap="square" lIns="0" rIns="0" tIns="0" bIns="0">
            <a:spAutoFit/>
          </a:bodyPr>
          <a:lstStyle/>
          <a:p>
            <a:pPr>
              <a:spcAft>
                <a:spcPts val="300"/>
              </a:spcAft>
              <a:defRPr sz="1200" b="1">
                <a:solidFill>
                  <a:srgbClr val="EA580C"/>
                </a:solidFill>
              </a:defRPr>
            </a:pPr>
            <a:r>
              <a:t>01  Hiểm Họa Tử Vong Hàng Đầu</a:t>
            </a:r>
          </a:p>
          <a:p>
            <a:pPr>
              <a:lnSpc>
                <a:spcPct val="115000"/>
              </a:lnSpc>
              <a:spcAft>
                <a:spcPts val="220"/>
              </a:spcAft>
              <a:defRPr sz="960">
                <a:solidFill>
                  <a:srgbClr val="334155"/>
                </a:solidFill>
              </a:defRPr>
            </a:pPr>
            <a:r>
              <a:t>· Chấn thương sọ não do vật liệu, giàn giáo và dụng cụ rơi tự do từ trên cao là nguyên nhân gây tử vong số 1 trong các tai nạn lao động xây dựng.</a:t>
            </a:r>
          </a:p>
          <a:p>
            <a:pPr>
              <a:lnSpc>
                <a:spcPct val="115000"/>
              </a:lnSpc>
              <a:spcAft>
                <a:spcPts val="220"/>
              </a:spcAft>
              <a:defRPr sz="960">
                <a:solidFill>
                  <a:srgbClr val="334155"/>
                </a:solidFill>
              </a:defRPr>
            </a:pPr>
            <a:r>
              <a:t>· Việc không đội mũ bảo hộ làm tăng tỷ lệ tử vong lên hơn 80% khi xảy ra va chạm cơ học nguy hiểm tại công trường.</a:t>
            </a:r>
          </a:p>
          <a:p>
            <a:pPr>
              <a:lnSpc>
                <a:spcPct val="115000"/>
              </a:lnSpc>
              <a:spcAft>
                <a:spcPts val="220"/>
              </a:spcAft>
              <a:defRPr sz="960" b="1">
                <a:solidFill>
                  <a:srgbClr val="EA580C"/>
                </a:solidFill>
              </a:defRPr>
            </a:pPr>
            <a:r>
              <a:t>■ Thực tế: 100% quy chuẩn an toàn lao động bắt buộc trang bị mũ bảo hộ tại hiện trường.</a:t>
            </a:r>
          </a:p>
        </p:txBody>
      </p:sp>
      <p:sp>
        <p:nvSpPr>
          <p:cNvPr id="8" name="Rounded Rectangle 7"/>
          <p:cNvSpPr/>
          <p:nvPr/>
        </p:nvSpPr>
        <p:spPr>
          <a:xfrm>
            <a:off x="731520" y="2670048"/>
            <a:ext cx="502920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61488"/>
            <a:ext cx="4663440" cy="1188720"/>
          </a:xfrm>
          <a:prstGeom prst="rect">
            <a:avLst/>
          </a:prstGeom>
          <a:noFill/>
        </p:spPr>
        <p:txBody>
          <a:bodyPr wrap="square" lIns="0" rIns="0" tIns="0" bIns="0">
            <a:spAutoFit/>
          </a:bodyPr>
          <a:lstStyle/>
          <a:p>
            <a:pPr>
              <a:spcAft>
                <a:spcPts val="300"/>
              </a:spcAft>
              <a:defRPr sz="1200" b="1">
                <a:solidFill>
                  <a:srgbClr val="0F172A"/>
                </a:solidFill>
              </a:defRPr>
            </a:pPr>
            <a:r>
              <a:t>02  Bế Tắc Của Giám Sát Thủ Công</a:t>
            </a:r>
          </a:p>
          <a:p>
            <a:pPr>
              <a:lnSpc>
                <a:spcPct val="115000"/>
              </a:lnSpc>
              <a:spcAft>
                <a:spcPts val="220"/>
              </a:spcAft>
              <a:defRPr sz="960">
                <a:solidFill>
                  <a:srgbClr val="334155"/>
                </a:solidFill>
              </a:defRPr>
            </a:pPr>
            <a:r>
              <a:t>· Cán bộ an toàn chỉ kiểm tra tuần tra ngắt quãng, tầm nhìn bị che khuất và chỉ bao quát &lt;15% tổng thời lượng ca làm việc thực tế.</a:t>
            </a:r>
          </a:p>
          <a:p>
            <a:pPr>
              <a:lnSpc>
                <a:spcPct val="115000"/>
              </a:lnSpc>
              <a:spcAft>
                <a:spcPts val="220"/>
              </a:spcAft>
              <a:defRPr sz="960">
                <a:solidFill>
                  <a:srgbClr val="334155"/>
                </a:solidFill>
              </a:defRPr>
            </a:pPr>
            <a:r>
              <a:t>· Giám sát bằng mắt thường dễ mỏi mệt, chủ quan, bỏ lọt phần lớn các vi phạm an toàn của công nhân.</a:t>
            </a:r>
          </a:p>
          <a:p>
            <a:pPr>
              <a:lnSpc>
                <a:spcPct val="115000"/>
              </a:lnSpc>
              <a:spcAft>
                <a:spcPts val="220"/>
              </a:spcAft>
              <a:defRPr sz="960" b="1">
                <a:solidFill>
                  <a:srgbClr val="EA580C"/>
                </a:solidFill>
              </a:defRPr>
            </a:pPr>
            <a:r>
              <a:t>■ Hệ quả: Vi phạm xảy ra tràn lan ngoài các khung giờ tuần tra cố định.</a:t>
            </a:r>
          </a:p>
        </p:txBody>
      </p:sp>
      <p:sp>
        <p:nvSpPr>
          <p:cNvPr id="10" name="Rounded Rectangle 9"/>
          <p:cNvSpPr/>
          <p:nvPr/>
        </p:nvSpPr>
        <p:spPr>
          <a:xfrm>
            <a:off x="731520" y="4151376"/>
            <a:ext cx="502920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42816"/>
            <a:ext cx="4663440" cy="1188720"/>
          </a:xfrm>
          <a:prstGeom prst="rect">
            <a:avLst/>
          </a:prstGeom>
          <a:noFill/>
        </p:spPr>
        <p:txBody>
          <a:bodyPr wrap="square" lIns="0" rIns="0" tIns="0" bIns="0">
            <a:spAutoFit/>
          </a:bodyPr>
          <a:lstStyle/>
          <a:p>
            <a:pPr>
              <a:spcAft>
                <a:spcPts val="300"/>
              </a:spcAft>
              <a:defRPr sz="1200" b="1">
                <a:solidFill>
                  <a:srgbClr val="0F172A"/>
                </a:solidFill>
              </a:defRPr>
            </a:pPr>
            <a:r>
              <a:t>03  Tự Động Hóa 24/7 Không Xâm Lấn</a:t>
            </a:r>
          </a:p>
          <a:p>
            <a:pPr>
              <a:lnSpc>
                <a:spcPct val="115000"/>
              </a:lnSpc>
              <a:spcAft>
                <a:spcPts val="220"/>
              </a:spcAft>
              <a:defRPr sz="960">
                <a:solidFill>
                  <a:srgbClr val="334155"/>
                </a:solidFill>
              </a:defRPr>
            </a:pPr>
            <a:r>
              <a:t>· Tận dụng hạ tầng camera CCTV / RTSP sẵn có tại công trường, triển khai thị giác máy tính AI biên để giám sát an toàn liên tục 24/7.</a:t>
            </a:r>
          </a:p>
          <a:p>
            <a:pPr>
              <a:lnSpc>
                <a:spcPct val="115000"/>
              </a:lnSpc>
              <a:spcAft>
                <a:spcPts val="220"/>
              </a:spcAft>
              <a:defRPr sz="960">
                <a:solidFill>
                  <a:srgbClr val="334155"/>
                </a:solidFill>
              </a:defRPr>
            </a:pPr>
            <a:r>
              <a:t>· Hệ thống cung cấp bằng chứng vi phạm minh bạch, tự động kích hoạt còi báo với chi phí đầu tư phần cứng tối thiểu.</a:t>
            </a:r>
          </a:p>
          <a:p>
            <a:pPr>
              <a:lnSpc>
                <a:spcPct val="115000"/>
              </a:lnSpc>
              <a:spcAft>
                <a:spcPts val="220"/>
              </a:spcAft>
              <a:defRPr sz="960" b="1">
                <a:solidFill>
                  <a:srgbClr val="EA580C"/>
                </a:solidFill>
              </a:defRPr>
            </a:pPr>
            <a:r>
              <a:t>■ Giải pháp: Tự động hóa toàn trình, nhận diện vi phạm tức thì &lt; 0.05 giây.</a:t>
            </a:r>
          </a:p>
        </p:txBody>
      </p:sp>
      <p:sp>
        <p:nvSpPr>
          <p:cNvPr id="12" name="Rounded Rectangle 11"/>
          <p:cNvSpPr/>
          <p:nvPr/>
        </p:nvSpPr>
        <p:spPr>
          <a:xfrm>
            <a:off x="6035040" y="1188720"/>
            <a:ext cx="539496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1_site_overview_challenges.jpg"/>
          <p:cNvPicPr>
            <a:picLocks noChangeAspect="1"/>
          </p:cNvPicPr>
          <p:nvPr/>
        </p:nvPicPr>
        <p:blipFill>
          <a:blip r:embed="rId2"/>
          <a:stretch>
            <a:fillRect/>
          </a:stretch>
        </p:blipFill>
        <p:spPr>
          <a:xfrm>
            <a:off x="6172200" y="1298448"/>
            <a:ext cx="5120640" cy="3794760"/>
          </a:xfrm>
          <a:prstGeom prst="rect">
            <a:avLst/>
          </a:prstGeom>
        </p:spPr>
      </p:pic>
      <p:sp>
        <p:nvSpPr>
          <p:cNvPr id="14" name="TextBox 13"/>
          <p:cNvSpPr txBox="1"/>
          <p:nvPr/>
        </p:nvSpPr>
        <p:spPr>
          <a:xfrm>
            <a:off x="6172200" y="5166360"/>
            <a:ext cx="5120640" cy="502920"/>
          </a:xfrm>
          <a:prstGeom prst="rect">
            <a:avLst/>
          </a:prstGeom>
          <a:noFill/>
        </p:spPr>
        <p:txBody>
          <a:bodyPr wrap="square" lIns="0" rIns="0" tIns="0" bIns="0">
            <a:spAutoFit/>
          </a:bodyPr>
          <a:lstStyle/>
          <a:p>
            <a:pPr>
              <a:defRPr sz="900" i="1">
                <a:solidFill>
                  <a:srgbClr val="475569"/>
                </a:solidFill>
              </a:defRPr>
            </a:pPr>
            <a:r>
              <a:t>Hình 1: Hiện trường công trường thực tế với góc máy camera trên cao (15-30m), công nhân bị che khuất và nhiều thiết bị gây nhiễu thị giác.</a:t>
            </a:r>
          </a:p>
        </p:txBody>
      </p:sp>
      <p:sp>
        <p:nvSpPr>
          <p:cNvPr id="15" name="Rounded Rectangle 14"/>
          <p:cNvSpPr/>
          <p:nvPr/>
        </p:nvSpPr>
        <p:spPr>
          <a:xfrm>
            <a:off x="731520" y="5852160"/>
            <a:ext cx="10698480" cy="530352"/>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888736"/>
            <a:ext cx="10332720" cy="438912"/>
          </a:xfrm>
          <a:prstGeom prst="rect">
            <a:avLst/>
          </a:prstGeom>
          <a:noFill/>
        </p:spPr>
        <p:txBody>
          <a:bodyPr wrap="none" lIns="0" rIns="0" tIns="0" bIns="0">
            <a:spAutoFit/>
          </a:bodyPr>
          <a:lstStyle/>
          <a:p>
            <a:pPr>
              <a:defRPr sz="1050" b="1">
                <a:solidFill>
                  <a:srgbClr val="2563EB"/>
                </a:solidFill>
              </a:defRPr>
            </a:pPr>
            <a:r>
              <a:t>■ Mục tiêu cốt lõi &amp; Cam kết thực thi: Giám sát tự động 24/7 qua CCTV với chi phí tối thiểu, đạt chuẩn thời gian thực &gt;= 25 FPS trên GPU biên 2GB VRAM (MX230) và mAP50 &gt;= 95.0%.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1 · BÀI TOÁN KHOA HỌC &amp; THÁCH THỨC KỸ THUẬT</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04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Bốn Nút Thắt Kỹ Thuật Cốt Lõi Khi Triển Khai Tại Công Trường</a:t>
            </a:r>
          </a:p>
        </p:txBody>
      </p:sp>
      <p:sp>
        <p:nvSpPr>
          <p:cNvPr id="6" name="Rounded Rectangle 5"/>
          <p:cNvSpPr/>
          <p:nvPr/>
        </p:nvSpPr>
        <p:spPr>
          <a:xfrm>
            <a:off x="731520" y="1188720"/>
            <a:ext cx="5212080" cy="21762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61872"/>
            <a:ext cx="4882896" cy="2029968"/>
          </a:xfrm>
          <a:prstGeom prst="rect">
            <a:avLst/>
          </a:prstGeom>
          <a:noFill/>
        </p:spPr>
        <p:txBody>
          <a:bodyPr wrap="square" lIns="0" rIns="0" tIns="0" bIns="0">
            <a:spAutoFit/>
          </a:bodyPr>
          <a:lstStyle/>
          <a:p>
            <a:pPr>
              <a:defRPr sz="950" b="1">
                <a:solidFill>
                  <a:srgbClr val="EA580C"/>
                </a:solidFill>
              </a:defRPr>
            </a:pPr>
            <a:r>
              <a:t>01  ·  VI VẬT THỂ CỰ LY XA  —  [Khẩu độ &lt; 20px / Downsampling P3-P5]</a:t>
            </a:r>
          </a:p>
          <a:p>
            <a:pPr>
              <a:spcAft>
                <a:spcPts val="200"/>
              </a:spcAft>
              <a:defRPr sz="1120" b="1">
                <a:solidFill>
                  <a:srgbClr val="0F172A"/>
                </a:solidFill>
              </a:defRPr>
            </a:pPr>
            <a:r>
              <a:t>Mũ bảo hộ chỉ chiếm &lt;20x20 px (thậm chí &lt;15 px)</a:t>
            </a:r>
          </a:p>
          <a:p>
            <a:pPr>
              <a:lnSpc>
                <a:spcPct val="112000"/>
              </a:lnSpc>
              <a:spcAft>
                <a:spcPts val="180"/>
              </a:spcAft>
              <a:defRPr sz="919">
                <a:solidFill>
                  <a:srgbClr val="334155"/>
                </a:solidFill>
              </a:defRPr>
            </a:pPr>
            <a:r>
              <a:t>· Nguyên nhân vật lý: Camera gắn trên cao 15–30m khiến diện tích mũ chiếm &lt;0.1% khung hình (&lt;20px).</a:t>
            </a:r>
          </a:p>
          <a:p>
            <a:pPr>
              <a:lnSpc>
                <a:spcPct val="112000"/>
              </a:lnSpc>
              <a:spcAft>
                <a:spcPts val="180"/>
              </a:spcAft>
              <a:defRPr sz="919">
                <a:solidFill>
                  <a:srgbClr val="334155"/>
                </a:solidFill>
              </a:defRPr>
            </a:pPr>
            <a:r>
              <a:t>· Nút thắt toán học: Các tầng downsampling stride 16/32 của CNN chuẩn làm tiêu biến feature map.</a:t>
            </a:r>
          </a:p>
          <a:p>
            <a:pPr>
              <a:lnSpc>
                <a:spcPct val="112000"/>
              </a:lnSpc>
              <a:spcAft>
                <a:spcPts val="180"/>
              </a:spcAft>
              <a:defRPr sz="919">
                <a:solidFill>
                  <a:srgbClr val="334155"/>
                </a:solidFill>
              </a:defRPr>
            </a:pPr>
            <a:r>
              <a:t>· Rào cản chú ý: Self-Attention chuẩn bùng nổ O(N^2), không thể áp dụng cho ảnh giám sát 1080p.</a:t>
            </a:r>
          </a:p>
          <a:p>
            <a:pPr>
              <a:lnSpc>
                <a:spcPct val="112000"/>
              </a:lnSpc>
              <a:spcAft>
                <a:spcPts val="180"/>
              </a:spcAft>
              <a:defRPr sz="919">
                <a:solidFill>
                  <a:srgbClr val="334155"/>
                </a:solidFill>
              </a:defRPr>
            </a:pPr>
            <a:r>
              <a:t>· Hậu quả: Bỏ sót công nhân ở xa hoặc nhầm lẫn mũ với nền bê tông, đá dăm.</a:t>
            </a:r>
          </a:p>
          <a:p>
            <a:pPr>
              <a:lnSpc>
                <a:spcPct val="112000"/>
              </a:lnSpc>
              <a:spcAft>
                <a:spcPts val="180"/>
              </a:spcAft>
              <a:defRPr sz="919" b="1">
                <a:solidFill>
                  <a:srgbClr val="EA580C"/>
                </a:solidFill>
              </a:defRPr>
            </a:pPr>
            <a:r>
              <a:t>■ Giải pháp: BiFormer Dynamic Routing &amp; Focal EIoU bắt dính vi vật thể, nâng Recall lên 91.15%!</a:t>
            </a:r>
          </a:p>
        </p:txBody>
      </p:sp>
      <p:sp>
        <p:nvSpPr>
          <p:cNvPr id="8" name="Rounded Rectangle 7"/>
          <p:cNvSpPr/>
          <p:nvPr/>
        </p:nvSpPr>
        <p:spPr>
          <a:xfrm>
            <a:off x="6217920" y="1188720"/>
            <a:ext cx="5212080" cy="21762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261872"/>
            <a:ext cx="4882896" cy="2029968"/>
          </a:xfrm>
          <a:prstGeom prst="rect">
            <a:avLst/>
          </a:prstGeom>
          <a:noFill/>
        </p:spPr>
        <p:txBody>
          <a:bodyPr wrap="square" lIns="0" rIns="0" tIns="0" bIns="0">
            <a:spAutoFit/>
          </a:bodyPr>
          <a:lstStyle/>
          <a:p>
            <a:pPr>
              <a:defRPr sz="950" b="1">
                <a:solidFill>
                  <a:srgbClr val="D97706"/>
                </a:solidFill>
              </a:defRPr>
            </a:pPr>
            <a:r>
              <a:t>02  ·  MẤT CÂN BẰNG DỮ LIỆU CỰC ĐOAN  —  [Tỷ lệ lệch nhãn 1:12 / 9,044 vs 111,514]</a:t>
            </a:r>
          </a:p>
          <a:p>
            <a:pPr>
              <a:spcAft>
                <a:spcPts val="200"/>
              </a:spcAft>
              <a:defRPr sz="1120" b="1">
                <a:solidFill>
                  <a:srgbClr val="0F172A"/>
                </a:solidFill>
              </a:defRPr>
            </a:pPr>
            <a:r>
              <a:t>9,044 mũ vs 111,514 thân người (Tỷ lệ lệch 1:12)</a:t>
            </a:r>
          </a:p>
          <a:p>
            <a:pPr>
              <a:lnSpc>
                <a:spcPct val="112000"/>
              </a:lnSpc>
              <a:spcAft>
                <a:spcPts val="180"/>
              </a:spcAft>
              <a:defRPr sz="919">
                <a:solidFill>
                  <a:srgbClr val="334155"/>
                </a:solidFill>
              </a:defRPr>
            </a:pPr>
            <a:r>
              <a:t>· Nguyên nhân dữ liệu: Tập chuẩn SHWD bị áp đảo bởi các mẫu background và thân người dễ học.</a:t>
            </a:r>
          </a:p>
          <a:p>
            <a:pPr>
              <a:lnSpc>
                <a:spcPct val="112000"/>
              </a:lnSpc>
              <a:spcAft>
                <a:spcPts val="180"/>
              </a:spcAft>
              <a:defRPr sz="919">
                <a:solidFill>
                  <a:srgbClr val="334155"/>
                </a:solidFill>
              </a:defRPr>
            </a:pPr>
            <a:r>
              <a:t>· Nút thắt toán học: Gradient của vi vật thể mũ bảo hộ bị triệt tiêu (gradient starvation) bởi loss chuẩn.</a:t>
            </a:r>
          </a:p>
          <a:p>
            <a:pPr>
              <a:lnSpc>
                <a:spcPct val="112000"/>
              </a:lnSpc>
              <a:spcAft>
                <a:spcPts val="180"/>
              </a:spcAft>
              <a:defRPr sz="919">
                <a:solidFill>
                  <a:srgbClr val="334155"/>
                </a:solidFill>
              </a:defRPr>
            </a:pPr>
            <a:r>
              <a:t>· Rào cản hàm mất mát: CIoU/GIoU bão hòa khi tỷ lệ w/h vô tình bằng nhau, bỏ qua kích thước tuyệt đối.</a:t>
            </a:r>
          </a:p>
          <a:p>
            <a:pPr>
              <a:lnSpc>
                <a:spcPct val="112000"/>
              </a:lnSpc>
              <a:spcAft>
                <a:spcPts val="180"/>
              </a:spcAft>
              <a:defRPr sz="919">
                <a:solidFill>
                  <a:srgbClr val="334155"/>
                </a:solidFill>
              </a:defRPr>
            </a:pPr>
            <a:r>
              <a:t>· Hậu quả: Suy giảm Recall trên lớp mũ bảo hộ, dễ bỏ sót các vi phạm an toàn lao động.</a:t>
            </a:r>
          </a:p>
          <a:p>
            <a:pPr>
              <a:lnSpc>
                <a:spcPct val="112000"/>
              </a:lnSpc>
              <a:spcAft>
                <a:spcPts val="180"/>
              </a:spcAft>
              <a:defRPr sz="919" b="1">
                <a:solidFill>
                  <a:srgbClr val="D97706"/>
                </a:solidFill>
              </a:defRPr>
            </a:pPr>
            <a:r>
              <a:t>■ Giải pháp: Focal EIoU Loss tự động điều tiết trọng số theo (IoU)^0.5, tập trung gradient vào mẫu khó!</a:t>
            </a:r>
          </a:p>
        </p:txBody>
      </p:sp>
      <p:sp>
        <p:nvSpPr>
          <p:cNvPr id="10" name="Rounded Rectangle 9"/>
          <p:cNvSpPr/>
          <p:nvPr/>
        </p:nvSpPr>
        <p:spPr>
          <a:xfrm>
            <a:off x="731520" y="3474720"/>
            <a:ext cx="5212080" cy="21762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547872"/>
            <a:ext cx="4882896" cy="2029968"/>
          </a:xfrm>
          <a:prstGeom prst="rect">
            <a:avLst/>
          </a:prstGeom>
          <a:noFill/>
        </p:spPr>
        <p:txBody>
          <a:bodyPr wrap="square" lIns="0" rIns="0" tIns="0" bIns="0">
            <a:spAutoFit/>
          </a:bodyPr>
          <a:lstStyle/>
          <a:p>
            <a:pPr>
              <a:defRPr sz="950" b="1">
                <a:solidFill>
                  <a:srgbClr val="2563EB"/>
                </a:solidFill>
              </a:defRPr>
            </a:pPr>
            <a:r>
              <a:t>03  ·  NHIỄU KHÔNG GIAN &amp; HÌNH HỌC  —  [Translation Invariance / FP vật tư vàng]</a:t>
            </a:r>
          </a:p>
          <a:p>
            <a:pPr>
              <a:spcAft>
                <a:spcPts val="200"/>
              </a:spcAft>
              <a:defRPr sz="1120" b="1">
                <a:solidFill>
                  <a:srgbClr val="0F172A"/>
                </a:solidFill>
              </a:defRPr>
            </a:pPr>
            <a:r>
              <a:t>Xô nhựa, cọc tiêu, biển cảnh báo màu vàng/cam</a:t>
            </a:r>
          </a:p>
          <a:p>
            <a:pPr>
              <a:lnSpc>
                <a:spcPct val="112000"/>
              </a:lnSpc>
              <a:spcAft>
                <a:spcPts val="180"/>
              </a:spcAft>
              <a:defRPr sz="919">
                <a:solidFill>
                  <a:srgbClr val="334155"/>
                </a:solidFill>
              </a:defRPr>
            </a:pPr>
            <a:r>
              <a:t>· Nguyên nhân hình ảnh: Phép tích chập trượt quét của CNN có tính chất "Bất biến tịnh tiến".</a:t>
            </a:r>
          </a:p>
          <a:p>
            <a:pPr>
              <a:lnSpc>
                <a:spcPct val="112000"/>
              </a:lnSpc>
              <a:spcAft>
                <a:spcPts val="180"/>
              </a:spcAft>
              <a:defRPr sz="919">
                <a:solidFill>
                  <a:srgbClr val="334155"/>
                </a:solidFill>
              </a:defRPr>
            </a:pPr>
            <a:r>
              <a:t>· Nút thắt toán học: Bộ lọc trượt quét không phân biệt được màu vàng trên đầu người hay dưới đất.</a:t>
            </a:r>
          </a:p>
          <a:p>
            <a:pPr>
              <a:lnSpc>
                <a:spcPct val="112000"/>
              </a:lnSpc>
              <a:spcAft>
                <a:spcPts val="180"/>
              </a:spcAft>
              <a:defRPr sz="919">
                <a:solidFill>
                  <a:srgbClr val="334155"/>
                </a:solidFill>
              </a:defRPr>
            </a:pPr>
            <a:r>
              <a:t>· Tiên đề giải phẫu: Mũ bắt buộc nằm trên đỉnh đầu người; xô vữa, cọc tiêu luôn nằm sát mặt đất.</a:t>
            </a:r>
          </a:p>
          <a:p>
            <a:pPr>
              <a:lnSpc>
                <a:spcPct val="112000"/>
              </a:lnSpc>
              <a:spcAft>
                <a:spcPts val="180"/>
              </a:spcAft>
              <a:defRPr sz="919">
                <a:solidFill>
                  <a:srgbClr val="334155"/>
                </a:solidFill>
              </a:defRPr>
            </a:pPr>
            <a:r>
              <a:t>· Hậu quả: Tỷ lệ báo động giả (False Positive) cực cao, làm tê liệt hệ thống giám sát tự động.</a:t>
            </a:r>
          </a:p>
          <a:p>
            <a:pPr>
              <a:lnSpc>
                <a:spcPct val="112000"/>
              </a:lnSpc>
              <a:spcAft>
                <a:spcPts val="180"/>
              </a:spcAft>
              <a:defRPr sz="919" b="1">
                <a:solidFill>
                  <a:srgbClr val="2563EB"/>
                </a:solidFill>
              </a:defRPr>
            </a:pPr>
            <a:r>
              <a:t>■ Giải pháp: Tiêm 2 kênh tọa độ chuẩn hóa CoordConv (Cx, Cy) vào stem conv, triệt tiêu báo động giả!</a:t>
            </a:r>
          </a:p>
        </p:txBody>
      </p:sp>
      <p:sp>
        <p:nvSpPr>
          <p:cNvPr id="12" name="Rounded Rectangle 11"/>
          <p:cNvSpPr/>
          <p:nvPr/>
        </p:nvSpPr>
        <p:spPr>
          <a:xfrm>
            <a:off x="6217920" y="3474720"/>
            <a:ext cx="5212080" cy="21762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3547872"/>
            <a:ext cx="4882896" cy="2029968"/>
          </a:xfrm>
          <a:prstGeom prst="rect">
            <a:avLst/>
          </a:prstGeom>
          <a:noFill/>
        </p:spPr>
        <p:txBody>
          <a:bodyPr wrap="square" lIns="0" rIns="0" tIns="0" bIns="0">
            <a:spAutoFit/>
          </a:bodyPr>
          <a:lstStyle/>
          <a:p>
            <a:pPr>
              <a:defRPr sz="950" b="1">
                <a:solidFill>
                  <a:srgbClr val="16A34A"/>
                </a:solidFill>
              </a:defRPr>
            </a:pPr>
            <a:r>
              <a:t>04  ·  RÀO CẢN PHẦN CỨNG BIÊN  —  [Độ trễ toàn trình &lt; 15ms / Nghẽn MAC biên]</a:t>
            </a:r>
          </a:p>
          <a:p>
            <a:pPr>
              <a:spcAft>
                <a:spcPts val="200"/>
              </a:spcAft>
              <a:defRPr sz="1120" b="1">
                <a:solidFill>
                  <a:srgbClr val="0F172A"/>
                </a:solidFill>
              </a:defRPr>
            </a:pPr>
            <a:r>
              <a:t>Yêu cầu thông lượng ≥60 FPS trên máy trạm tại chỗ</a:t>
            </a:r>
          </a:p>
          <a:p>
            <a:pPr>
              <a:lnSpc>
                <a:spcPct val="112000"/>
              </a:lnSpc>
              <a:spcAft>
                <a:spcPts val="180"/>
              </a:spcAft>
              <a:defRPr sz="919">
                <a:solidFill>
                  <a:srgbClr val="334155"/>
                </a:solidFill>
              </a:defRPr>
            </a:pPr>
            <a:r>
              <a:t>· Nguyên nhân triển khai: Công trường thiếu Internet ổn định; bắt buộc phải xử lý tại máy trạm biên tại chỗ.</a:t>
            </a:r>
          </a:p>
          <a:p>
            <a:pPr>
              <a:lnSpc>
                <a:spcPct val="112000"/>
              </a:lnSpc>
              <a:spcAft>
                <a:spcPts val="180"/>
              </a:spcAft>
              <a:defRPr sz="919">
                <a:solidFill>
                  <a:srgbClr val="334155"/>
                </a:solidFill>
              </a:defRPr>
            </a:pPr>
            <a:r>
              <a:t>· Nút thắt toán học: Các mô hình đa nhánh cồng kềnh gây nghẽn bộ nhớ (MAC) và độ trễ cao (&gt;30ms).</a:t>
            </a:r>
          </a:p>
          <a:p>
            <a:pPr>
              <a:lnSpc>
                <a:spcPct val="112000"/>
              </a:lnSpc>
              <a:spcAft>
                <a:spcPts val="180"/>
              </a:spcAft>
              <a:defRPr sz="919">
                <a:solidFill>
                  <a:srgbClr val="334155"/>
                </a:solidFill>
              </a:defRPr>
            </a:pPr>
            <a:r>
              <a:t>· Rào cản phần cứng: GPU biên 2GB VRAM bị thắt cổ chai băng thông truy xuất bộ nhớ (Memory Bandwidth).</a:t>
            </a:r>
          </a:p>
          <a:p>
            <a:pPr>
              <a:lnSpc>
                <a:spcPct val="112000"/>
              </a:lnSpc>
              <a:spcAft>
                <a:spcPts val="180"/>
              </a:spcAft>
              <a:defRPr sz="919">
                <a:solidFill>
                  <a:srgbClr val="334155"/>
                </a:solidFill>
              </a:defRPr>
            </a:pPr>
            <a:r>
              <a:t>· Hậu quả: Giật lag luồng video, sập phần mềm khi kết nối đồng thời từ 3 camera CCTV trở lên.</a:t>
            </a:r>
          </a:p>
          <a:p>
            <a:pPr>
              <a:lnSpc>
                <a:spcPct val="112000"/>
              </a:lnSpc>
              <a:spcAft>
                <a:spcPts val="180"/>
              </a:spcAft>
              <a:defRPr sz="919" b="1">
                <a:solidFill>
                  <a:srgbClr val="16A34A"/>
                </a:solidFill>
              </a:defRPr>
            </a:pPr>
            <a:r>
              <a:t>■ Giải pháp: Tái tham số hóa RepConv gộp đại số đa nhánh về 1 nhân 3x3 đơn, đạt 342.5 FPS (2.92 ms)!</a:t>
            </a:r>
          </a:p>
        </p:txBody>
      </p:sp>
      <p:sp>
        <p:nvSpPr>
          <p:cNvPr id="14" name="Rounded Rectangle 13"/>
          <p:cNvSpPr/>
          <p:nvPr/>
        </p:nvSpPr>
        <p:spPr>
          <a:xfrm>
            <a:off x="731520" y="5870448"/>
            <a:ext cx="10698480" cy="502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07024"/>
            <a:ext cx="10332720" cy="411480"/>
          </a:xfrm>
          <a:prstGeom prst="rect">
            <a:avLst/>
          </a:prstGeom>
          <a:noFill/>
        </p:spPr>
        <p:txBody>
          <a:bodyPr wrap="none" lIns="0" rIns="0" tIns="0" bIns="0">
            <a:spAutoFit/>
          </a:bodyPr>
          <a:lstStyle/>
          <a:p>
            <a:pPr>
              <a:defRPr sz="1050" b="1">
                <a:solidFill>
                  <a:srgbClr val="475569"/>
                </a:solidFill>
              </a:defRPr>
            </a:pPr>
            <a:r>
              <a:t>Định hướng giải pháp: Kết hợp tiên đề vị trí không gian và cơ chế chú ý định tuyến thưa mà không phải trả giá bằng độ trễ suy luận.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2 · KẾT QUẢ CUỐI CÙNG &amp; SẢN PHẨM BÀN GIAO</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05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Năm Sản Phẩm Nghiên Cứu Đầu Ra Cam Kết Của Đề Tài</a:t>
            </a:r>
          </a:p>
        </p:txBody>
      </p:sp>
      <p:sp>
        <p:nvSpPr>
          <p:cNvPr id="6" name="Rounded Rectangle 5"/>
          <p:cNvSpPr/>
          <p:nvPr/>
        </p:nvSpPr>
        <p:spPr>
          <a:xfrm>
            <a:off x="731520" y="1188720"/>
            <a:ext cx="6858000"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34440"/>
            <a:ext cx="6492240" cy="804672"/>
          </a:xfrm>
          <a:prstGeom prst="rect">
            <a:avLst/>
          </a:prstGeom>
          <a:noFill/>
        </p:spPr>
        <p:txBody>
          <a:bodyPr wrap="square" lIns="0" rIns="0" tIns="0" bIns="0">
            <a:spAutoFit/>
          </a:bodyPr>
          <a:lstStyle/>
          <a:p>
            <a:pPr>
              <a:spcAft>
                <a:spcPts val="200"/>
              </a:spcAft>
              <a:defRPr sz="1100" b="1">
                <a:solidFill>
                  <a:srgbClr val="EA580C"/>
                </a:solidFill>
              </a:defRPr>
            </a:pPr>
            <a:r>
              <a:t>01  Báo Cáo Khoa Học Chuyên Sâu (Paper)</a:t>
            </a:r>
          </a:p>
          <a:p>
            <a:pPr>
              <a:lnSpc>
                <a:spcPct val="110000"/>
              </a:lnSpc>
              <a:spcAft>
                <a:spcPts val="120"/>
              </a:spcAft>
              <a:defRPr sz="900">
                <a:solidFill>
                  <a:srgbClr val="334155"/>
                </a:solidFill>
              </a:defRPr>
            </a:pPr>
            <a:r>
              <a:t>· Bản thảo nghiên cứu 9 trang chuẩn học thuật LaTeX đầy đủ chứng minh toán học, Ablation Study A0–A6, XAI Grad-CAM.</a:t>
            </a:r>
          </a:p>
          <a:p>
            <a:pPr>
              <a:lnSpc>
                <a:spcPct val="110000"/>
              </a:lnSpc>
              <a:spcAft>
                <a:spcPts val="120"/>
              </a:spcAft>
              <a:defRPr sz="900">
                <a:solidFill>
                  <a:srgbClr val="334155"/>
                </a:solidFill>
              </a:defRPr>
            </a:pPr>
            <a:r>
              <a:t>· Cung cấp đầy đủ công thức giải tích RepConv, hàm Focal EIoU và giải mã lý thuyết IoU Collapse liên miền.</a:t>
            </a:r>
          </a:p>
        </p:txBody>
      </p:sp>
      <p:sp>
        <p:nvSpPr>
          <p:cNvPr id="8" name="Rounded Rectangle 7"/>
          <p:cNvSpPr/>
          <p:nvPr/>
        </p:nvSpPr>
        <p:spPr>
          <a:xfrm>
            <a:off x="731520" y="2148840"/>
            <a:ext cx="6858000"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492240" cy="804672"/>
          </a:xfrm>
          <a:prstGeom prst="rect">
            <a:avLst/>
          </a:prstGeom>
          <a:noFill/>
        </p:spPr>
        <p:txBody>
          <a:bodyPr wrap="square" lIns="0" rIns="0" tIns="0" bIns="0">
            <a:spAutoFit/>
          </a:bodyPr>
          <a:lstStyle/>
          <a:p>
            <a:pPr>
              <a:spcAft>
                <a:spcPts val="200"/>
              </a:spcAft>
              <a:defRPr sz="1100" b="1">
                <a:solidFill>
                  <a:srgbClr val="0F172A"/>
                </a:solidFill>
              </a:defRPr>
            </a:pPr>
            <a:r>
              <a:t>02  Bộ Trọng Số Mô Hình Rep-YOLO11s (Weights)</a:t>
            </a:r>
          </a:p>
          <a:p>
            <a:pPr>
              <a:lnSpc>
                <a:spcPct val="110000"/>
              </a:lnSpc>
              <a:spcAft>
                <a:spcPts val="120"/>
              </a:spcAft>
              <a:defRPr sz="900">
                <a:solidFill>
                  <a:srgbClr val="334155"/>
                </a:solidFill>
              </a:defRPr>
            </a:pPr>
            <a:r>
              <a:t>· Checkpoint tối ưu: 94.83% mAP50 (test đơn lẻ), 96.64 ± 0.32% (5-Fold CV), và 97.03% trên Hard Hat Workers.</a:t>
            </a:r>
          </a:p>
          <a:p>
            <a:pPr>
              <a:lnSpc>
                <a:spcPct val="110000"/>
              </a:lnSpc>
              <a:spcAft>
                <a:spcPts val="120"/>
              </a:spcAft>
              <a:defRPr sz="900">
                <a:solidFill>
                  <a:srgbClr val="334155"/>
                </a:solidFill>
              </a:defRPr>
            </a:pPr>
            <a:r>
              <a:t>· Định dạng PyTorch (.pt) tương thích hoàn toàn hệ sinh thái Ultralytics, sẵn sàng fine-tune và deploy.</a:t>
            </a:r>
          </a:p>
        </p:txBody>
      </p:sp>
      <p:sp>
        <p:nvSpPr>
          <p:cNvPr id="10" name="Rounded Rectangle 9"/>
          <p:cNvSpPr/>
          <p:nvPr/>
        </p:nvSpPr>
        <p:spPr>
          <a:xfrm>
            <a:off x="731520" y="3108960"/>
            <a:ext cx="6858000"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6492240" cy="804672"/>
          </a:xfrm>
          <a:prstGeom prst="rect">
            <a:avLst/>
          </a:prstGeom>
          <a:noFill/>
        </p:spPr>
        <p:txBody>
          <a:bodyPr wrap="square" lIns="0" rIns="0" tIns="0" bIns="0">
            <a:spAutoFit/>
          </a:bodyPr>
          <a:lstStyle/>
          <a:p>
            <a:pPr>
              <a:spcAft>
                <a:spcPts val="200"/>
              </a:spcAft>
              <a:defRPr sz="1100" b="1">
                <a:solidFill>
                  <a:srgbClr val="0F172A"/>
                </a:solidFill>
              </a:defRPr>
            </a:pPr>
            <a:r>
              <a:t>03  Software Prototype Giám Sát RTSP (Software)</a:t>
            </a:r>
          </a:p>
          <a:p>
            <a:pPr>
              <a:lnSpc>
                <a:spcPct val="110000"/>
              </a:lnSpc>
              <a:spcAft>
                <a:spcPts val="120"/>
              </a:spcAft>
              <a:defRPr sz="900">
                <a:solidFill>
                  <a:srgbClr val="334155"/>
                </a:solidFill>
              </a:defRPr>
            </a:pPr>
            <a:r>
              <a:t>· Ứng dụng hoàn chỉnh giải mã đa luồng camera H.264/H.265 và cảnh báo vi phạm đạt 65–95 FPS trên RTX 3050.</a:t>
            </a:r>
          </a:p>
          <a:p>
            <a:pPr>
              <a:lnSpc>
                <a:spcPct val="110000"/>
              </a:lnSpc>
              <a:spcAft>
                <a:spcPts val="120"/>
              </a:spcAft>
              <a:defRPr sz="900">
                <a:solidFill>
                  <a:srgbClr val="334155"/>
                </a:solidFill>
              </a:defRPr>
            </a:pPr>
            <a:r>
              <a:t>· Kiến trúc Ring-Buffer và bất đồng bộ CUDA streams xử lý mượt 2–3 camera Full HD 1080p không rớt khung hình.</a:t>
            </a:r>
          </a:p>
        </p:txBody>
      </p:sp>
      <p:sp>
        <p:nvSpPr>
          <p:cNvPr id="12" name="Rounded Rectangle 11"/>
          <p:cNvSpPr/>
          <p:nvPr/>
        </p:nvSpPr>
        <p:spPr>
          <a:xfrm>
            <a:off x="731520" y="4069080"/>
            <a:ext cx="6858000"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6492240" cy="804672"/>
          </a:xfrm>
          <a:prstGeom prst="rect">
            <a:avLst/>
          </a:prstGeom>
          <a:noFill/>
        </p:spPr>
        <p:txBody>
          <a:bodyPr wrap="square" lIns="0" rIns="0" tIns="0" bIns="0">
            <a:spAutoFit/>
          </a:bodyPr>
          <a:lstStyle/>
          <a:p>
            <a:pPr>
              <a:spcAft>
                <a:spcPts val="200"/>
              </a:spcAft>
              <a:defRPr sz="1100" b="1">
                <a:solidFill>
                  <a:srgbClr val="0F172A"/>
                </a:solidFill>
              </a:defRPr>
            </a:pPr>
            <a:r>
              <a:t>04  Bộ Động Cơ Biên Dịch Triển Khai (Engines)</a:t>
            </a:r>
          </a:p>
          <a:p>
            <a:pPr>
              <a:lnSpc>
                <a:spcPct val="110000"/>
              </a:lnSpc>
              <a:spcAft>
                <a:spcPts val="120"/>
              </a:spcAft>
              <a:defRPr sz="900">
                <a:solidFill>
                  <a:srgbClr val="334155"/>
                </a:solidFill>
              </a:defRPr>
            </a:pPr>
            <a:r>
              <a:t>· Bộ file biên dịch tối ưu: TensorRT 11.2 FP16 (.engine), ONNX Runtime INT8 (.onnx), và OpenVINO cho chip biên.</a:t>
            </a:r>
          </a:p>
          <a:p>
            <a:pPr>
              <a:lnSpc>
                <a:spcPct val="110000"/>
              </a:lnSpc>
              <a:spcAft>
                <a:spcPts val="120"/>
              </a:spcAft>
              <a:defRPr sz="900">
                <a:solidFill>
                  <a:srgbClr val="334155"/>
                </a:solidFill>
              </a:defRPr>
            </a:pPr>
            <a:r>
              <a:t>· Tận dụng Tensor Core FP16 Half-Precision cho chip NVIDIA Jetson và GPU văn phòng giá rẻ (MX230).</a:t>
            </a:r>
          </a:p>
        </p:txBody>
      </p:sp>
      <p:sp>
        <p:nvSpPr>
          <p:cNvPr id="14" name="Rounded Rectangle 13"/>
          <p:cNvSpPr/>
          <p:nvPr/>
        </p:nvSpPr>
        <p:spPr>
          <a:xfrm>
            <a:off x="731520" y="5029200"/>
            <a:ext cx="6858000"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74920"/>
            <a:ext cx="6492240" cy="804672"/>
          </a:xfrm>
          <a:prstGeom prst="rect">
            <a:avLst/>
          </a:prstGeom>
          <a:noFill/>
        </p:spPr>
        <p:txBody>
          <a:bodyPr wrap="square" lIns="0" rIns="0" tIns="0" bIns="0">
            <a:spAutoFit/>
          </a:bodyPr>
          <a:lstStyle/>
          <a:p>
            <a:pPr>
              <a:spcAft>
                <a:spcPts val="200"/>
              </a:spcAft>
              <a:defRPr sz="1100" b="1">
                <a:solidFill>
                  <a:srgbClr val="0F172A"/>
                </a:solidFill>
              </a:defRPr>
            </a:pPr>
            <a:r>
              <a:t>05  Bộ Dữ Liệu Chuẩn Hóa Công Nghiệp (Dataset)</a:t>
            </a:r>
          </a:p>
          <a:p>
            <a:pPr>
              <a:lnSpc>
                <a:spcPct val="110000"/>
              </a:lnSpc>
              <a:spcAft>
                <a:spcPts val="120"/>
              </a:spcAft>
              <a:defRPr sz="900">
                <a:solidFill>
                  <a:srgbClr val="334155"/>
                </a:solidFill>
              </a:defRPr>
            </a:pPr>
            <a:r>
              <a:t>· Hơn 33,000 ảnh từ 6 nguồn (VOC2028, GDUT-HWD, SHEL5K, Hard Hat Workers, SHD, SFCHD) chuẩn hóa nhãn C*.</a:t>
            </a:r>
          </a:p>
          <a:p>
            <a:pPr>
              <a:lnSpc>
                <a:spcPct val="110000"/>
              </a:lnSpc>
              <a:spcAft>
                <a:spcPts val="120"/>
              </a:spcAft>
              <a:defRPr sz="900">
                <a:solidFill>
                  <a:srgbClr val="334155"/>
                </a:solidFill>
              </a:defRPr>
            </a:pPr>
            <a:r>
              <a:t>· Loại bỏ triệt để 3 nhãn rác "dog", chuẩn hóa tọa độ hộp bao [0, 1] và đồng nhất giao thức Harmonized PPE.</a:t>
            </a:r>
          </a:p>
        </p:txBody>
      </p:sp>
      <p:sp>
        <p:nvSpPr>
          <p:cNvPr id="16" name="Rounded Rectangle 15"/>
          <p:cNvSpPr/>
          <p:nvPr/>
        </p:nvSpPr>
        <p:spPr>
          <a:xfrm>
            <a:off x="7863840" y="1188720"/>
            <a:ext cx="3566160" cy="48006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1325880"/>
            <a:ext cx="3200400" cy="4526280"/>
          </a:xfrm>
          <a:prstGeom prst="rect">
            <a:avLst/>
          </a:prstGeom>
          <a:noFill/>
        </p:spPr>
        <p:txBody>
          <a:bodyPr wrap="square" lIns="0" rIns="0" tIns="0" bIns="0">
            <a:spAutoFit/>
          </a:bodyPr>
          <a:lstStyle/>
          <a:p>
            <a:pPr>
              <a:defRPr sz="1050" b="1">
                <a:solidFill>
                  <a:srgbClr val="2563EB"/>
                </a:solidFill>
              </a:defRPr>
            </a:pPr>
            <a:r>
              <a:t>HẠ TẦNG &amp; PHẦN CỨNG BIÊN THỰC TẾ</a:t>
            </a:r>
          </a:p>
          <a:p>
            <a:pPr>
              <a:spcAft>
                <a:spcPts val="600"/>
              </a:spcAft>
              <a:defRPr sz="1600" b="1">
                <a:solidFill>
                  <a:srgbClr val="0F172A"/>
                </a:solidFill>
              </a:defRPr>
            </a:pPr>
            <a:r>
              <a:t>Đo Đạc Vật Lý Thật 100%</a:t>
            </a:r>
          </a:p>
          <a:p>
            <a:pPr>
              <a:lnSpc>
                <a:spcPct val="115000"/>
              </a:lnSpc>
              <a:spcAft>
                <a:spcPts val="200"/>
              </a:spcAft>
              <a:defRPr sz="960" b="1">
                <a:solidFill>
                  <a:srgbClr val="0F172A"/>
                </a:solidFill>
              </a:defRPr>
            </a:pPr>
            <a:r>
              <a:t>Môi trường huấn luyện:</a:t>
            </a:r>
          </a:p>
          <a:p>
            <a:pPr>
              <a:lnSpc>
                <a:spcPct val="115000"/>
              </a:lnSpc>
              <a:spcAft>
                <a:spcPts val="150"/>
              </a:spcAft>
              <a:defRPr sz="960">
                <a:solidFill>
                  <a:srgbClr val="334155"/>
                </a:solidFill>
              </a:defRPr>
            </a:pPr>
            <a:r>
              <a:t>· Cloud DDP: Dual Tesla T4 GPUs (100 epochs hội tụ hoàn toàn, FP16 AMP, batch 32).</a:t>
            </a:r>
          </a:p>
          <a:p>
            <a:pPr>
              <a:lnSpc>
                <a:spcPct val="115000"/>
              </a:lnSpc>
              <a:spcAft>
                <a:spcPts val="400"/>
              </a:spcAft>
              <a:defRPr sz="960"/>
            </a:pPr>
          </a:p>
          <a:p>
            <a:pPr>
              <a:lnSpc>
                <a:spcPct val="115000"/>
              </a:lnSpc>
              <a:spcAft>
                <a:spcPts val="200"/>
              </a:spcAft>
              <a:defRPr sz="960" b="1">
                <a:solidFill>
                  <a:srgbClr val="0F172A"/>
                </a:solidFill>
              </a:defRPr>
            </a:pPr>
            <a:r>
              <a:t>Kiểm chứng phần cứng đa nền tảng:</a:t>
            </a:r>
          </a:p>
          <a:p>
            <a:pPr>
              <a:lnSpc>
                <a:spcPct val="115000"/>
              </a:lnSpc>
              <a:spcAft>
                <a:spcPts val="150"/>
              </a:spcAft>
              <a:defRPr sz="960">
                <a:solidFill>
                  <a:srgbClr val="334155"/>
                </a:solidFill>
              </a:defRPr>
            </a:pPr>
            <a:r>
              <a:t>· Server GPU: Tesla T4 (2.92 ms / 342.5 FPS)</a:t>
            </a:r>
          </a:p>
          <a:p>
            <a:pPr>
              <a:lnSpc>
                <a:spcPct val="115000"/>
              </a:lnSpc>
              <a:spcAft>
                <a:spcPts val="150"/>
              </a:spcAft>
              <a:defRPr sz="960">
                <a:solidFill>
                  <a:srgbClr val="334155"/>
                </a:solidFill>
              </a:defRPr>
            </a:pPr>
            <a:r>
              <a:t>· Edge Laptop: RTX 3050 (5.35 ms / 187.1 FPS)</a:t>
            </a:r>
          </a:p>
          <a:p>
            <a:pPr>
              <a:lnSpc>
                <a:spcPct val="115000"/>
              </a:lnSpc>
              <a:spcAft>
                <a:spcPts val="150"/>
              </a:spcAft>
              <a:defRPr sz="960">
                <a:solidFill>
                  <a:srgbClr val="334155"/>
                </a:solidFill>
              </a:defRPr>
            </a:pPr>
            <a:r>
              <a:t>· Budget Edge: GeForce MX230 2GB (36.0 ms / 27.8 FPS &gt; 24 FPS chuẩn)</a:t>
            </a:r>
          </a:p>
          <a:p>
            <a:pPr>
              <a:lnSpc>
                <a:spcPct val="115000"/>
              </a:lnSpc>
              <a:spcAft>
                <a:spcPts val="150"/>
              </a:spcAft>
              <a:defRPr sz="960">
                <a:solidFill>
                  <a:srgbClr val="334155"/>
                </a:solidFill>
              </a:defRPr>
            </a:pPr>
            <a:r>
              <a:t>· Embedded CPU: Intel 4-Core INT8 (28.56 ms / 35.0 FPS)</a:t>
            </a:r>
          </a:p>
          <a:p>
            <a:pPr>
              <a:lnSpc>
                <a:spcPct val="115000"/>
              </a:lnSpc>
              <a:spcAft>
                <a:spcPts val="400"/>
              </a:spcAft>
              <a:defRPr sz="960"/>
            </a:pPr>
          </a:p>
          <a:p>
            <a:pPr>
              <a:lnSpc>
                <a:spcPct val="115000"/>
              </a:lnSpc>
              <a:spcAft>
                <a:spcPts val="200"/>
              </a:spcAft>
              <a:defRPr sz="960" b="1">
                <a:solidFill>
                  <a:srgbClr val="0F172A"/>
                </a:solidFill>
              </a:defRPr>
            </a:pPr>
            <a:r>
              <a:t>Quy chuẩn đo lường:</a:t>
            </a:r>
          </a:p>
          <a:p>
            <a:pPr>
              <a:lnSpc>
                <a:spcPct val="115000"/>
              </a:lnSpc>
              <a:spcAft>
                <a:spcPts val="150"/>
              </a:spcAft>
              <a:defRPr sz="960">
                <a:solidFill>
                  <a:srgbClr val="334155"/>
                </a:solidFill>
              </a:defRPr>
            </a:pPr>
            <a:r>
              <a:t>· Đo trực tiếp bằng torch.cuda.Event(enable_timing=True)</a:t>
            </a:r>
          </a:p>
          <a:p>
            <a:pPr>
              <a:lnSpc>
                <a:spcPct val="115000"/>
              </a:lnSpc>
              <a:spcAft>
                <a:spcPts val="150"/>
              </a:spcAft>
              <a:defRPr sz="960">
                <a:solidFill>
                  <a:srgbClr val="334155"/>
                </a:solidFill>
              </a:defRPr>
            </a:pPr>
            <a:r>
              <a:t>· Warmup 100 vòng, đo trung bình 1,000 vòng độc lập</a:t>
            </a:r>
          </a:p>
          <a:p>
            <a:pPr>
              <a:lnSpc>
                <a:spcPct val="115000"/>
              </a:lnSpc>
              <a:spcAft>
                <a:spcPts val="150"/>
              </a:spcAft>
              <a:defRPr sz="960">
                <a:solidFill>
                  <a:srgbClr val="334155"/>
                </a:solidFill>
              </a:defRPr>
            </a:pPr>
            <a:r>
              <a:t>· Loại bỏ 100% sai số độ trễ ảo do CPU overhead!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3 · TÍNH KHẢ THI &amp; XÁC ĐỊNH PHẠM VI (SCOPE)</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06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Khảo Sát 32 Công Trình Quốc Tế (2019–2026) &amp; Khoảng Trống Khoa Học</a:t>
            </a:r>
          </a:p>
        </p:txBody>
      </p:sp>
      <p:sp>
        <p:nvSpPr>
          <p:cNvPr id="6" name="Rounded Rectangle 5"/>
          <p:cNvSpPr/>
          <p:nvPr/>
        </p:nvSpPr>
        <p:spPr>
          <a:xfrm>
            <a:off x="731520" y="1188720"/>
            <a:ext cx="685800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6492240" cy="950976"/>
          </a:xfrm>
          <a:prstGeom prst="rect">
            <a:avLst/>
          </a:prstGeom>
          <a:noFill/>
        </p:spPr>
        <p:txBody>
          <a:bodyPr wrap="square" lIns="0" rIns="0" tIns="0" bIns="0">
            <a:spAutoFit/>
          </a:bodyPr>
          <a:lstStyle/>
          <a:p>
            <a:pPr>
              <a:spcAft>
                <a:spcPts val="200"/>
              </a:spcAft>
              <a:defRPr sz="1100" b="1">
                <a:solidFill>
                  <a:srgbClr val="0F172A"/>
                </a:solidFill>
              </a:defRPr>
            </a:pPr>
            <a:r>
              <a:t>YOLOv8 / v10 / 11 Baseline  —  Cân bằng tốt nhưng thiếu tiên đề không gian</a:t>
            </a:r>
          </a:p>
          <a:p>
            <a:pPr>
              <a:lnSpc>
                <a:spcPct val="115000"/>
              </a:lnSpc>
              <a:spcAft>
                <a:spcPts val="200"/>
              </a:spcAft>
              <a:defRPr sz="950">
                <a:solidFill>
                  <a:srgbClr val="334155"/>
                </a:solidFill>
              </a:defRPr>
            </a:pPr>
            <a:r>
              <a:t>· Thông số: 9.4M params, 21.5 GFLOPs, 94.74% mAP50, 6.52 ms latency (Tesla T4).</a:t>
            </a:r>
          </a:p>
          <a:p>
            <a:pPr>
              <a:lnSpc>
                <a:spcPct val="115000"/>
              </a:lnSpc>
              <a:spcAft>
                <a:spcPts val="200"/>
              </a:spcAft>
              <a:defRPr sz="950">
                <a:solidFill>
                  <a:srgbClr val="334155"/>
                </a:solidFill>
              </a:defRPr>
            </a:pPr>
            <a:r>
              <a:t>· Nhược điểm: Thiếu cơ chế nhận thức tọa độ không gian; tỷ lệ báo động giả cao trên vật thể vàng dưới nền đất.</a:t>
            </a:r>
          </a:p>
          <a:p>
            <a:pPr>
              <a:lnSpc>
                <a:spcPct val="115000"/>
              </a:lnSpc>
              <a:spcAft>
                <a:spcPts val="200"/>
              </a:spcAft>
              <a:defRPr sz="950" b="1">
                <a:solidFill>
                  <a:srgbClr val="EA580C"/>
                </a:solidFill>
              </a:defRPr>
            </a:pPr>
            <a:r>
              <a:t>■ Rep-YOLO11s: Thêm CoordConv nhận diện tọa độ giải phẫu, triệt tiêu báo động giả mà không tốn thêm độ trễ.</a:t>
            </a:r>
          </a:p>
        </p:txBody>
      </p:sp>
      <p:sp>
        <p:nvSpPr>
          <p:cNvPr id="8" name="Rounded Rectangle 7"/>
          <p:cNvSpPr/>
          <p:nvPr/>
        </p:nvSpPr>
        <p:spPr>
          <a:xfrm>
            <a:off x="731520" y="2359152"/>
            <a:ext cx="685800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32304"/>
            <a:ext cx="6492240" cy="950976"/>
          </a:xfrm>
          <a:prstGeom prst="rect">
            <a:avLst/>
          </a:prstGeom>
          <a:noFill/>
        </p:spPr>
        <p:txBody>
          <a:bodyPr wrap="square" lIns="0" rIns="0" tIns="0" bIns="0">
            <a:spAutoFit/>
          </a:bodyPr>
          <a:lstStyle/>
          <a:p>
            <a:pPr>
              <a:spcAft>
                <a:spcPts val="200"/>
              </a:spcAft>
              <a:defRPr sz="1100" b="1">
                <a:solidFill>
                  <a:srgbClr val="0F172A"/>
                </a:solidFill>
              </a:defRPr>
            </a:pPr>
            <a:r>
              <a:t>EC-YOLOv8 · 2024 (Wang et al.)  —  CARAFE Upsampling nâng mAP nhưng nghẽn tính toán</a:t>
            </a:r>
          </a:p>
          <a:p>
            <a:pPr>
              <a:lnSpc>
                <a:spcPct val="115000"/>
              </a:lnSpc>
              <a:spcAft>
                <a:spcPts val="200"/>
              </a:spcAft>
              <a:defRPr sz="950">
                <a:solidFill>
                  <a:srgbClr val="334155"/>
                </a:solidFill>
              </a:defRPr>
            </a:pPr>
            <a:r>
              <a:t>· Thông số: 3.48M params, 9.2 GFLOPs, 95.70% mAP50, 5.80 ms (172 FPS).</a:t>
            </a:r>
          </a:p>
          <a:p>
            <a:pPr>
              <a:lnSpc>
                <a:spcPct val="115000"/>
              </a:lnSpc>
              <a:spcAft>
                <a:spcPts val="200"/>
              </a:spcAft>
              <a:defRPr sz="950">
                <a:solidFill>
                  <a:srgbClr val="334155"/>
                </a:solidFill>
              </a:defRPr>
            </a:pPr>
            <a:r>
              <a:t>· Nhược điểm: Toán tử tái tạo hạt mịn CARAFE gây bùng nổ phép tính khi giải mã nhiều luồng camera cùng lúc.</a:t>
            </a:r>
          </a:p>
          <a:p>
            <a:pPr>
              <a:lnSpc>
                <a:spcPct val="115000"/>
              </a:lnSpc>
              <a:spcAft>
                <a:spcPts val="200"/>
              </a:spcAft>
              <a:defRPr sz="950" b="1">
                <a:solidFill>
                  <a:srgbClr val="EA580C"/>
                </a:solidFill>
              </a:defRPr>
            </a:pPr>
            <a:r>
              <a:t>■ Rep-YOLO11s: Dùng BiFormer chú ý định tuyến thưa top-k vùng thô, giảm độ phức tạp từ O(N^2) về O(N).</a:t>
            </a:r>
          </a:p>
        </p:txBody>
      </p:sp>
      <p:sp>
        <p:nvSpPr>
          <p:cNvPr id="10" name="Rounded Rectangle 9"/>
          <p:cNvSpPr/>
          <p:nvPr/>
        </p:nvSpPr>
        <p:spPr>
          <a:xfrm>
            <a:off x="731520" y="3529584"/>
            <a:ext cx="685800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02736"/>
            <a:ext cx="6492240" cy="950976"/>
          </a:xfrm>
          <a:prstGeom prst="rect">
            <a:avLst/>
          </a:prstGeom>
          <a:noFill/>
        </p:spPr>
        <p:txBody>
          <a:bodyPr wrap="square" lIns="0" rIns="0" tIns="0" bIns="0">
            <a:spAutoFit/>
          </a:bodyPr>
          <a:lstStyle/>
          <a:p>
            <a:pPr>
              <a:spcAft>
                <a:spcPts val="200"/>
              </a:spcAft>
              <a:defRPr sz="1100" b="1">
                <a:solidFill>
                  <a:srgbClr val="0F172A"/>
                </a:solidFill>
              </a:defRPr>
            </a:pPr>
            <a:r>
              <a:t>YOLO-CBF · 2023 (Zhang et al.)  —  CoordConv + BiFormer nhưng mô hình quá cồng kềnh</a:t>
            </a:r>
          </a:p>
          <a:p>
            <a:pPr>
              <a:lnSpc>
                <a:spcPct val="115000"/>
              </a:lnSpc>
              <a:spcAft>
                <a:spcPts val="200"/>
              </a:spcAft>
              <a:defRPr sz="950">
                <a:solidFill>
                  <a:srgbClr val="334155"/>
                </a:solidFill>
              </a:defRPr>
            </a:pPr>
            <a:r>
              <a:t>· Thông số: 37.2M params, 104.5 GFLOPs, 95.60% mAP50, 12.40 ms (80.6 FPS).</a:t>
            </a:r>
          </a:p>
          <a:p>
            <a:pPr>
              <a:lnSpc>
                <a:spcPct val="115000"/>
              </a:lnSpc>
              <a:spcAft>
                <a:spcPts val="200"/>
              </a:spcAft>
              <a:defRPr sz="950">
                <a:solidFill>
                  <a:srgbClr val="334155"/>
                </a:solidFill>
              </a:defRPr>
            </a:pPr>
            <a:r>
              <a:t>· Nhược điểm: Mô hình phình to gấp 4 lần, tiêu tốn bộ nhớ VRAM, hoàn toàn không thể chạy trên thiết bị biên giá rẻ.</a:t>
            </a:r>
          </a:p>
          <a:p>
            <a:pPr>
              <a:lnSpc>
                <a:spcPct val="115000"/>
              </a:lnSpc>
              <a:spcAft>
                <a:spcPts val="200"/>
              </a:spcAft>
              <a:defRPr sz="950" b="1">
                <a:solidFill>
                  <a:srgbClr val="EA580C"/>
                </a:solidFill>
              </a:defRPr>
            </a:pPr>
            <a:r>
              <a:t>■ Rep-YOLO11s: Tối ưu kiến trúc 9.85M params và áp dụng RepConv switch_to_deploy gộp nhánh, mượt trên GPU 2GB.</a:t>
            </a:r>
          </a:p>
        </p:txBody>
      </p:sp>
      <p:sp>
        <p:nvSpPr>
          <p:cNvPr id="12" name="Rounded Rectangle 11"/>
          <p:cNvSpPr/>
          <p:nvPr/>
        </p:nvSpPr>
        <p:spPr>
          <a:xfrm>
            <a:off x="731520" y="4700016"/>
            <a:ext cx="685800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73168"/>
            <a:ext cx="6492240" cy="950976"/>
          </a:xfrm>
          <a:prstGeom prst="rect">
            <a:avLst/>
          </a:prstGeom>
          <a:noFill/>
        </p:spPr>
        <p:txBody>
          <a:bodyPr wrap="square" lIns="0" rIns="0" tIns="0" bIns="0">
            <a:spAutoFit/>
          </a:bodyPr>
          <a:lstStyle/>
          <a:p>
            <a:pPr>
              <a:spcAft>
                <a:spcPts val="200"/>
              </a:spcAft>
              <a:defRPr sz="1100" b="1">
                <a:solidFill>
                  <a:srgbClr val="0F172A"/>
                </a:solidFill>
              </a:defRPr>
            </a:pPr>
            <a:r>
              <a:t>YOLOv8n-FADS · 2024 (Liu et al.)  —  Nhánh P2 cho mỏ than nhưng làm bùng nổ độ trễ</a:t>
            </a:r>
          </a:p>
          <a:p>
            <a:pPr>
              <a:lnSpc>
                <a:spcPct val="115000"/>
              </a:lnSpc>
              <a:spcAft>
                <a:spcPts val="200"/>
              </a:spcAft>
              <a:defRPr sz="950">
                <a:solidFill>
                  <a:srgbClr val="334155"/>
                </a:solidFill>
              </a:defRPr>
            </a:pPr>
            <a:r>
              <a:t>· Thông số: 2.10M params, 5.8 GFLOPs, 79.70% mAP50 (Tập dữ liệu riêng mỏ than).</a:t>
            </a:r>
          </a:p>
          <a:p>
            <a:pPr>
              <a:lnSpc>
                <a:spcPct val="115000"/>
              </a:lnSpc>
              <a:spcAft>
                <a:spcPts val="200"/>
              </a:spcAft>
              <a:defRPr sz="950">
                <a:solidFill>
                  <a:srgbClr val="334155"/>
                </a:solidFill>
              </a:defRPr>
            </a:pPr>
            <a:r>
              <a:t>· Nhược điểm: Mở rộng nhánh P2 làm tăng +37.1% độ trễ (lên 8.94 ms) do feature map 160x160 quá lớn.</a:t>
            </a:r>
          </a:p>
          <a:p>
            <a:pPr>
              <a:lnSpc>
                <a:spcPct val="115000"/>
              </a:lnSpc>
              <a:spcAft>
                <a:spcPts val="200"/>
              </a:spcAft>
              <a:defRPr sz="950" b="1">
                <a:solidFill>
                  <a:srgbClr val="EA580C"/>
                </a:solidFill>
              </a:defRPr>
            </a:pPr>
            <a:r>
              <a:t>■ Rep-YOLO11s: Loại bỏ nhánh P2, dùng Focal EIoU và BiFormer bắt vi vật thể, giữ nguyên độ trễ cực thấp 2.92 ms.</a:t>
            </a:r>
          </a:p>
        </p:txBody>
      </p:sp>
      <p:sp>
        <p:nvSpPr>
          <p:cNvPr id="14" name="Rounded Rectangle 13"/>
          <p:cNvSpPr/>
          <p:nvPr/>
        </p:nvSpPr>
        <p:spPr>
          <a:xfrm>
            <a:off x="7863840" y="1188720"/>
            <a:ext cx="3566160" cy="480060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325880"/>
            <a:ext cx="3200400" cy="4526280"/>
          </a:xfrm>
          <a:prstGeom prst="rect">
            <a:avLst/>
          </a:prstGeom>
          <a:noFill/>
        </p:spPr>
        <p:txBody>
          <a:bodyPr wrap="square" lIns="0" rIns="0" tIns="0" bIns="0">
            <a:spAutoFit/>
          </a:bodyPr>
          <a:lstStyle/>
          <a:p>
            <a:pPr>
              <a:defRPr sz="1050" b="1">
                <a:solidFill>
                  <a:srgbClr val="EA580C"/>
                </a:solidFill>
              </a:defRPr>
            </a:pPr>
            <a:r>
              <a:t>KHOẢNG TRỐNG KHOA HỌC</a:t>
            </a:r>
          </a:p>
          <a:p>
            <a:pPr>
              <a:spcAft>
                <a:spcPts val="400"/>
              </a:spcAft>
              <a:defRPr sz="1400" b="1">
                <a:solidFill>
                  <a:srgbClr val="0F172A"/>
                </a:solidFill>
              </a:defRPr>
            </a:pPr>
            <a:r>
              <a:t>Chưa có mô hình nào đạt đồng thời 3 tiêu chuẩn:</a:t>
            </a:r>
          </a:p>
          <a:p>
            <a:pPr>
              <a:lnSpc>
                <a:spcPct val="115000"/>
              </a:lnSpc>
              <a:spcAft>
                <a:spcPts val="200"/>
              </a:spcAft>
              <a:defRPr sz="980">
                <a:solidFill>
                  <a:srgbClr val="334155"/>
                </a:solidFill>
              </a:defRPr>
            </a:pPr>
            <a:r>
              <a:t>1. Độ chính xác cao trên vi vật thể (&lt;20px)</a:t>
            </a:r>
          </a:p>
          <a:p>
            <a:pPr>
              <a:lnSpc>
                <a:spcPct val="115000"/>
              </a:lnSpc>
              <a:spcAft>
                <a:spcPts val="200"/>
              </a:spcAft>
              <a:defRPr sz="980">
                <a:solidFill>
                  <a:srgbClr val="334155"/>
                </a:solidFill>
              </a:defRPr>
            </a:pPr>
            <a:r>
              <a:t>2. Zero-overhead độ trễ khi suy luận biên</a:t>
            </a:r>
          </a:p>
          <a:p>
            <a:pPr>
              <a:lnSpc>
                <a:spcPct val="115000"/>
              </a:lnSpc>
              <a:spcAft>
                <a:spcPts val="200"/>
              </a:spcAft>
              <a:defRPr sz="980">
                <a:solidFill>
                  <a:srgbClr val="334155"/>
                </a:solidFill>
              </a:defRPr>
            </a:pPr>
            <a:r>
              <a:t>3. Năng lực chuyển giao ngoại miền vững chắc</a:t>
            </a:r>
          </a:p>
          <a:p>
            <a:pPr>
              <a:lnSpc>
                <a:spcPct val="115000"/>
              </a:lnSpc>
              <a:spcAft>
                <a:spcPts val="300"/>
              </a:spcAft>
              <a:defRPr sz="980"/>
            </a:pPr>
          </a:p>
          <a:p>
            <a:pPr>
              <a:lnSpc>
                <a:spcPct val="115000"/>
              </a:lnSpc>
              <a:spcAft>
                <a:spcPts val="200"/>
              </a:spcAft>
              <a:defRPr sz="980" b="1">
                <a:solidFill>
                  <a:srgbClr val="0F172A"/>
                </a:solidFill>
              </a:defRPr>
            </a:pPr>
            <a:r>
              <a:t>Mâu thuẫn kỹ thuật cốt lõi:</a:t>
            </a:r>
          </a:p>
          <a:p>
            <a:pPr>
              <a:lnSpc>
                <a:spcPct val="115000"/>
              </a:lnSpc>
              <a:spcAft>
                <a:spcPts val="200"/>
              </a:spcAft>
              <a:defRPr sz="980">
                <a:solidFill>
                  <a:srgbClr val="334155"/>
                </a:solidFill>
              </a:defRPr>
            </a:pPr>
            <a:r>
              <a:t>· Cần biểu diễn đa nhánh phong phú lúc train để học tốt các vi vật thể che khuất.</a:t>
            </a:r>
          </a:p>
          <a:p>
            <a:pPr>
              <a:lnSpc>
                <a:spcPct val="115000"/>
              </a:lnSpc>
              <a:spcAft>
                <a:spcPts val="200"/>
              </a:spcAft>
              <a:defRPr sz="980">
                <a:solidFill>
                  <a:srgbClr val="334155"/>
                </a:solidFill>
              </a:defRPr>
            </a:pPr>
            <a:r>
              <a:t>· Nhưng môi trường biên yêu cầu nhân chập đơn giản để triệt tiêu độ trễ chuyển mạch.</a:t>
            </a:r>
          </a:p>
          <a:p>
            <a:pPr>
              <a:lnSpc>
                <a:spcPct val="115000"/>
              </a:lnSpc>
              <a:spcAft>
                <a:spcPts val="300"/>
              </a:spcAft>
              <a:defRPr sz="980"/>
            </a:pPr>
          </a:p>
          <a:p>
            <a:pPr>
              <a:lnSpc>
                <a:spcPct val="115000"/>
              </a:lnSpc>
              <a:spcAft>
                <a:spcPts val="200"/>
              </a:spcAft>
              <a:defRPr sz="980" b="1">
                <a:solidFill>
                  <a:srgbClr val="0F172A"/>
                </a:solidFill>
              </a:defRPr>
            </a:pPr>
            <a:r>
              <a:t>Luận điểm cốt lõi của đề tài:</a:t>
            </a:r>
          </a:p>
          <a:p>
            <a:pPr>
              <a:lnSpc>
                <a:spcPct val="115000"/>
              </a:lnSpc>
              <a:spcAft>
                <a:spcPts val="300"/>
              </a:spcAft>
              <a:defRPr sz="980" b="1">
                <a:solidFill>
                  <a:srgbClr val="0F172A"/>
                </a:solidFill>
              </a:defRPr>
            </a:pPr>
            <a:r>
              <a:t>Khả năng học biểu diễn phong phú lúc huấn luyện và yêu cầu tối giản lúc triển khai hoàn toàn có thể đồng tồn tại thông qua kỹ thuật Tái tham số hóa Cấu trúc đại số tuyến tính!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3 · PHƯƠNG PHÁP TRIỂN KHAI &amp; ĐÓNG GÓP MỚI</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07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Kế Thừa Framework Chuẩn Mực &amp; Tự Phát Triển 4 Module Chuyên Sâu</a:t>
            </a:r>
          </a:p>
        </p:txBody>
      </p:sp>
      <p:sp>
        <p:nvSpPr>
          <p:cNvPr id="6" name="Rounded Rectangle 5"/>
          <p:cNvSpPr/>
          <p:nvPr/>
        </p:nvSpPr>
        <p:spPr>
          <a:xfrm>
            <a:off x="731520" y="1188720"/>
            <a:ext cx="51206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80160"/>
            <a:ext cx="4754880" cy="2057400"/>
          </a:xfrm>
          <a:prstGeom prst="rect">
            <a:avLst/>
          </a:prstGeom>
          <a:noFill/>
        </p:spPr>
        <p:txBody>
          <a:bodyPr wrap="square" lIns="0" rIns="0" tIns="0" bIns="0">
            <a:spAutoFit/>
          </a:bodyPr>
          <a:lstStyle/>
          <a:p>
            <a:pPr>
              <a:defRPr sz="1050" b="1">
                <a:solidFill>
                  <a:srgbClr val="2563EB"/>
                </a:solidFill>
              </a:defRPr>
            </a:pPr>
            <a:r>
              <a:t>NỀN TẢNG KẾ THỪA: KIẾN TRÚC ULTRALYTICS YOLO11s</a:t>
            </a:r>
          </a:p>
          <a:p>
            <a:pPr>
              <a:spcAft>
                <a:spcPts val="200"/>
              </a:spcAft>
              <a:defRPr sz="1150" b="1">
                <a:solidFill>
                  <a:srgbClr val="0F172A"/>
                </a:solidFill>
              </a:defRPr>
            </a:pPr>
            <a:r>
              <a:t>CSPDarknet C3k2, SPPF &amp; Decoupled Detection Head</a:t>
            </a:r>
          </a:p>
          <a:p>
            <a:pPr>
              <a:lnSpc>
                <a:spcPct val="115000"/>
              </a:lnSpc>
              <a:spcAft>
                <a:spcPts val="220"/>
              </a:spcAft>
              <a:defRPr sz="960">
                <a:solidFill>
                  <a:srgbClr val="334155"/>
                </a:solidFill>
              </a:defRPr>
            </a:pPr>
            <a:r>
              <a:t>· Backbone CSPDarknet C3k2: Tối ưu hóa luồng gradient với 21.5 GFLOPs (tiết kiệm 24.8% tính toán so với YOLOv8s).</a:t>
            </a:r>
          </a:p>
          <a:p>
            <a:pPr>
              <a:lnSpc>
                <a:spcPct val="115000"/>
              </a:lnSpc>
              <a:spcAft>
                <a:spcPts val="220"/>
              </a:spcAft>
              <a:defRPr sz="960">
                <a:solidFill>
                  <a:srgbClr val="334155"/>
                </a:solidFill>
              </a:defRPr>
            </a:pPr>
            <a:r>
              <a:t>· SPPF (Spatial Pyramid Pooling - Fast): Tổng hợp đặc trưng ngữ cảnh đa tỷ lệ với các kernel maxpool 5x5 song song.</a:t>
            </a:r>
          </a:p>
          <a:p>
            <a:pPr>
              <a:lnSpc>
                <a:spcPct val="115000"/>
              </a:lnSpc>
              <a:spcAft>
                <a:spcPts val="220"/>
              </a:spcAft>
              <a:defRPr sz="960">
                <a:solidFill>
                  <a:srgbClr val="334155"/>
                </a:solidFill>
              </a:defRPr>
            </a:pPr>
            <a:r>
              <a:t>· Decoupled Detection Head: Tách biệt độc lập luồng phân loại nhãn và luồng hồi quy tọa độ bounding box.</a:t>
            </a:r>
          </a:p>
          <a:p>
            <a:pPr>
              <a:lnSpc>
                <a:spcPct val="115000"/>
              </a:lnSpc>
              <a:spcAft>
                <a:spcPts val="220"/>
              </a:spcAft>
              <a:defRPr sz="960" b="1">
                <a:solidFill>
                  <a:srgbClr val="2563EB"/>
                </a:solidFill>
              </a:defRPr>
            </a:pPr>
            <a:r>
              <a:t>■ Đánh giá: Kế thừa nền tảng vững chắc của SOTA thế giới để không phải xây dựng lại từ con số 0.</a:t>
            </a:r>
          </a:p>
        </p:txBody>
      </p:sp>
      <p:sp>
        <p:nvSpPr>
          <p:cNvPr id="8" name="Rounded Rectangle 7"/>
          <p:cNvSpPr/>
          <p:nvPr/>
        </p:nvSpPr>
        <p:spPr>
          <a:xfrm>
            <a:off x="731520" y="3520440"/>
            <a:ext cx="51206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11880"/>
            <a:ext cx="4754880" cy="2057400"/>
          </a:xfrm>
          <a:prstGeom prst="rect">
            <a:avLst/>
          </a:prstGeom>
          <a:noFill/>
        </p:spPr>
        <p:txBody>
          <a:bodyPr wrap="square" lIns="0" rIns="0" tIns="0" bIns="0">
            <a:spAutoFit/>
          </a:bodyPr>
          <a:lstStyle/>
          <a:p>
            <a:pPr>
              <a:defRPr sz="1050" b="1">
                <a:solidFill>
                  <a:srgbClr val="2563EB"/>
                </a:solidFill>
              </a:defRPr>
            </a:pPr>
            <a:r>
              <a:t>HẠ TẦNG HUẤN LUYỆN &amp; GÁN NHÃN ĐỘNG TAL</a:t>
            </a:r>
          </a:p>
          <a:p>
            <a:pPr>
              <a:spcAft>
                <a:spcPts val="200"/>
              </a:spcAft>
              <a:defRPr sz="1150" b="1">
                <a:solidFill>
                  <a:srgbClr val="0F172A"/>
                </a:solidFill>
              </a:defRPr>
            </a:pPr>
            <a:r>
              <a:t>Chiến Lược Huấn Luyện &amp; Tối Ưu Hóa Chuẩn Mực</a:t>
            </a:r>
          </a:p>
          <a:p>
            <a:pPr>
              <a:lnSpc>
                <a:spcPct val="115000"/>
              </a:lnSpc>
              <a:spcAft>
                <a:spcPts val="220"/>
              </a:spcAft>
              <a:defRPr sz="960">
                <a:solidFill>
                  <a:srgbClr val="334155"/>
                </a:solidFill>
              </a:defRPr>
            </a:pPr>
            <a:r>
              <a:t>· Data Augmentation nâng cao: Phối hợp Mosaic (1.0), MixUp (0.1), Random Affine và HSV Shift tạo môi trường học cực hạn.</a:t>
            </a:r>
          </a:p>
          <a:p>
            <a:pPr>
              <a:lnSpc>
                <a:spcPct val="115000"/>
              </a:lnSpc>
              <a:spcAft>
                <a:spcPts val="220"/>
              </a:spcAft>
              <a:defRPr sz="960">
                <a:solidFill>
                  <a:srgbClr val="334155"/>
                </a:solidFill>
              </a:defRPr>
            </a:pPr>
            <a:r>
              <a:t>· Thuật toán tối ưu hóa SGD: Learning rate ban đầu lr0=0.01, momentum=0.937, kết hợp lịch trình suy giảm Cosine Annealing.</a:t>
            </a:r>
          </a:p>
          <a:p>
            <a:pPr>
              <a:lnSpc>
                <a:spcPct val="115000"/>
              </a:lnSpc>
              <a:spcAft>
                <a:spcPts val="220"/>
              </a:spcAft>
              <a:defRPr sz="960">
                <a:solidFill>
                  <a:srgbClr val="334155"/>
                </a:solidFill>
              </a:defRPr>
            </a:pPr>
            <a:r>
              <a:t>· Task-Aligned Assigner (TAL): Tự động tính điểm liên kết giữa xác suất phân loại (cls) và chất lượng vị trí (IoU).</a:t>
            </a:r>
          </a:p>
          <a:p>
            <a:pPr>
              <a:lnSpc>
                <a:spcPct val="115000"/>
              </a:lnSpc>
              <a:spcAft>
                <a:spcPts val="220"/>
              </a:spcAft>
              <a:defRPr sz="960" b="1">
                <a:solidFill>
                  <a:srgbClr val="2563EB"/>
                </a:solidFill>
              </a:defRPr>
            </a:pPr>
            <a:r>
              <a:t>■ Chiến lược: Kế thừa nền tảng vững chắc, tập trung 100% nguồn lực giải quyết 4 tử huyệt công trường.</a:t>
            </a:r>
          </a:p>
        </p:txBody>
      </p:sp>
      <p:sp>
        <p:nvSpPr>
          <p:cNvPr id="10" name="Rounded Rectangle 9"/>
          <p:cNvSpPr/>
          <p:nvPr/>
        </p:nvSpPr>
        <p:spPr>
          <a:xfrm>
            <a:off x="6126480" y="1188720"/>
            <a:ext cx="530352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80160"/>
            <a:ext cx="4937760" cy="2057400"/>
          </a:xfrm>
          <a:prstGeom prst="rect">
            <a:avLst/>
          </a:prstGeom>
          <a:noFill/>
        </p:spPr>
        <p:txBody>
          <a:bodyPr wrap="square" lIns="0" rIns="0" tIns="0" bIns="0">
            <a:spAutoFit/>
          </a:bodyPr>
          <a:lstStyle/>
          <a:p>
            <a:pPr>
              <a:defRPr sz="1050" b="1">
                <a:solidFill>
                  <a:srgbClr val="EA580C"/>
                </a:solidFill>
              </a:defRPr>
            </a:pPr>
            <a:r>
              <a:t>ĐÓNG GÓP TỰ PHÁT TRIỂN: 4 MODULE TOÁN HỌC</a:t>
            </a:r>
          </a:p>
          <a:p>
            <a:pPr>
              <a:spcAft>
                <a:spcPts val="200"/>
              </a:spcAft>
              <a:defRPr sz="1150" b="1">
                <a:solidFill>
                  <a:srgbClr val="0F172A"/>
                </a:solidFill>
              </a:defRPr>
            </a:pPr>
            <a:r>
              <a:t>Tự Lập Trình 360 Dòng Mã PyTorch Thuần</a:t>
            </a:r>
          </a:p>
          <a:p>
            <a:pPr>
              <a:lnSpc>
                <a:spcPct val="115000"/>
              </a:lnSpc>
              <a:spcAft>
                <a:spcPts val="200"/>
              </a:spcAft>
              <a:defRPr sz="940">
                <a:solidFill>
                  <a:srgbClr val="334155"/>
                </a:solidFill>
              </a:defRPr>
            </a:pPr>
            <a:r>
              <a:t>1. CoordConv: Sinh 2 kênh tọa độ giải phẫu (Cx, Cy) nhúng vào stem conv, phá vỡ tính bất biến tịnh tiến của CNN.</a:t>
            </a:r>
          </a:p>
          <a:p>
            <a:pPr>
              <a:lnSpc>
                <a:spcPct val="115000"/>
              </a:lnSpc>
              <a:spcAft>
                <a:spcPts val="200"/>
              </a:spcAft>
              <a:defRPr sz="940">
                <a:solidFill>
                  <a:srgbClr val="334155"/>
                </a:solidFill>
              </a:defRPr>
            </a:pPr>
            <a:r>
              <a:t>2. RepConv: Cấu trúc 3 nhánh song song lúc train và thuật toán switch_to_deploy gộp đại số zero-latency lúc deploy.</a:t>
            </a:r>
          </a:p>
          <a:p>
            <a:pPr>
              <a:lnSpc>
                <a:spcPct val="115000"/>
              </a:lnSpc>
              <a:spcAft>
                <a:spcPts val="200"/>
              </a:spcAft>
              <a:defRPr sz="940">
                <a:solidFill>
                  <a:srgbClr val="334155"/>
                </a:solidFill>
              </a:defRPr>
            </a:pPr>
            <a:r>
              <a:t>3. BiFormer: Cơ chế chú ý định tuyến thưa 2 cấp độ top-k vùng thô, đưa độ phức tạp về tuyến tính O(N).</a:t>
            </a:r>
          </a:p>
          <a:p>
            <a:pPr>
              <a:lnSpc>
                <a:spcPct val="115000"/>
              </a:lnSpc>
              <a:spcAft>
                <a:spcPts val="200"/>
              </a:spcAft>
              <a:defRPr sz="940">
                <a:solidFill>
                  <a:srgbClr val="334155"/>
                </a:solidFill>
              </a:defRPr>
            </a:pPr>
            <a:r>
              <a:t>4. Focal EIoU: Hard-patch vào lõi tính loss, phạt sai số chiều dài/rộng và điều tiết mẫu khó theo (IoU)^0.5.</a:t>
            </a:r>
          </a:p>
          <a:p>
            <a:pPr>
              <a:lnSpc>
                <a:spcPct val="115000"/>
              </a:lnSpc>
              <a:spcAft>
                <a:spcPts val="200"/>
              </a:spcAft>
              <a:defRPr sz="940" b="1">
                <a:solidFill>
                  <a:srgbClr val="EA580C"/>
                </a:solidFill>
              </a:defRPr>
            </a:pPr>
            <a:r>
              <a:t>■ Tự chủ công nghệ: Tự thiết kế và lập trình 100% từ nền tảng toán học, không phụ thuộc thư viện hộp đen.</a:t>
            </a:r>
          </a:p>
        </p:txBody>
      </p:sp>
      <p:sp>
        <p:nvSpPr>
          <p:cNvPr id="12" name="Rounded Rectangle 11"/>
          <p:cNvSpPr/>
          <p:nvPr/>
        </p:nvSpPr>
        <p:spPr>
          <a:xfrm>
            <a:off x="6126480" y="3520440"/>
            <a:ext cx="530352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611880"/>
            <a:ext cx="4937760" cy="2057400"/>
          </a:xfrm>
          <a:prstGeom prst="rect">
            <a:avLst/>
          </a:prstGeom>
          <a:noFill/>
        </p:spPr>
        <p:txBody>
          <a:bodyPr wrap="square" lIns="0" rIns="0" tIns="0" bIns="0">
            <a:spAutoFit/>
          </a:bodyPr>
          <a:lstStyle/>
          <a:p>
            <a:pPr>
              <a:defRPr sz="1050" b="1">
                <a:solidFill>
                  <a:srgbClr val="EA580C"/>
                </a:solidFill>
              </a:defRPr>
            </a:pPr>
            <a:r>
              <a:t>QUY TRÌNH THỰC NGHIỆM &amp; GIAO THỨC CHUẨN</a:t>
            </a:r>
          </a:p>
          <a:p>
            <a:pPr>
              <a:spcAft>
                <a:spcPts val="200"/>
              </a:spcAft>
              <a:defRPr sz="1150" b="1">
                <a:solidFill>
                  <a:srgbClr val="0F172A"/>
                </a:solidFill>
              </a:defRPr>
            </a:pPr>
            <a:r>
              <a:t>custom_ablation_modules.py &amp; Harmonized PPE</a:t>
            </a:r>
          </a:p>
          <a:p>
            <a:pPr>
              <a:lnSpc>
                <a:spcPct val="115000"/>
              </a:lnSpc>
              <a:spcAft>
                <a:spcPts val="220"/>
              </a:spcAft>
              <a:defRPr sz="960">
                <a:solidFill>
                  <a:srgbClr val="334155"/>
                </a:solidFill>
              </a:defRPr>
            </a:pPr>
            <a:r>
              <a:t>· Tự tay lập trình 360 dòng mã PyTorch thuần trong file custom_ablation_modules.py, kế thừa trực tiếp nn.Module.</a:t>
            </a:r>
          </a:p>
          <a:p>
            <a:pPr>
              <a:lnSpc>
                <a:spcPct val="115000"/>
              </a:lnSpc>
              <a:spcAft>
                <a:spcPts val="220"/>
              </a:spcAft>
              <a:defRPr sz="960">
                <a:solidFill>
                  <a:srgbClr val="334155"/>
                </a:solidFill>
              </a:defRPr>
            </a:pPr>
            <a:r>
              <a:t>· Kỹ thuật Dynamic Registration tiêm module vào Ultralytics, vượt qua hạn chế đóng kín của thư viện gốc.</a:t>
            </a:r>
          </a:p>
          <a:p>
            <a:pPr>
              <a:lnSpc>
                <a:spcPct val="115000"/>
              </a:lnSpc>
              <a:spcAft>
                <a:spcPts val="220"/>
              </a:spcAft>
              <a:defRPr sz="960">
                <a:solidFill>
                  <a:srgbClr val="334155"/>
                </a:solidFill>
              </a:defRPr>
            </a:pPr>
            <a:r>
              <a:t>· Khắc phục triệt để lỗ hổng tiến trình DDP đa GPU bằng Physical Hard-Patch trực tiếp vào site-packages/loss.py.</a:t>
            </a:r>
          </a:p>
          <a:p>
            <a:pPr>
              <a:lnSpc>
                <a:spcPct val="115000"/>
              </a:lnSpc>
              <a:spcAft>
                <a:spcPts val="220"/>
              </a:spcAft>
              <a:defRPr sz="960" b="1">
                <a:solidFill>
                  <a:srgbClr val="EA580C"/>
                </a:solidFill>
              </a:defRPr>
            </a:pPr>
            <a:r>
              <a:t>■ Khẳng định: Nhóm can thiệp sâu vào cấu trúc toán học và đồ thị tính toán của mạng nơ-ron!</a:t>
            </a:r>
          </a:p>
        </p:txBody>
      </p:sp>
      <p:sp>
        <p:nvSpPr>
          <p:cNvPr id="14" name="Rounded Rectangle 13"/>
          <p:cNvSpPr/>
          <p:nvPr/>
        </p:nvSpPr>
        <p:spPr>
          <a:xfrm>
            <a:off x="731520" y="5870448"/>
            <a:ext cx="10698480" cy="50292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07024"/>
            <a:ext cx="10332720" cy="411480"/>
          </a:xfrm>
          <a:prstGeom prst="rect">
            <a:avLst/>
          </a:prstGeom>
          <a:noFill/>
        </p:spPr>
        <p:txBody>
          <a:bodyPr wrap="none" lIns="0" rIns="0" tIns="0" bIns="0">
            <a:spAutoFit/>
          </a:bodyPr>
          <a:lstStyle/>
          <a:p>
            <a:pPr>
              <a:defRPr sz="1050" b="1">
                <a:solidFill>
                  <a:srgbClr val="EA580C"/>
                </a:solidFill>
              </a:defRPr>
            </a:pPr>
            <a:r>
              <a:t>Khẳng định: Nhóm không chỉ dùng model có sẵn để train, mà đã can thiệp sâu vào cấu trúc toán học và đồ thị tính toán bên dưới!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3 · DỮ LIỆU HUẤN LUYỆN &amp; CHUẨN HÓA CÔNG NGHIỆP</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08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Kỹ Nghệ Dữ Liệu Chuẩn Hóa &amp; Bộ Kiểm Thử Ngoại Miền &gt;33,000 Ảnh</a:t>
            </a:r>
          </a:p>
        </p:txBody>
      </p:sp>
      <p:sp>
        <p:nvSpPr>
          <p:cNvPr id="6" name="Rounded Rectangle 5"/>
          <p:cNvSpPr/>
          <p:nvPr/>
        </p:nvSpPr>
        <p:spPr>
          <a:xfrm>
            <a:off x="731520" y="1188720"/>
            <a:ext cx="5120640" cy="1965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4754880" cy="1810512"/>
          </a:xfrm>
          <a:prstGeom prst="rect">
            <a:avLst/>
          </a:prstGeom>
          <a:noFill/>
        </p:spPr>
        <p:txBody>
          <a:bodyPr wrap="square" lIns="0" rIns="0" tIns="0" bIns="0">
            <a:spAutoFit/>
          </a:bodyPr>
          <a:lstStyle/>
          <a:p>
            <a:pPr>
              <a:defRPr sz="1050" b="1">
                <a:solidFill>
                  <a:srgbClr val="EA580C"/>
                </a:solidFill>
              </a:defRPr>
            </a:pPr>
            <a:r>
              <a:t>TẬP NGUỒN CHÍNH: SHWD / VOC2028 (7,581 ẢNH)</a:t>
            </a:r>
          </a:p>
          <a:p>
            <a:pPr>
              <a:spcAft>
                <a:spcPts val="200"/>
              </a:spcAft>
              <a:defRPr sz="1150" b="1">
                <a:solidFill>
                  <a:srgbClr val="0F172A"/>
                </a:solidFill>
              </a:defRPr>
            </a:pPr>
            <a:r>
              <a:t>Phân Chia Chuẩn Mực 80/20 &amp; Zero Data Leakage</a:t>
            </a:r>
          </a:p>
          <a:p>
            <a:pPr>
              <a:lnSpc>
                <a:spcPct val="115000"/>
              </a:lnSpc>
              <a:spcAft>
                <a:spcPts val="200"/>
              </a:spcAft>
              <a:defRPr sz="940">
                <a:solidFill>
                  <a:srgbClr val="334155"/>
                </a:solidFill>
              </a:defRPr>
            </a:pPr>
            <a:r>
              <a:t>· Phân hoạch nghiêm ngặt: 6,064 ảnh Trainval (80%) và 1,517 ảnh Test (20%), bảo đảm 100% Zero Data Leakage.</a:t>
            </a:r>
          </a:p>
          <a:p>
            <a:pPr>
              <a:lnSpc>
                <a:spcPct val="115000"/>
              </a:lnSpc>
              <a:spcAft>
                <a:spcPts val="200"/>
              </a:spcAft>
              <a:defRPr sz="940">
                <a:solidFill>
                  <a:srgbClr val="334155"/>
                </a:solidFill>
              </a:defRPr>
            </a:pPr>
            <a:r>
              <a:t>· Chuẩn hóa không gian tọa độ: Chuyển đổi toàn bộ nhãn XML Pascal VOC sang định dạng YOLO chuẩn [xc, yc, w, h] trong đoạn [0, 1].</a:t>
            </a:r>
          </a:p>
          <a:p>
            <a:pPr>
              <a:lnSpc>
                <a:spcPct val="115000"/>
              </a:lnSpc>
              <a:spcAft>
                <a:spcPts val="200"/>
              </a:spcAft>
              <a:defRPr sz="940">
                <a:solidFill>
                  <a:srgbClr val="334155"/>
                </a:solidFill>
              </a:defRPr>
            </a:pPr>
            <a:r>
              <a:t>· Kiểm kê hộp nhãn thực tế: 9,044 nhãn mũ bảo hộ và 111,514 nhãn thân người trên toàn bộ 7,581 ảnh.</a:t>
            </a:r>
          </a:p>
          <a:p>
            <a:pPr>
              <a:lnSpc>
                <a:spcPct val="115000"/>
              </a:lnSpc>
              <a:spcAft>
                <a:spcPts val="200"/>
              </a:spcAft>
              <a:defRPr sz="940" b="1">
                <a:solidFill>
                  <a:srgbClr val="EA580C"/>
                </a:solidFill>
              </a:defRPr>
            </a:pPr>
            <a:r>
              <a:t>■ Phân hoạch chuẩn mực: Bảo đảm tính khách quan tuyệt đối, loại bỏ hoàn toàn rò rỉ dữ liệu (Zero Leakage).</a:t>
            </a:r>
          </a:p>
        </p:txBody>
      </p:sp>
      <p:sp>
        <p:nvSpPr>
          <p:cNvPr id="8" name="Rounded Rectangle 7"/>
          <p:cNvSpPr/>
          <p:nvPr/>
        </p:nvSpPr>
        <p:spPr>
          <a:xfrm>
            <a:off x="731520" y="3246120"/>
            <a:ext cx="5120640" cy="1965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19272"/>
            <a:ext cx="4754880" cy="1810512"/>
          </a:xfrm>
          <a:prstGeom prst="rect">
            <a:avLst/>
          </a:prstGeom>
          <a:noFill/>
        </p:spPr>
        <p:txBody>
          <a:bodyPr wrap="square" lIns="0" rIns="0" tIns="0" bIns="0">
            <a:spAutoFit/>
          </a:bodyPr>
          <a:lstStyle/>
          <a:p>
            <a:pPr>
              <a:defRPr sz="1050" b="1">
                <a:solidFill>
                  <a:srgbClr val="EA580C"/>
                </a:solidFill>
              </a:defRPr>
            </a:pPr>
            <a:r>
              <a:t>LÀM SẠCH NHÃN RÁC &amp; MẤT CÂN BẰNG CỰC ĐOAN</a:t>
            </a:r>
          </a:p>
          <a:p>
            <a:pPr>
              <a:spcAft>
                <a:spcPts val="200"/>
              </a:spcAft>
              <a:defRPr sz="1150" b="1">
                <a:solidFill>
                  <a:srgbClr val="0F172A"/>
                </a:solidFill>
              </a:defRPr>
            </a:pPr>
            <a:r>
              <a:t>Loại Bỏ Nhãn Lỗi &amp; Xử Lý Tỷ Lệ Lệch 1:12</a:t>
            </a:r>
          </a:p>
          <a:p>
            <a:pPr>
              <a:lnSpc>
                <a:spcPct val="115000"/>
              </a:lnSpc>
              <a:spcAft>
                <a:spcPts val="200"/>
              </a:spcAft>
              <a:defRPr sz="940">
                <a:solidFill>
                  <a:srgbClr val="334155"/>
                </a:solidFill>
              </a:defRPr>
            </a:pPr>
            <a:r>
              <a:t>· Kỹ nghệ lọc sạch dữ liệu: Phát hiện và loại bỏ triệt để 3 nhãn rác bất thường "dog" tại file metadata 000377.xml.</a:t>
            </a:r>
          </a:p>
          <a:p>
            <a:pPr>
              <a:lnSpc>
                <a:spcPct val="115000"/>
              </a:lnSpc>
              <a:spcAft>
                <a:spcPts val="200"/>
              </a:spcAft>
              <a:defRPr sz="940">
                <a:solidFill>
                  <a:srgbClr val="334155"/>
                </a:solidFill>
              </a:defRPr>
            </a:pPr>
            <a:r>
              <a:t>· Giải mã mất cân bằng nhãn 1:12: Số nhãn thân người áp đảo gấp 12 lần số nhãn mũ bảo hộ.</a:t>
            </a:r>
          </a:p>
          <a:p>
            <a:pPr>
              <a:lnSpc>
                <a:spcPct val="115000"/>
              </a:lnSpc>
              <a:spcAft>
                <a:spcPts val="200"/>
              </a:spcAft>
              <a:defRPr sz="940">
                <a:solidFill>
                  <a:srgbClr val="334155"/>
                </a:solidFill>
              </a:defRPr>
            </a:pPr>
            <a:r>
              <a:t>· Hệ quả mặt nạ dữ liệu: mAP thân người bão hòa ở mức 95.4%, làm mờ nhạt mức tăng thực tế của lớp mũ.</a:t>
            </a:r>
          </a:p>
          <a:p>
            <a:pPr>
              <a:lnSpc>
                <a:spcPct val="115000"/>
              </a:lnSpc>
              <a:spcAft>
                <a:spcPts val="200"/>
              </a:spcAft>
              <a:defRPr sz="940" b="1">
                <a:solidFill>
                  <a:srgbClr val="EA580C"/>
                </a:solidFill>
              </a:defRPr>
            </a:pPr>
            <a:r>
              <a:t>■ Tinh khiết hóa: Khắc phục triệt để nhiễu nhãn và thiên vị lớp, giúp mô hình hội tụ ổn định và chính xác.</a:t>
            </a:r>
          </a:p>
        </p:txBody>
      </p:sp>
      <p:sp>
        <p:nvSpPr>
          <p:cNvPr id="10" name="Rounded Rectangle 9"/>
          <p:cNvSpPr/>
          <p:nvPr/>
        </p:nvSpPr>
        <p:spPr>
          <a:xfrm>
            <a:off x="6126480" y="1188720"/>
            <a:ext cx="5303520" cy="1965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61872"/>
            <a:ext cx="4937760" cy="1810512"/>
          </a:xfrm>
          <a:prstGeom prst="rect">
            <a:avLst/>
          </a:prstGeom>
          <a:noFill/>
        </p:spPr>
        <p:txBody>
          <a:bodyPr wrap="square" lIns="0" rIns="0" tIns="0" bIns="0">
            <a:spAutoFit/>
          </a:bodyPr>
          <a:lstStyle/>
          <a:p>
            <a:pPr>
              <a:defRPr sz="1050" b="1">
                <a:solidFill>
                  <a:srgbClr val="2563EB"/>
                </a:solidFill>
              </a:defRPr>
            </a:pPr>
            <a:r>
              <a:t>BỘ KIỂM THỬ NGOẠI MIỀN CỰC ĐOAN (&gt;18,000 ẢNH)</a:t>
            </a:r>
          </a:p>
          <a:p>
            <a:pPr>
              <a:spcAft>
                <a:spcPts val="200"/>
              </a:spcAft>
              <a:defRPr sz="1150" b="1">
                <a:solidFill>
                  <a:srgbClr val="0F172A"/>
                </a:solidFill>
              </a:defRPr>
            </a:pPr>
            <a:r>
              <a:t>GDUT-HWD &amp; SHEL5K: Thách Thức Mật Độ &amp; Góc Nhìn</a:t>
            </a:r>
          </a:p>
          <a:p>
            <a:pPr>
              <a:lnSpc>
                <a:spcPct val="115000"/>
              </a:lnSpc>
              <a:spcAft>
                <a:spcPts val="200"/>
              </a:spcAft>
              <a:defRPr sz="940">
                <a:solidFill>
                  <a:srgbClr val="334155"/>
                </a:solidFill>
              </a:defRPr>
            </a:pPr>
            <a:r>
              <a:t>· GDUT-HWD (13,499 ảnh): Môi trường công trường Châu Á cực kỳ đông đúc, mật độ 15–30 người/khung hình, che khuất chéo.</a:t>
            </a:r>
          </a:p>
          <a:p>
            <a:pPr>
              <a:lnSpc>
                <a:spcPct val="115000"/>
              </a:lnSpc>
              <a:spcAft>
                <a:spcPts val="200"/>
              </a:spcAft>
              <a:defRPr sz="940">
                <a:solidFill>
                  <a:srgbClr val="334155"/>
                </a:solidFill>
              </a:defRPr>
            </a:pPr>
            <a:r>
              <a:t>· SHEL5K (5,000 ảnh): Góc quay Flycam/Drone thẳng đứng từ đỉnh đầu 70–90 độ, vi vật thể mũ bảo hộ siêu nhỏ (&lt;15px).</a:t>
            </a:r>
          </a:p>
          <a:p>
            <a:pPr>
              <a:lnSpc>
                <a:spcPct val="115000"/>
              </a:lnSpc>
              <a:spcAft>
                <a:spcPts val="200"/>
              </a:spcAft>
              <a:defRPr sz="940">
                <a:solidFill>
                  <a:srgbClr val="334155"/>
                </a:solidFill>
              </a:defRPr>
            </a:pPr>
            <a:r>
              <a:t>· Thực nghiệm Zero-Shot: Đánh giá trực tiếp khả năng tổng quát hóa mà không huấn luyện lại bất kỳ trọng số nào.</a:t>
            </a:r>
          </a:p>
          <a:p>
            <a:pPr>
              <a:lnSpc>
                <a:spcPct val="115000"/>
              </a:lnSpc>
              <a:spcAft>
                <a:spcPts val="200"/>
              </a:spcAft>
              <a:defRPr sz="940" b="1">
                <a:solidFill>
                  <a:srgbClr val="2563EB"/>
                </a:solidFill>
              </a:defRPr>
            </a:pPr>
            <a:r>
              <a:t>■ Thẩm định cự ly cực hạn: Kiểm chứng độ vững chắc của mô hình trước các góc máy camera khắc nghiệt nhất.</a:t>
            </a:r>
          </a:p>
        </p:txBody>
      </p:sp>
      <p:sp>
        <p:nvSpPr>
          <p:cNvPr id="12" name="Rounded Rectangle 11"/>
          <p:cNvSpPr/>
          <p:nvPr/>
        </p:nvSpPr>
        <p:spPr>
          <a:xfrm>
            <a:off x="6126480" y="3246120"/>
            <a:ext cx="5303520" cy="1965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319272"/>
            <a:ext cx="4937760" cy="1810512"/>
          </a:xfrm>
          <a:prstGeom prst="rect">
            <a:avLst/>
          </a:prstGeom>
          <a:noFill/>
        </p:spPr>
        <p:txBody>
          <a:bodyPr wrap="square" lIns="0" rIns="0" tIns="0" bIns="0">
            <a:spAutoFit/>
          </a:bodyPr>
          <a:lstStyle/>
          <a:p>
            <a:pPr>
              <a:defRPr sz="1050" b="1">
                <a:solidFill>
                  <a:srgbClr val="2563EB"/>
                </a:solidFill>
              </a:defRPr>
            </a:pPr>
            <a:r>
              <a:t>MÔI TRƯỜNG CÔNG NGHIỆP THỰC TẾ (&gt;7,000 ẢNH)</a:t>
            </a:r>
          </a:p>
          <a:p>
            <a:pPr>
              <a:spcAft>
                <a:spcPts val="200"/>
              </a:spcAft>
              <a:defRPr sz="1150" b="1">
                <a:solidFill>
                  <a:srgbClr val="0F172A"/>
                </a:solidFill>
              </a:defRPr>
            </a:pPr>
            <a:r>
              <a:t>Hard Hat Workers, SHD &amp; SFCHD Benchmarks</a:t>
            </a:r>
          </a:p>
          <a:p>
            <a:pPr>
              <a:lnSpc>
                <a:spcPct val="115000"/>
              </a:lnSpc>
              <a:spcAft>
                <a:spcPts val="200"/>
              </a:spcAft>
              <a:defRPr sz="940">
                <a:solidFill>
                  <a:srgbClr val="334155"/>
                </a:solidFill>
              </a:defRPr>
            </a:pPr>
            <a:r>
              <a:t>· Hard Hat Workers (7,000 ảnh): Công trường xây dựng ngoài trời phương Tây, độ tương phản ánh nắng và bóng đổ gắt.</a:t>
            </a:r>
          </a:p>
          <a:p>
            <a:pPr>
              <a:lnSpc>
                <a:spcPct val="115000"/>
              </a:lnSpc>
              <a:spcAft>
                <a:spcPts val="200"/>
              </a:spcAft>
              <a:defRPr sz="940">
                <a:solidFill>
                  <a:srgbClr val="334155"/>
                </a:solidFill>
              </a:defRPr>
            </a:pPr>
            <a:r>
              <a:t>· Safety Helmet Detection (SHD) &amp; SFCHD: Giám sát an toàn trong nhà máy chế tạo cơ khí và nhà xưởng công nghiệp nặng.</a:t>
            </a:r>
          </a:p>
          <a:p>
            <a:pPr>
              <a:lnSpc>
                <a:spcPct val="115000"/>
              </a:lnSpc>
              <a:spcAft>
                <a:spcPts val="200"/>
              </a:spcAft>
              <a:defRPr sz="940">
                <a:solidFill>
                  <a:srgbClr val="334155"/>
                </a:solidFill>
              </a:defRPr>
            </a:pPr>
            <a:r>
              <a:t>· Bao phủ toàn diện: Tổng hợp đầy đủ các điều kiện ánh sáng, thời tiết, góc máy và quy mô công trường đa dạng.</a:t>
            </a:r>
          </a:p>
          <a:p>
            <a:pPr>
              <a:lnSpc>
                <a:spcPct val="115000"/>
              </a:lnSpc>
              <a:spcAft>
                <a:spcPts val="200"/>
              </a:spcAft>
              <a:defRPr sz="940" b="1">
                <a:solidFill>
                  <a:srgbClr val="2563EB"/>
                </a:solidFill>
              </a:defRPr>
            </a:pPr>
            <a:r>
              <a:t>■ Năng lực thẩm định: Bộ dữ liệu kiểm thử đồ sộ nhất từng công bố trong các đồ án AI FPTU!</a:t>
            </a:r>
          </a:p>
        </p:txBody>
      </p:sp>
      <p:sp>
        <p:nvSpPr>
          <p:cNvPr id="14" name="Rounded Rectangle 13"/>
          <p:cNvSpPr/>
          <p:nvPr/>
        </p:nvSpPr>
        <p:spPr>
          <a:xfrm>
            <a:off x="731520" y="5303520"/>
            <a:ext cx="10698480" cy="109728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76672"/>
            <a:ext cx="10332720" cy="960120"/>
          </a:xfrm>
          <a:prstGeom prst="rect">
            <a:avLst/>
          </a:prstGeom>
          <a:noFill/>
        </p:spPr>
        <p:txBody>
          <a:bodyPr wrap="square" lIns="0" rIns="0" tIns="0" bIns="0">
            <a:spAutoFit/>
          </a:bodyPr>
          <a:lstStyle/>
          <a:p>
            <a:pPr>
              <a:spcAft>
                <a:spcPts val="200"/>
              </a:spcAft>
              <a:defRPr sz="1100" b="1">
                <a:solidFill>
                  <a:srgbClr val="EA580C"/>
                </a:solidFill>
              </a:defRPr>
            </a:pPr>
            <a:r>
              <a:t>KHÔNG GIAN NHÃN CHUNG C* = {0: "hat" (Mũ Bảo Hộ), 1: "person" (Đầu Trần / Người)}</a:t>
            </a:r>
          </a:p>
          <a:p>
            <a:pPr>
              <a:lnSpc>
                <a:spcPct val="115000"/>
              </a:lnSpc>
              <a:defRPr sz="960">
                <a:solidFill>
                  <a:srgbClr val="0F172A"/>
                </a:solidFill>
              </a:defRPr>
            </a:pPr>
            <a:r>
              <a:t>Giao thức Harmonized PPE (Hat-Only): Xóa bỏ hoàn toàn xung đột định nghĩa nhãn giữa các tập dữ liệu (Head-only vs Full-body), cho phép đánh giá năng lực chuyển giao đa miền thực chất và chính xác tuyệt đối.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KIẾN TRÚC MẠNG NƠ-RON ĐỀ XUẤT</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09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Tổng Thể Kiến Trúc Mạng Nơ-ron Đề Xuất Rep-YOLO11s</a:t>
            </a:r>
          </a:p>
        </p:txBody>
      </p:sp>
      <p:sp>
        <p:nvSpPr>
          <p:cNvPr id="6" name="Rounded Rectangle 5"/>
          <p:cNvSpPr/>
          <p:nvPr/>
        </p:nvSpPr>
        <p:spPr>
          <a:xfrm>
            <a:off x="731520" y="1188720"/>
            <a:ext cx="10698480" cy="3520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2_rep_yolo11s_neural_architecture.png"/>
          <p:cNvPicPr>
            <a:picLocks noChangeAspect="1"/>
          </p:cNvPicPr>
          <p:nvPr/>
        </p:nvPicPr>
        <p:blipFill>
          <a:blip r:embed="rId2"/>
          <a:stretch>
            <a:fillRect/>
          </a:stretch>
        </p:blipFill>
        <p:spPr>
          <a:xfrm>
            <a:off x="822960" y="1234440"/>
            <a:ext cx="10515600" cy="3429000"/>
          </a:xfrm>
          <a:prstGeom prst="rect">
            <a:avLst/>
          </a:prstGeom>
        </p:spPr>
      </p:pic>
      <p:sp>
        <p:nvSpPr>
          <p:cNvPr id="8" name="Rounded Rectangle 7"/>
          <p:cNvSpPr/>
          <p:nvPr/>
        </p:nvSpPr>
        <p:spPr>
          <a:xfrm>
            <a:off x="731520" y="4800600"/>
            <a:ext cx="3383280" cy="16642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855464"/>
            <a:ext cx="3108960" cy="1572768"/>
          </a:xfrm>
          <a:prstGeom prst="rect">
            <a:avLst/>
          </a:prstGeom>
          <a:noFill/>
        </p:spPr>
        <p:txBody>
          <a:bodyPr wrap="square" lIns="0" rIns="0" tIns="0" bIns="0">
            <a:spAutoFit/>
          </a:bodyPr>
          <a:lstStyle/>
          <a:p>
            <a:pPr>
              <a:defRPr sz="1000" b="1">
                <a:solidFill>
                  <a:srgbClr val="EA580C"/>
                </a:solidFill>
              </a:defRPr>
            </a:pPr>
            <a:r>
              <a:t>01 · BACKBONE</a:t>
            </a:r>
          </a:p>
          <a:p>
            <a:pPr>
              <a:spcAft>
                <a:spcPts val="200"/>
              </a:spcAft>
              <a:defRPr sz="1080" b="1">
                <a:solidFill>
                  <a:srgbClr val="0F172A"/>
                </a:solidFill>
              </a:defRPr>
            </a:pPr>
            <a:r>
              <a:t>CoordConv + RepConv Blocks</a:t>
            </a:r>
          </a:p>
          <a:p>
            <a:pPr>
              <a:lnSpc>
                <a:spcPct val="108000"/>
              </a:lnSpc>
              <a:spcAft>
                <a:spcPts val="100"/>
              </a:spcAft>
              <a:defRPr sz="869">
                <a:solidFill>
                  <a:srgbClr val="334155"/>
                </a:solidFill>
              </a:defRPr>
            </a:pPr>
            <a:r>
              <a:t>· Tiêm tọa độ chuẩn hóa (Cx, Cy) ở stem conv, triệt tiêu báo động giả.</a:t>
            </a:r>
          </a:p>
          <a:p>
            <a:pPr>
              <a:lnSpc>
                <a:spcPct val="108000"/>
              </a:lnSpc>
              <a:spcAft>
                <a:spcPts val="100"/>
              </a:spcAft>
              <a:defRPr sz="869">
                <a:solidFill>
                  <a:srgbClr val="334155"/>
                </a:solidFill>
              </a:defRPr>
            </a:pPr>
            <a:r>
              <a:t>· Khối RepConv học đa dạng lúc train, gộp đại số về 3x3 đơn lúc suy luận.</a:t>
            </a:r>
          </a:p>
          <a:p>
            <a:pPr>
              <a:lnSpc>
                <a:spcPct val="108000"/>
              </a:lnSpc>
              <a:spcAft>
                <a:spcPts val="100"/>
              </a:spcAft>
              <a:defRPr sz="869">
                <a:solidFill>
                  <a:srgbClr val="334155"/>
                </a:solidFill>
              </a:defRPr>
            </a:pPr>
            <a:r>
              <a:t>· C3k2 tối ưu hóa dòng luồng gradient với 21.5 GFLOPs (giảm 24.8% tính toán).</a:t>
            </a:r>
          </a:p>
          <a:p>
            <a:pPr>
              <a:lnSpc>
                <a:spcPct val="108000"/>
              </a:lnSpc>
              <a:spcAft>
                <a:spcPts val="100"/>
              </a:spcAft>
              <a:defRPr sz="869" b="1">
                <a:solidFill>
                  <a:srgbClr val="EA580C"/>
                </a:solidFill>
              </a:defRPr>
            </a:pPr>
            <a:r>
              <a:t>■ Tối ưu: Trích xuất đặc trưng sắc nét, duy trì tốc độ siêu nhanh.</a:t>
            </a:r>
          </a:p>
        </p:txBody>
      </p:sp>
      <p:sp>
        <p:nvSpPr>
          <p:cNvPr id="10" name="Rounded Rectangle 9"/>
          <p:cNvSpPr/>
          <p:nvPr/>
        </p:nvSpPr>
        <p:spPr>
          <a:xfrm>
            <a:off x="4389120" y="4800600"/>
            <a:ext cx="3383280" cy="16642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4855464"/>
            <a:ext cx="3108960" cy="1572768"/>
          </a:xfrm>
          <a:prstGeom prst="rect">
            <a:avLst/>
          </a:prstGeom>
          <a:noFill/>
        </p:spPr>
        <p:txBody>
          <a:bodyPr wrap="square" lIns="0" rIns="0" tIns="0" bIns="0">
            <a:spAutoFit/>
          </a:bodyPr>
          <a:lstStyle/>
          <a:p>
            <a:pPr>
              <a:defRPr sz="1000" b="1">
                <a:solidFill>
                  <a:srgbClr val="2563EB"/>
                </a:solidFill>
              </a:defRPr>
            </a:pPr>
            <a:r>
              <a:t>02 · NECK</a:t>
            </a:r>
          </a:p>
          <a:p>
            <a:pPr>
              <a:spcAft>
                <a:spcPts val="200"/>
              </a:spcAft>
              <a:defRPr sz="1080" b="1">
                <a:solidFill>
                  <a:srgbClr val="0F172A"/>
                </a:solidFill>
              </a:defRPr>
            </a:pPr>
            <a:r>
              <a:t>Bi-Level Routing Attention (BiFormer)</a:t>
            </a:r>
          </a:p>
          <a:p>
            <a:pPr>
              <a:lnSpc>
                <a:spcPct val="108000"/>
              </a:lnSpc>
              <a:spcAft>
                <a:spcPts val="100"/>
              </a:spcAft>
              <a:defRPr sz="869">
                <a:solidFill>
                  <a:srgbClr val="334155"/>
                </a:solidFill>
              </a:defRPr>
            </a:pPr>
            <a:r>
              <a:t>· Lọc Top-k vùng tương quan thưa, đưa độ phức tạp chú ý về tuyến tính O(N).</a:t>
            </a:r>
          </a:p>
          <a:p>
            <a:pPr>
              <a:lnSpc>
                <a:spcPct val="108000"/>
              </a:lnSpc>
              <a:spcAft>
                <a:spcPts val="100"/>
              </a:spcAft>
              <a:defRPr sz="869">
                <a:solidFill>
                  <a:srgbClr val="334155"/>
                </a:solidFill>
              </a:defRPr>
            </a:pPr>
            <a:r>
              <a:t>· Tập trung 100% tài nguyên tính toán vào vi vật thể mũ mà không bùng nổ độ trễ.</a:t>
            </a:r>
          </a:p>
          <a:p>
            <a:pPr>
              <a:lnSpc>
                <a:spcPct val="108000"/>
              </a:lnSpc>
              <a:spcAft>
                <a:spcPts val="100"/>
              </a:spcAft>
              <a:defRPr sz="869">
                <a:solidFill>
                  <a:srgbClr val="334155"/>
                </a:solidFill>
              </a:defRPr>
            </a:pPr>
            <a:r>
              <a:t>· SPPF kết hợp các kernel maxpool 5x5 song song thu nhận ngữ cảnh đa tỷ lệ.</a:t>
            </a:r>
          </a:p>
          <a:p>
            <a:pPr>
              <a:lnSpc>
                <a:spcPct val="108000"/>
              </a:lnSpc>
              <a:spcAft>
                <a:spcPts val="100"/>
              </a:spcAft>
              <a:defRPr sz="869" b="1">
                <a:solidFill>
                  <a:srgbClr val="2563EB"/>
                </a:solidFill>
              </a:defRPr>
            </a:pPr>
            <a:r>
              <a:t>■ Hiệu năng: Tăng cường biểu diễn ngữ nghĩa vi vật thể trong nền phức tạp.</a:t>
            </a:r>
          </a:p>
        </p:txBody>
      </p:sp>
      <p:sp>
        <p:nvSpPr>
          <p:cNvPr id="12" name="Rounded Rectangle 11"/>
          <p:cNvSpPr/>
          <p:nvPr/>
        </p:nvSpPr>
        <p:spPr>
          <a:xfrm>
            <a:off x="8046720" y="4800600"/>
            <a:ext cx="3383280" cy="16642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4855464"/>
            <a:ext cx="3108960" cy="1572768"/>
          </a:xfrm>
          <a:prstGeom prst="rect">
            <a:avLst/>
          </a:prstGeom>
          <a:noFill/>
        </p:spPr>
        <p:txBody>
          <a:bodyPr wrap="square" lIns="0" rIns="0" tIns="0" bIns="0">
            <a:spAutoFit/>
          </a:bodyPr>
          <a:lstStyle/>
          <a:p>
            <a:pPr>
              <a:defRPr sz="1000" b="1">
                <a:solidFill>
                  <a:srgbClr val="16A34A"/>
                </a:solidFill>
              </a:defRPr>
            </a:pPr>
            <a:r>
              <a:t>03 · HEAD</a:t>
            </a:r>
          </a:p>
          <a:p>
            <a:pPr>
              <a:spcAft>
                <a:spcPts val="200"/>
              </a:spcAft>
              <a:defRPr sz="1080" b="1">
                <a:solidFill>
                  <a:srgbClr val="0F172A"/>
                </a:solidFill>
              </a:defRPr>
            </a:pPr>
            <a:r>
              <a:t>Decoupled Head + Focal EIoU Loss</a:t>
            </a:r>
          </a:p>
          <a:p>
            <a:pPr>
              <a:lnSpc>
                <a:spcPct val="108000"/>
              </a:lnSpc>
              <a:spcAft>
                <a:spcPts val="100"/>
              </a:spcAft>
              <a:defRPr sz="869">
                <a:solidFill>
                  <a:srgbClr val="334155"/>
                </a:solidFill>
              </a:defRPr>
            </a:pPr>
            <a:r>
              <a:t>· Phân rã nhánh phân loại và hồi quy hộp, chống xung đột mục tiêu tối ưu.</a:t>
            </a:r>
          </a:p>
          <a:p>
            <a:pPr>
              <a:lnSpc>
                <a:spcPct val="108000"/>
              </a:lnSpc>
              <a:spcAft>
                <a:spcPts val="100"/>
              </a:spcAft>
              <a:defRPr sz="869">
                <a:solidFill>
                  <a:srgbClr val="334155"/>
                </a:solidFill>
              </a:defRPr>
            </a:pPr>
            <a:r>
              <a:t>· Focal EIoU tối ưu độc lập chiều dài/rộng, phạt nặng mũ cự ly xa bị che khuất.</a:t>
            </a:r>
          </a:p>
          <a:p>
            <a:pPr>
              <a:lnSpc>
                <a:spcPct val="108000"/>
              </a:lnSpc>
              <a:spcAft>
                <a:spcPts val="100"/>
              </a:spcAft>
              <a:defRPr sz="869">
                <a:solidFill>
                  <a:srgbClr val="334155"/>
                </a:solidFill>
              </a:defRPr>
            </a:pPr>
            <a:r>
              <a:t>· Task-Aligned Assigner (TAL) tự động cân bằng điểm phân loại và vị trí hộp.</a:t>
            </a:r>
          </a:p>
          <a:p>
            <a:pPr>
              <a:lnSpc>
                <a:spcPct val="108000"/>
              </a:lnSpc>
              <a:spcAft>
                <a:spcPts val="100"/>
              </a:spcAft>
              <a:defRPr sz="869" b="1">
                <a:solidFill>
                  <a:srgbClr val="16A34A"/>
                </a:solidFill>
              </a:defRPr>
            </a:pPr>
            <a:r>
              <a:t>■ Hội tụ: Tăng tốc độ hội tụ gấp 3.2 lần, khóa chặt viền mũ bị che khuất.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ĐỘT PHÁ CÔNG NGHỆ 1 / 3 · TÁI THAM SỐ HÓA CẤU TRÚC</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10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Đột Phá 1: Tái Tham Số Hóa Cấu Trúc — Triệt Tiêu Độ Trễ Suy Luận</a:t>
            </a:r>
          </a:p>
        </p:txBody>
      </p:sp>
      <p:sp>
        <p:nvSpPr>
          <p:cNvPr id="6" name="Rounded Rectangle 5"/>
          <p:cNvSpPr/>
          <p:nvPr/>
        </p:nvSpPr>
        <p:spPr>
          <a:xfrm>
            <a:off x="731520" y="1188720"/>
            <a:ext cx="5120640"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80160"/>
            <a:ext cx="4754880" cy="2286000"/>
          </a:xfrm>
          <a:prstGeom prst="rect">
            <a:avLst/>
          </a:prstGeom>
          <a:noFill/>
        </p:spPr>
        <p:txBody>
          <a:bodyPr wrap="square" lIns="0" rIns="0" tIns="0" bIns="0">
            <a:spAutoFit/>
          </a:bodyPr>
          <a:lstStyle/>
          <a:p>
            <a:pPr>
              <a:defRPr sz="1050" b="1">
                <a:solidFill>
                  <a:srgbClr val="EA580C"/>
                </a:solidFill>
              </a:defRPr>
            </a:pPr>
            <a:r>
              <a:t>01 · GIAI ĐOẠN HUẤN LUYỆN: ĐA NHÁNH SONG SONG</a:t>
            </a:r>
          </a:p>
          <a:p>
            <a:pPr>
              <a:spcAft>
                <a:spcPts val="200"/>
              </a:spcAft>
              <a:defRPr sz="1200" b="1">
                <a:solidFill>
                  <a:srgbClr val="0F172A"/>
                </a:solidFill>
              </a:defRPr>
            </a:pPr>
            <a:r>
              <a:t>y = BN(W_3x3 * x) + BN(W_1x1 * x) + BN(x)</a:t>
            </a:r>
          </a:p>
          <a:p>
            <a:pPr>
              <a:lnSpc>
                <a:spcPct val="115000"/>
              </a:lnSpc>
              <a:spcAft>
                <a:spcPts val="200"/>
              </a:spcAft>
              <a:defRPr sz="940">
                <a:solidFill>
                  <a:srgbClr val="334155"/>
                </a:solidFill>
              </a:defRPr>
            </a:pPr>
            <a:r>
              <a:t>· Phân tách 3 luồng thông tin song song nắm bắt đặc trưng phong phú:</a:t>
            </a:r>
          </a:p>
          <a:p>
            <a:pPr>
              <a:lnSpc>
                <a:spcPct val="115000"/>
              </a:lnSpc>
              <a:spcAft>
                <a:spcPts val="200"/>
              </a:spcAft>
              <a:defRPr sz="940">
                <a:solidFill>
                  <a:srgbClr val="334155"/>
                </a:solidFill>
              </a:defRPr>
            </a:pPr>
            <a:r>
              <a:t>+ Nhánh Conv 3x3: Bắt giữ đặc trưng không gian, vân bề mặt và viền cạnh mũ.</a:t>
            </a:r>
          </a:p>
          <a:p>
            <a:pPr>
              <a:lnSpc>
                <a:spcPct val="115000"/>
              </a:lnSpc>
              <a:spcAft>
                <a:spcPts val="200"/>
              </a:spcAft>
              <a:defRPr sz="940">
                <a:solidFill>
                  <a:srgbClr val="334155"/>
                </a:solidFill>
              </a:defRPr>
            </a:pPr>
            <a:r>
              <a:t>+ Nhánh Conv 1x1: Tăng cường tính phi tuyến và chuyển đổi kênh đặc trưng.</a:t>
            </a:r>
          </a:p>
          <a:p>
            <a:pPr>
              <a:lnSpc>
                <a:spcPct val="115000"/>
              </a:lnSpc>
              <a:spcAft>
                <a:spcPts val="200"/>
              </a:spcAft>
              <a:defRPr sz="940">
                <a:solidFill>
                  <a:srgbClr val="334155"/>
                </a:solidFill>
              </a:defRPr>
            </a:pPr>
            <a:r>
              <a:t>+ Nhánh Identity: Duy trì luồng gradient xuyên suốt, chống triệt tiêu gradient.</a:t>
            </a:r>
          </a:p>
          <a:p>
            <a:pPr>
              <a:lnSpc>
                <a:spcPct val="115000"/>
              </a:lnSpc>
              <a:spcAft>
                <a:spcPts val="200"/>
              </a:spcAft>
              <a:defRPr sz="940">
                <a:solidFill>
                  <a:srgbClr val="334155"/>
                </a:solidFill>
              </a:defRPr>
            </a:pPr>
            <a:r>
              <a:t>· Không gian gradient đa dạng giúp mô hình tránh cực tiểu cục bộ và học tốt vi vật thể.</a:t>
            </a:r>
          </a:p>
          <a:p>
            <a:pPr>
              <a:lnSpc>
                <a:spcPct val="115000"/>
              </a:lnSpc>
              <a:spcAft>
                <a:spcPts val="200"/>
              </a:spcAft>
              <a:defRPr sz="940" b="1">
                <a:solidFill>
                  <a:srgbClr val="EA580C"/>
                </a:solidFill>
              </a:defRPr>
            </a:pPr>
            <a:r>
              <a:t>■ Huấn luyện: Khai thác tối đa năng lực học biểu diễn đa dạng của kiến trúc đa nhánh.</a:t>
            </a:r>
          </a:p>
        </p:txBody>
      </p:sp>
      <p:sp>
        <p:nvSpPr>
          <p:cNvPr id="8" name="Rounded Rectangle 7"/>
          <p:cNvSpPr/>
          <p:nvPr/>
        </p:nvSpPr>
        <p:spPr>
          <a:xfrm>
            <a:off x="731520" y="3749039"/>
            <a:ext cx="5120640" cy="2560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40480"/>
            <a:ext cx="4754880" cy="2377440"/>
          </a:xfrm>
          <a:prstGeom prst="rect">
            <a:avLst/>
          </a:prstGeom>
          <a:noFill/>
        </p:spPr>
        <p:txBody>
          <a:bodyPr wrap="square" lIns="0" rIns="0" tIns="0" bIns="0">
            <a:spAutoFit/>
          </a:bodyPr>
          <a:lstStyle/>
          <a:p>
            <a:pPr>
              <a:defRPr sz="1050" b="1">
                <a:solidFill>
                  <a:srgbClr val="2563EB"/>
                </a:solidFill>
              </a:defRPr>
            </a:pPr>
            <a:r>
              <a:t>02 · GIAI ĐOẠN TRIỂN KHAI: SWITCH_TO_DEPLOY</a:t>
            </a:r>
          </a:p>
          <a:p>
            <a:pPr>
              <a:spcAft>
                <a:spcPts val="200"/>
              </a:spcAft>
              <a:defRPr sz="1200" b="1">
                <a:solidFill>
                  <a:srgbClr val="0F172A"/>
                </a:solidFill>
              </a:defRPr>
            </a:pPr>
            <a:r>
              <a:t>y = W_fused * x + b_fused (Duy Nhất 1 Nhân Conv 3x3)</a:t>
            </a:r>
          </a:p>
          <a:p>
            <a:pPr>
              <a:lnSpc>
                <a:spcPct val="115000"/>
              </a:lnSpc>
              <a:spcAft>
                <a:spcPts val="200"/>
              </a:spcAft>
              <a:defRPr sz="940">
                <a:solidFill>
                  <a:srgbClr val="334155"/>
                </a:solidFill>
              </a:defRPr>
            </a:pPr>
            <a:r>
              <a:t>· Toàn bộ đồ thị đa nhánh được suy biến đại số tuyến tính về duy nhất 1 lớp tích chập.</a:t>
            </a:r>
          </a:p>
          <a:p>
            <a:pPr>
              <a:lnSpc>
                <a:spcPct val="115000"/>
              </a:lnSpc>
              <a:spcAft>
                <a:spcPts val="200"/>
              </a:spcAft>
              <a:defRPr sz="940">
                <a:solidFill>
                  <a:srgbClr val="334155"/>
                </a:solidFill>
              </a:defRPr>
            </a:pPr>
            <a:r>
              <a:t>· Zero Memory Access Cost (MAC): Triệt tiêu bộ nhớ đệm lưu trữ output các nhánh song song.</a:t>
            </a:r>
          </a:p>
          <a:p>
            <a:pPr>
              <a:lnSpc>
                <a:spcPct val="115000"/>
              </a:lnSpc>
              <a:spcAft>
                <a:spcPts val="200"/>
              </a:spcAft>
              <a:defRPr sz="940">
                <a:solidFill>
                  <a:srgbClr val="334155"/>
                </a:solidFill>
              </a:defRPr>
            </a:pPr>
            <a:r>
              <a:t>· Zero Extra Parameters: Số lượng tham số hoàn toàn đồng nhất (9.85M params).</a:t>
            </a:r>
          </a:p>
          <a:p>
            <a:pPr>
              <a:lnSpc>
                <a:spcPct val="115000"/>
              </a:lnSpc>
              <a:spcAft>
                <a:spcPts val="200"/>
              </a:spcAft>
              <a:defRPr sz="940">
                <a:solidFill>
                  <a:srgbClr val="334155"/>
                </a:solidFill>
              </a:defRPr>
            </a:pPr>
            <a:r>
              <a:t>· Tính toán đồng nhất 100%: Sai số đầu ra giữa mô hình train và deploy đạt Delta y &lt; 1e-6!</a:t>
            </a:r>
          </a:p>
          <a:p>
            <a:pPr>
              <a:lnSpc>
                <a:spcPct val="115000"/>
              </a:lnSpc>
              <a:spcAft>
                <a:spcPts val="200"/>
              </a:spcAft>
              <a:defRPr sz="940">
                <a:solidFill>
                  <a:srgbClr val="334155"/>
                </a:solidFill>
              </a:defRPr>
            </a:pPr>
            <a:r>
              <a:t>· Độ trễ suy luận giảm 59.0%: Từ 7.12 ms xuống 2.92 ms trên Tesla T4, đạt 342.5 FPS!</a:t>
            </a:r>
          </a:p>
          <a:p>
            <a:pPr>
              <a:lnSpc>
                <a:spcPct val="115000"/>
              </a:lnSpc>
              <a:spcAft>
                <a:spcPts val="200"/>
              </a:spcAft>
              <a:defRPr sz="940" b="1">
                <a:solidFill>
                  <a:srgbClr val="2563EB"/>
                </a:solidFill>
              </a:defRPr>
            </a:pPr>
            <a:r>
              <a:t>■ Triển khai: Đạt tốc độ cực đại mà độ chính xác giữ nguyên vẹn 100% (Delta mAP = 0.00%).</a:t>
            </a:r>
          </a:p>
        </p:txBody>
      </p:sp>
      <p:sp>
        <p:nvSpPr>
          <p:cNvPr id="10" name="Rounded Rectangle 9"/>
          <p:cNvSpPr/>
          <p:nvPr/>
        </p:nvSpPr>
        <p:spPr>
          <a:xfrm>
            <a:off x="6126480" y="1188720"/>
            <a:ext cx="5303520"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80160"/>
            <a:ext cx="4937760" cy="2651760"/>
          </a:xfrm>
          <a:prstGeom prst="rect">
            <a:avLst/>
          </a:prstGeom>
          <a:noFill/>
        </p:spPr>
        <p:txBody>
          <a:bodyPr wrap="square" lIns="0" rIns="0" tIns="0" bIns="0">
            <a:spAutoFit/>
          </a:bodyPr>
          <a:lstStyle/>
          <a:p>
            <a:pPr>
              <a:defRPr sz="1000" b="1">
                <a:solidFill>
                  <a:srgbClr val="475569"/>
                </a:solidFill>
              </a:defRPr>
            </a:pPr>
            <a:r>
              <a:t>CÔNG THỨC GỘP NHÁNH ĐẠI SỐ TUYẾN TÍNH CHÍNH XÁC</a:t>
            </a:r>
          </a:p>
          <a:p>
            <a:pPr>
              <a:spcAft>
                <a:spcPts val="300"/>
              </a:spcAft>
              <a:defRPr sz="1250" b="1">
                <a:solidFill>
                  <a:srgbClr val="2563EB"/>
                </a:solidFill>
              </a:defRPr>
            </a:pPr>
            <a:r>
              <a:t>W_fused = W'_3x3 + Pad(W'_1x1) + W'_id</a:t>
            </a:r>
            <a:br/>
            <a:r>
              <a:t>b_fused = b'_3x3 + b'_1x1 + b'_id</a:t>
            </a:r>
          </a:p>
          <a:p>
            <a:pPr>
              <a:lnSpc>
                <a:spcPct val="115000"/>
              </a:lnSpc>
              <a:spcAft>
                <a:spcPts val="200"/>
              </a:spcAft>
              <a:defRPr sz="940">
                <a:solidFill>
                  <a:srgbClr val="334155"/>
                </a:solidFill>
              </a:defRPr>
            </a:pPr>
            <a:r>
              <a:t>trong đó trọng số và độ lệch của từng nhánh i được chuẩn hóa theo Batch Normalization:</a:t>
            </a:r>
          </a:p>
          <a:p>
            <a:pPr>
              <a:lnSpc>
                <a:spcPct val="115000"/>
              </a:lnSpc>
              <a:spcAft>
                <a:spcPts val="200"/>
              </a:spcAft>
              <a:defRPr sz="940">
                <a:solidFill>
                  <a:srgbClr val="334155"/>
                </a:solidFill>
              </a:defRPr>
            </a:pPr>
            <a:r>
              <a:t>W'_i = (gamma_i / sqrt(sigma_i^2 + eps)) * W_i</a:t>
            </a:r>
          </a:p>
          <a:p>
            <a:pPr>
              <a:lnSpc>
                <a:spcPct val="115000"/>
              </a:lnSpc>
              <a:spcAft>
                <a:spcPts val="200"/>
              </a:spcAft>
              <a:defRPr sz="940">
                <a:solidFill>
                  <a:srgbClr val="334155"/>
                </a:solidFill>
              </a:defRPr>
            </a:pPr>
            <a:r>
              <a:t>b'_i = beta_i - (gamma_i * mu_i / sqrt(sigma_i^2 + eps))</a:t>
            </a:r>
          </a:p>
          <a:p>
            <a:pPr>
              <a:lnSpc>
                <a:spcPct val="115000"/>
              </a:lnSpc>
              <a:spcAft>
                <a:spcPts val="200"/>
              </a:spcAft>
              <a:defRPr sz="940">
                <a:solidFill>
                  <a:srgbClr val="334155"/>
                </a:solidFill>
              </a:defRPr>
            </a:pPr>
            <a:r>
              <a:t>Toán tử Pad đệm số 0 xung quanh ma trận 1x1 để đưa về kích thước 3x3 tương thích.</a:t>
            </a:r>
          </a:p>
          <a:p>
            <a:pPr>
              <a:lnSpc>
                <a:spcPct val="115000"/>
              </a:lnSpc>
              <a:spcAft>
                <a:spcPts val="200"/>
              </a:spcAft>
              <a:defRPr sz="940">
                <a:solidFill>
                  <a:srgbClr val="334155"/>
                </a:solidFill>
              </a:defRPr>
            </a:pPr>
            <a:r>
              <a:t>Nhánh Identity được biểu diễn bằng ma trận đơn vị Kronecker delta W_id(c, c, 1, 1) = 1.</a:t>
            </a:r>
          </a:p>
          <a:p>
            <a:pPr>
              <a:lnSpc>
                <a:spcPct val="115000"/>
              </a:lnSpc>
              <a:spcAft>
                <a:spcPts val="200"/>
              </a:spcAft>
              <a:defRPr sz="940">
                <a:solidFill>
                  <a:srgbClr val="334155"/>
                </a:solidFill>
              </a:defRPr>
            </a:pPr>
            <a:r>
              <a:t>Thuật toán switch_to_deploy() gộp nhánh tức thì, giữ nguyên vẹn dung lượng tệp trọng số.</a:t>
            </a:r>
          </a:p>
          <a:p>
            <a:pPr>
              <a:lnSpc>
                <a:spcPct val="115000"/>
              </a:lnSpc>
              <a:spcAft>
                <a:spcPts val="200"/>
              </a:spcAft>
              <a:defRPr sz="940" b="1">
                <a:solidFill>
                  <a:srgbClr val="2563EB"/>
                </a:solidFill>
              </a:defRPr>
            </a:pPr>
            <a:r>
              <a:t>■ Khẳng định: Zero-latency overhead — đạt trọn vẹn tốc độ của 1 lớp Conv 3x3 thuần túy!</a:t>
            </a:r>
          </a:p>
        </p:txBody>
      </p:sp>
      <p:sp>
        <p:nvSpPr>
          <p:cNvPr id="12" name="Rounded Rectangle 11"/>
          <p:cNvSpPr/>
          <p:nvPr/>
        </p:nvSpPr>
        <p:spPr>
          <a:xfrm>
            <a:off x="6126480" y="4114800"/>
            <a:ext cx="5303520" cy="219456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4187952"/>
            <a:ext cx="4937760" cy="2029968"/>
          </a:xfrm>
          <a:prstGeom prst="rect">
            <a:avLst/>
          </a:prstGeom>
          <a:noFill/>
        </p:spPr>
        <p:txBody>
          <a:bodyPr wrap="square" lIns="0" rIns="0" tIns="0" bIns="0">
            <a:spAutoFit/>
          </a:bodyPr>
          <a:lstStyle/>
          <a:p>
            <a:pPr>
              <a:defRPr sz="1000" b="1">
                <a:solidFill>
                  <a:srgbClr val="EA580C"/>
                </a:solidFill>
              </a:defRPr>
            </a:pPr>
            <a:r>
              <a:t>HIỆU QUẢ THỰC NGHIỆM VẬT LÝ · TESLA T4</a:t>
            </a:r>
          </a:p>
          <a:p>
            <a:pPr>
              <a:spcAft>
                <a:spcPts val="300"/>
              </a:spcAft>
              <a:defRPr sz="2200" b="1">
                <a:solidFill>
                  <a:srgbClr val="0F172A"/>
                </a:solidFill>
              </a:defRPr>
            </a:pPr>
            <a:r>
              <a:t>7.12 ms  →  2.92 ms  (342.5 FPS)</a:t>
            </a:r>
          </a:p>
          <a:p>
            <a:pPr>
              <a:lnSpc>
                <a:spcPct val="115000"/>
              </a:lnSpc>
              <a:spcAft>
                <a:spcPts val="200"/>
              </a:spcAft>
              <a:defRPr sz="950">
                <a:solidFill>
                  <a:srgbClr val="334155"/>
                </a:solidFill>
              </a:defRPr>
            </a:pPr>
            <a:r>
              <a:t>· Độ trễ suy luận giảm ngoạn mục 59.0%!</a:t>
            </a:r>
          </a:p>
          <a:p>
            <a:pPr>
              <a:lnSpc>
                <a:spcPct val="115000"/>
              </a:lnSpc>
              <a:spcAft>
                <a:spcPts val="200"/>
              </a:spcAft>
              <a:defRPr sz="950">
                <a:solidFill>
                  <a:srgbClr val="334155"/>
                </a:solidFill>
              </a:defRPr>
            </a:pPr>
            <a:r>
              <a:t>· Sai số độ chính xác tuyệt đối Delta mAP = 0.00%.</a:t>
            </a:r>
          </a:p>
          <a:p>
            <a:pPr>
              <a:lnSpc>
                <a:spcPct val="115000"/>
              </a:lnSpc>
              <a:spcAft>
                <a:spcPts val="200"/>
              </a:spcAft>
              <a:defRPr sz="950">
                <a:solidFill>
                  <a:srgbClr val="334155"/>
                </a:solidFill>
              </a:defRPr>
            </a:pPr>
            <a:r>
              <a:t>· Giữ vững đỉnh 94.83% mAP50 trên Single Split và 96.64% trên 5-Fold CV!</a:t>
            </a:r>
          </a:p>
          <a:p>
            <a:pPr>
              <a:lnSpc>
                <a:spcPct val="115000"/>
              </a:lnSpc>
              <a:spcAft>
                <a:spcPts val="200"/>
              </a:spcAft>
              <a:defRPr sz="950">
                <a:solidFill>
                  <a:srgbClr val="334155"/>
                </a:solidFill>
              </a:defRPr>
            </a:pPr>
            <a:r>
              <a:t>· Giữ nguyên cấu trúc mạng 9.85M params mà không phát sinh thêm bất kỳ tham số nào.</a:t>
            </a:r>
          </a:p>
          <a:p>
            <a:pPr>
              <a:lnSpc>
                <a:spcPct val="115000"/>
              </a:lnSpc>
              <a:spcAft>
                <a:spcPts val="200"/>
              </a:spcAft>
              <a:defRPr sz="950" b="1">
                <a:solidFill>
                  <a:srgbClr val="EA580C"/>
                </a:solidFill>
              </a:defRPr>
            </a:pPr>
            <a:r>
              <a:t>■ Đột phá: Giải quyết triệt để bài toán đánh đổi giữa độ chính xác và độ trễ trên phần cứng biên!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ĐỘT PHÁ CÔNG NGHỆ 2 / 3 · TIÊN ĐỀ KHÔNG GIAN &amp; ĐỊNH TUYẾN THƯA</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11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Đột Phá 2: Tiên Đề Tọa Độ CoordConv &amp; Chú Ý Định Tuyến Thưa BiFormer</a:t>
            </a:r>
          </a:p>
        </p:txBody>
      </p:sp>
      <p:sp>
        <p:nvSpPr>
          <p:cNvPr id="6" name="Rounded Rectangle 5"/>
          <p:cNvSpPr/>
          <p:nvPr/>
        </p:nvSpPr>
        <p:spPr>
          <a:xfrm>
            <a:off x="731520" y="1188720"/>
            <a:ext cx="5120640"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80160"/>
            <a:ext cx="4754880" cy="2286000"/>
          </a:xfrm>
          <a:prstGeom prst="rect">
            <a:avLst/>
          </a:prstGeom>
          <a:noFill/>
        </p:spPr>
        <p:txBody>
          <a:bodyPr wrap="square" lIns="0" rIns="0" tIns="0" bIns="0">
            <a:spAutoFit/>
          </a:bodyPr>
          <a:lstStyle/>
          <a:p>
            <a:pPr>
              <a:defRPr sz="1050" b="1">
                <a:solidFill>
                  <a:srgbClr val="EA580C"/>
                </a:solidFill>
              </a:defRPr>
            </a:pPr>
            <a:r>
              <a:t>CƠ CHẾ TOÁN HỌC: COORDCONV PHÁ VỠ BẤT BIẾN TỊNH TIẾN</a:t>
            </a:r>
          </a:p>
          <a:p>
            <a:pPr>
              <a:defRPr sz="1150" b="1">
                <a:solidFill>
                  <a:srgbClr val="0F172A"/>
                </a:solidFill>
              </a:defRPr>
            </a:pPr>
            <a:r>
              <a:t>Tensor Đầu Vào: [RGB; Cx; Cy] trong R^(5 x H x W)</a:t>
            </a:r>
          </a:p>
          <a:p>
            <a:pPr>
              <a:spcAft>
                <a:spcPts val="200"/>
              </a:spcAft>
              <a:defRPr sz="1000" b="1">
                <a:solidFill>
                  <a:srgbClr val="2563EB"/>
                </a:solidFill>
              </a:defRPr>
            </a:pPr>
            <a:r>
              <a:t>Cx(i, j) = 2j/(W-1) - 1,   Cy(i, j) = 2i/(H-1) - 1  trong [-1, 1]</a:t>
            </a:r>
          </a:p>
          <a:p>
            <a:pPr>
              <a:lnSpc>
                <a:spcPct val="115000"/>
              </a:lnSpc>
              <a:spcAft>
                <a:spcPts val="200"/>
              </a:spcAft>
              <a:defRPr sz="940">
                <a:solidFill>
                  <a:srgbClr val="334155"/>
                </a:solidFill>
              </a:defRPr>
            </a:pPr>
            <a:r>
              <a:t>· Mạng CNN truyền thống có tính "Bất biến tịnh tiến" (Translation Invariance) do cơ chế trượt quét chia sẻ trọng số, không phân biệt được vị trí pixel.</a:t>
            </a:r>
          </a:p>
          <a:p>
            <a:pPr>
              <a:lnSpc>
                <a:spcPct val="115000"/>
              </a:lnSpc>
              <a:spcAft>
                <a:spcPts val="200"/>
              </a:spcAft>
              <a:defRPr sz="940">
                <a:solidFill>
                  <a:srgbClr val="334155"/>
                </a:solidFill>
              </a:defRPr>
            </a:pPr>
            <a:r>
              <a:t>· CoordConv tiêm trực tiếp 2 kênh tọa độ không gian chuẩn hóa vào lớp stem đầu tiên, giúp mạng học được vị trí hình học giải phẫu.</a:t>
            </a:r>
          </a:p>
          <a:p>
            <a:pPr>
              <a:lnSpc>
                <a:spcPct val="115000"/>
              </a:lnSpc>
              <a:spcAft>
                <a:spcPts val="200"/>
              </a:spcAft>
              <a:defRPr sz="940">
                <a:solidFill>
                  <a:srgbClr val="334155"/>
                </a:solidFill>
              </a:defRPr>
            </a:pPr>
            <a:r>
              <a:t>· Phá vỡ tính bất biến tịnh tiến, tạo khả năng định vị tuyệt đối theo trục thẳng đứng.</a:t>
            </a:r>
          </a:p>
          <a:p>
            <a:pPr>
              <a:lnSpc>
                <a:spcPct val="115000"/>
              </a:lnSpc>
              <a:spcAft>
                <a:spcPts val="200"/>
              </a:spcAft>
              <a:defRPr sz="940">
                <a:solidFill>
                  <a:srgbClr val="334155"/>
                </a:solidFill>
              </a:defRPr>
            </a:pPr>
            <a:r>
              <a:t>· Chuẩn hóa ma trận tọa độ về khoảng đối xứng [-1, 1] giúp tối ưu hóa gradient lan truyền ngược.</a:t>
            </a:r>
          </a:p>
          <a:p>
            <a:pPr>
              <a:lnSpc>
                <a:spcPct val="115000"/>
              </a:lnSpc>
              <a:spcAft>
                <a:spcPts val="200"/>
              </a:spcAft>
              <a:defRPr sz="940" b="1">
                <a:solidFill>
                  <a:srgbClr val="EA580C"/>
                </a:solidFill>
              </a:defRPr>
            </a:pPr>
            <a:r>
              <a:t>■ Đột phá: Tạo cơ chế nhận biết vị trí tuyệt đối mà không cần tăng độ sâu hay tham số mạng.</a:t>
            </a:r>
          </a:p>
        </p:txBody>
      </p:sp>
      <p:sp>
        <p:nvSpPr>
          <p:cNvPr id="8" name="Rounded Rectangle 7"/>
          <p:cNvSpPr/>
          <p:nvPr/>
        </p:nvSpPr>
        <p:spPr>
          <a:xfrm>
            <a:off x="731520" y="3749039"/>
            <a:ext cx="5120640" cy="2560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40480"/>
            <a:ext cx="4754880" cy="2377440"/>
          </a:xfrm>
          <a:prstGeom prst="rect">
            <a:avLst/>
          </a:prstGeom>
          <a:noFill/>
        </p:spPr>
        <p:txBody>
          <a:bodyPr wrap="square" lIns="0" rIns="0" tIns="0" bIns="0">
            <a:spAutoFit/>
          </a:bodyPr>
          <a:lstStyle/>
          <a:p>
            <a:pPr>
              <a:defRPr sz="1050" b="1">
                <a:solidFill>
                  <a:srgbClr val="EA580C"/>
                </a:solidFill>
              </a:defRPr>
            </a:pPr>
            <a:r>
              <a:t>TIÊN ĐỀ GIẢI PHẪU CÔNG TRƯỜNG &amp; ZERO PHỤ TRỘI</a:t>
            </a:r>
          </a:p>
          <a:p>
            <a:pPr>
              <a:spcAft>
                <a:spcPts val="200"/>
              </a:spcAft>
              <a:defRPr sz="1150" b="1">
                <a:solidFill>
                  <a:srgbClr val="0F172A"/>
                </a:solidFill>
              </a:defRPr>
            </a:pPr>
            <a:r>
              <a:t>Triệt Tiêu Báo Động Giả Vật Tư &amp; 0.00 ms Overhead</a:t>
            </a:r>
          </a:p>
          <a:p>
            <a:pPr>
              <a:lnSpc>
                <a:spcPct val="115000"/>
              </a:lnSpc>
              <a:spcAft>
                <a:spcPts val="200"/>
              </a:spcAft>
              <a:defRPr sz="940">
                <a:solidFill>
                  <a:srgbClr val="334155"/>
                </a:solidFill>
              </a:defRPr>
            </a:pPr>
            <a:r>
              <a:t>· Tiên đề giải phẫu: Mũ bảo hộ bắt buộc nằm trên đỉnh đầu người công nhân. Các vật thể màu vàng gây nhiễu (xô vữa, nắp thùng sơn, cọc tiêu) nằm dưới đất (Cy -&gt; +1).</a:t>
            </a:r>
          </a:p>
          <a:p>
            <a:pPr>
              <a:lnSpc>
                <a:spcPct val="115000"/>
              </a:lnSpc>
              <a:spcAft>
                <a:spcPts val="200"/>
              </a:spcAft>
              <a:defRPr sz="940">
                <a:solidFill>
                  <a:srgbClr val="334155"/>
                </a:solidFill>
              </a:defRPr>
            </a:pPr>
            <a:r>
              <a:t>· Chi phí tài nguyên: Chỉ thêm đúng 2 kênh ở stem conv (chiếm 0.078% tham số, thêm 54 params).</a:t>
            </a:r>
          </a:p>
          <a:p>
            <a:pPr>
              <a:lnSpc>
                <a:spcPct val="115000"/>
              </a:lnSpc>
              <a:spcAft>
                <a:spcPts val="200"/>
              </a:spcAft>
              <a:defRPr sz="940">
                <a:solidFill>
                  <a:srgbClr val="334155"/>
                </a:solidFill>
              </a:defRPr>
            </a:pPr>
            <a:r>
              <a:t>· Thực nghiệm minh chứng: Loại bỏ hoàn toàn các báo động giả trên xô nhựa, thùng sơn mặt đất.</a:t>
            </a:r>
          </a:p>
          <a:p>
            <a:pPr>
              <a:lnSpc>
                <a:spcPct val="115000"/>
              </a:lnSpc>
              <a:spcAft>
                <a:spcPts val="200"/>
              </a:spcAft>
              <a:defRPr sz="940" b="1">
                <a:solidFill>
                  <a:srgbClr val="EA580C"/>
                </a:solidFill>
              </a:defRPr>
            </a:pPr>
            <a:r>
              <a:t>■ Kết quả: Triệt tiêu 100% báo động giả vật tư vàng mà hoàn toàn không tốn thêm độ trễ (0.00 ms)!</a:t>
            </a:r>
          </a:p>
          <a:p>
            <a:pPr>
              <a:lnSpc>
                <a:spcPct val="115000"/>
              </a:lnSpc>
              <a:spcAft>
                <a:spcPts val="200"/>
              </a:spcAft>
              <a:defRPr sz="940" b="1">
                <a:solidFill>
                  <a:srgbClr val="EA580C"/>
                </a:solidFill>
              </a:defRPr>
            </a:pPr>
            <a:r>
              <a:t>■ Hiệu quả định vị: Precision tăng từ 92.76% lên 93.02% (A2) và đỉnh 93.72% (A5).</a:t>
            </a:r>
          </a:p>
        </p:txBody>
      </p:sp>
      <p:sp>
        <p:nvSpPr>
          <p:cNvPr id="10" name="Rounded Rectangle 9"/>
          <p:cNvSpPr/>
          <p:nvPr/>
        </p:nvSpPr>
        <p:spPr>
          <a:xfrm>
            <a:off x="6126480" y="1188720"/>
            <a:ext cx="5303520"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80160"/>
            <a:ext cx="4937760" cy="2286000"/>
          </a:xfrm>
          <a:prstGeom prst="rect">
            <a:avLst/>
          </a:prstGeom>
          <a:noFill/>
        </p:spPr>
        <p:txBody>
          <a:bodyPr wrap="square" lIns="0" rIns="0" tIns="0" bIns="0">
            <a:spAutoFit/>
          </a:bodyPr>
          <a:lstStyle/>
          <a:p>
            <a:pPr>
              <a:defRPr sz="1050" b="1">
                <a:solidFill>
                  <a:srgbClr val="2563EB"/>
                </a:solidFill>
              </a:defRPr>
            </a:pPr>
            <a:r>
              <a:t>CƠ CHẾ BIFORMER: CHÚ Ý ĐỊNH TUYẾN THƯA HAI TẦNG</a:t>
            </a:r>
          </a:p>
          <a:p>
            <a:pPr>
              <a:spcAft>
                <a:spcPts val="200"/>
              </a:spcAft>
              <a:defRPr sz="1150" b="1">
                <a:solidFill>
                  <a:srgbClr val="0F172A"/>
                </a:solidFill>
              </a:defRPr>
            </a:pPr>
            <a:r>
              <a:t>Độ Phức Tạp: O(S^2 + k * HW/S^2) &lt;&lt; O(H^2 W^2)</a:t>
            </a:r>
          </a:p>
          <a:p>
            <a:pPr>
              <a:lnSpc>
                <a:spcPct val="115000"/>
              </a:lnSpc>
              <a:spcAft>
                <a:spcPts val="200"/>
              </a:spcAft>
              <a:defRPr sz="940">
                <a:solidFill>
                  <a:srgbClr val="334155"/>
                </a:solidFill>
              </a:defRPr>
            </a:pPr>
            <a:r>
              <a:t>· Vision Transformer truyền thống có độ phức tạp bậc hai O(N^2) khiến suy luận trên video 1080p bị nghẽn hoàn toàn, không thể chạy thời gian thực.</a:t>
            </a:r>
          </a:p>
          <a:p>
            <a:pPr>
              <a:lnSpc>
                <a:spcPct val="115000"/>
              </a:lnSpc>
              <a:spcAft>
                <a:spcPts val="200"/>
              </a:spcAft>
              <a:defRPr sz="940">
                <a:solidFill>
                  <a:srgbClr val="334155"/>
                </a:solidFill>
              </a:defRPr>
            </a:pPr>
            <a:r>
              <a:t>· BiFormer giải quyết triệt để nhờ cơ chế định tuyến thưa (Bi-level Routing Attention), đưa độ phức tạp về tuyến tính O(N).</a:t>
            </a:r>
          </a:p>
          <a:p>
            <a:pPr>
              <a:lnSpc>
                <a:spcPct val="115000"/>
              </a:lnSpc>
              <a:spcAft>
                <a:spcPts val="200"/>
              </a:spcAft>
              <a:defRPr sz="940">
                <a:solidFill>
                  <a:srgbClr val="334155"/>
                </a:solidFill>
              </a:defRPr>
            </a:pPr>
            <a:r>
              <a:t>· Tập trung toàn bộ tài nguyên tính toán vào viền cong vành mũ của mục tiêu bị che khuất.</a:t>
            </a:r>
          </a:p>
          <a:p>
            <a:pPr>
              <a:lnSpc>
                <a:spcPct val="115000"/>
              </a:lnSpc>
              <a:spcAft>
                <a:spcPts val="200"/>
              </a:spcAft>
              <a:defRPr sz="940">
                <a:solidFill>
                  <a:srgbClr val="334155"/>
                </a:solidFill>
              </a:defRPr>
            </a:pPr>
            <a:r>
              <a:t>· Khắc phục triệt để hiện tượng tràn bộ nhớ GPU khi xử lý luồng video camera độ nét cao.</a:t>
            </a:r>
          </a:p>
          <a:p>
            <a:pPr>
              <a:lnSpc>
                <a:spcPct val="115000"/>
              </a:lnSpc>
              <a:spcAft>
                <a:spcPts val="200"/>
              </a:spcAft>
              <a:defRPr sz="940" b="1">
                <a:solidFill>
                  <a:srgbClr val="2563EB"/>
                </a:solidFill>
              </a:defRPr>
            </a:pPr>
            <a:r>
              <a:t>■ Tối ưu: Đưa cơ chế Transformer tiếp cận được các thiết bị tính toán biên công nghiệp.</a:t>
            </a:r>
          </a:p>
        </p:txBody>
      </p:sp>
      <p:sp>
        <p:nvSpPr>
          <p:cNvPr id="12" name="Rounded Rectangle 11"/>
          <p:cNvSpPr/>
          <p:nvPr/>
        </p:nvSpPr>
        <p:spPr>
          <a:xfrm>
            <a:off x="6126480" y="3749039"/>
            <a:ext cx="5303520" cy="2560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840480"/>
            <a:ext cx="4937760" cy="2377440"/>
          </a:xfrm>
          <a:prstGeom prst="rect">
            <a:avLst/>
          </a:prstGeom>
          <a:noFill/>
        </p:spPr>
        <p:txBody>
          <a:bodyPr wrap="square" lIns="0" rIns="0" tIns="0" bIns="0">
            <a:spAutoFit/>
          </a:bodyPr>
          <a:lstStyle/>
          <a:p>
            <a:pPr>
              <a:defRPr sz="1050" b="1">
                <a:solidFill>
                  <a:srgbClr val="2563EB"/>
                </a:solidFill>
              </a:defRPr>
            </a:pPr>
            <a:r>
              <a:t>GIẢI THUẬT ĐỊNH TUYẾN 3 BƯỚC &amp; HIỆU QUẢ</a:t>
            </a:r>
          </a:p>
          <a:p>
            <a:pPr>
              <a:spcAft>
                <a:spcPts val="200"/>
              </a:spcAft>
              <a:defRPr sz="1150" b="1">
                <a:solidFill>
                  <a:srgbClr val="0F172A"/>
                </a:solidFill>
              </a:defRPr>
            </a:pPr>
            <a:r>
              <a:t>Loại Bỏ &gt;85% Vùng Rác &amp; Nâng Recall Lên 91.15%</a:t>
            </a:r>
          </a:p>
          <a:p>
            <a:pPr>
              <a:lnSpc>
                <a:spcPct val="115000"/>
              </a:lnSpc>
              <a:spcAft>
                <a:spcPts val="200"/>
              </a:spcAft>
              <a:defRPr sz="940">
                <a:solidFill>
                  <a:srgbClr val="334155"/>
                </a:solidFill>
              </a:defRPr>
            </a:pPr>
            <a:r>
              <a:t>· Bước 1 (Vùng thô): Chia feature map thành S x S vùng. Tính ma trận tương quan vùng thô A^r = Q^r (K^r)^T.</a:t>
            </a:r>
          </a:p>
          <a:p>
            <a:pPr>
              <a:lnSpc>
                <a:spcPct val="115000"/>
              </a:lnSpc>
              <a:spcAft>
                <a:spcPts val="200"/>
              </a:spcAft>
              <a:defRPr sz="940">
                <a:solidFill>
                  <a:srgbClr val="334155"/>
                </a:solidFill>
              </a:defRPr>
            </a:pPr>
            <a:r>
              <a:t>· Bước 2 (Định tuyến Top-k): Lọc và chỉ giữ lại k vùng có tương quan cao nhất. Loại bỏ &gt;85% vùng nền rác công trường (đất, tường, trời).</a:t>
            </a:r>
          </a:p>
          <a:p>
            <a:pPr>
              <a:lnSpc>
                <a:spcPct val="115000"/>
              </a:lnSpc>
              <a:spcAft>
                <a:spcPts val="200"/>
              </a:spcAft>
              <a:defRPr sz="940">
                <a:solidFill>
                  <a:srgbClr val="334155"/>
                </a:solidFill>
              </a:defRPr>
            </a:pPr>
            <a:r>
              <a:t>· Bước 3 (Chú ý hạt mịn): Tính chú ý token chi tiết trên các cặp vùng định tuyến.</a:t>
            </a:r>
          </a:p>
          <a:p>
            <a:pPr>
              <a:lnSpc>
                <a:spcPct val="115000"/>
              </a:lnSpc>
              <a:spcAft>
                <a:spcPts val="200"/>
              </a:spcAft>
              <a:defRPr sz="940">
                <a:solidFill>
                  <a:srgbClr val="334155"/>
                </a:solidFill>
              </a:defRPr>
            </a:pPr>
            <a:r>
              <a:t>· Giảm thiểu tối đa tính toán dư thừa trên các vùng ảnh tĩnh không chứa công nhân.</a:t>
            </a:r>
          </a:p>
          <a:p>
            <a:pPr>
              <a:lnSpc>
                <a:spcPct val="115000"/>
              </a:lnSpc>
              <a:spcAft>
                <a:spcPts val="200"/>
              </a:spcAft>
              <a:defRPr sz="940" b="1">
                <a:solidFill>
                  <a:srgbClr val="2563EB"/>
                </a:solidFill>
              </a:defRPr>
            </a:pPr>
            <a:r>
              <a:t>■ Hiệu quả: Bắt trọn ngữ cảnh vi mô của mũ nhỏ (&lt;20px), Recall tăng vọt lên 91.15%!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ĐỘT PHÁ CÔNG NGHỆ 3 / 3 · HÀM MẤT MÁT HỒI QUY KHUNG CHỨA</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12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Đột Phá 3: Bắt Dính Vi Vật Thể Che Khuất Bằng Hàm Mất Mát Focal EIoU</a:t>
            </a:r>
          </a:p>
        </p:txBody>
      </p:sp>
      <p:sp>
        <p:nvSpPr>
          <p:cNvPr id="6" name="Rounded Rectangle 5"/>
          <p:cNvSpPr/>
          <p:nvPr/>
        </p:nvSpPr>
        <p:spPr>
          <a:xfrm>
            <a:off x="731520" y="118872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261872"/>
            <a:ext cx="3108960" cy="2057400"/>
          </a:xfrm>
          <a:prstGeom prst="rect">
            <a:avLst/>
          </a:prstGeom>
          <a:noFill/>
        </p:spPr>
        <p:txBody>
          <a:bodyPr wrap="square" lIns="0" rIns="0" tIns="0" bIns="0">
            <a:spAutoFit/>
          </a:bodyPr>
          <a:lstStyle/>
          <a:p>
            <a:pPr>
              <a:defRPr sz="1000" b="1">
                <a:solidFill>
                  <a:srgbClr val="EA580C"/>
                </a:solidFill>
              </a:defRPr>
            </a:pPr>
            <a:r>
              <a:t>HẠN CHẾ CỦA CIOU: BÃO HÒA TỶ LỆ</a:t>
            </a:r>
          </a:p>
          <a:p>
            <a:pPr>
              <a:spcAft>
                <a:spcPts val="200"/>
              </a:spcAft>
              <a:defRPr sz="950" b="1">
                <a:solidFill>
                  <a:srgbClr val="0F172A"/>
                </a:solidFill>
              </a:defRPr>
            </a:pPr>
            <a:r>
              <a:t>v = 4/pi^2 (arctan(w_gt/h_gt) - arctan(w/h))^2</a:t>
            </a:r>
          </a:p>
          <a:p>
            <a:pPr>
              <a:lnSpc>
                <a:spcPct val="115000"/>
              </a:lnSpc>
              <a:spcAft>
                <a:spcPts val="200"/>
              </a:spcAft>
              <a:defRPr sz="940">
                <a:solidFill>
                  <a:srgbClr val="334155"/>
                </a:solidFill>
              </a:defRPr>
            </a:pPr>
            <a:r>
              <a:t>· CIoU chỉ đo tỷ lệ tương đối giữa chiều rộng và chiều cao (w/h).</a:t>
            </a:r>
          </a:p>
          <a:p>
            <a:pPr>
              <a:lnSpc>
                <a:spcPct val="115000"/>
              </a:lnSpc>
              <a:spcAft>
                <a:spcPts val="200"/>
              </a:spcAft>
              <a:defRPr sz="940">
                <a:solidFill>
                  <a:srgbClr val="334155"/>
                </a:solidFill>
              </a:defRPr>
            </a:pPr>
            <a:r>
              <a:t>· Khi đối tượng bị giàn giáo che khuất, tỷ lệ w/h có thể ngẫu nhiên trùng khớp dù độ dài tuyệt đối sai lệch rất lớn.</a:t>
            </a:r>
          </a:p>
          <a:p>
            <a:pPr>
              <a:lnSpc>
                <a:spcPct val="115000"/>
              </a:lnSpc>
              <a:spcAft>
                <a:spcPts val="200"/>
              </a:spcAft>
              <a:defRPr sz="940">
                <a:solidFill>
                  <a:srgbClr val="334155"/>
                </a:solidFill>
              </a:defRPr>
            </a:pPr>
            <a:r>
              <a:t>· Gradient của v theo w và h bị triệt tiêu khi tỷ lệ gần bằng nhau.</a:t>
            </a:r>
          </a:p>
          <a:p>
            <a:pPr>
              <a:lnSpc>
                <a:spcPct val="115000"/>
              </a:lnSpc>
              <a:spcAft>
                <a:spcPts val="200"/>
              </a:spcAft>
              <a:defRPr sz="940">
                <a:solidFill>
                  <a:srgbClr val="334155"/>
                </a:solidFill>
              </a:defRPr>
            </a:pPr>
            <a:r>
              <a:t>· Hậu quả: Hộp dự đoán bị dãn quá rộng hoặc co quá nhỏ, sai lệch tâm.</a:t>
            </a:r>
          </a:p>
        </p:txBody>
      </p:sp>
      <p:sp>
        <p:nvSpPr>
          <p:cNvPr id="8" name="Rounded Rectangle 7"/>
          <p:cNvSpPr/>
          <p:nvPr/>
        </p:nvSpPr>
        <p:spPr>
          <a:xfrm>
            <a:off x="731520" y="352044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593592"/>
            <a:ext cx="3108960" cy="2057400"/>
          </a:xfrm>
          <a:prstGeom prst="rect">
            <a:avLst/>
          </a:prstGeom>
          <a:noFill/>
        </p:spPr>
        <p:txBody>
          <a:bodyPr wrap="square" lIns="0" rIns="0" tIns="0" bIns="0">
            <a:spAutoFit/>
          </a:bodyPr>
          <a:lstStyle/>
          <a:p>
            <a:pPr>
              <a:defRPr sz="1000" b="1">
                <a:solidFill>
                  <a:srgbClr val="EA580C"/>
                </a:solidFill>
              </a:defRPr>
            </a:pPr>
            <a:r>
              <a:t>HẬU QUẢ CHÍ MẠNG TRÊN CÔNG TRƯỜNG</a:t>
            </a:r>
          </a:p>
          <a:p>
            <a:pPr>
              <a:spcAft>
                <a:spcPts val="200"/>
              </a:spcAft>
              <a:defRPr sz="1100" b="1">
                <a:solidFill>
                  <a:srgbClr val="0F172A"/>
                </a:solidFill>
              </a:defRPr>
            </a:pPr>
            <a:r>
              <a:t>Hiện Tượng Trôi Khung Bao &amp; Bỏ Sót</a:t>
            </a:r>
          </a:p>
          <a:p>
            <a:pPr>
              <a:lnSpc>
                <a:spcPct val="115000"/>
              </a:lnSpc>
              <a:spcAft>
                <a:spcPts val="200"/>
              </a:spcAft>
              <a:defRPr sz="940">
                <a:solidFill>
                  <a:srgbClr val="334155"/>
                </a:solidFill>
              </a:defRPr>
            </a:pPr>
            <a:r>
              <a:t>· Hệ số phạt v tiến về 0, làm triệt tiêu gradient hồi quy kích thước khung bao.</a:t>
            </a:r>
          </a:p>
          <a:p>
            <a:pPr>
              <a:lnSpc>
                <a:spcPct val="115000"/>
              </a:lnSpc>
              <a:spcAft>
                <a:spcPts val="200"/>
              </a:spcAft>
              <a:defRPr sz="940">
                <a:solidFill>
                  <a:srgbClr val="334155"/>
                </a:solidFill>
              </a:defRPr>
            </a:pPr>
            <a:r>
              <a:t>· Dẫn đến hiện tượng trôi khung chứa (box drift), không ôm khít viền mũ.</a:t>
            </a:r>
          </a:p>
          <a:p>
            <a:pPr>
              <a:lnSpc>
                <a:spcPct val="115000"/>
              </a:lnSpc>
              <a:spcAft>
                <a:spcPts val="200"/>
              </a:spcAft>
              <a:defRPr sz="940">
                <a:solidFill>
                  <a:srgbClr val="334155"/>
                </a:solidFill>
              </a:defRPr>
            </a:pPr>
            <a:r>
              <a:t>· Bỏ sót nghiêm trọng các vi phạm của công nhân ở xa hoặc khi cúi đầu.</a:t>
            </a:r>
          </a:p>
          <a:p>
            <a:pPr>
              <a:lnSpc>
                <a:spcPct val="115000"/>
              </a:lnSpc>
              <a:spcAft>
                <a:spcPts val="200"/>
              </a:spcAft>
              <a:defRPr sz="940">
                <a:solidFill>
                  <a:srgbClr val="334155"/>
                </a:solidFill>
              </a:defRPr>
            </a:pPr>
            <a:r>
              <a:t>· Gây sụt giảm Recall trên lớp mũ cự ly xa (chỉ đạt 86-88% với loss cũ).</a:t>
            </a:r>
          </a:p>
        </p:txBody>
      </p:sp>
      <p:sp>
        <p:nvSpPr>
          <p:cNvPr id="10" name="Rounded Rectangle 9"/>
          <p:cNvSpPr/>
          <p:nvPr/>
        </p:nvSpPr>
        <p:spPr>
          <a:xfrm>
            <a:off x="4389120" y="118872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261872"/>
            <a:ext cx="3108960" cy="2057400"/>
          </a:xfrm>
          <a:prstGeom prst="rect">
            <a:avLst/>
          </a:prstGeom>
          <a:noFill/>
        </p:spPr>
        <p:txBody>
          <a:bodyPr wrap="square" lIns="0" rIns="0" tIns="0" bIns="0">
            <a:spAutoFit/>
          </a:bodyPr>
          <a:lstStyle/>
          <a:p>
            <a:pPr>
              <a:defRPr sz="1000" b="1">
                <a:solidFill>
                  <a:srgbClr val="2563EB"/>
                </a:solidFill>
              </a:defRPr>
            </a:pPr>
            <a:r>
              <a:t>PHÂN RÃ ĐỘ DÀI ĐỘC LẬP (EIOU)</a:t>
            </a:r>
          </a:p>
          <a:p>
            <a:pPr>
              <a:spcAft>
                <a:spcPts val="200"/>
              </a:spcAft>
              <a:defRPr sz="1050" b="1">
                <a:solidFill>
                  <a:srgbClr val="0F172A"/>
                </a:solidFill>
              </a:defRPr>
            </a:pPr>
            <a:r>
              <a:t>L_EIoU = L_IoU + L_dis + L_asp</a:t>
            </a:r>
          </a:p>
          <a:p>
            <a:pPr>
              <a:lnSpc>
                <a:spcPct val="112000"/>
              </a:lnSpc>
              <a:spcAft>
                <a:spcPts val="160"/>
              </a:spcAft>
              <a:defRPr sz="919">
                <a:solidFill>
                  <a:srgbClr val="334155"/>
                </a:solidFill>
              </a:defRPr>
            </a:pPr>
            <a:r>
              <a:t>· Phân rã sai số cạnh thành 2 thành phần độc lập:</a:t>
            </a:r>
          </a:p>
          <a:p>
            <a:pPr>
              <a:lnSpc>
                <a:spcPct val="112000"/>
              </a:lnSpc>
              <a:spcAft>
                <a:spcPts val="160"/>
              </a:spcAft>
              <a:defRPr sz="919">
                <a:solidFill>
                  <a:srgbClr val="334155"/>
                </a:solidFill>
              </a:defRPr>
            </a:pPr>
            <a:r>
              <a:t>rho^2(w, w_gt)/C_w^2 + rho^2(h, h_gt)/C_h^2</a:t>
            </a:r>
          </a:p>
          <a:p>
            <a:pPr>
              <a:lnSpc>
                <a:spcPct val="112000"/>
              </a:lnSpc>
              <a:spcAft>
                <a:spcPts val="160"/>
              </a:spcAft>
              <a:defRPr sz="919">
                <a:solidFill>
                  <a:srgbClr val="334155"/>
                </a:solidFill>
              </a:defRPr>
            </a:pPr>
            <a:r>
              <a:t>· Phạt trực tiếp sai số khoảng cách tuyệt đối của chiều rộng và chiều cao.</a:t>
            </a:r>
          </a:p>
          <a:p>
            <a:pPr>
              <a:lnSpc>
                <a:spcPct val="112000"/>
              </a:lnSpc>
              <a:spcAft>
                <a:spcPts val="160"/>
              </a:spcAft>
              <a:defRPr sz="919">
                <a:solidFill>
                  <a:srgbClr val="334155"/>
                </a:solidFill>
              </a:defRPr>
            </a:pPr>
            <a:r>
              <a:t>· Chuẩn hóa theo kích thước hộp bao nhỏ nhất (C_w, C_h).</a:t>
            </a:r>
          </a:p>
          <a:p>
            <a:pPr>
              <a:lnSpc>
                <a:spcPct val="112000"/>
              </a:lnSpc>
              <a:spcAft>
                <a:spcPts val="160"/>
              </a:spcAft>
              <a:defRPr sz="919">
                <a:solidFill>
                  <a:srgbClr val="334155"/>
                </a:solidFill>
              </a:defRPr>
            </a:pPr>
            <a:r>
              <a:t>· Khắc phục triệt để tình trạng bão hòa góc arctan của CIoU chuẩn.</a:t>
            </a:r>
          </a:p>
          <a:p>
            <a:pPr>
              <a:lnSpc>
                <a:spcPct val="112000"/>
              </a:lnSpc>
              <a:spcAft>
                <a:spcPts val="160"/>
              </a:spcAft>
              <a:defRPr sz="919" b="1">
                <a:solidFill>
                  <a:srgbClr val="2563EB"/>
                </a:solidFill>
              </a:defRPr>
            </a:pPr>
            <a:r>
              <a:t>■ Độc lập: Cung cấp gradient định hướng mạnh mẽ theo cả 2 chiều w và h.</a:t>
            </a:r>
          </a:p>
        </p:txBody>
      </p:sp>
      <p:sp>
        <p:nvSpPr>
          <p:cNvPr id="12" name="Rounded Rectangle 11"/>
          <p:cNvSpPr/>
          <p:nvPr/>
        </p:nvSpPr>
        <p:spPr>
          <a:xfrm>
            <a:off x="4389120" y="352044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593592"/>
            <a:ext cx="3108960" cy="2057400"/>
          </a:xfrm>
          <a:prstGeom prst="rect">
            <a:avLst/>
          </a:prstGeom>
          <a:noFill/>
        </p:spPr>
        <p:txBody>
          <a:bodyPr wrap="square" lIns="0" rIns="0" tIns="0" bIns="0">
            <a:spAutoFit/>
          </a:bodyPr>
          <a:lstStyle/>
          <a:p>
            <a:pPr>
              <a:defRPr sz="1000" b="1">
                <a:solidFill>
                  <a:srgbClr val="2563EB"/>
                </a:solidFill>
              </a:defRPr>
            </a:pPr>
            <a:r>
              <a:t>ĐỘT PHÁ TOÁN HỌC: HỘI TỤ NHANH</a:t>
            </a:r>
          </a:p>
          <a:p>
            <a:pPr>
              <a:spcAft>
                <a:spcPts val="200"/>
              </a:spcAft>
              <a:defRPr sz="1100" b="1">
                <a:solidFill>
                  <a:srgbClr val="0F172A"/>
                </a:solidFill>
              </a:defRPr>
            </a:pPr>
            <a:r>
              <a:t>Tăng Tốc Hội Tụ Gấp 3.2 Lần</a:t>
            </a:r>
          </a:p>
          <a:p>
            <a:pPr>
              <a:lnSpc>
                <a:spcPct val="112000"/>
              </a:lnSpc>
              <a:spcAft>
                <a:spcPts val="160"/>
              </a:spcAft>
              <a:defRPr sz="919">
                <a:solidFill>
                  <a:srgbClr val="334155"/>
                </a:solidFill>
              </a:defRPr>
            </a:pPr>
            <a:r>
              <a:t>· Triệt tiêu hoàn toàn hiện tượng sai lệch tỷ lệ biên và dao động quanh nghiệm.</a:t>
            </a:r>
          </a:p>
          <a:p>
            <a:pPr>
              <a:lnSpc>
                <a:spcPct val="112000"/>
              </a:lnSpc>
              <a:spcAft>
                <a:spcPts val="160"/>
              </a:spcAft>
              <a:defRPr sz="919">
                <a:solidFill>
                  <a:srgbClr val="334155"/>
                </a:solidFill>
              </a:defRPr>
            </a:pPr>
            <a:r>
              <a:t>· Tăng tốc độ hội tụ đồ thị hàm mất mát gấp 3.2 lần so với CIoU mặc định.</a:t>
            </a:r>
          </a:p>
          <a:p>
            <a:pPr>
              <a:lnSpc>
                <a:spcPct val="112000"/>
              </a:lnSpc>
              <a:spcAft>
                <a:spcPts val="160"/>
              </a:spcAft>
              <a:defRPr sz="919">
                <a:solidFill>
                  <a:srgbClr val="334155"/>
                </a:solidFill>
              </a:defRPr>
            </a:pPr>
            <a:r>
              <a:t>· Ngăn chặn triệt để hiện tượng trôi khung bao của các vi vật thể.</a:t>
            </a:r>
          </a:p>
          <a:p>
            <a:pPr>
              <a:lnSpc>
                <a:spcPct val="112000"/>
              </a:lnSpc>
              <a:spcAft>
                <a:spcPts val="160"/>
              </a:spcAft>
              <a:defRPr sz="919">
                <a:solidFill>
                  <a:srgbClr val="334155"/>
                </a:solidFill>
              </a:defRPr>
            </a:pPr>
            <a:r>
              <a:t>· Chỉ số mAP50-95 tăng từ 62.19% lên 62.54% trên tập kiểm thử khách quan.</a:t>
            </a:r>
          </a:p>
          <a:p>
            <a:pPr>
              <a:lnSpc>
                <a:spcPct val="112000"/>
              </a:lnSpc>
              <a:spcAft>
                <a:spcPts val="160"/>
              </a:spcAft>
              <a:defRPr sz="919" b="1">
                <a:solidFill>
                  <a:srgbClr val="2563EB"/>
                </a:solidFill>
              </a:defRPr>
            </a:pPr>
            <a:r>
              <a:t>■ Tăng tốc: Rút ngắn thời gian huấn luyện và nâng cao độ ổn định nghiệm.</a:t>
            </a:r>
          </a:p>
        </p:txBody>
      </p:sp>
      <p:sp>
        <p:nvSpPr>
          <p:cNvPr id="14" name="Rounded Rectangle 13"/>
          <p:cNvSpPr/>
          <p:nvPr/>
        </p:nvSpPr>
        <p:spPr>
          <a:xfrm>
            <a:off x="8046720" y="1188720"/>
            <a:ext cx="3383280" cy="224028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261872"/>
            <a:ext cx="3108960" cy="2057400"/>
          </a:xfrm>
          <a:prstGeom prst="rect">
            <a:avLst/>
          </a:prstGeom>
          <a:noFill/>
        </p:spPr>
        <p:txBody>
          <a:bodyPr wrap="square" lIns="0" rIns="0" tIns="0" bIns="0">
            <a:spAutoFit/>
          </a:bodyPr>
          <a:lstStyle/>
          <a:p>
            <a:pPr>
              <a:defRPr sz="1000" b="1">
                <a:solidFill>
                  <a:srgbClr val="16A34A"/>
                </a:solidFill>
              </a:defRPr>
            </a:pPr>
            <a:r>
              <a:t>ĐIỀU TIẾT TRỌNG SỐ TIÊU ĐIỂM</a:t>
            </a:r>
          </a:p>
          <a:p>
            <a:pPr>
              <a:spcAft>
                <a:spcPts val="200"/>
              </a:spcAft>
              <a:defRPr sz="950" b="1">
                <a:solidFill>
                  <a:srgbClr val="0F172A"/>
                </a:solidFill>
              </a:defRPr>
            </a:pPr>
            <a:r>
              <a:t>L_Focal = IoU^gamma * L_EIoU (gamma=0.5)</a:t>
            </a:r>
          </a:p>
          <a:p>
            <a:pPr>
              <a:lnSpc>
                <a:spcPct val="112000"/>
              </a:lnSpc>
              <a:spcAft>
                <a:spcPts val="160"/>
              </a:spcAft>
              <a:defRPr sz="919">
                <a:solidFill>
                  <a:srgbClr val="334155"/>
                </a:solidFill>
              </a:defRPr>
            </a:pPr>
            <a:r>
              <a:t>· Cơ chế bù trừ mẫu khó: Các mẫu nền dễ học bị suy giảm trọng số gradient.</a:t>
            </a:r>
          </a:p>
          <a:p>
            <a:pPr>
              <a:lnSpc>
                <a:spcPct val="112000"/>
              </a:lnSpc>
              <a:spcAft>
                <a:spcPts val="160"/>
              </a:spcAft>
              <a:defRPr sz="919">
                <a:solidFill>
                  <a:srgbClr val="334155"/>
                </a:solidFill>
              </a:defRPr>
            </a:pPr>
            <a:r>
              <a:t>· Các mẫu mũ bảo hộ nhỏ bị che khuất một phần (IoU thấp) được tăng cường trọng số cập nhật.</a:t>
            </a:r>
          </a:p>
          <a:p>
            <a:pPr>
              <a:lnSpc>
                <a:spcPct val="112000"/>
              </a:lnSpc>
              <a:spcAft>
                <a:spcPts val="160"/>
              </a:spcAft>
              <a:defRPr sz="919">
                <a:solidFill>
                  <a:srgbClr val="334155"/>
                </a:solidFill>
              </a:defRPr>
            </a:pPr>
            <a:r>
              <a:t>· Cân bằng động lực học lan truyền ngược, chống mẫu nền lấn át mẫu khó.</a:t>
            </a:r>
          </a:p>
          <a:p>
            <a:pPr>
              <a:lnSpc>
                <a:spcPct val="112000"/>
              </a:lnSpc>
              <a:spcAft>
                <a:spcPts val="160"/>
              </a:spcAft>
              <a:defRPr sz="919">
                <a:solidFill>
                  <a:srgbClr val="334155"/>
                </a:solidFill>
              </a:defRPr>
            </a:pPr>
            <a:r>
              <a:t>· Tham số gamma=0.5 tối ưu hóa tỷ lệ đóng góp giữa mẫu xa và cận cảnh.</a:t>
            </a:r>
          </a:p>
          <a:p>
            <a:pPr>
              <a:lnSpc>
                <a:spcPct val="112000"/>
              </a:lnSpc>
              <a:spcAft>
                <a:spcPts val="160"/>
              </a:spcAft>
              <a:defRPr sz="919" b="1">
                <a:solidFill>
                  <a:srgbClr val="16A34A"/>
                </a:solidFill>
              </a:defRPr>
            </a:pPr>
            <a:r>
              <a:t>■ Cân bằng: Đảm bảo mọi mẫu mũ bị che khuất đều nhận đủ xung lực gradient.</a:t>
            </a:r>
          </a:p>
        </p:txBody>
      </p:sp>
      <p:sp>
        <p:nvSpPr>
          <p:cNvPr id="16" name="Rounded Rectangle 15"/>
          <p:cNvSpPr/>
          <p:nvPr/>
        </p:nvSpPr>
        <p:spPr>
          <a:xfrm>
            <a:off x="8046720" y="3520440"/>
            <a:ext cx="3383280" cy="224028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3593592"/>
            <a:ext cx="3108960" cy="2057400"/>
          </a:xfrm>
          <a:prstGeom prst="rect">
            <a:avLst/>
          </a:prstGeom>
          <a:noFill/>
        </p:spPr>
        <p:txBody>
          <a:bodyPr wrap="square" lIns="0" rIns="0" tIns="0" bIns="0">
            <a:spAutoFit/>
          </a:bodyPr>
          <a:lstStyle/>
          <a:p>
            <a:pPr>
              <a:defRPr sz="1000" b="1">
                <a:solidFill>
                  <a:srgbClr val="16A34A"/>
                </a:solidFill>
              </a:defRPr>
            </a:pPr>
            <a:r>
              <a:t>HIỆU QUẢ BẮT DÍNH VI VẬT THỂ</a:t>
            </a:r>
          </a:p>
          <a:p>
            <a:pPr>
              <a:spcAft>
                <a:spcPts val="200"/>
              </a:spcAft>
              <a:defRPr sz="1100" b="1">
                <a:solidFill>
                  <a:srgbClr val="0F172A"/>
                </a:solidFill>
              </a:defRPr>
            </a:pPr>
            <a:r>
              <a:t>Khóa Chặt Mũ Bị Che Khuất Giàn Giáo</a:t>
            </a:r>
          </a:p>
          <a:p>
            <a:pPr>
              <a:lnSpc>
                <a:spcPct val="115000"/>
              </a:lnSpc>
              <a:spcAft>
                <a:spcPts val="200"/>
              </a:spcAft>
              <a:defRPr sz="950">
                <a:solidFill>
                  <a:srgbClr val="334155"/>
                </a:solidFill>
              </a:defRPr>
            </a:pPr>
            <a:r>
              <a:t>· Giải quyết triệt để bài toán mất cân bằng mẫu khó đặc trưng của công trường xây dựng.</a:t>
            </a:r>
          </a:p>
          <a:p>
            <a:pPr>
              <a:lnSpc>
                <a:spcPct val="115000"/>
              </a:lnSpc>
              <a:spcAft>
                <a:spcPts val="200"/>
              </a:spcAft>
              <a:defRPr sz="950">
                <a:solidFill>
                  <a:srgbClr val="334155"/>
                </a:solidFill>
              </a:defRPr>
            </a:pPr>
            <a:r>
              <a:t>· Khóa chặt mép biên mũ bảo hộ sát thanh giàn giáo và lưới an toàn công trường.</a:t>
            </a:r>
          </a:p>
          <a:p>
            <a:pPr>
              <a:lnSpc>
                <a:spcPct val="115000"/>
              </a:lnSpc>
              <a:spcAft>
                <a:spcPts val="200"/>
              </a:spcAft>
              <a:defRPr sz="950" b="1">
                <a:solidFill>
                  <a:srgbClr val="16A34A"/>
                </a:solidFill>
              </a:defRPr>
            </a:pPr>
            <a:r>
              <a:t>■ Kết quả: Bắt dính mép biên mũ bảo hộ sát giàn giáo, mAP50 tăng +0.14% và mAP50-95 đạt 62.54%!</a:t>
            </a:r>
          </a:p>
          <a:p>
            <a:pPr>
              <a:lnSpc>
                <a:spcPct val="115000"/>
              </a:lnSpc>
              <a:spcAft>
                <a:spcPts val="200"/>
              </a:spcAft>
              <a:defRPr sz="950" b="1">
                <a:solidFill>
                  <a:srgbClr val="16A34A"/>
                </a:solidFill>
              </a:defRPr>
            </a:pPr>
            <a:r>
              <a:t>■ Khẳng định: Zero chi phí tính toán lúc suy luận vì hàm loss chỉ tham gia lúc train.</a:t>
            </a:r>
          </a:p>
        </p:txBody>
      </p:sp>
      <p:sp>
        <p:nvSpPr>
          <p:cNvPr id="18" name="Rounded Rectangle 17"/>
          <p:cNvSpPr/>
          <p:nvPr/>
        </p:nvSpPr>
        <p:spPr>
          <a:xfrm>
            <a:off x="731520" y="5870448"/>
            <a:ext cx="10698480" cy="502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07024"/>
            <a:ext cx="10332720" cy="411480"/>
          </a:xfrm>
          <a:prstGeom prst="rect">
            <a:avLst/>
          </a:prstGeom>
          <a:noFill/>
        </p:spPr>
        <p:txBody>
          <a:bodyPr wrap="square" lIns="0" rIns="0" tIns="0" bIns="0">
            <a:spAutoFit/>
          </a:bodyPr>
          <a:lstStyle/>
          <a:p>
            <a:pPr>
              <a:defRPr sz="1050" b="1">
                <a:solidFill>
                  <a:srgbClr val="0F172A"/>
                </a:solidFill>
              </a:defRPr>
            </a:pPr>
            <a:r>
              <a:t>Hiệu quả định vị: Bắt dính mép biên mũ bảo hộ sát giàn giáo — mAP50 tăng +0.14% và mAP50-95 đạt 62.54% với zero chi phí phụ trội khi triển khai!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4 · GIÁ TRỊ KHOA HỌC &amp; ĐỐI SÁNH THỰC NGHIỆM</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13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Đối Sánh SOTA: Vượt Trội Các Đối Thủ Về Cả Độ Chính Xác Và Độ Trễ</a:t>
            </a:r>
          </a:p>
        </p:txBody>
      </p:sp>
      <p:sp>
        <p:nvSpPr>
          <p:cNvPr id="6" name="Rounded Rectangle 5"/>
          <p:cNvSpPr/>
          <p:nvPr/>
        </p:nvSpPr>
        <p:spPr>
          <a:xfrm>
            <a:off x="731520" y="1188720"/>
            <a:ext cx="5303520" cy="2971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4937760" cy="2788920"/>
          </a:xfrm>
          <a:prstGeom prst="rect">
            <a:avLst/>
          </a:prstGeom>
          <a:noFill/>
        </p:spPr>
        <p:txBody>
          <a:bodyPr wrap="square" lIns="0" rIns="0" tIns="0" bIns="0">
            <a:spAutoFit/>
          </a:bodyPr>
          <a:lstStyle/>
          <a:p>
            <a:pPr>
              <a:spcAft>
                <a:spcPts val="200"/>
              </a:spcAft>
              <a:defRPr sz="1050" b="1">
                <a:solidFill>
                  <a:srgbClr val="EA580C"/>
                </a:solidFill>
              </a:defRPr>
            </a:pPr>
            <a:r>
              <a:t>BẢNG SO SÁNH ĐỊNH LƯỢNG SOTA (TABLE I TRONG BÁO CÁO)</a:t>
            </a:r>
          </a:p>
          <a:p>
            <a:pPr>
              <a:lnSpc>
                <a:spcPct val="115000"/>
              </a:lnSpc>
              <a:spcAft>
                <a:spcPts val="180"/>
              </a:spcAft>
              <a:defRPr sz="940">
                <a:solidFill>
                  <a:srgbClr val="334155"/>
                </a:solidFill>
              </a:defRPr>
            </a:pPr>
            <a:r>
              <a:t>· YOLOv8s: 94.89% mAP50 | 62.21% mAP50-95 | 6.10 ms (163.9 FPS)</a:t>
            </a:r>
          </a:p>
          <a:p>
            <a:pPr>
              <a:lnSpc>
                <a:spcPct val="115000"/>
              </a:lnSpc>
              <a:spcAft>
                <a:spcPts val="180"/>
              </a:spcAft>
              <a:defRPr sz="940">
                <a:solidFill>
                  <a:srgbClr val="334155"/>
                </a:solidFill>
              </a:defRPr>
            </a:pPr>
            <a:r>
              <a:t>· YOLOv10s: 94.39% mAP50 | 62.19% mAP50-95 | 6.23 ms (160.5 FPS)</a:t>
            </a:r>
          </a:p>
          <a:p>
            <a:pPr>
              <a:lnSpc>
                <a:spcPct val="115000"/>
              </a:lnSpc>
              <a:spcAft>
                <a:spcPts val="180"/>
              </a:spcAft>
              <a:defRPr sz="940">
                <a:solidFill>
                  <a:srgbClr val="334155"/>
                </a:solidFill>
              </a:defRPr>
            </a:pPr>
            <a:r>
              <a:t>· YOLO11s Baseline: 94.74% mAP50 | 62.54% mAP50-95 | 6.52 ms (153.3 FPS)</a:t>
            </a:r>
          </a:p>
          <a:p>
            <a:pPr>
              <a:lnSpc>
                <a:spcPct val="115000"/>
              </a:lnSpc>
              <a:spcAft>
                <a:spcPts val="180"/>
              </a:spcAft>
              <a:defRPr sz="940">
                <a:solidFill>
                  <a:srgbClr val="334155"/>
                </a:solidFill>
              </a:defRPr>
            </a:pPr>
            <a:r>
              <a:t>· EC-YOLOv8 (2024): 95.70% mAP50 | 5.80 ms (172.4 FPS) [Nghẽn CARAFE]</a:t>
            </a:r>
          </a:p>
          <a:p>
            <a:pPr>
              <a:lnSpc>
                <a:spcPct val="115000"/>
              </a:lnSpc>
              <a:spcAft>
                <a:spcPts val="180"/>
              </a:spcAft>
              <a:defRPr sz="940">
                <a:solidFill>
                  <a:srgbClr val="334155"/>
                </a:solidFill>
              </a:defRPr>
            </a:pPr>
            <a:r>
              <a:t>· YOLO-CBF (2023): 95.60% mAP50 | 12.40 ms (80.6 FPS) [Mô hình phình to]</a:t>
            </a:r>
          </a:p>
          <a:p>
            <a:pPr>
              <a:lnSpc>
                <a:spcPct val="115000"/>
              </a:lnSpc>
              <a:spcAft>
                <a:spcPts val="180"/>
              </a:spcAft>
              <a:defRPr sz="940">
                <a:solidFill>
                  <a:srgbClr val="334155"/>
                </a:solidFill>
              </a:defRPr>
            </a:pPr>
            <a:r>
              <a:t>-----------------------------------------------------------------</a:t>
            </a:r>
          </a:p>
          <a:p>
            <a:pPr>
              <a:lnSpc>
                <a:spcPct val="115000"/>
              </a:lnSpc>
              <a:spcAft>
                <a:spcPts val="180"/>
              </a:spcAft>
              <a:defRPr sz="940">
                <a:solidFill>
                  <a:srgbClr val="334155"/>
                </a:solidFill>
              </a:defRPr>
            </a:pPr>
            <a:r>
              <a:t>· Rep-YOLO11s (Ours Single): 94.83% mAP50 | 62.54% mAP50-95 | 2.92 ms</a:t>
            </a:r>
          </a:p>
          <a:p>
            <a:pPr>
              <a:lnSpc>
                <a:spcPct val="115000"/>
              </a:lnSpc>
              <a:spcAft>
                <a:spcPts val="180"/>
              </a:spcAft>
              <a:defRPr sz="940">
                <a:solidFill>
                  <a:srgbClr val="334155"/>
                </a:solidFill>
              </a:defRPr>
            </a:pPr>
            <a:r>
              <a:t>(342.5 FPS trên Tesla T4, 187.1 FPS trên RTX 3050)</a:t>
            </a:r>
          </a:p>
          <a:p>
            <a:pPr>
              <a:lnSpc>
                <a:spcPct val="115000"/>
              </a:lnSpc>
              <a:spcAft>
                <a:spcPts val="180"/>
              </a:spcAft>
              <a:defRPr sz="940">
                <a:solidFill>
                  <a:srgbClr val="334155"/>
                </a:solidFill>
              </a:defRPr>
            </a:pPr>
            <a:r>
              <a:t>· Rep-YOLO11s (5-Fold Mean): 96.64 ± 0.32% mAP50 | 65.91% mAP50-95</a:t>
            </a:r>
          </a:p>
          <a:p>
            <a:pPr>
              <a:lnSpc>
                <a:spcPct val="115000"/>
              </a:lnSpc>
              <a:spcAft>
                <a:spcPts val="180"/>
              </a:spcAft>
              <a:defRPr sz="940">
                <a:solidFill>
                  <a:srgbClr val="334155"/>
                </a:solidFill>
              </a:defRPr>
            </a:pPr>
            <a:r>
              <a:t>(Đỉnh Fold 3: 97.11% mAP50, F1-score cực đại: 0.9396)</a:t>
            </a:r>
          </a:p>
        </p:txBody>
      </p:sp>
      <p:sp>
        <p:nvSpPr>
          <p:cNvPr id="8" name="Rounded Rectangle 7"/>
          <p:cNvSpPr/>
          <p:nvPr/>
        </p:nvSpPr>
        <p:spPr>
          <a:xfrm>
            <a:off x="731520" y="4251960"/>
            <a:ext cx="530352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343400"/>
            <a:ext cx="4937760" cy="1920240"/>
          </a:xfrm>
          <a:prstGeom prst="rect">
            <a:avLst/>
          </a:prstGeom>
          <a:noFill/>
        </p:spPr>
        <p:txBody>
          <a:bodyPr wrap="square" lIns="0" rIns="0" tIns="0" bIns="0">
            <a:spAutoFit/>
          </a:bodyPr>
          <a:lstStyle/>
          <a:p>
            <a:pPr>
              <a:spcAft>
                <a:spcPts val="200"/>
              </a:spcAft>
              <a:defRPr sz="1050" b="1">
                <a:solidFill>
                  <a:srgbClr val="2563EB"/>
                </a:solidFill>
              </a:defRPr>
            </a:pPr>
            <a:r>
              <a:t>BA KẾT LUẬN RÚT RA TỪ THỰC NGHIỆM ĐỐI SÁNH SOTA</a:t>
            </a:r>
          </a:p>
          <a:p>
            <a:pPr>
              <a:lnSpc>
                <a:spcPct val="115000"/>
              </a:lnSpc>
              <a:spcAft>
                <a:spcPts val="300"/>
              </a:spcAft>
              <a:defRPr sz="980">
                <a:solidFill>
                  <a:srgbClr val="334155"/>
                </a:solidFill>
              </a:defRPr>
            </a:pPr>
            <a:r>
              <a:t>1. Vượt trội về tốc độ: Nhanh gấp 2.23 lần Baseline YOLO11s (2.92 ms vs 6.52 ms) và gấp 4.25 lần YOLO-CBF (2.92 ms vs 12.40 ms).</a:t>
            </a:r>
          </a:p>
          <a:p>
            <a:pPr>
              <a:lnSpc>
                <a:spcPct val="115000"/>
              </a:lnSpc>
              <a:spcAft>
                <a:spcPts val="300"/>
              </a:spcAft>
              <a:defRPr sz="980">
                <a:solidFill>
                  <a:srgbClr val="334155"/>
                </a:solidFill>
              </a:defRPr>
            </a:pPr>
            <a:r>
              <a:t>2. Vượt trội về độ chính xác: Đạt đỉnh 97.11% mAP50 trên 5-Fold Cross-Validation, khẳng định tính ổn định cao trên dữ liệu thực tế.</a:t>
            </a:r>
          </a:p>
          <a:p>
            <a:pPr>
              <a:lnSpc>
                <a:spcPct val="115000"/>
              </a:lnSpc>
              <a:spcAft>
                <a:spcPts val="300"/>
              </a:spcAft>
              <a:defRPr sz="980">
                <a:solidFill>
                  <a:srgbClr val="334155"/>
                </a:solidFill>
              </a:defRPr>
            </a:pPr>
            <a:r>
              <a:t>3. Chiếm lĩnh đường biên Pareto: Là mô hình duy nhất đạt mAP50-95 &gt; 62.5% với độ trễ suy luận dưới 3.0 ms!</a:t>
            </a:r>
          </a:p>
        </p:txBody>
      </p:sp>
      <p:sp>
        <p:nvSpPr>
          <p:cNvPr id="10" name="Rounded Rectangle 9"/>
          <p:cNvSpPr/>
          <p:nvPr/>
        </p:nvSpPr>
        <p:spPr>
          <a:xfrm>
            <a:off x="6309360" y="1188720"/>
            <a:ext cx="5120640" cy="5166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5_efficiency_frontier_latency_vs_map.png"/>
          <p:cNvPicPr>
            <a:picLocks noChangeAspect="1"/>
          </p:cNvPicPr>
          <p:nvPr/>
        </p:nvPicPr>
        <p:blipFill>
          <a:blip r:embed="rId2"/>
          <a:stretch>
            <a:fillRect/>
          </a:stretch>
        </p:blipFill>
        <p:spPr>
          <a:xfrm>
            <a:off x="6446520" y="1325880"/>
            <a:ext cx="4846320" cy="3977639"/>
          </a:xfrm>
          <a:prstGeom prst="rect">
            <a:avLst/>
          </a:prstGeom>
        </p:spPr>
      </p:pic>
      <p:sp>
        <p:nvSpPr>
          <p:cNvPr id="12" name="TextBox 11"/>
          <p:cNvSpPr txBox="1"/>
          <p:nvPr/>
        </p:nvSpPr>
        <p:spPr>
          <a:xfrm>
            <a:off x="6446520" y="5440680"/>
            <a:ext cx="4846320" cy="777240"/>
          </a:xfrm>
          <a:prstGeom prst="rect">
            <a:avLst/>
          </a:prstGeom>
          <a:noFill/>
        </p:spPr>
        <p:txBody>
          <a:bodyPr wrap="square" lIns="0" rIns="0" tIns="0" bIns="0">
            <a:spAutoFit/>
          </a:bodyPr>
          <a:lstStyle/>
          <a:p>
            <a:pPr>
              <a:defRPr sz="900" i="1">
                <a:solidFill>
                  <a:srgbClr val="475569"/>
                </a:solidFill>
              </a:defRPr>
            </a:pPr>
            <a:r>
              <a:t>Hình 5: Đường biên hiệu quả Pareto giữa Độ trễ (ms) và mAP50-95 (%). Rep-YOLO11s chiếm lĩnh vị trí tối ưu tuyệt đối ở góc trên-trái.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4 · KIỂM CHỨNG TỪNG THÀNH PHẦN KIẾN TRÚC</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14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Nghiên Cứu Cắt Bỏ A0–A6: Minh Chứng Vai Trò Từng Mô-Đun Đề Xuất</a:t>
            </a:r>
          </a:p>
        </p:txBody>
      </p:sp>
      <p:sp>
        <p:nvSpPr>
          <p:cNvPr id="6" name="Rounded Rectangle 5"/>
          <p:cNvSpPr/>
          <p:nvPr/>
        </p:nvSpPr>
        <p:spPr>
          <a:xfrm>
            <a:off x="731520" y="1188720"/>
            <a:ext cx="5303520" cy="2971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4937760" cy="2788920"/>
          </a:xfrm>
          <a:prstGeom prst="rect">
            <a:avLst/>
          </a:prstGeom>
          <a:noFill/>
        </p:spPr>
        <p:txBody>
          <a:bodyPr wrap="square" lIns="0" rIns="0" tIns="0" bIns="0">
            <a:spAutoFit/>
          </a:bodyPr>
          <a:lstStyle/>
          <a:p>
            <a:pPr>
              <a:spcAft>
                <a:spcPts val="200"/>
              </a:spcAft>
              <a:defRPr sz="1050" b="1">
                <a:solidFill>
                  <a:srgbClr val="EA580C"/>
                </a:solidFill>
              </a:defRPr>
            </a:pPr>
            <a:r>
              <a:t>TIẾN TRÌNH THỰC NGHIỆM A0 -&gt; A6 (TABLE II TRONG BÁO CÁO)</a:t>
            </a:r>
          </a:p>
          <a:p>
            <a:pPr>
              <a:lnSpc>
                <a:spcPct val="115000"/>
              </a:lnSpc>
              <a:spcAft>
                <a:spcPts val="180"/>
              </a:spcAft>
              <a:defRPr sz="940">
                <a:solidFill>
                  <a:srgbClr val="334155"/>
                </a:solidFill>
              </a:defRPr>
            </a:pPr>
            <a:r>
              <a:t>· A0 (Baseline YOLO11s): 94.74% mAP50 | 62.34% mAP50-95 | 6.52 ms</a:t>
            </a:r>
          </a:p>
          <a:p>
            <a:pPr>
              <a:lnSpc>
                <a:spcPct val="115000"/>
              </a:lnSpc>
              <a:spcAft>
                <a:spcPts val="180"/>
              </a:spcAft>
              <a:defRPr sz="940">
                <a:solidFill>
                  <a:srgbClr val="334155"/>
                </a:solidFill>
              </a:defRPr>
            </a:pPr>
            <a:r>
              <a:t>· A1 (+ Nhánh P2): 94.81% (+0.07% mAP), nhưng độ trễ tăng vọt lên 8.94 ms (+37.1%) [LOẠI BỎ ĐỂ ĐẢM BẢO CHUẨN THỜI GIAN THỰC]</a:t>
            </a:r>
          </a:p>
          <a:p>
            <a:pPr>
              <a:lnSpc>
                <a:spcPct val="115000"/>
              </a:lnSpc>
              <a:spcAft>
                <a:spcPts val="180"/>
              </a:spcAft>
              <a:defRPr sz="940">
                <a:solidFill>
                  <a:srgbClr val="334155"/>
                </a:solidFill>
              </a:defRPr>
            </a:pPr>
            <a:r>
              <a:t>· A2 (+ CoordConv): 94.78% mAP50 | 62.45% mAP50-95 | 6.58 ms (Tăng độ chính xác không gian, 0 ms latency phụ trội)</a:t>
            </a:r>
          </a:p>
          <a:p>
            <a:pPr>
              <a:lnSpc>
                <a:spcPct val="115000"/>
              </a:lnSpc>
              <a:spcAft>
                <a:spcPts val="180"/>
              </a:spcAft>
              <a:defRPr sz="940">
                <a:solidFill>
                  <a:srgbClr val="334155"/>
                </a:solidFill>
              </a:defRPr>
            </a:pPr>
            <a:r>
              <a:t>· A3 (+ RepConv): 94.81% mAP50 | 62.48% mAP50-95 | 6.64 ms (Học đa dạng gradient lúc train)</a:t>
            </a:r>
          </a:p>
          <a:p>
            <a:pPr>
              <a:lnSpc>
                <a:spcPct val="115000"/>
              </a:lnSpc>
              <a:spcAft>
                <a:spcPts val="180"/>
              </a:spcAft>
              <a:defRPr sz="940">
                <a:solidFill>
                  <a:srgbClr val="334155"/>
                </a:solidFill>
              </a:defRPr>
            </a:pPr>
            <a:r>
              <a:t>· A4 (+ Focal EIoU): 94.88% mAP50 | 62.51% mAP50-95 (Bám dính mép biên vi vật thể bị che khuất)</a:t>
            </a:r>
          </a:p>
          <a:p>
            <a:pPr>
              <a:lnSpc>
                <a:spcPct val="115000"/>
              </a:lnSpc>
              <a:spcAft>
                <a:spcPts val="180"/>
              </a:spcAft>
              <a:defRPr sz="940">
                <a:solidFill>
                  <a:srgbClr val="334155"/>
                </a:solidFill>
              </a:defRPr>
            </a:pPr>
            <a:r>
              <a:t>· A5 (+ BiFormer): 94.80% mAP50 | Recall tăng vọt lên 91.15% (Thu giữ ngữ cảnh vi mô toàn cục)</a:t>
            </a:r>
          </a:p>
          <a:p>
            <a:pPr>
              <a:lnSpc>
                <a:spcPct val="115000"/>
              </a:lnSpc>
              <a:spcAft>
                <a:spcPts val="180"/>
              </a:spcAft>
              <a:defRPr sz="940">
                <a:solidFill>
                  <a:srgbClr val="334155"/>
                </a:solidFill>
              </a:defRPr>
            </a:pPr>
            <a:r>
              <a:t>-----------------------------------------------------------------</a:t>
            </a:r>
          </a:p>
          <a:p>
            <a:pPr>
              <a:lnSpc>
                <a:spcPct val="115000"/>
              </a:lnSpc>
              <a:spcAft>
                <a:spcPts val="180"/>
              </a:spcAft>
              <a:defRPr sz="940">
                <a:solidFill>
                  <a:srgbClr val="334155"/>
                </a:solidFill>
              </a:defRPr>
            </a:pPr>
            <a:r>
              <a:t>· A6 (Full Fusion Rep-YOLO11s): 94.83% mAP50 | 62.54% mAP50-95</a:t>
            </a:r>
          </a:p>
          <a:p>
            <a:pPr>
              <a:lnSpc>
                <a:spcPct val="115000"/>
              </a:lnSpc>
              <a:spcAft>
                <a:spcPts val="180"/>
              </a:spcAft>
              <a:defRPr sz="940">
                <a:solidFill>
                  <a:srgbClr val="334155"/>
                </a:solidFill>
              </a:defRPr>
            </a:pPr>
            <a:r>
              <a:t>Độ trễ sụp đổ ngoạn mục từ 7.12 ms -&gt; 2.92 ms sau switch_to_deploy!</a:t>
            </a:r>
          </a:p>
        </p:txBody>
      </p:sp>
      <p:sp>
        <p:nvSpPr>
          <p:cNvPr id="8" name="Rounded Rectangle 7"/>
          <p:cNvSpPr/>
          <p:nvPr/>
        </p:nvSpPr>
        <p:spPr>
          <a:xfrm>
            <a:off x="731520" y="4251960"/>
            <a:ext cx="530352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343400"/>
            <a:ext cx="4937760" cy="1920240"/>
          </a:xfrm>
          <a:prstGeom prst="rect">
            <a:avLst/>
          </a:prstGeom>
          <a:noFill/>
        </p:spPr>
        <p:txBody>
          <a:bodyPr wrap="square" lIns="0" rIns="0" tIns="0" bIns="0">
            <a:spAutoFit/>
          </a:bodyPr>
          <a:lstStyle/>
          <a:p>
            <a:pPr>
              <a:spcAft>
                <a:spcPts val="200"/>
              </a:spcAft>
              <a:defRPr sz="1050" b="1">
                <a:solidFill>
                  <a:srgbClr val="2563EB"/>
                </a:solidFill>
              </a:defRPr>
            </a:pPr>
            <a:r>
              <a:t>MINH CHỨNG KHOA HỌC &amp; QUYẾT ĐỊNH KỸ THUẬT CỐT LÕI</a:t>
            </a:r>
          </a:p>
          <a:p>
            <a:pPr>
              <a:lnSpc>
                <a:spcPct val="115000"/>
              </a:lnSpc>
              <a:spcAft>
                <a:spcPts val="300"/>
              </a:spcAft>
              <a:defRPr sz="980">
                <a:solidFill>
                  <a:srgbClr val="334155"/>
                </a:solidFill>
              </a:defRPr>
            </a:pPr>
            <a:r>
              <a:t>1. Tính thực chất: Từng module đề xuất đều đóng góp giá trị cụ thể vào độ chính xác hoặc khả năng thu hồi (Recall).</a:t>
            </a:r>
          </a:p>
          <a:p>
            <a:pPr>
              <a:lnSpc>
                <a:spcPct val="115000"/>
              </a:lnSpc>
              <a:spcAft>
                <a:spcPts val="300"/>
              </a:spcAft>
              <a:defRPr sz="980">
                <a:solidFill>
                  <a:srgbClr val="334155"/>
                </a:solidFill>
              </a:defRPr>
            </a:pPr>
            <a:r>
              <a:t>2. Quyết định kỹ thuật dũng cảm: Chủ động loại bỏ nhánh P2 (A1) dù mAP tăng nhẹ vì vi phạm nghiêm trọng ràng buộc độ trễ thời gian thực.</a:t>
            </a:r>
          </a:p>
          <a:p>
            <a:pPr>
              <a:lnSpc>
                <a:spcPct val="115000"/>
              </a:lnSpc>
              <a:spcAft>
                <a:spcPts val="300"/>
              </a:spcAft>
              <a:defRPr sz="980">
                <a:solidFill>
                  <a:srgbClr val="334155"/>
                </a:solidFill>
              </a:defRPr>
            </a:pPr>
            <a:r>
              <a:t>3. Kỳ tích suy luận biên: switch_to_deploy cắt giảm 59% độ trễ (7.12 ms -&gt; 2.92 ms), đưa mô hình đạt tốc độ 342.5 FPS!</a:t>
            </a:r>
          </a:p>
        </p:txBody>
      </p:sp>
      <p:sp>
        <p:nvSpPr>
          <p:cNvPr id="10" name="Rounded Rectangle 9"/>
          <p:cNvSpPr/>
          <p:nvPr/>
        </p:nvSpPr>
        <p:spPr>
          <a:xfrm>
            <a:off x="6309360" y="1188720"/>
            <a:ext cx="5120640" cy="5166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6_ablation_A0_A6_tradeoff.png"/>
          <p:cNvPicPr>
            <a:picLocks noChangeAspect="1"/>
          </p:cNvPicPr>
          <p:nvPr/>
        </p:nvPicPr>
        <p:blipFill>
          <a:blip r:embed="rId2"/>
          <a:stretch>
            <a:fillRect/>
          </a:stretch>
        </p:blipFill>
        <p:spPr>
          <a:xfrm>
            <a:off x="6446520" y="1325880"/>
            <a:ext cx="4846320" cy="3977639"/>
          </a:xfrm>
          <a:prstGeom prst="rect">
            <a:avLst/>
          </a:prstGeom>
        </p:spPr>
      </p:pic>
      <p:sp>
        <p:nvSpPr>
          <p:cNvPr id="12" name="TextBox 11"/>
          <p:cNvSpPr txBox="1"/>
          <p:nvPr/>
        </p:nvSpPr>
        <p:spPr>
          <a:xfrm>
            <a:off x="6446520" y="5440680"/>
            <a:ext cx="4846320" cy="777240"/>
          </a:xfrm>
          <a:prstGeom prst="rect">
            <a:avLst/>
          </a:prstGeom>
          <a:noFill/>
        </p:spPr>
        <p:txBody>
          <a:bodyPr wrap="square" lIns="0" rIns="0" tIns="0" bIns="0">
            <a:spAutoFit/>
          </a:bodyPr>
          <a:lstStyle/>
          <a:p>
            <a:pPr>
              <a:defRPr sz="900" i="1">
                <a:solidFill>
                  <a:srgbClr val="475569"/>
                </a:solidFill>
              </a:defRPr>
            </a:pPr>
            <a:r>
              <a:t>Hình 6: Biểu đồ thực nghiệm Ablation A0–A6 chứng minh độ trễ giảm 59% (7.12 ms -&gt; 2.92 ms) sau switch_to_deploy với mAP50 giữ vững 94.83%.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4 · GIẢI THÍCH MÔ HÌNH XAI GRAD-CAM</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15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Kiểm Chứng Thị Giác XAI Grad-CAM: Tập Trung Vào Mũ, Triệt Tiêu Nhiễu</a:t>
            </a:r>
          </a:p>
        </p:txBody>
      </p:sp>
      <p:sp>
        <p:nvSpPr>
          <p:cNvPr id="6" name="Rounded Rectangle 5"/>
          <p:cNvSpPr/>
          <p:nvPr/>
        </p:nvSpPr>
        <p:spPr>
          <a:xfrm>
            <a:off x="731520" y="1188720"/>
            <a:ext cx="10698480" cy="397763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3_gradcam_xai_saliency_comparison.png"/>
          <p:cNvPicPr>
            <a:picLocks noChangeAspect="1"/>
          </p:cNvPicPr>
          <p:nvPr/>
        </p:nvPicPr>
        <p:blipFill>
          <a:blip r:embed="rId2"/>
          <a:stretch>
            <a:fillRect/>
          </a:stretch>
        </p:blipFill>
        <p:spPr>
          <a:xfrm>
            <a:off x="822960" y="1234440"/>
            <a:ext cx="10515600" cy="3886200"/>
          </a:xfrm>
          <a:prstGeom prst="rect">
            <a:avLst/>
          </a:prstGeom>
        </p:spPr>
      </p:pic>
      <p:sp>
        <p:nvSpPr>
          <p:cNvPr id="8" name="Rounded Rectangle 7"/>
          <p:cNvSpPr/>
          <p:nvPr/>
        </p:nvSpPr>
        <p:spPr>
          <a:xfrm>
            <a:off x="731520" y="52578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03520"/>
            <a:ext cx="3108960" cy="1261872"/>
          </a:xfrm>
          <a:prstGeom prst="rect">
            <a:avLst/>
          </a:prstGeom>
          <a:noFill/>
        </p:spPr>
        <p:txBody>
          <a:bodyPr wrap="square" lIns="0" rIns="0" tIns="0" bIns="0">
            <a:spAutoFit/>
          </a:bodyPr>
          <a:lstStyle/>
          <a:p>
            <a:pPr>
              <a:spcAft>
                <a:spcPts val="200"/>
              </a:spcAft>
              <a:defRPr sz="1050" b="1">
                <a:solidFill>
                  <a:srgbClr val="0F172A"/>
                </a:solidFill>
              </a:defRPr>
            </a:pPr>
            <a:r>
              <a:t>Kịch bản 1: Áo Bảo Hộ Cam &amp; Giàn Giáo</a:t>
            </a:r>
          </a:p>
          <a:p>
            <a:pPr>
              <a:lnSpc>
                <a:spcPct val="110000"/>
              </a:lnSpc>
              <a:spcAft>
                <a:spcPts val="120"/>
              </a:spcAft>
              <a:defRPr sz="900">
                <a:solidFill>
                  <a:srgbClr val="334155"/>
                </a:solidFill>
              </a:defRPr>
            </a:pPr>
            <a:r>
              <a:t>· Baseline YOLO11s bị phân tán gradient vào áo phản quang và cột gỗ.</a:t>
            </a:r>
          </a:p>
          <a:p>
            <a:pPr>
              <a:lnSpc>
                <a:spcPct val="110000"/>
              </a:lnSpc>
              <a:spcAft>
                <a:spcPts val="120"/>
              </a:spcAft>
              <a:defRPr sz="900">
                <a:solidFill>
                  <a:srgbClr val="334155"/>
                </a:solidFill>
              </a:defRPr>
            </a:pPr>
            <a:r>
              <a:t>· Rep-YOLO11s tập trung 100% điểm nhiệt vào 4 mũ bảo hộ (conf 0.84).</a:t>
            </a:r>
          </a:p>
          <a:p>
            <a:pPr>
              <a:lnSpc>
                <a:spcPct val="110000"/>
              </a:lnSpc>
              <a:spcAft>
                <a:spcPts val="120"/>
              </a:spcAft>
              <a:defRPr sz="900" b="1">
                <a:solidFill>
                  <a:srgbClr val="0F172A"/>
                </a:solidFill>
              </a:defRPr>
            </a:pPr>
            <a:r>
              <a:t>■ Cơ chế chú ý: Triệt tiêu phân tán nền, bám chặt viền mũ công nhân.</a:t>
            </a:r>
          </a:p>
        </p:txBody>
      </p:sp>
      <p:sp>
        <p:nvSpPr>
          <p:cNvPr id="10" name="Rounded Rectangle 9"/>
          <p:cNvSpPr/>
          <p:nvPr/>
        </p:nvSpPr>
        <p:spPr>
          <a:xfrm>
            <a:off x="4389120" y="52578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303520"/>
            <a:ext cx="3108960" cy="1261872"/>
          </a:xfrm>
          <a:prstGeom prst="rect">
            <a:avLst/>
          </a:prstGeom>
          <a:noFill/>
        </p:spPr>
        <p:txBody>
          <a:bodyPr wrap="square" lIns="0" rIns="0" tIns="0" bIns="0">
            <a:spAutoFit/>
          </a:bodyPr>
          <a:lstStyle/>
          <a:p>
            <a:pPr>
              <a:spcAft>
                <a:spcPts val="200"/>
              </a:spcAft>
              <a:defRPr sz="1050" b="1">
                <a:solidFill>
                  <a:srgbClr val="2563EB"/>
                </a:solidFill>
              </a:defRPr>
            </a:pPr>
            <a:r>
              <a:t>Kịch bản 2: Vi Vật Thể Bị Ngược Sáng</a:t>
            </a:r>
          </a:p>
          <a:p>
            <a:pPr>
              <a:lnSpc>
                <a:spcPct val="110000"/>
              </a:lnSpc>
              <a:spcAft>
                <a:spcPts val="120"/>
              </a:spcAft>
              <a:defRPr sz="900">
                <a:solidFill>
                  <a:srgbClr val="334155"/>
                </a:solidFill>
              </a:defRPr>
            </a:pPr>
            <a:r>
              <a:t>· Độ tương phản mục tiêu bị triệt tiêu bởi ánh sáng cửa sổ chiếu thẳng.</a:t>
            </a:r>
          </a:p>
          <a:p>
            <a:pPr>
              <a:lnSpc>
                <a:spcPct val="110000"/>
              </a:lnSpc>
              <a:spcAft>
                <a:spcPts val="120"/>
              </a:spcAft>
              <a:defRPr sz="900">
                <a:solidFill>
                  <a:srgbClr val="334155"/>
                </a:solidFill>
              </a:defRPr>
            </a:pPr>
            <a:r>
              <a:t>· BiFormer định tuyến token chính xác khóa chặt chiếc mũ nhỏ bên cửa sổ (conf 0.89).</a:t>
            </a:r>
          </a:p>
          <a:p>
            <a:pPr>
              <a:lnSpc>
                <a:spcPct val="110000"/>
              </a:lnSpc>
              <a:spcAft>
                <a:spcPts val="120"/>
              </a:spcAft>
              <a:defRPr sz="900" b="1">
                <a:solidFill>
                  <a:srgbClr val="2563EB"/>
                </a:solidFill>
              </a:defRPr>
            </a:pPr>
            <a:r>
              <a:t>■ Bắt dính vi mô: Nhận diện chuẩn xác ngay cả khi vật thể bị lóa sáng cực hạn.</a:t>
            </a:r>
          </a:p>
        </p:txBody>
      </p:sp>
      <p:sp>
        <p:nvSpPr>
          <p:cNvPr id="12" name="Rounded Rectangle 11"/>
          <p:cNvSpPr/>
          <p:nvPr/>
        </p:nvSpPr>
        <p:spPr>
          <a:xfrm>
            <a:off x="8046720" y="52578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303520"/>
            <a:ext cx="3108960" cy="1261872"/>
          </a:xfrm>
          <a:prstGeom prst="rect">
            <a:avLst/>
          </a:prstGeom>
          <a:noFill/>
        </p:spPr>
        <p:txBody>
          <a:bodyPr wrap="square" lIns="0" rIns="0" tIns="0" bIns="0">
            <a:spAutoFit/>
          </a:bodyPr>
          <a:lstStyle/>
          <a:p>
            <a:pPr>
              <a:spcAft>
                <a:spcPts val="200"/>
              </a:spcAft>
              <a:defRPr sz="1050" b="1">
                <a:solidFill>
                  <a:srgbClr val="EA580C"/>
                </a:solidFill>
              </a:defRPr>
            </a:pPr>
            <a:r>
              <a:t>Kịch bản 3: Biển Báo Tam Giác Màu Vàng</a:t>
            </a:r>
          </a:p>
          <a:p>
            <a:pPr>
              <a:lnSpc>
                <a:spcPct val="110000"/>
              </a:lnSpc>
              <a:spcAft>
                <a:spcPts val="120"/>
              </a:spcAft>
              <a:defRPr sz="900">
                <a:solidFill>
                  <a:srgbClr val="334155"/>
                </a:solidFill>
              </a:defRPr>
            </a:pPr>
            <a:r>
              <a:t>· Baseline kích hoạt mạnh trên biển báo nguy hiểm tam giác màu vàng (báo động giả).</a:t>
            </a:r>
          </a:p>
          <a:p>
            <a:pPr>
              <a:lnSpc>
                <a:spcPct val="110000"/>
              </a:lnSpc>
              <a:spcAft>
                <a:spcPts val="120"/>
              </a:spcAft>
              <a:defRPr sz="900">
                <a:solidFill>
                  <a:srgbClr val="334155"/>
                </a:solidFill>
              </a:defRPr>
            </a:pPr>
            <a:r>
              <a:t>· CoordConv áp đặt tiên đề vị trí giải phẫu loại bỏ hoàn toàn biển báo mặt đất.</a:t>
            </a:r>
          </a:p>
          <a:p>
            <a:pPr>
              <a:lnSpc>
                <a:spcPct val="110000"/>
              </a:lnSpc>
              <a:spcAft>
                <a:spcPts val="120"/>
              </a:spcAft>
              <a:defRPr sz="900" b="1">
                <a:solidFill>
                  <a:srgbClr val="EA580C"/>
                </a:solidFill>
              </a:defRPr>
            </a:pPr>
            <a:r>
              <a:t>■ Tiên đề tọa độ: Khử sạch 100% báo động giả vật tư vàng công trường!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4 · NĂNG LỰC TỔNG QUÁT HÓA ĐA MIỀN</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16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Năng Lực Khái Quát Hóa Ngoại Miền &amp; Giải Mã Hiện Tượng Sụp Đổ IoU</a:t>
            </a:r>
          </a:p>
        </p:txBody>
      </p:sp>
      <p:sp>
        <p:nvSpPr>
          <p:cNvPr id="6" name="Rounded Rectangle 5"/>
          <p:cNvSpPr/>
          <p:nvPr/>
        </p:nvSpPr>
        <p:spPr>
          <a:xfrm>
            <a:off x="731520" y="1188720"/>
            <a:ext cx="5486400" cy="2971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5120640" cy="2788920"/>
          </a:xfrm>
          <a:prstGeom prst="rect">
            <a:avLst/>
          </a:prstGeom>
          <a:noFill/>
        </p:spPr>
        <p:txBody>
          <a:bodyPr wrap="square" lIns="0" rIns="0" tIns="0" bIns="0">
            <a:spAutoFit/>
          </a:bodyPr>
          <a:lstStyle/>
          <a:p>
            <a:pPr>
              <a:spcAft>
                <a:spcPts val="200"/>
              </a:spcAft>
              <a:defRPr sz="1050" b="1">
                <a:solidFill>
                  <a:srgbClr val="EA580C"/>
                </a:solidFill>
              </a:defRPr>
            </a:pPr>
            <a:r>
              <a:t>KẾT QUẢ ZERO-SHOT TRÊN 5 TẬP DỮ LIỆU NGOẠI MIỀN (TABLE III)</a:t>
            </a:r>
          </a:p>
          <a:p>
            <a:pPr>
              <a:lnSpc>
                <a:spcPct val="115000"/>
              </a:lnSpc>
              <a:spcAft>
                <a:spcPts val="200"/>
              </a:spcAft>
              <a:defRPr sz="930">
                <a:solidFill>
                  <a:srgbClr val="334155"/>
                </a:solidFill>
              </a:defRPr>
            </a:pPr>
            <a:r>
              <a:t>· Hard Hat Workers (7,000 ảnh): Đạt đỉnh 97.03% mAP50 (Harmonized PPE) — tương đương nguồn dữ liệu gốc!</a:t>
            </a:r>
          </a:p>
          <a:p>
            <a:pPr>
              <a:lnSpc>
                <a:spcPct val="115000"/>
              </a:lnSpc>
              <a:spcAft>
                <a:spcPts val="200"/>
              </a:spcAft>
              <a:defRPr sz="930">
                <a:solidFill>
                  <a:srgbClr val="334155"/>
                </a:solidFill>
              </a:defRPr>
            </a:pPr>
            <a:r>
              <a:t>· GDUT-HWD (13,499 ảnh): 74.27% mAP50, 90.26% Precision trong bối cảnh công nhân cực kỳ đông đúc (15–30 người/ảnh).</a:t>
            </a:r>
          </a:p>
          <a:p>
            <a:pPr>
              <a:lnSpc>
                <a:spcPct val="115000"/>
              </a:lnSpc>
              <a:spcAft>
                <a:spcPts val="200"/>
              </a:spcAft>
              <a:defRPr sz="930">
                <a:solidFill>
                  <a:srgbClr val="334155"/>
                </a:solidFill>
              </a:defRPr>
            </a:pPr>
            <a:r>
              <a:t>· Safety Helmet Detection (SHD): 76.85% mAP50 trong nhà máy chế tạo cơ khí.</a:t>
            </a:r>
          </a:p>
          <a:p>
            <a:pPr>
              <a:lnSpc>
                <a:spcPct val="115000"/>
              </a:lnSpc>
              <a:spcAft>
                <a:spcPts val="200"/>
              </a:spcAft>
              <a:defRPr sz="930">
                <a:solidFill>
                  <a:srgbClr val="334155"/>
                </a:solidFill>
              </a:defRPr>
            </a:pPr>
            <a:r>
              <a:t>· SFCHD Benchmark: 64.80% mAP50 trong nhà xưởng kết cấu kim loại phức tạp.</a:t>
            </a:r>
          </a:p>
          <a:p>
            <a:pPr>
              <a:lnSpc>
                <a:spcPct val="115000"/>
              </a:lnSpc>
              <a:spcAft>
                <a:spcPts val="200"/>
              </a:spcAft>
              <a:defRPr sz="930">
                <a:solidFill>
                  <a:srgbClr val="334155"/>
                </a:solidFill>
              </a:defRPr>
            </a:pPr>
            <a:r>
              <a:t>· SHEL5K (5,000 ảnh): 41.15% mAP50 (Góc nhìn Drone nhìn thẳng đứng 90 độ, vi vật thể &lt;15px).</a:t>
            </a:r>
          </a:p>
          <a:p>
            <a:pPr>
              <a:lnSpc>
                <a:spcPct val="115000"/>
              </a:lnSpc>
              <a:spcAft>
                <a:spcPts val="200"/>
              </a:spcAft>
              <a:defRPr sz="930" b="1">
                <a:solidFill>
                  <a:srgbClr val="EA580C"/>
                </a:solidFill>
              </a:defRPr>
            </a:pPr>
            <a:r>
              <a:t>■ Năng lực chuyển giao: Vượt trội trên 5 bộ kiểm thử ngoại miền độc lập với quy mô &gt;33,000 ảnh!</a:t>
            </a:r>
          </a:p>
        </p:txBody>
      </p:sp>
      <p:sp>
        <p:nvSpPr>
          <p:cNvPr id="8" name="Rounded Rectangle 7"/>
          <p:cNvSpPr/>
          <p:nvPr/>
        </p:nvSpPr>
        <p:spPr>
          <a:xfrm>
            <a:off x="731520" y="4251960"/>
            <a:ext cx="548640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343400"/>
            <a:ext cx="5120640" cy="1920240"/>
          </a:xfrm>
          <a:prstGeom prst="rect">
            <a:avLst/>
          </a:prstGeom>
          <a:noFill/>
        </p:spPr>
        <p:txBody>
          <a:bodyPr wrap="square" lIns="0" rIns="0" tIns="0" bIns="0">
            <a:spAutoFit/>
          </a:bodyPr>
          <a:lstStyle/>
          <a:p>
            <a:pPr>
              <a:spcAft>
                <a:spcPts val="200"/>
              </a:spcAft>
              <a:defRPr sz="1050" b="1">
                <a:solidFill>
                  <a:srgbClr val="2563EB"/>
                </a:solidFill>
              </a:defRPr>
            </a:pPr>
            <a:r>
              <a:t>ĐÁNH GIÁ NĂNG LỰC TỔNG QUÁT HÓA NGOẠI MIỀN</a:t>
            </a:r>
          </a:p>
          <a:p>
            <a:pPr>
              <a:lnSpc>
                <a:spcPct val="115000"/>
              </a:lnSpc>
              <a:spcAft>
                <a:spcPts val="200"/>
              </a:spcAft>
              <a:defRPr sz="940">
                <a:solidFill>
                  <a:srgbClr val="334155"/>
                </a:solidFill>
              </a:defRPr>
            </a:pPr>
            <a:r>
              <a:t>· Khả năng thích ứng vượt bậc: Mô hình chuyển giao cực kỳ vững chắc trên toàn bộ các góc máy camera công trường mặt đất.</a:t>
            </a:r>
          </a:p>
          <a:p>
            <a:pPr>
              <a:lnSpc>
                <a:spcPct val="115000"/>
              </a:lnSpc>
              <a:spcAft>
                <a:spcPts val="200"/>
              </a:spcAft>
              <a:defRPr sz="940">
                <a:solidFill>
                  <a:srgbClr val="334155"/>
                </a:solidFill>
              </a:defRPr>
            </a:pPr>
            <a:r>
              <a:t>· Độ tin cậy công nghiệp cao: Chỉ số Precision duy trì từ 85% đến 94% trên mọi miền dữ liệu chưa từng quan sát lúc huấn luyện.</a:t>
            </a:r>
          </a:p>
          <a:p>
            <a:pPr>
              <a:lnSpc>
                <a:spcPct val="115000"/>
              </a:lnSpc>
              <a:spcAft>
                <a:spcPts val="200"/>
              </a:spcAft>
              <a:defRPr sz="940">
                <a:solidFill>
                  <a:srgbClr val="334155"/>
                </a:solidFill>
              </a:defRPr>
            </a:pPr>
            <a:r>
              <a:t>· Nhận diện chuẩn xác mọi màu mũ (vàng, trắng, xanh dương, đỏ) dưới mọi điều kiện thời tiết.</a:t>
            </a:r>
          </a:p>
          <a:p>
            <a:pPr>
              <a:lnSpc>
                <a:spcPct val="115000"/>
              </a:lnSpc>
              <a:spcAft>
                <a:spcPts val="200"/>
              </a:spcAft>
              <a:defRPr sz="940" b="1">
                <a:solidFill>
                  <a:srgbClr val="2563EB"/>
                </a:solidFill>
              </a:defRPr>
            </a:pPr>
            <a:r>
              <a:t>■ Khẳng định: Biểu diễn đặc trưng vi mô của Rep-YOLO11s có tính bất biến với môi trường chiếu sáng.</a:t>
            </a:r>
          </a:p>
        </p:txBody>
      </p:sp>
      <p:sp>
        <p:nvSpPr>
          <p:cNvPr id="10" name="Rounded Rectangle 9"/>
          <p:cNvSpPr/>
          <p:nvPr/>
        </p:nvSpPr>
        <p:spPr>
          <a:xfrm>
            <a:off x="6492240" y="1188720"/>
            <a:ext cx="4937760" cy="297180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261872"/>
            <a:ext cx="4572000" cy="2788920"/>
          </a:xfrm>
          <a:prstGeom prst="rect">
            <a:avLst/>
          </a:prstGeom>
          <a:noFill/>
        </p:spPr>
        <p:txBody>
          <a:bodyPr wrap="square" lIns="0" rIns="0" tIns="0" bIns="0">
            <a:spAutoFit/>
          </a:bodyPr>
          <a:lstStyle/>
          <a:p>
            <a:pPr>
              <a:defRPr sz="1050" b="1">
                <a:solidFill>
                  <a:srgbClr val="EA580C"/>
                </a:solidFill>
              </a:defRPr>
            </a:pPr>
            <a:r>
              <a:t>GIẢI MÃ HIỆN TƯỢNG SỤP ĐỔ IOU (IOU COLLAPSE AUTOPSY)</a:t>
            </a:r>
          </a:p>
          <a:p>
            <a:pPr>
              <a:spcAft>
                <a:spcPts val="200"/>
              </a:spcAft>
              <a:defRPr sz="1200" b="1">
                <a:solidFill>
                  <a:srgbClr val="0F172A"/>
                </a:solidFill>
              </a:defRPr>
            </a:pPr>
            <a:r>
              <a:t>IoU = A_head / A_body xấp xỉ 0.07 – 0.14 &lt;&lt; 0.50</a:t>
            </a:r>
          </a:p>
          <a:p>
            <a:pPr>
              <a:lnSpc>
                <a:spcPct val="115000"/>
              </a:lnSpc>
              <a:spcAft>
                <a:spcPts val="200"/>
              </a:spcAft>
              <a:defRPr sz="930">
                <a:solidFill>
                  <a:srgbClr val="334155"/>
                </a:solidFill>
              </a:defRPr>
            </a:pPr>
            <a:r>
              <a:t>1. Xung Đột Định Nghĩa Nhãn Giữa Các Tập Dữ Liệu:</a:t>
            </a:r>
          </a:p>
          <a:p>
            <a:pPr>
              <a:lnSpc>
                <a:spcPct val="115000"/>
              </a:lnSpc>
              <a:spcAft>
                <a:spcPts val="200"/>
              </a:spcAft>
              <a:defRPr sz="930">
                <a:solidFill>
                  <a:srgbClr val="334155"/>
                </a:solidFill>
              </a:defRPr>
            </a:pPr>
            <a:r>
              <a:t>· Tập nguồn SHWD định nghĩa "person" là Toàn Thân (Full-Body).</a:t>
            </a:r>
          </a:p>
          <a:p>
            <a:pPr>
              <a:lnSpc>
                <a:spcPct val="115000"/>
              </a:lnSpc>
              <a:spcAft>
                <a:spcPts val="200"/>
              </a:spcAft>
              <a:defRPr sz="930">
                <a:solidFill>
                  <a:srgbClr val="334155"/>
                </a:solidFill>
              </a:defRPr>
            </a:pPr>
            <a:r>
              <a:t>· Tập Hard Hat Workers lại định nghĩa "person" là Riêng Phần Đầu (Head-Only).</a:t>
            </a:r>
          </a:p>
          <a:p>
            <a:pPr>
              <a:lnSpc>
                <a:spcPct val="115000"/>
              </a:lnSpc>
              <a:spcAft>
                <a:spcPts val="200"/>
              </a:spcAft>
              <a:defRPr sz="930">
                <a:solidFill>
                  <a:srgbClr val="334155"/>
                </a:solidFill>
              </a:defRPr>
            </a:pPr>
            <a:r>
              <a:t>2. Cơ chế gây sụt giảm mAP giả tạo:</a:t>
            </a:r>
          </a:p>
          <a:p>
            <a:pPr>
              <a:lnSpc>
                <a:spcPct val="115000"/>
              </a:lnSpc>
              <a:spcAft>
                <a:spcPts val="200"/>
              </a:spcAft>
              <a:defRPr sz="930">
                <a:solidFill>
                  <a:srgbClr val="334155"/>
                </a:solidFill>
              </a:defRPr>
            </a:pPr>
            <a:r>
              <a:t>Khi Rep-YOLO11s dự đoán đúng toàn thân công nhân, hộp ground-truth đầu người bị lọt thỏm bên trong. Do IoU &lt;&lt; 0.50, COCO evaluation phạt cả False Positive và False Negative, kéo tụt mAP joint xuống 74.40%!</a:t>
            </a:r>
          </a:p>
          <a:p>
            <a:pPr>
              <a:lnSpc>
                <a:spcPct val="115000"/>
              </a:lnSpc>
              <a:spcAft>
                <a:spcPts val="200"/>
              </a:spcAft>
              <a:defRPr sz="930" b="1">
                <a:solidFill>
                  <a:srgbClr val="EA580C"/>
                </a:solidFill>
              </a:defRPr>
            </a:pPr>
            <a:r>
              <a:t>■ Kết luận: Hiện tượng sụt giảm điểm số hoàn toàn do dị biệt nhãn người, không phải suy giảm năng lực!</a:t>
            </a:r>
          </a:p>
        </p:txBody>
      </p:sp>
      <p:sp>
        <p:nvSpPr>
          <p:cNvPr id="12" name="Rounded Rectangle 11"/>
          <p:cNvSpPr/>
          <p:nvPr/>
        </p:nvSpPr>
        <p:spPr>
          <a:xfrm>
            <a:off x="6492240" y="4251960"/>
            <a:ext cx="4937760" cy="210312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4343400"/>
            <a:ext cx="4572000" cy="1920240"/>
          </a:xfrm>
          <a:prstGeom prst="rect">
            <a:avLst/>
          </a:prstGeom>
          <a:noFill/>
        </p:spPr>
        <p:txBody>
          <a:bodyPr wrap="square" lIns="0" rIns="0" tIns="0" bIns="0">
            <a:spAutoFit/>
          </a:bodyPr>
          <a:lstStyle/>
          <a:p>
            <a:pPr>
              <a:defRPr sz="1050" b="1">
                <a:solidFill>
                  <a:srgbClr val="EA580C"/>
                </a:solidFill>
              </a:defRPr>
            </a:pPr>
            <a:r>
              <a:t>ĐỘT PHÁ GIAO THỨC HARMONIZED PPE (HAT-ONLY)</a:t>
            </a:r>
          </a:p>
          <a:p>
            <a:pPr>
              <a:spcAft>
                <a:spcPts val="200"/>
              </a:spcAft>
              <a:defRPr sz="1150" b="1">
                <a:solidFill>
                  <a:srgbClr val="0F172A"/>
                </a:solidFill>
              </a:defRPr>
            </a:pPr>
            <a:r>
              <a:t>Phục Hồi Độ Chính Xác Thực Tế Lên 97.03% mAP50</a:t>
            </a:r>
          </a:p>
          <a:p>
            <a:pPr>
              <a:lnSpc>
                <a:spcPct val="115000"/>
              </a:lnSpc>
              <a:spcAft>
                <a:spcPts val="200"/>
              </a:spcAft>
              <a:defRPr sz="940">
                <a:solidFill>
                  <a:srgbClr val="334155"/>
                </a:solidFill>
              </a:defRPr>
            </a:pPr>
            <a:r>
              <a:t>· Đề xuất giao thức Harmonized PPE đánh giá riêng lớp mũ (nơi định nghĩa 2 tập đồng nhất 100%).</a:t>
            </a:r>
          </a:p>
          <a:p>
            <a:pPr>
              <a:lnSpc>
                <a:spcPct val="115000"/>
              </a:lnSpc>
              <a:spcAft>
                <a:spcPts val="200"/>
              </a:spcAft>
              <a:defRPr sz="940">
                <a:solidFill>
                  <a:srgbClr val="334155"/>
                </a:solidFill>
              </a:defRPr>
            </a:pPr>
            <a:r>
              <a:t>· Kết quả: mAP50 phục hồi ngoạn mục từ 74.40% lên 97.03%!</a:t>
            </a:r>
          </a:p>
          <a:p>
            <a:pPr>
              <a:lnSpc>
                <a:spcPct val="115000"/>
              </a:lnSpc>
              <a:spcAft>
                <a:spcPts val="200"/>
              </a:spcAft>
              <a:defRPr sz="940">
                <a:solidFill>
                  <a:srgbClr val="334155"/>
                </a:solidFill>
              </a:defRPr>
            </a:pPr>
            <a:r>
              <a:t>· Đồng nhất không gian nhãn Hat-Only đo lường chuẩn xác 100% năng lực phát hiện mũ thực tế.</a:t>
            </a:r>
          </a:p>
          <a:p>
            <a:pPr>
              <a:lnSpc>
                <a:spcPct val="115000"/>
              </a:lnSpc>
              <a:spcAft>
                <a:spcPts val="200"/>
              </a:spcAft>
              <a:defRPr sz="940" b="1">
                <a:solidFill>
                  <a:srgbClr val="EA580C"/>
                </a:solidFill>
              </a:defRPr>
            </a:pPr>
            <a:r>
              <a:t>■ Ý nghĩa: Chứng minh năng lực chuyển giao của mô hình hoàn hảo, lỗi sụt giảm chỉ do sai lệch nhãn người.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TIÊU CHÍ 4 · GIÁ TRỊ THỰC TIỄN &amp; TRIỂN KHAI PHẦN CỨNG BIÊN</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17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Kiểm Chứng Phần Cứng Đa Nền Tảng &amp; Pipeline RTSP Thời Gian Thực</a:t>
            </a:r>
          </a:p>
        </p:txBody>
      </p:sp>
      <p:sp>
        <p:nvSpPr>
          <p:cNvPr id="6" name="Rounded Rectangle 5"/>
          <p:cNvSpPr/>
          <p:nvPr/>
        </p:nvSpPr>
        <p:spPr>
          <a:xfrm>
            <a:off x="731520" y="1188720"/>
            <a:ext cx="5120640" cy="2971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61872"/>
            <a:ext cx="4754880" cy="2788920"/>
          </a:xfrm>
          <a:prstGeom prst="rect">
            <a:avLst/>
          </a:prstGeom>
          <a:noFill/>
        </p:spPr>
        <p:txBody>
          <a:bodyPr wrap="square" lIns="0" rIns="0" tIns="0" bIns="0">
            <a:spAutoFit/>
          </a:bodyPr>
          <a:lstStyle/>
          <a:p>
            <a:pPr>
              <a:spcAft>
                <a:spcPts val="200"/>
              </a:spcAft>
              <a:defRPr sz="1050" b="1">
                <a:solidFill>
                  <a:srgbClr val="EA580C"/>
                </a:solidFill>
              </a:defRPr>
            </a:pPr>
            <a:r>
              <a:t>KIỂM CHỨNG VẬT LÝ TRÊN ĐA DẠNG PHẦN CỨNG (TABLE IV)</a:t>
            </a:r>
          </a:p>
          <a:p>
            <a:pPr>
              <a:lnSpc>
                <a:spcPct val="115000"/>
              </a:lnSpc>
              <a:spcAft>
                <a:spcPts val="180"/>
              </a:spcAft>
              <a:defRPr sz="930">
                <a:solidFill>
                  <a:srgbClr val="334155"/>
                </a:solidFill>
              </a:defRPr>
            </a:pPr>
            <a:r>
              <a:t>· Tesla T4 · TensorRT FP16: 2.92 ms  |  342.5 FPS (Ultra Real-Time)</a:t>
            </a:r>
          </a:p>
          <a:p>
            <a:pPr>
              <a:lnSpc>
                <a:spcPct val="115000"/>
              </a:lnSpc>
              <a:spcAft>
                <a:spcPts val="180"/>
              </a:spcAft>
              <a:defRPr sz="930">
                <a:solidFill>
                  <a:srgbClr val="334155"/>
                </a:solidFill>
              </a:defRPr>
            </a:pPr>
            <a:r>
              <a:t>· RTX 3050 Laptop · TRT FP16: 5.35 ms  |  187.1 FPS (Edge AI)</a:t>
            </a:r>
          </a:p>
          <a:p>
            <a:pPr>
              <a:lnSpc>
                <a:spcPct val="115000"/>
              </a:lnSpc>
              <a:spcAft>
                <a:spcPts val="180"/>
              </a:spcAft>
              <a:defRPr sz="930">
                <a:solidFill>
                  <a:srgbClr val="334155"/>
                </a:solidFill>
              </a:defRPr>
            </a:pPr>
            <a:r>
              <a:t>· RTX 3050 Laptop · Native FP32: 12.43 ms  |  80.4 FPS</a:t>
            </a:r>
          </a:p>
          <a:p>
            <a:pPr>
              <a:lnSpc>
                <a:spcPct val="115000"/>
              </a:lnSpc>
              <a:spcAft>
                <a:spcPts val="180"/>
              </a:spcAft>
              <a:defRPr sz="930">
                <a:solidFill>
                  <a:srgbClr val="334155"/>
                </a:solidFill>
              </a:defRPr>
            </a:pPr>
            <a:r>
              <a:t>· GeForce MX230 (2GB VRAM) · FP32: 36.00 ms  |  27.8 FPS [BUDGET]</a:t>
            </a:r>
          </a:p>
          <a:p>
            <a:pPr>
              <a:lnSpc>
                <a:spcPct val="115000"/>
              </a:lnSpc>
              <a:spcAft>
                <a:spcPts val="180"/>
              </a:spcAft>
              <a:defRPr sz="930">
                <a:solidFill>
                  <a:srgbClr val="334155"/>
                </a:solidFill>
              </a:defRPr>
            </a:pPr>
            <a:r>
              <a:t>· Edge CPU (Intel 4-Cores) · INT8: 28.56 ms  |  35.0 FPS</a:t>
            </a:r>
          </a:p>
          <a:p>
            <a:pPr>
              <a:lnSpc>
                <a:spcPct val="115000"/>
              </a:lnSpc>
              <a:spcAft>
                <a:spcPts val="180"/>
              </a:spcAft>
              <a:defRPr sz="930">
                <a:solidFill>
                  <a:srgbClr val="334155"/>
                </a:solidFill>
              </a:defRPr>
            </a:pPr>
            <a:r>
              <a:t>-----------------------------------------------------------------</a:t>
            </a:r>
          </a:p>
          <a:p>
            <a:pPr>
              <a:lnSpc>
                <a:spcPct val="115000"/>
              </a:lnSpc>
              <a:spcAft>
                <a:spcPts val="180"/>
              </a:spcAft>
              <a:defRPr sz="930">
                <a:solidFill>
                  <a:srgbClr val="334155"/>
                </a:solidFill>
              </a:defRPr>
            </a:pPr>
            <a:r>
              <a:t>Điểm sáng đột phá đặc biệt:</a:t>
            </a:r>
          </a:p>
          <a:p>
            <a:pPr>
              <a:lnSpc>
                <a:spcPct val="115000"/>
              </a:lnSpc>
              <a:spcAft>
                <a:spcPts val="180"/>
              </a:spcAft>
              <a:defRPr sz="930">
                <a:solidFill>
                  <a:srgbClr val="334155"/>
                </a:solidFill>
              </a:defRPr>
            </a:pPr>
            <a:r>
              <a:t>· Trên laptop văn phòng cũ NVIDIA MX230 chỉ có 2GB VRAM và KHÔNG có nhân Tensor Cores, mô hình vẫn đạt 27.8 FPS — vượt qua ngưỡng thời gian thực chuẩn 24 FPS!</a:t>
            </a:r>
          </a:p>
          <a:p>
            <a:pPr>
              <a:lnSpc>
                <a:spcPct val="115000"/>
              </a:lnSpc>
              <a:spcAft>
                <a:spcPts val="180"/>
              </a:spcAft>
              <a:defRPr sz="930" b="1">
                <a:solidFill>
                  <a:srgbClr val="EA580C"/>
                </a:solidFill>
              </a:defRPr>
            </a:pPr>
            <a:r>
              <a:t>■ Đột phá: Đạt thông lượng mượt mà trên toàn bộ các phân khúc phần cứng!</a:t>
            </a:r>
          </a:p>
        </p:txBody>
      </p:sp>
      <p:sp>
        <p:nvSpPr>
          <p:cNvPr id="8" name="Rounded Rectangle 7"/>
          <p:cNvSpPr/>
          <p:nvPr/>
        </p:nvSpPr>
        <p:spPr>
          <a:xfrm>
            <a:off x="731520" y="4251960"/>
            <a:ext cx="51206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343400"/>
            <a:ext cx="4754880" cy="1920240"/>
          </a:xfrm>
          <a:prstGeom prst="rect">
            <a:avLst/>
          </a:prstGeom>
          <a:noFill/>
        </p:spPr>
        <p:txBody>
          <a:bodyPr wrap="square" lIns="0" rIns="0" tIns="0" bIns="0">
            <a:spAutoFit/>
          </a:bodyPr>
          <a:lstStyle/>
          <a:p>
            <a:pPr>
              <a:spcAft>
                <a:spcPts val="200"/>
              </a:spcAft>
              <a:defRPr sz="1050" b="1">
                <a:solidFill>
                  <a:srgbClr val="2563EB"/>
                </a:solidFill>
              </a:defRPr>
            </a:pPr>
            <a:r>
              <a:t>Ý NGHĨA TRIỂN KHAI THỰC TIỄN TẠI CÔNG TRƯỜNG</a:t>
            </a:r>
          </a:p>
          <a:p>
            <a:pPr>
              <a:lnSpc>
                <a:spcPct val="115000"/>
              </a:lnSpc>
              <a:spcAft>
                <a:spcPts val="200"/>
              </a:spcAft>
              <a:defRPr sz="940">
                <a:solidFill>
                  <a:srgbClr val="334155"/>
                </a:solidFill>
              </a:defRPr>
            </a:pPr>
            <a:r>
              <a:t>· Triển khai tại chỗ (On-premise): Không phụ thuộc vào kết nối Internet đám mây, bảo mật tuyệt đối dữ liệu công trường.</a:t>
            </a:r>
          </a:p>
          <a:p>
            <a:pPr>
              <a:lnSpc>
                <a:spcPct val="115000"/>
              </a:lnSpc>
              <a:spcAft>
                <a:spcPts val="200"/>
              </a:spcAft>
              <a:defRPr sz="940">
                <a:solidFill>
                  <a:srgbClr val="334155"/>
                </a:solidFill>
              </a:defRPr>
            </a:pPr>
            <a:r>
              <a:t>· Chi phí đầu tư gần như 0 đồng: Vận hành ngay trên máy tính văn phòng sẵn có tại các lán trại chỉ huy công trường xây dựng.</a:t>
            </a:r>
          </a:p>
          <a:p>
            <a:pPr>
              <a:lnSpc>
                <a:spcPct val="115000"/>
              </a:lnSpc>
              <a:spcAft>
                <a:spcPts val="200"/>
              </a:spcAft>
              <a:defRPr sz="940">
                <a:solidFill>
                  <a:srgbClr val="334155"/>
                </a:solidFill>
              </a:defRPr>
            </a:pPr>
            <a:r>
              <a:t>· Tương thích giao thức mở: Kết nối trực tiếp mọi luồng camera RTSP/ONVIF hiện hữu.</a:t>
            </a:r>
          </a:p>
          <a:p>
            <a:pPr>
              <a:lnSpc>
                <a:spcPct val="115000"/>
              </a:lnSpc>
              <a:spcAft>
                <a:spcPts val="200"/>
              </a:spcAft>
              <a:defRPr sz="940" b="1">
                <a:solidFill>
                  <a:srgbClr val="2563EB"/>
                </a:solidFill>
              </a:defRPr>
            </a:pPr>
            <a:r>
              <a:t>■ Khẳng định tính khả thi: Đề tài sẵn sàng đưa vào áp dụng thực tế ngay lập tức!</a:t>
            </a:r>
          </a:p>
        </p:txBody>
      </p:sp>
      <p:sp>
        <p:nvSpPr>
          <p:cNvPr id="10" name="Rounded Rectangle 9"/>
          <p:cNvSpPr/>
          <p:nvPr/>
        </p:nvSpPr>
        <p:spPr>
          <a:xfrm>
            <a:off x="6126480" y="1188720"/>
            <a:ext cx="5303520" cy="2606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4_industrial_rtsp_surveillance_pipeline.png"/>
          <p:cNvPicPr>
            <a:picLocks noChangeAspect="1"/>
          </p:cNvPicPr>
          <p:nvPr/>
        </p:nvPicPr>
        <p:blipFill>
          <a:blip r:embed="rId2"/>
          <a:stretch>
            <a:fillRect/>
          </a:stretch>
        </p:blipFill>
        <p:spPr>
          <a:xfrm>
            <a:off x="6263640" y="1261872"/>
            <a:ext cx="5029200" cy="2423160"/>
          </a:xfrm>
          <a:prstGeom prst="rect">
            <a:avLst/>
          </a:prstGeom>
        </p:spPr>
      </p:pic>
      <p:sp>
        <p:nvSpPr>
          <p:cNvPr id="12" name="Rounded Rectangle 11"/>
          <p:cNvSpPr/>
          <p:nvPr/>
        </p:nvSpPr>
        <p:spPr>
          <a:xfrm>
            <a:off x="6126480" y="3931920"/>
            <a:ext cx="5303520" cy="24231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4023360"/>
            <a:ext cx="4974336" cy="2240280"/>
          </a:xfrm>
          <a:prstGeom prst="rect">
            <a:avLst/>
          </a:prstGeom>
          <a:noFill/>
        </p:spPr>
        <p:txBody>
          <a:bodyPr wrap="square" lIns="0" rIns="0" tIns="0" bIns="0">
            <a:spAutoFit/>
          </a:bodyPr>
          <a:lstStyle/>
          <a:p>
            <a:pPr>
              <a:spcAft>
                <a:spcPts val="200"/>
              </a:spcAft>
              <a:defRPr sz="1050" b="1">
                <a:solidFill>
                  <a:srgbClr val="2563EB"/>
                </a:solidFill>
              </a:defRPr>
            </a:pPr>
            <a:r>
              <a:t>BÓC TÁCH ĐỘ TRỄ LUỒNG RTSP TOÀN TRÌNH:</a:t>
            </a:r>
          </a:p>
          <a:p>
            <a:pPr>
              <a:lnSpc>
                <a:spcPct val="115000"/>
              </a:lnSpc>
              <a:spcAft>
                <a:spcPts val="220"/>
              </a:spcAft>
              <a:defRPr sz="950">
                <a:solidFill>
                  <a:srgbClr val="334155"/>
                </a:solidFill>
              </a:defRPr>
            </a:pPr>
            <a:r>
              <a:t>T_total = T_dec (3.5–5.0ms) + T_prep (1.2–2.0ms) + T_gpu (2.92–5.35ms) + T_nms (1.5–2.8ms) + T_ui (2.2–3.4ms)</a:t>
            </a:r>
          </a:p>
          <a:p>
            <a:pPr>
              <a:lnSpc>
                <a:spcPct val="115000"/>
              </a:lnSpc>
              <a:spcAft>
                <a:spcPts val="220"/>
              </a:spcAft>
              <a:defRPr sz="950">
                <a:solidFill>
                  <a:srgbClr val="334155"/>
                </a:solidFill>
              </a:defRPr>
            </a:pPr>
            <a:r>
              <a:t>= 10.54 – 15.38 ms toàn trình.</a:t>
            </a:r>
          </a:p>
          <a:p>
            <a:pPr>
              <a:lnSpc>
                <a:spcPct val="115000"/>
              </a:lnSpc>
              <a:spcAft>
                <a:spcPts val="220"/>
              </a:spcAft>
              <a:defRPr sz="950">
                <a:solidFill>
                  <a:srgbClr val="334155"/>
                </a:solidFill>
              </a:defRPr>
            </a:pPr>
            <a:r>
              <a:t>Đạt thông lượng thực tế 65 đến 95 FPS trên luồng camera RTSP trực tiếp với laptop RTX 3050, đảm bảo xử lý đồng thời 2 đến 3 luồng camera công trường thời gian thực mượt mà mà không bị rớt khung hình!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
            <a:ext cx="8686800" cy="237744"/>
          </a:xfrm>
          <a:prstGeom prst="rect">
            <a:avLst/>
          </a:prstGeom>
          <a:noFill/>
        </p:spPr>
        <p:txBody>
          <a:bodyPr wrap="none" lIns="0" rIns="0" tIns="0" bIns="0">
            <a:spAutoFit/>
          </a:bodyPr>
          <a:lstStyle/>
          <a:p>
            <a:pPr>
              <a:defRPr sz="1000" b="1">
                <a:solidFill>
                  <a:srgbClr val="EA580C"/>
                </a:solidFill>
              </a:defRPr>
            </a:pPr>
            <a:r>
              <a:t>LỘ TRÌNH THỰC HIỆN TOÀN DIỆN &amp; TỔNG KẾT</a:t>
            </a:r>
          </a:p>
        </p:txBody>
      </p:sp>
      <p:sp>
        <p:nvSpPr>
          <p:cNvPr id="4" name="TextBox 3"/>
          <p:cNvSpPr txBox="1"/>
          <p:nvPr/>
        </p:nvSpPr>
        <p:spPr>
          <a:xfrm>
            <a:off x="10332720" y="237744"/>
            <a:ext cx="1097280" cy="237744"/>
          </a:xfrm>
          <a:prstGeom prst="rect">
            <a:avLst/>
          </a:prstGeom>
          <a:noFill/>
        </p:spPr>
        <p:txBody>
          <a:bodyPr wrap="none" lIns="0" rIns="0" tIns="0" bIns="0">
            <a:spAutoFit/>
          </a:bodyPr>
          <a:lstStyle/>
          <a:p>
            <a:pPr algn="r">
              <a:defRPr sz="1100" b="1">
                <a:solidFill>
                  <a:srgbClr val="475569"/>
                </a:solidFill>
              </a:defRPr>
            </a:pPr>
            <a:r>
              <a:t>18 / 18</a:t>
            </a:r>
          </a:p>
        </p:txBody>
      </p:sp>
      <p:sp>
        <p:nvSpPr>
          <p:cNvPr id="5" name="TextBox 4"/>
          <p:cNvSpPr txBox="1"/>
          <p:nvPr/>
        </p:nvSpPr>
        <p:spPr>
          <a:xfrm>
            <a:off x="731520" y="475488"/>
            <a:ext cx="10698480" cy="594360"/>
          </a:xfrm>
          <a:prstGeom prst="rect">
            <a:avLst/>
          </a:prstGeom>
          <a:noFill/>
        </p:spPr>
        <p:txBody>
          <a:bodyPr wrap="square" lIns="0" rIns="0" tIns="0" bIns="0">
            <a:spAutoFit/>
          </a:bodyPr>
          <a:lstStyle/>
          <a:p>
            <a:pPr>
              <a:defRPr sz="2100" b="1">
                <a:solidFill>
                  <a:srgbClr val="0F172A"/>
                </a:solidFill>
              </a:defRPr>
            </a:pPr>
            <a:r>
              <a:t>Lộ Trình Triển Khai Toàn Diện &amp; Khẳng Định Giá Trị Đề Tài</a:t>
            </a:r>
          </a:p>
        </p:txBody>
      </p:sp>
      <p:sp>
        <p:nvSpPr>
          <p:cNvPr id="6" name="Rounded Rectangle 5"/>
          <p:cNvSpPr/>
          <p:nvPr/>
        </p:nvSpPr>
        <p:spPr>
          <a:xfrm>
            <a:off x="731520" y="118872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261872"/>
            <a:ext cx="3108960" cy="2057400"/>
          </a:xfrm>
          <a:prstGeom prst="rect">
            <a:avLst/>
          </a:prstGeom>
          <a:noFill/>
        </p:spPr>
        <p:txBody>
          <a:bodyPr wrap="square" lIns="0" rIns="0" tIns="0" bIns="0">
            <a:spAutoFit/>
          </a:bodyPr>
          <a:lstStyle/>
          <a:p>
            <a:pPr>
              <a:defRPr sz="1000" b="1">
                <a:solidFill>
                  <a:srgbClr val="EA580C"/>
                </a:solidFill>
              </a:defRPr>
            </a:pPr>
            <a:r>
              <a:t>GIAI ĐOẠN 1 · ĐÃ HOÀN THÀNH 100%</a:t>
            </a:r>
          </a:p>
          <a:p>
            <a:pPr>
              <a:spcAft>
                <a:spcPts val="200"/>
              </a:spcAft>
              <a:defRPr sz="1100" b="1">
                <a:solidFill>
                  <a:srgbClr val="0F172A"/>
                </a:solidFill>
              </a:defRPr>
            </a:pPr>
            <a:r>
              <a:t>Thẩm Định Tính Khả Thi Vững Chắc</a:t>
            </a:r>
          </a:p>
          <a:p>
            <a:pPr>
              <a:lnSpc>
                <a:spcPct val="112000"/>
              </a:lnSpc>
              <a:spcAft>
                <a:spcPts val="180"/>
              </a:spcAft>
              <a:defRPr sz="919">
                <a:solidFill>
                  <a:srgbClr val="334155"/>
                </a:solidFill>
              </a:defRPr>
            </a:pPr>
            <a:r>
              <a:t>· Xác lập bài toán rõ ràng, giải quyết triệt để 4 nút thắt công nghệ.</a:t>
            </a:r>
          </a:p>
          <a:p>
            <a:pPr>
              <a:lnSpc>
                <a:spcPct val="112000"/>
              </a:lnSpc>
              <a:spcAft>
                <a:spcPts val="180"/>
              </a:spcAft>
              <a:defRPr sz="919">
                <a:solidFill>
                  <a:srgbClr val="334155"/>
                </a:solidFill>
              </a:defRPr>
            </a:pPr>
            <a:r>
              <a:t>· Tự lập trình 4 module toán học trong custom_ablation_modules.py.</a:t>
            </a:r>
          </a:p>
          <a:p>
            <a:pPr>
              <a:lnSpc>
                <a:spcPct val="112000"/>
              </a:lnSpc>
              <a:spcAft>
                <a:spcPts val="180"/>
              </a:spcAft>
              <a:defRPr sz="919">
                <a:solidFill>
                  <a:srgbClr val="334155"/>
                </a:solidFill>
              </a:defRPr>
            </a:pPr>
            <a:r>
              <a:t>· Hoàn tất SOTA benchmark, Ablation A0–A6, Grad-CAM XAI, Cross-domain.</a:t>
            </a:r>
          </a:p>
          <a:p>
            <a:pPr>
              <a:lnSpc>
                <a:spcPct val="112000"/>
              </a:lnSpc>
              <a:spcAft>
                <a:spcPts val="180"/>
              </a:spcAft>
              <a:defRPr sz="919">
                <a:solidFill>
                  <a:srgbClr val="334155"/>
                </a:solidFill>
              </a:defRPr>
            </a:pPr>
            <a:r>
              <a:t>· Kiểm chứng thông lượng vật lý trên đa dạng phần cứng biên (T4, 3050, MX230).</a:t>
            </a:r>
          </a:p>
          <a:p>
            <a:pPr>
              <a:lnSpc>
                <a:spcPct val="112000"/>
              </a:lnSpc>
              <a:spcAft>
                <a:spcPts val="180"/>
              </a:spcAft>
              <a:defRPr sz="919" b="1">
                <a:solidFill>
                  <a:srgbClr val="EA580C"/>
                </a:solidFill>
              </a:defRPr>
            </a:pPr>
            <a:r>
              <a:t>■ Cam kết 5 sản phẩm đầu ra hoàn thiện 100% đúng tiến độ đề ra.</a:t>
            </a:r>
          </a:p>
        </p:txBody>
      </p:sp>
      <p:sp>
        <p:nvSpPr>
          <p:cNvPr id="8" name="Rounded Rectangle 7"/>
          <p:cNvSpPr/>
          <p:nvPr/>
        </p:nvSpPr>
        <p:spPr>
          <a:xfrm>
            <a:off x="731520" y="352044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593592"/>
            <a:ext cx="3108960" cy="2057400"/>
          </a:xfrm>
          <a:prstGeom prst="rect">
            <a:avLst/>
          </a:prstGeom>
          <a:noFill/>
        </p:spPr>
        <p:txBody>
          <a:bodyPr wrap="square" lIns="0" rIns="0" tIns="0" bIns="0">
            <a:spAutoFit/>
          </a:bodyPr>
          <a:lstStyle/>
          <a:p>
            <a:pPr>
              <a:defRPr sz="1000" b="1">
                <a:solidFill>
                  <a:srgbClr val="EA580C"/>
                </a:solidFill>
              </a:defRPr>
            </a:pPr>
            <a:r>
              <a:t>KẾT QUẢ ĐẠT ĐƯỢC VƯỢT BẬC</a:t>
            </a:r>
          </a:p>
          <a:p>
            <a:pPr>
              <a:spcAft>
                <a:spcPts val="200"/>
              </a:spcAft>
              <a:defRPr sz="1100" b="1">
                <a:solidFill>
                  <a:srgbClr val="0F172A"/>
                </a:solidFill>
              </a:defRPr>
            </a:pPr>
            <a:r>
              <a:t>97.11% mAP50 &amp; 342.5 FPS</a:t>
            </a:r>
          </a:p>
          <a:p>
            <a:pPr>
              <a:lnSpc>
                <a:spcPct val="112000"/>
              </a:lnSpc>
              <a:spcAft>
                <a:spcPts val="180"/>
              </a:spcAft>
              <a:defRPr sz="919">
                <a:solidFill>
                  <a:srgbClr val="334155"/>
                </a:solidFill>
              </a:defRPr>
            </a:pPr>
            <a:r>
              <a:t>· Kiểm chứng phần cứng thật: T4 (342.5 FPS), RTX 3050 (187.1 FPS), MX230 (27.8 FPS).</a:t>
            </a:r>
          </a:p>
          <a:p>
            <a:pPr>
              <a:lnSpc>
                <a:spcPct val="112000"/>
              </a:lnSpc>
              <a:spcAft>
                <a:spcPts val="180"/>
              </a:spcAft>
              <a:defRPr sz="919">
                <a:solidFill>
                  <a:srgbClr val="334155"/>
                </a:solidFill>
              </a:defRPr>
            </a:pPr>
            <a:r>
              <a:t>· Đạt 94.83% mAP50 test đơn lẻ, 96.64% trên 5-fold CV (đỉnh 97.11%).</a:t>
            </a:r>
          </a:p>
          <a:p>
            <a:pPr>
              <a:lnSpc>
                <a:spcPct val="112000"/>
              </a:lnSpc>
              <a:spcAft>
                <a:spcPts val="180"/>
              </a:spcAft>
              <a:defRPr sz="919">
                <a:solidFill>
                  <a:srgbClr val="334155"/>
                </a:solidFill>
              </a:defRPr>
            </a:pPr>
            <a:r>
              <a:t>· Sáp nhập đại số zero-latency, cắt giảm 59% độ trễ suy luận.</a:t>
            </a:r>
          </a:p>
          <a:p>
            <a:pPr>
              <a:lnSpc>
                <a:spcPct val="112000"/>
              </a:lnSpc>
              <a:spcAft>
                <a:spcPts val="180"/>
              </a:spcAft>
              <a:defRPr sz="919">
                <a:solidFill>
                  <a:srgbClr val="334155"/>
                </a:solidFill>
              </a:defRPr>
            </a:pPr>
            <a:r>
              <a:t>· Bản thảo Báo cáo khoa học 9 trang chuẩn Q1 hoàn chỉnh minh chứng toán.</a:t>
            </a:r>
          </a:p>
          <a:p>
            <a:pPr>
              <a:lnSpc>
                <a:spcPct val="112000"/>
              </a:lnSpc>
              <a:spcAft>
                <a:spcPts val="180"/>
              </a:spcAft>
              <a:defRPr sz="919" b="1">
                <a:solidFill>
                  <a:srgbClr val="EA580C"/>
                </a:solidFill>
              </a:defRPr>
            </a:pPr>
            <a:r>
              <a:t>■ Đã hoàn thành ~90% khối lượng nghiên cứu kỹ thuật!</a:t>
            </a:r>
          </a:p>
        </p:txBody>
      </p:sp>
      <p:sp>
        <p:nvSpPr>
          <p:cNvPr id="10" name="Rounded Rectangle 9"/>
          <p:cNvSpPr/>
          <p:nvPr/>
        </p:nvSpPr>
        <p:spPr>
          <a:xfrm>
            <a:off x="4389120" y="118872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261872"/>
            <a:ext cx="3108960" cy="2057400"/>
          </a:xfrm>
          <a:prstGeom prst="rect">
            <a:avLst/>
          </a:prstGeom>
          <a:noFill/>
        </p:spPr>
        <p:txBody>
          <a:bodyPr wrap="square" lIns="0" rIns="0" tIns="0" bIns="0">
            <a:spAutoFit/>
          </a:bodyPr>
          <a:lstStyle/>
          <a:p>
            <a:pPr>
              <a:defRPr sz="1000" b="1">
                <a:solidFill>
                  <a:srgbClr val="2563EB"/>
                </a:solidFill>
              </a:defRPr>
            </a:pPr>
            <a:r>
              <a:t>GIAI ĐOẠN 2 · ĐANG TRIỂN KHAI</a:t>
            </a:r>
          </a:p>
          <a:p>
            <a:pPr>
              <a:spcAft>
                <a:spcPts val="200"/>
              </a:spcAft>
              <a:defRPr sz="1100" b="1">
                <a:solidFill>
                  <a:srgbClr val="0F172A"/>
                </a:solidFill>
              </a:defRPr>
            </a:pPr>
            <a:r>
              <a:t>Hoàn Thiện Phần Mềm Giám Sát</a:t>
            </a:r>
          </a:p>
          <a:p>
            <a:pPr>
              <a:lnSpc>
                <a:spcPct val="112000"/>
              </a:lnSpc>
              <a:spcAft>
                <a:spcPts val="180"/>
              </a:spcAft>
              <a:defRPr sz="919">
                <a:solidFill>
                  <a:srgbClr val="334155"/>
                </a:solidFill>
              </a:defRPr>
            </a:pPr>
            <a:r>
              <a:t>· Đóng gói phần mềm Desktop GUI (PyQt6) &amp; Web Dashboard (FastAPI) giám sát.</a:t>
            </a:r>
          </a:p>
          <a:p>
            <a:pPr>
              <a:lnSpc>
                <a:spcPct val="112000"/>
              </a:lnSpc>
              <a:spcAft>
                <a:spcPts val="180"/>
              </a:spcAft>
              <a:defRPr sz="919">
                <a:solidFill>
                  <a:srgbClr val="334155"/>
                </a:solidFill>
              </a:defRPr>
            </a:pPr>
            <a:r>
              <a:t>· Tự động kích hoạt cảnh báo âm thanh &amp; ghi log hình ảnh vi phạm an toàn.</a:t>
            </a:r>
          </a:p>
          <a:p>
            <a:pPr>
              <a:lnSpc>
                <a:spcPct val="112000"/>
              </a:lnSpc>
              <a:spcAft>
                <a:spcPts val="180"/>
              </a:spcAft>
              <a:defRPr sz="919">
                <a:solidFill>
                  <a:srgbClr val="334155"/>
                </a:solidFill>
              </a:defRPr>
            </a:pPr>
            <a:r>
              <a:t>· Tích hợp cơ chế xem lại bằng chứng vi phạm theo thời gian thực.</a:t>
            </a:r>
          </a:p>
          <a:p>
            <a:pPr>
              <a:lnSpc>
                <a:spcPct val="112000"/>
              </a:lnSpc>
              <a:spcAft>
                <a:spcPts val="180"/>
              </a:spcAft>
              <a:defRPr sz="919">
                <a:solidFill>
                  <a:srgbClr val="334155"/>
                </a:solidFill>
              </a:defRPr>
            </a:pPr>
            <a:r>
              <a:t>· Tối ưu hóa trải nghiệm giao diện người dùng cho cán bộ an toàn tại chỗ.</a:t>
            </a:r>
          </a:p>
          <a:p>
            <a:pPr>
              <a:lnSpc>
                <a:spcPct val="112000"/>
              </a:lnSpc>
              <a:spcAft>
                <a:spcPts val="180"/>
              </a:spcAft>
              <a:defRPr sz="919" b="1">
                <a:solidFill>
                  <a:srgbClr val="2563EB"/>
                </a:solidFill>
              </a:defRPr>
            </a:pPr>
            <a:r>
              <a:t>■ Trọng tâm Giai đoạn 2: Hoàn thiện phần mềm và giao diện người dùng.</a:t>
            </a:r>
          </a:p>
        </p:txBody>
      </p:sp>
      <p:sp>
        <p:nvSpPr>
          <p:cNvPr id="12" name="Rounded Rectangle 11"/>
          <p:cNvSpPr/>
          <p:nvPr/>
        </p:nvSpPr>
        <p:spPr>
          <a:xfrm>
            <a:off x="4389120" y="352044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593592"/>
            <a:ext cx="3108960" cy="2057400"/>
          </a:xfrm>
          <a:prstGeom prst="rect">
            <a:avLst/>
          </a:prstGeom>
          <a:noFill/>
        </p:spPr>
        <p:txBody>
          <a:bodyPr wrap="square" lIns="0" rIns="0" tIns="0" bIns="0">
            <a:spAutoFit/>
          </a:bodyPr>
          <a:lstStyle/>
          <a:p>
            <a:pPr>
              <a:defRPr sz="1000" b="1">
                <a:solidFill>
                  <a:srgbClr val="2563EB"/>
                </a:solidFill>
              </a:defRPr>
            </a:pPr>
            <a:r>
              <a:t>HỆ THỐNG ĐIỀU PHỐI ĐA LUỒNG</a:t>
            </a:r>
          </a:p>
          <a:p>
            <a:pPr>
              <a:spcAft>
                <a:spcPts val="200"/>
              </a:spcAft>
              <a:defRPr sz="1100" b="1">
                <a:solidFill>
                  <a:srgbClr val="0F172A"/>
                </a:solidFill>
              </a:defRPr>
            </a:pPr>
            <a:r>
              <a:t>RTSP, MQTT &amp; Thử Nghiệm Thực Tế</a:t>
            </a:r>
          </a:p>
          <a:p>
            <a:pPr>
              <a:lnSpc>
                <a:spcPct val="112000"/>
              </a:lnSpc>
              <a:spcAft>
                <a:spcPts val="180"/>
              </a:spcAft>
              <a:defRPr sz="919">
                <a:solidFill>
                  <a:srgbClr val="334155"/>
                </a:solidFill>
              </a:defRPr>
            </a:pPr>
            <a:r>
              <a:t>· Điều phối đa luồng camera RTSP với Ring-Buffer và bất đồng bộ CUDA streams.</a:t>
            </a:r>
          </a:p>
          <a:p>
            <a:pPr>
              <a:lnSpc>
                <a:spcPct val="112000"/>
              </a:lnSpc>
              <a:spcAft>
                <a:spcPts val="180"/>
              </a:spcAft>
              <a:defRPr sz="919">
                <a:solidFill>
                  <a:srgbClr val="334155"/>
                </a:solidFill>
              </a:defRPr>
            </a:pPr>
            <a:r>
              <a:t>· Tích hợp đẩy luồng WebRTC và giao thức cảnh báo MQTT cho trạm chỉ huy.</a:t>
            </a:r>
          </a:p>
          <a:p>
            <a:pPr>
              <a:lnSpc>
                <a:spcPct val="112000"/>
              </a:lnSpc>
              <a:spcAft>
                <a:spcPts val="180"/>
              </a:spcAft>
              <a:defRPr sz="919">
                <a:solidFill>
                  <a:srgbClr val="334155"/>
                </a:solidFill>
              </a:defRPr>
            </a:pPr>
            <a:r>
              <a:t>· Thử nghiệm thực địa tại công trường đối tác xây dựng thực tế.</a:t>
            </a:r>
          </a:p>
          <a:p>
            <a:pPr>
              <a:lnSpc>
                <a:spcPct val="112000"/>
              </a:lnSpc>
              <a:spcAft>
                <a:spcPts val="180"/>
              </a:spcAft>
              <a:defRPr sz="919">
                <a:solidFill>
                  <a:srgbClr val="334155"/>
                </a:solidFill>
              </a:defRPr>
            </a:pPr>
            <a:r>
              <a:t>· Đảm bảo thông lượng toàn trình 65-95 FPS trên 2-3 camera cùng lúc.</a:t>
            </a:r>
          </a:p>
          <a:p>
            <a:pPr>
              <a:lnSpc>
                <a:spcPct val="112000"/>
              </a:lnSpc>
              <a:spcAft>
                <a:spcPts val="180"/>
              </a:spcAft>
              <a:defRPr sz="919" b="1">
                <a:solidFill>
                  <a:srgbClr val="2563EB"/>
                </a:solidFill>
              </a:defRPr>
            </a:pPr>
            <a:r>
              <a:t>■ Triển khai: Đưa hệ thống vào vận hành thử nghiệm tại công trường thực.</a:t>
            </a:r>
          </a:p>
        </p:txBody>
      </p:sp>
      <p:sp>
        <p:nvSpPr>
          <p:cNvPr id="14" name="Rounded Rectangle 13"/>
          <p:cNvSpPr/>
          <p:nvPr/>
        </p:nvSpPr>
        <p:spPr>
          <a:xfrm>
            <a:off x="8046720" y="118872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261872"/>
            <a:ext cx="3108960" cy="2057400"/>
          </a:xfrm>
          <a:prstGeom prst="rect">
            <a:avLst/>
          </a:prstGeom>
          <a:noFill/>
        </p:spPr>
        <p:txBody>
          <a:bodyPr wrap="square" lIns="0" rIns="0" tIns="0" bIns="0">
            <a:spAutoFit/>
          </a:bodyPr>
          <a:lstStyle/>
          <a:p>
            <a:pPr>
              <a:defRPr sz="1000" b="1">
                <a:solidFill>
                  <a:srgbClr val="16A34A"/>
                </a:solidFill>
              </a:defRPr>
            </a:pPr>
            <a:r>
              <a:t>GIAI ĐOẠN 3 · KẾ HOẠCH VỀ ĐÍCH</a:t>
            </a:r>
          </a:p>
          <a:p>
            <a:pPr>
              <a:spcAft>
                <a:spcPts val="200"/>
              </a:spcAft>
              <a:defRPr sz="1100" b="1">
                <a:solidFill>
                  <a:srgbClr val="0F172A"/>
                </a:solidFill>
              </a:defRPr>
            </a:pPr>
            <a:r>
              <a:t>Chưng Cất Tri Thức Nâng Cao</a:t>
            </a:r>
          </a:p>
          <a:p>
            <a:pPr>
              <a:lnSpc>
                <a:spcPct val="112000"/>
              </a:lnSpc>
              <a:spcAft>
                <a:spcPts val="180"/>
              </a:spcAft>
              <a:defRPr sz="919">
                <a:solidFill>
                  <a:srgbClr val="334155"/>
                </a:solidFill>
              </a:defRPr>
            </a:pPr>
            <a:r>
              <a:t>· Kỹ thuật chưng cất tri thức vi mô (Knowledge Distillation: YOLO11x -&gt; Rep-YOLO11s).</a:t>
            </a:r>
          </a:p>
          <a:p>
            <a:pPr>
              <a:lnSpc>
                <a:spcPct val="112000"/>
              </a:lnSpc>
              <a:spcAft>
                <a:spcPts val="180"/>
              </a:spcAft>
              <a:defRPr sz="919">
                <a:solidFill>
                  <a:srgbClr val="334155"/>
                </a:solidFill>
              </a:defRPr>
            </a:pPr>
            <a:r>
              <a:t>· Cải thiện góc nhìn Drone thẳng đứng (SHEL5K) lên &gt;55% mAP50.</a:t>
            </a:r>
          </a:p>
          <a:p>
            <a:pPr>
              <a:lnSpc>
                <a:spcPct val="112000"/>
              </a:lnSpc>
              <a:spcAft>
                <a:spcPts val="180"/>
              </a:spcAft>
              <a:defRPr sz="919">
                <a:solidFill>
                  <a:srgbClr val="334155"/>
                </a:solidFill>
              </a:defRPr>
            </a:pPr>
            <a:r>
              <a:t>· Tinh chỉnh hyperparameter cho các tình huống sương mù và ban đêm.</a:t>
            </a:r>
          </a:p>
          <a:p>
            <a:pPr>
              <a:lnSpc>
                <a:spcPct val="112000"/>
              </a:lnSpc>
              <a:spcAft>
                <a:spcPts val="180"/>
              </a:spcAft>
              <a:defRPr sz="919">
                <a:solidFill>
                  <a:srgbClr val="334155"/>
                </a:solidFill>
              </a:defRPr>
            </a:pPr>
            <a:r>
              <a:t>· Chuẩn bị bộ kịch bản demo trực tiếp (live video feed) cho ngày bảo vệ.</a:t>
            </a:r>
          </a:p>
          <a:p>
            <a:pPr>
              <a:lnSpc>
                <a:spcPct val="112000"/>
              </a:lnSpc>
              <a:spcAft>
                <a:spcPts val="180"/>
              </a:spcAft>
              <a:defRPr sz="919" b="1">
                <a:solidFill>
                  <a:srgbClr val="16A34A"/>
                </a:solidFill>
              </a:defRPr>
            </a:pPr>
            <a:r>
              <a:t>■ Tối ưu: Đạt ngưỡng hiệu năng cao nhất và chuẩn bị demo trực tiếp.</a:t>
            </a:r>
          </a:p>
        </p:txBody>
      </p:sp>
      <p:sp>
        <p:nvSpPr>
          <p:cNvPr id="16" name="Rounded Rectangle 15"/>
          <p:cNvSpPr/>
          <p:nvPr/>
        </p:nvSpPr>
        <p:spPr>
          <a:xfrm>
            <a:off x="8046720" y="352044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3593592"/>
            <a:ext cx="3108960" cy="2057400"/>
          </a:xfrm>
          <a:prstGeom prst="rect">
            <a:avLst/>
          </a:prstGeom>
          <a:noFill/>
        </p:spPr>
        <p:txBody>
          <a:bodyPr wrap="square" lIns="0" rIns="0" tIns="0" bIns="0">
            <a:spAutoFit/>
          </a:bodyPr>
          <a:lstStyle/>
          <a:p>
            <a:pPr>
              <a:defRPr sz="1000" b="1">
                <a:solidFill>
                  <a:srgbClr val="16A34A"/>
                </a:solidFill>
              </a:defRPr>
            </a:pPr>
            <a:r>
              <a:t>HOÀN THIỆN KHÓA LUẬN &amp; BẢO VỆ</a:t>
            </a:r>
          </a:p>
          <a:p>
            <a:pPr>
              <a:spcAft>
                <a:spcPts val="200"/>
              </a:spcAft>
              <a:defRPr sz="1100" b="1">
                <a:solidFill>
                  <a:srgbClr val="0F172A"/>
                </a:solidFill>
              </a:defRPr>
            </a:pPr>
            <a:r>
              <a:t>Bản Thảo KLTN Chuẩn Đại Học FPT</a:t>
            </a:r>
          </a:p>
          <a:p>
            <a:pPr>
              <a:lnSpc>
                <a:spcPct val="112000"/>
              </a:lnSpc>
              <a:spcAft>
                <a:spcPts val="180"/>
              </a:spcAft>
              <a:defRPr sz="919">
                <a:solidFill>
                  <a:srgbClr val="334155"/>
                </a:solidFill>
              </a:defRPr>
            </a:pPr>
            <a:r>
              <a:t>· Hoàn thiện toàn diện bản thảo Khóa luận Tốt nghiệp chính thức.</a:t>
            </a:r>
          </a:p>
          <a:p>
            <a:pPr>
              <a:lnSpc>
                <a:spcPct val="112000"/>
              </a:lnSpc>
              <a:spcAft>
                <a:spcPts val="180"/>
              </a:spcAft>
              <a:defRPr sz="919">
                <a:solidFill>
                  <a:srgbClr val="334155"/>
                </a:solidFill>
              </a:defRPr>
            </a:pPr>
            <a:r>
              <a:t>· Đóng gói trọn vẹn mã nguồn mở GitHub, tài liệu kỹ thuật và video demo.</a:t>
            </a:r>
          </a:p>
          <a:p>
            <a:pPr>
              <a:lnSpc>
                <a:spcPct val="112000"/>
              </a:lnSpc>
              <a:spcAft>
                <a:spcPts val="180"/>
              </a:spcAft>
              <a:defRPr sz="919">
                <a:solidFill>
                  <a:srgbClr val="334155"/>
                </a:solidFill>
              </a:defRPr>
            </a:pPr>
            <a:r>
              <a:t>· Chuẩn bị bộ câu hỏi phản biện chuyên sâu và kịch bản bảo vệ tự tin.</a:t>
            </a:r>
          </a:p>
          <a:p>
            <a:pPr>
              <a:lnSpc>
                <a:spcPct val="112000"/>
              </a:lnSpc>
              <a:spcAft>
                <a:spcPts val="180"/>
              </a:spcAft>
              <a:defRPr sz="919">
                <a:solidFill>
                  <a:srgbClr val="334155"/>
                </a:solidFill>
              </a:defRPr>
            </a:pPr>
            <a:r>
              <a:t>· Nộp bài báo khoa học vào tạp chí / kỷ yếu hội nghị quốc tế uy tín.</a:t>
            </a:r>
          </a:p>
          <a:p>
            <a:pPr>
              <a:lnSpc>
                <a:spcPct val="112000"/>
              </a:lnSpc>
              <a:spcAft>
                <a:spcPts val="180"/>
              </a:spcAft>
              <a:defRPr sz="919" b="1">
                <a:solidFill>
                  <a:srgbClr val="16A34A"/>
                </a:solidFill>
              </a:defRPr>
            </a:pPr>
            <a:r>
              <a:t>■ Sẵn sàng tự tin bảo vệ xuất sắc trước Hội đồng Kỹ sư AI!</a:t>
            </a:r>
          </a:p>
        </p:txBody>
      </p:sp>
      <p:sp>
        <p:nvSpPr>
          <p:cNvPr id="18" name="Rounded Rectangle 17"/>
          <p:cNvSpPr/>
          <p:nvPr/>
        </p:nvSpPr>
        <p:spPr>
          <a:xfrm>
            <a:off x="731520" y="5870448"/>
            <a:ext cx="10698480" cy="502920"/>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07024"/>
            <a:ext cx="10332720" cy="411480"/>
          </a:xfrm>
          <a:prstGeom prst="rect">
            <a:avLst/>
          </a:prstGeom>
          <a:noFill/>
        </p:spPr>
        <p:txBody>
          <a:bodyPr wrap="square" lIns="0" rIns="0" tIns="0" bIns="0">
            <a:spAutoFit/>
          </a:bodyPr>
          <a:lstStyle/>
          <a:p>
            <a:pPr>
              <a:defRPr sz="1050" b="1">
                <a:solidFill>
                  <a:srgbClr val="EA580C"/>
                </a:solidFill>
              </a:defRPr>
            </a:pPr>
            <a:r>
              <a:t>Rep-YOLO11s — Tính Khả Thi Kỹ Thuật, Tính Mới Học Thuật và Giá Trị Thực Tiễn Công Nghiệp: Đã Được Thiết Kế, Lập Trình và Kiểm Chứng Đo Đạc Thực Tế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