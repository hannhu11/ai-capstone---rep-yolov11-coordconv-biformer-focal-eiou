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6858000" cx="12191675"/>
  <p:notesSz cx="6858000" cy="9144000"/>
  <p:embeddedFontLst>
    <p:embeddedFont>
      <p:font typeface="Inter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Inter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Inter-italic.fntdata"/><Relationship Id="rId12" Type="http://schemas.openxmlformats.org/officeDocument/2006/relationships/slide" Target="slides/slide7.xml"/><Relationship Id="rId34" Type="http://schemas.openxmlformats.org/officeDocument/2006/relationships/font" Target="fonts/Inter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Inter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6537f8b5a159938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h6537f8b5a159938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6537f8b5a159938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h6537f8b5a159938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6537f8b5a159938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h6537f8b5a1599382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6537f8b5a159938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h6537f8b5a1599382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6537f8b5a1599382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h6537f8b5a1599382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6537f8b5a1599382_29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6537f8b5a1599382_29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6537f8b5a1599382_29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h6537f8b5a1599382_29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h6537f8b5a1599382_29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h6537f8b5a1599382_2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h6537f8b5a1599382_29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h6537f8b5a1599382_29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h6537f8b5a1599382_29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h6537f8b5a1599382_29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h6537f8b5a1599382_29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h6537f8b5a1599382_29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11906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31520" y="411480"/>
            <a:ext cx="5669280" cy="347472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841248" y="457200"/>
            <a:ext cx="548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FPT UNIVERSITY · ARTIFICIAL INTELLIGENCE CAPSTONE 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31520" y="960120"/>
            <a:ext cx="6858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60995" y="1175530"/>
            <a:ext cx="6858000" cy="20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Structural Re-Parameterization, Spatial Coordinate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Encoding, and Cross-Domain Robustness for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Real-Time Safety Helmet Detection in Construction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Surveillance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41750" y="3037655"/>
            <a:ext cx="34746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06312" y="318405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TEAM M</a:t>
            </a: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EMBERS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Han Nhu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· SE183644 (Lead)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Van Thanh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SE18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0387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Tran Pham Tuan Dung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SE183674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Role: Architecture, TensorRT Engine &amp; RTSP Pipeline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4154775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237137" y="465530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ACADEMIC ADVISOR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M.Sc.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Vu Ha Anh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(anhvh@fe.edu.vn)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Dept. of Artificial Intelligence — IT Faculty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FPT University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HCM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Campus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Focus: High-Impact Industrial Computer Vision</a:t>
            </a:r>
            <a:endParaRPr/>
          </a:p>
        </p:txBody>
      </p:sp>
      <p:pic>
        <p:nvPicPr>
          <p:cNvPr id="93" name="Google Shape;9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6300" y="1599525"/>
            <a:ext cx="3069665" cy="35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4183125" y="3037650"/>
            <a:ext cx="33642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496950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4321775" y="315165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6A34A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GROUP CODE</a:t>
            </a:r>
            <a:endParaRPr b="1" sz="1000">
              <a:solidFill>
                <a:srgbClr val="16A34A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GFA26AI17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661000" y="465530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0000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PROJECT CODE</a:t>
            </a:r>
            <a:endParaRPr b="1" sz="1000">
              <a:solidFill>
                <a:srgbClr val="FF0000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FA26AI16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1 · PROBLEM DEFINITION &amp; URGENCY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18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Real Construction Context &amp; 4 Technical Bottlenecks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731520" y="123444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868680" y="137160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EA580C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389888" y="134416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Distant Tiny Objects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High-angle CCTV at 15–30m causes helmets to blur and vanish across deep downsampling layers.</a:t>
            </a:r>
            <a:endParaRPr sz="1200"/>
          </a:p>
        </p:txBody>
      </p:sp>
      <p:sp>
        <p:nvSpPr>
          <p:cNvPr id="110" name="Google Shape;110;p14"/>
          <p:cNvSpPr/>
          <p:nvPr/>
        </p:nvSpPr>
        <p:spPr>
          <a:xfrm>
            <a:off x="731520" y="246888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868680" y="260604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389888" y="257860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Class Imbalance (1:12)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9,044 helmets vs. 111,514 worker body instances; worker gradients dominate the loss.</a:t>
            </a:r>
            <a:endParaRPr sz="1200"/>
          </a:p>
        </p:txBody>
      </p:sp>
      <p:sp>
        <p:nvSpPr>
          <p:cNvPr id="114" name="Google Shape;114;p14"/>
          <p:cNvSpPr/>
          <p:nvPr/>
        </p:nvSpPr>
        <p:spPr>
          <a:xfrm>
            <a:off x="731520" y="370332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868680" y="384048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1389888" y="381304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Color Noise &amp; False Alarms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Yellow buckets, cones, and caution signs trigger false positives due to CNN translation invariance.</a:t>
            </a:r>
            <a:endParaRPr sz="1200"/>
          </a:p>
        </p:txBody>
      </p:sp>
      <p:sp>
        <p:nvSpPr>
          <p:cNvPr id="118" name="Google Shape;118;p14"/>
          <p:cNvSpPr/>
          <p:nvPr/>
        </p:nvSpPr>
        <p:spPr>
          <a:xfrm>
            <a:off x="731520" y="493776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868680" y="507492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389888" y="504748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Constraints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Strict &gt;= 25 FPS real-time requirement on budget laptops/GPUs without costly server clusters.</a:t>
            </a:r>
            <a:endParaRPr sz="1200"/>
          </a:p>
        </p:txBody>
      </p:sp>
      <p:pic>
        <p:nvPicPr>
          <p:cNvPr id="122" name="Google Shape;12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2212" y="1691650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-12" y="69000"/>
            <a:ext cx="12191700" cy="69585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31520" y="292608"/>
            <a:ext cx="8686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2 · EXPECTED OUTCOMES</a:t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10332720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731520" y="566928"/>
            <a:ext cx="10698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Project Scope </a:t>
            </a:r>
            <a:endParaRPr sz="1900"/>
          </a:p>
        </p:txBody>
      </p:sp>
      <p:sp>
        <p:nvSpPr>
          <p:cNvPr id="131" name="Google Shape;131;p15"/>
          <p:cNvSpPr/>
          <p:nvPr/>
        </p:nvSpPr>
        <p:spPr>
          <a:xfrm>
            <a:off x="485725" y="1484563"/>
            <a:ext cx="10944300" cy="1340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843138" y="2064994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43138" y="2140451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1645803" y="2067244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REP-YOLO11s MODEL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Accurate &amp; Generalizable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018199" y="2062513"/>
            <a:ext cx="7228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Trained weights achieving </a:t>
            </a:r>
            <a:r>
              <a:rPr lang="en-US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map 50  &gt; 96%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914400" y="3218688"/>
            <a:ext cx="411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463040" y="3191256"/>
            <a:ext cx="2926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485725" y="3127274"/>
            <a:ext cx="10959300" cy="139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843138" y="3665207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43150" y="374067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1645790" y="360988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COMPILED ENGINES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Zero-latency Deploy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4107985" y="3732868"/>
            <a:ext cx="6766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(.engine), ONNX INT8 (.onnx), OpenVINO packages ready for cross-platform edge chips.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485725" y="4825248"/>
            <a:ext cx="10959300" cy="148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843138" y="5432919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9333EA"/>
          </a:solidFill>
          <a:ln cap="flat" cmpd="sng" w="12700">
            <a:solidFill>
              <a:srgbClr val="9333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843150" y="550838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700"/>
          </a:p>
        </p:txBody>
      </p:sp>
      <p:sp>
        <p:nvSpPr>
          <p:cNvPr id="146" name="Google Shape;146;p15"/>
          <p:cNvSpPr txBox="1"/>
          <p:nvPr/>
        </p:nvSpPr>
        <p:spPr>
          <a:xfrm>
            <a:off x="1526740" y="540343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STANDARDIZED BENCHMARK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333EA"/>
                </a:solidFill>
                <a:latin typeface="Calibri"/>
                <a:ea typeface="Calibri"/>
                <a:cs typeface="Calibri"/>
                <a:sym typeface="Calibri"/>
              </a:rPr>
              <a:t>Cleaned Industry Benchmark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4018210" y="5500581"/>
            <a:ext cx="676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&gt;33,000 images harmonized across 6 industrial domains with cleaned VOC2028 annotations.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31507" y="292608"/>
            <a:ext cx="8686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3 · FEASIBILITY &amp; THEORETICAL FOUNDATION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332708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18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731507" y="566928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Literature Review of </a:t>
            </a:r>
            <a:r>
              <a:rPr b="1" lang="en-US" sz="200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Works &amp; SOTA Research Gap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731507" y="123444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914388" y="134416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 YOLO (v8 / 11)</a:t>
            </a:r>
            <a:endParaRPr sz="1800"/>
          </a:p>
        </p:txBody>
      </p:sp>
      <p:sp>
        <p:nvSpPr>
          <p:cNvPr id="158" name="Google Shape;158;p16"/>
          <p:cNvSpPr txBox="1"/>
          <p:nvPr/>
        </p:nvSpPr>
        <p:spPr>
          <a:xfrm>
            <a:off x="3749027" y="134416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94.74%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5943588" y="1344168"/>
            <a:ext cx="5303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Coordinate-agnostic; frequent false positives on ground yellow buckets.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31507" y="210312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914388" y="221284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EC-YOLOv8 (Zhang 2024)</a:t>
            </a:r>
            <a:endParaRPr sz="1800"/>
          </a:p>
        </p:txBody>
      </p:sp>
      <p:sp>
        <p:nvSpPr>
          <p:cNvPr id="162" name="Google Shape;162;p16"/>
          <p:cNvSpPr txBox="1"/>
          <p:nvPr/>
        </p:nvSpPr>
        <p:spPr>
          <a:xfrm>
            <a:off x="3749027" y="221284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5943588" y="221284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 mAP via CARAFE operator, but heavy computational latency overhead.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731507" y="297180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914388" y="308152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YOLO-CBF (Li 2023)</a:t>
            </a:r>
            <a:endParaRPr sz="1800"/>
          </a:p>
        </p:txBody>
      </p:sp>
      <p:sp>
        <p:nvSpPr>
          <p:cNvPr id="166" name="Google Shape;166;p16"/>
          <p:cNvSpPr txBox="1"/>
          <p:nvPr/>
        </p:nvSpPr>
        <p:spPr>
          <a:xfrm>
            <a:off x="3749027" y="308152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95.60%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5943588" y="308152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Combines CoordConv &amp; BiFormer but balloons to 37.2M params and 104.5 GFLOPs.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731507" y="3840479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914388" y="3950207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YOLOv8n-FADS (Fu 2024)</a:t>
            </a:r>
            <a:endParaRPr sz="1800"/>
          </a:p>
        </p:txBody>
      </p:sp>
      <p:sp>
        <p:nvSpPr>
          <p:cNvPr id="170" name="Google Shape;170;p16"/>
          <p:cNvSpPr txBox="1"/>
          <p:nvPr/>
        </p:nvSpPr>
        <p:spPr>
          <a:xfrm>
            <a:off x="3749027" y="3950207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79.70%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5943588" y="3950207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P2 branch expansion causes computational explosion; low empirical precision.</a:t>
            </a:r>
            <a:endParaRPr/>
          </a:p>
        </p:txBody>
      </p:sp>
      <p:sp>
        <p:nvSpPr>
          <p:cNvPr id="172" name="Google Shape;172;p16"/>
          <p:cNvSpPr/>
          <p:nvPr/>
        </p:nvSpPr>
        <p:spPr>
          <a:xfrm>
            <a:off x="731507" y="5715000"/>
            <a:ext cx="10698600" cy="73140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914388" y="5779008"/>
            <a:ext cx="10332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★ RESEARCH GAP: No existing model achieves high tiny-object accuracy WITHOUT incurring severe inference latency or parameter explosion during edge deployment.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PROPOSED METHOD · NEURAL NETWORK ARCHITECTURE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18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Comprehensive 5-Stage Neural Architecture of Rep-YOLO11s</a:t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731520" y="1143000"/>
            <a:ext cx="10698480" cy="3931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2_rep_yolo11s_neural_architecture.png" id="183" name="Google Shape;18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75" y="923213"/>
            <a:ext cx="11180673" cy="457676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7"/>
          <p:cNvSpPr/>
          <p:nvPr/>
        </p:nvSpPr>
        <p:spPr>
          <a:xfrm>
            <a:off x="7008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807242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1. SPATIAL BACKBONE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CSPDarknet with CoordConv coordinate injection (Cx, Cy) and multi-branch RepConv feature blocks.</a:t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43584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4495568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2. SPARSE ROUTING NECK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PAN architecture embedded with BiFormer 2-level routing attention, reducing complexity to linear O(HW).</a:t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80160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8183893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3. DECOUPLED HEAD &amp; LOSS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Anchor-free Decoupled Head paired with Focal EIoU loss decoupling bounding box dimension errors.</a:t>
            </a:r>
            <a:endParaRPr/>
          </a:p>
        </p:txBody>
      </p:sp>
      <p:pic>
        <p:nvPicPr>
          <p:cNvPr id="190" name="Google Shape;190;p17" title="7e12d5c4-e730-4487-a9f3-435ea124c5f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7" y="0"/>
            <a:ext cx="12185523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199" name="Google Shape;199;p18" title="Fig1A_Baseline_MultiBranch_Bottleneck.png"/>
          <p:cNvPicPr preferRelativeResize="0"/>
          <p:nvPr/>
        </p:nvPicPr>
        <p:blipFill rotWithShape="1">
          <a:blip r:embed="rId3">
            <a:alphaModFix/>
          </a:blip>
          <a:srcRect b="16053" l="3786" r="3424" t="13569"/>
          <a:stretch/>
        </p:blipFill>
        <p:spPr>
          <a:xfrm>
            <a:off x="196775" y="1090475"/>
            <a:ext cx="11864627" cy="491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10332700" y="292597"/>
            <a:ext cx="1164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9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9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209" name="Google Shape;209;p19" title="Fig1B_Proposed_RepConv_Algebraic_Fusion.png"/>
          <p:cNvPicPr preferRelativeResize="0"/>
          <p:nvPr/>
        </p:nvPicPr>
        <p:blipFill rotWithShape="1">
          <a:blip r:embed="rId3">
            <a:alphaModFix/>
          </a:blip>
          <a:srcRect b="15493" l="3029" r="2032" t="13012"/>
          <a:stretch/>
        </p:blipFill>
        <p:spPr>
          <a:xfrm>
            <a:off x="216263" y="1012038"/>
            <a:ext cx="11759150" cy="48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18" name="Google Shape;218;p20" title="Fig2A_Baseline_Translation_Invariance_Flaw.png"/>
          <p:cNvPicPr preferRelativeResize="0"/>
          <p:nvPr/>
        </p:nvPicPr>
        <p:blipFill rotWithShape="1">
          <a:blip r:embed="rId3">
            <a:alphaModFix/>
          </a:blip>
          <a:srcRect b="3438" l="2817" r="3603" t="12915"/>
          <a:stretch/>
        </p:blipFill>
        <p:spPr>
          <a:xfrm>
            <a:off x="1047500" y="1325675"/>
            <a:ext cx="9794652" cy="4903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27" name="Google Shape;227;p21" title="Fig2B_Proposed_CoordConv_Spatial_Injection.png"/>
          <p:cNvPicPr preferRelativeResize="0"/>
          <p:nvPr/>
        </p:nvPicPr>
        <p:blipFill rotWithShape="1">
          <a:blip r:embed="rId3">
            <a:alphaModFix/>
          </a:blip>
          <a:srcRect b="2962" l="2675" r="2798" t="12407"/>
          <a:stretch/>
        </p:blipFill>
        <p:spPr>
          <a:xfrm>
            <a:off x="731525" y="1196300"/>
            <a:ext cx="10539423" cy="5150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7" name="Google Shape;237;p22" title="Fig3A_Baseline_Dense_Attention_Bottleneck.png"/>
          <p:cNvPicPr preferRelativeResize="0"/>
          <p:nvPr/>
        </p:nvPicPr>
        <p:blipFill rotWithShape="1">
          <a:blip r:embed="rId3">
            <a:alphaModFix/>
          </a:blip>
          <a:srcRect b="3543" l="3960" r="2870" t="13297"/>
          <a:stretch/>
        </p:blipFill>
        <p:spPr>
          <a:xfrm>
            <a:off x="810076" y="1102225"/>
            <a:ext cx="10571551" cy="5150551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7" name="Google Shape;247;p23" title="Fig3B_Proposed_BiFormer_Sparse_Routing.png"/>
          <p:cNvPicPr preferRelativeResize="0"/>
          <p:nvPr/>
        </p:nvPicPr>
        <p:blipFill rotWithShape="1">
          <a:blip r:embed="rId3">
            <a:alphaModFix/>
          </a:blip>
          <a:srcRect b="3548" l="2362" r="2789" t="12784"/>
          <a:stretch/>
        </p:blipFill>
        <p:spPr>
          <a:xfrm>
            <a:off x="613538" y="996425"/>
            <a:ext cx="10964598" cy="52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56" name="Google Shape;256;p24" title="Fig4A_Baseline_CIoU_Vanishing_Gradient.png"/>
          <p:cNvPicPr preferRelativeResize="0"/>
          <p:nvPr/>
        </p:nvPicPr>
        <p:blipFill rotWithShape="1">
          <a:blip r:embed="rId3">
            <a:alphaModFix/>
          </a:blip>
          <a:srcRect b="3686" l="4122" r="3865" t="12737"/>
          <a:stretch/>
        </p:blipFill>
        <p:spPr>
          <a:xfrm>
            <a:off x="427875" y="843525"/>
            <a:ext cx="11218350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5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65" name="Google Shape;265;p25" title="Fig4B_Proposed_Focal_EIoU_Decomposition.png"/>
          <p:cNvPicPr preferRelativeResize="0"/>
          <p:nvPr/>
        </p:nvPicPr>
        <p:blipFill rotWithShape="1">
          <a:blip r:embed="rId3">
            <a:alphaModFix/>
          </a:blip>
          <a:srcRect b="4037" l="3059" r="2512" t="12386"/>
          <a:stretch/>
        </p:blipFill>
        <p:spPr>
          <a:xfrm>
            <a:off x="339688" y="902350"/>
            <a:ext cx="11512325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TECHNICAL APPROACH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2" name="Google Shape;272;p2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13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3" name="Google Shape;273;p2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Solution Overview &amp; Core Modules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4" name="Google Shape;274;p26"/>
          <p:cNvSpPr/>
          <p:nvPr/>
        </p:nvSpPr>
        <p:spPr>
          <a:xfrm>
            <a:off x="347472" y="1371600"/>
            <a:ext cx="11493900" cy="3136500"/>
          </a:xfrm>
          <a:prstGeom prst="roundRect">
            <a:avLst>
              <a:gd fmla="val 349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6"/>
          <p:cNvSpPr/>
          <p:nvPr/>
        </p:nvSpPr>
        <p:spPr>
          <a:xfrm>
            <a:off x="548640" y="1682496"/>
            <a:ext cx="1737300" cy="2441400"/>
          </a:xfrm>
          <a:prstGeom prst="roundRect">
            <a:avLst>
              <a:gd fmla="val 5263" name="adj"/>
            </a:avLst>
          </a:prstGeom>
          <a:solidFill>
            <a:srgbClr val="F9FBFE"/>
          </a:solidFill>
          <a:ln cap="flat" cmpd="sng" w="13950">
            <a:solidFill>
              <a:srgbClr val="AFC4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6"/>
          <p:cNvSpPr/>
          <p:nvPr/>
        </p:nvSpPr>
        <p:spPr>
          <a:xfrm>
            <a:off x="548640" y="1801368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Input Image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548640" y="3803904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1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640 × 640 × 3</a:t>
            </a:r>
            <a:endParaRPr b="0" i="0" sz="11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2514600" y="1682496"/>
            <a:ext cx="1527000" cy="2441400"/>
          </a:xfrm>
          <a:prstGeom prst="roundRect">
            <a:avLst>
              <a:gd fmla="val 5988" name="adj"/>
            </a:avLst>
          </a:prstGeom>
          <a:solidFill>
            <a:srgbClr val="FFFDFC"/>
          </a:solidFill>
          <a:ln cap="flat" cmpd="sng" w="13950">
            <a:solidFill>
              <a:srgbClr val="FF8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6"/>
          <p:cNvSpPr/>
          <p:nvPr/>
        </p:nvSpPr>
        <p:spPr>
          <a:xfrm>
            <a:off x="2514600" y="1801368"/>
            <a:ext cx="1527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2907792" y="2468880"/>
            <a:ext cx="777300" cy="896100"/>
          </a:xfrm>
          <a:prstGeom prst="rect">
            <a:avLst/>
          </a:prstGeom>
          <a:solidFill>
            <a:srgbClr val="2C5CC5"/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6"/>
          <p:cNvSpPr/>
          <p:nvPr/>
        </p:nvSpPr>
        <p:spPr>
          <a:xfrm>
            <a:off x="3017520" y="2340864"/>
            <a:ext cx="777300" cy="896100"/>
          </a:xfrm>
          <a:prstGeom prst="rect">
            <a:avLst/>
          </a:prstGeom>
          <a:solidFill>
            <a:srgbClr val="29A7DF">
              <a:alpha val="9412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6"/>
          <p:cNvSpPr/>
          <p:nvPr/>
        </p:nvSpPr>
        <p:spPr>
          <a:xfrm>
            <a:off x="3127248" y="2212848"/>
            <a:ext cx="777300" cy="896100"/>
          </a:xfrm>
          <a:prstGeom prst="rect">
            <a:avLst/>
          </a:prstGeom>
          <a:solidFill>
            <a:srgbClr val="F7B62E">
              <a:alpha val="8784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6"/>
          <p:cNvSpPr/>
          <p:nvPr/>
        </p:nvSpPr>
        <p:spPr>
          <a:xfrm>
            <a:off x="2660904" y="3675888"/>
            <a:ext cx="12345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 × W × (3 + 2)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(RGB + X, Y)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4" name="Google Shape;284;p26"/>
          <p:cNvSpPr/>
          <p:nvPr/>
        </p:nvSpPr>
        <p:spPr>
          <a:xfrm>
            <a:off x="4242816" y="1682496"/>
            <a:ext cx="1728300" cy="2441400"/>
          </a:xfrm>
          <a:prstGeom prst="roundRect">
            <a:avLst>
              <a:gd fmla="val 5291" name="adj"/>
            </a:avLst>
          </a:prstGeom>
          <a:solidFill>
            <a:srgbClr val="F8FBFF"/>
          </a:solidFill>
          <a:ln cap="flat" cmpd="sng" w="13950">
            <a:solidFill>
              <a:srgbClr val="6AA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6"/>
          <p:cNvSpPr/>
          <p:nvPr/>
        </p:nvSpPr>
        <p:spPr>
          <a:xfrm>
            <a:off x="4242816" y="1801368"/>
            <a:ext cx="1728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Backbone + RepConv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6" name="Google Shape;286;p26"/>
          <p:cNvSpPr/>
          <p:nvPr/>
        </p:nvSpPr>
        <p:spPr>
          <a:xfrm>
            <a:off x="4471416" y="2359152"/>
            <a:ext cx="310800" cy="10515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4727448" y="2424989"/>
            <a:ext cx="310800" cy="9417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6"/>
          <p:cNvSpPr/>
          <p:nvPr/>
        </p:nvSpPr>
        <p:spPr>
          <a:xfrm>
            <a:off x="4983480" y="2490826"/>
            <a:ext cx="310800" cy="8322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5239512" y="2556662"/>
            <a:ext cx="310800" cy="7224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6"/>
          <p:cNvSpPr/>
          <p:nvPr/>
        </p:nvSpPr>
        <p:spPr>
          <a:xfrm>
            <a:off x="5495544" y="2622499"/>
            <a:ext cx="310800" cy="6126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315968" y="3675888"/>
            <a:ext cx="1581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CSPDarknet + RepConv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(Multi-branch → Single-path)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2" name="Google Shape;292;p26"/>
          <p:cNvSpPr/>
          <p:nvPr/>
        </p:nvSpPr>
        <p:spPr>
          <a:xfrm>
            <a:off x="6172200" y="1682496"/>
            <a:ext cx="1965900" cy="2441400"/>
          </a:xfrm>
          <a:prstGeom prst="roundRect">
            <a:avLst>
              <a:gd fmla="val 4651" name="adj"/>
            </a:avLst>
          </a:prstGeom>
          <a:solidFill>
            <a:srgbClr val="F9FFFB"/>
          </a:solidFill>
          <a:ln cap="flat" cmpd="sng" w="13950">
            <a:solidFill>
              <a:srgbClr val="4DC9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172200" y="1801368"/>
            <a:ext cx="1965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Neck + BiFormer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4" name="Google Shape;294;p26"/>
          <p:cNvSpPr/>
          <p:nvPr/>
        </p:nvSpPr>
        <p:spPr>
          <a:xfrm>
            <a:off x="6318504" y="2331720"/>
            <a:ext cx="411600" cy="1737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6318504" y="2770632"/>
            <a:ext cx="411600" cy="1737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6"/>
          <p:cNvSpPr/>
          <p:nvPr/>
        </p:nvSpPr>
        <p:spPr>
          <a:xfrm>
            <a:off x="6318504" y="3209544"/>
            <a:ext cx="411600" cy="1737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6958584" y="2267712"/>
            <a:ext cx="676800" cy="960000"/>
          </a:xfrm>
          <a:prstGeom prst="roundRect">
            <a:avLst>
              <a:gd fmla="val 10811" name="adj"/>
            </a:avLst>
          </a:prstGeom>
          <a:solidFill>
            <a:srgbClr val="FFFFFF">
              <a:alpha val="80000"/>
            </a:srgbClr>
          </a:solidFill>
          <a:ln cap="flat" cmpd="sng" w="12700">
            <a:solidFill>
              <a:srgbClr val="AFC5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6"/>
          <p:cNvSpPr/>
          <p:nvPr/>
        </p:nvSpPr>
        <p:spPr>
          <a:xfrm>
            <a:off x="7013448" y="2350008"/>
            <a:ext cx="567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9" name="Google Shape;299;p26"/>
          <p:cNvSpPr/>
          <p:nvPr/>
        </p:nvSpPr>
        <p:spPr>
          <a:xfrm>
            <a:off x="7050024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6"/>
          <p:cNvSpPr/>
          <p:nvPr/>
        </p:nvSpPr>
        <p:spPr>
          <a:xfrm>
            <a:off x="7168896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6"/>
          <p:cNvSpPr/>
          <p:nvPr/>
        </p:nvSpPr>
        <p:spPr>
          <a:xfrm>
            <a:off x="7287768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6"/>
          <p:cNvSpPr/>
          <p:nvPr/>
        </p:nvSpPr>
        <p:spPr>
          <a:xfrm>
            <a:off x="7406640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6"/>
          <p:cNvSpPr/>
          <p:nvPr/>
        </p:nvSpPr>
        <p:spPr>
          <a:xfrm>
            <a:off x="7050024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6"/>
          <p:cNvSpPr/>
          <p:nvPr/>
        </p:nvSpPr>
        <p:spPr>
          <a:xfrm>
            <a:off x="7168896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6"/>
          <p:cNvSpPr/>
          <p:nvPr/>
        </p:nvSpPr>
        <p:spPr>
          <a:xfrm>
            <a:off x="7287768" y="2724912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6"/>
          <p:cNvSpPr/>
          <p:nvPr/>
        </p:nvSpPr>
        <p:spPr>
          <a:xfrm>
            <a:off x="7406640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6"/>
          <p:cNvSpPr/>
          <p:nvPr/>
        </p:nvSpPr>
        <p:spPr>
          <a:xfrm>
            <a:off x="7050024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6"/>
          <p:cNvSpPr/>
          <p:nvPr/>
        </p:nvSpPr>
        <p:spPr>
          <a:xfrm>
            <a:off x="7168896" y="2852928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6"/>
          <p:cNvSpPr/>
          <p:nvPr/>
        </p:nvSpPr>
        <p:spPr>
          <a:xfrm>
            <a:off x="7287768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6"/>
          <p:cNvSpPr/>
          <p:nvPr/>
        </p:nvSpPr>
        <p:spPr>
          <a:xfrm>
            <a:off x="7406640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6"/>
          <p:cNvSpPr/>
          <p:nvPr/>
        </p:nvSpPr>
        <p:spPr>
          <a:xfrm>
            <a:off x="7754112" y="2331720"/>
            <a:ext cx="274200" cy="1371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6"/>
          <p:cNvSpPr/>
          <p:nvPr/>
        </p:nvSpPr>
        <p:spPr>
          <a:xfrm>
            <a:off x="7754112" y="2770632"/>
            <a:ext cx="274200" cy="1371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6"/>
          <p:cNvSpPr/>
          <p:nvPr/>
        </p:nvSpPr>
        <p:spPr>
          <a:xfrm>
            <a:off x="7754112" y="3209544"/>
            <a:ext cx="274200" cy="1371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6"/>
          <p:cNvSpPr/>
          <p:nvPr/>
        </p:nvSpPr>
        <p:spPr>
          <a:xfrm>
            <a:off x="6300216" y="3675888"/>
            <a:ext cx="1710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Multi-scale Feature Fusion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Sparse Routing Attention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8243366" y="1728184"/>
            <a:ext cx="1463100" cy="2441400"/>
          </a:xfrm>
          <a:prstGeom prst="roundRect">
            <a:avLst>
              <a:gd fmla="val 6250" name="adj"/>
            </a:avLst>
          </a:prstGeom>
          <a:solidFill>
            <a:srgbClr val="FFFDF8"/>
          </a:solidFill>
          <a:ln cap="flat" cmpd="sng" w="13950">
            <a:solidFill>
              <a:srgbClr val="F3B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6"/>
          <p:cNvSpPr/>
          <p:nvPr/>
        </p:nvSpPr>
        <p:spPr>
          <a:xfrm>
            <a:off x="8357616" y="180136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B26A00"/>
                </a:solidFill>
                <a:latin typeface="Inter"/>
                <a:ea typeface="Inter"/>
                <a:cs typeface="Inter"/>
                <a:sym typeface="Inter"/>
              </a:rPr>
              <a:t>Decoupled Head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8348577" y="2469020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FE8DF"/>
          </a:solidFill>
          <a:ln cap="flat" cmpd="sng" w="12700">
            <a:solidFill>
              <a:srgbClr val="D5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6"/>
          <p:cNvSpPr/>
          <p:nvPr/>
        </p:nvSpPr>
        <p:spPr>
          <a:xfrm>
            <a:off x="8339387" y="2484936"/>
            <a:ext cx="804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Classification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8348577" y="2871188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E7F2FF"/>
          </a:solidFill>
          <a:ln cap="flat" cmpd="sng" w="12700">
            <a:solidFill>
              <a:srgbClr val="4F8B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6"/>
          <p:cNvSpPr/>
          <p:nvPr/>
        </p:nvSpPr>
        <p:spPr>
          <a:xfrm>
            <a:off x="8362225" y="2916950"/>
            <a:ext cx="777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Bounding Box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8348589" y="3301082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2EAFE"/>
          </a:solidFill>
          <a:ln cap="flat" cmpd="sng" w="12700">
            <a:solidFill>
              <a:srgbClr val="8B61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6"/>
          <p:cNvSpPr/>
          <p:nvPr/>
        </p:nvSpPr>
        <p:spPr>
          <a:xfrm>
            <a:off x="8389678" y="3287271"/>
            <a:ext cx="694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Objectness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10145586" y="1659746"/>
            <a:ext cx="1591200" cy="2441400"/>
          </a:xfrm>
          <a:prstGeom prst="roundRect">
            <a:avLst>
              <a:gd fmla="val 5747" name="adj"/>
            </a:avLst>
          </a:prstGeom>
          <a:solidFill>
            <a:srgbClr val="FCF9FF"/>
          </a:solidFill>
          <a:ln cap="flat" cmpd="sng" w="13950">
            <a:solidFill>
              <a:srgbClr val="B88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6"/>
          <p:cNvSpPr/>
          <p:nvPr/>
        </p:nvSpPr>
        <p:spPr>
          <a:xfrm>
            <a:off x="10003536" y="1801368"/>
            <a:ext cx="159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C39E9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8C39E9"/>
                </a:solidFill>
                <a:latin typeface="Inter"/>
                <a:ea typeface="Inter"/>
                <a:cs typeface="Inter"/>
                <a:sym typeface="Inter"/>
              </a:rPr>
              <a:t>Helmet Detection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235915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6"/>
          <p:cNvSpPr/>
          <p:nvPr/>
        </p:nvSpPr>
        <p:spPr>
          <a:xfrm>
            <a:off x="4114800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6"/>
          <p:cNvSpPr/>
          <p:nvPr/>
        </p:nvSpPr>
        <p:spPr>
          <a:xfrm>
            <a:off x="6044184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6"/>
          <p:cNvSpPr/>
          <p:nvPr/>
        </p:nvSpPr>
        <p:spPr>
          <a:xfrm>
            <a:off x="802386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6"/>
          <p:cNvSpPr/>
          <p:nvPr/>
        </p:nvSpPr>
        <p:spPr>
          <a:xfrm>
            <a:off x="9944608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6"/>
          <p:cNvSpPr/>
          <p:nvPr/>
        </p:nvSpPr>
        <p:spPr>
          <a:xfrm>
            <a:off x="457200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6"/>
          <p:cNvSpPr/>
          <p:nvPr/>
        </p:nvSpPr>
        <p:spPr>
          <a:xfrm>
            <a:off x="612648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6"/>
          <p:cNvSpPr/>
          <p:nvPr/>
        </p:nvSpPr>
        <p:spPr>
          <a:xfrm>
            <a:off x="685800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1280160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4" name="Google Shape;334;p26"/>
          <p:cNvSpPr/>
          <p:nvPr/>
        </p:nvSpPr>
        <p:spPr>
          <a:xfrm>
            <a:off x="1280160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Adds spatial coordinates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5" name="Google Shape;335;p26"/>
          <p:cNvSpPr/>
          <p:nvPr/>
        </p:nvSpPr>
        <p:spPr>
          <a:xfrm>
            <a:off x="3319272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6"/>
          <p:cNvSpPr/>
          <p:nvPr/>
        </p:nvSpPr>
        <p:spPr>
          <a:xfrm>
            <a:off x="3474720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6"/>
          <p:cNvSpPr/>
          <p:nvPr/>
        </p:nvSpPr>
        <p:spPr>
          <a:xfrm>
            <a:off x="3547872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8" name="Google Shape;338;p26"/>
          <p:cNvSpPr/>
          <p:nvPr/>
        </p:nvSpPr>
        <p:spPr>
          <a:xfrm>
            <a:off x="4142232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RepConv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9" name="Google Shape;339;p26"/>
          <p:cNvSpPr/>
          <p:nvPr/>
        </p:nvSpPr>
        <p:spPr>
          <a:xfrm>
            <a:off x="4142225" y="5166300"/>
            <a:ext cx="17100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Train multi-branch, deploy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single-path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0" name="Google Shape;340;p26"/>
          <p:cNvSpPr/>
          <p:nvPr/>
        </p:nvSpPr>
        <p:spPr>
          <a:xfrm>
            <a:off x="6181344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6"/>
          <p:cNvSpPr/>
          <p:nvPr/>
        </p:nvSpPr>
        <p:spPr>
          <a:xfrm>
            <a:off x="6336792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6"/>
          <p:cNvSpPr/>
          <p:nvPr/>
        </p:nvSpPr>
        <p:spPr>
          <a:xfrm>
            <a:off x="6409944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26"/>
          <p:cNvSpPr/>
          <p:nvPr/>
        </p:nvSpPr>
        <p:spPr>
          <a:xfrm>
            <a:off x="7004304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6"/>
          <p:cNvSpPr/>
          <p:nvPr/>
        </p:nvSpPr>
        <p:spPr>
          <a:xfrm>
            <a:off x="7004275" y="5143500"/>
            <a:ext cx="17922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Sparse routing for small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targets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9043416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6"/>
          <p:cNvSpPr/>
          <p:nvPr/>
        </p:nvSpPr>
        <p:spPr>
          <a:xfrm>
            <a:off x="9198864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6"/>
          <p:cNvSpPr/>
          <p:nvPr/>
        </p:nvSpPr>
        <p:spPr>
          <a:xfrm>
            <a:off x="9272016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26"/>
          <p:cNvSpPr/>
          <p:nvPr/>
        </p:nvSpPr>
        <p:spPr>
          <a:xfrm>
            <a:off x="9866376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9866376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box regression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50" name="Google Shape;35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025" y="2177134"/>
            <a:ext cx="1554600" cy="1543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0850" y="2154108"/>
            <a:ext cx="1463100" cy="1452654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6"/>
          <p:cNvSpPr/>
          <p:nvPr/>
        </p:nvSpPr>
        <p:spPr>
          <a:xfrm>
            <a:off x="10981950" y="2569575"/>
            <a:ext cx="82500" cy="1371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16500">
            <a:solidFill>
              <a:srgbClr val="00E8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6"/>
          <p:cNvSpPr/>
          <p:nvPr/>
        </p:nvSpPr>
        <p:spPr>
          <a:xfrm>
            <a:off x="9363675" y="2723213"/>
            <a:ext cx="567000" cy="670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lang="en-US" sz="900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4" name="Google Shape;354;p26"/>
          <p:cNvCxnSpPr/>
          <p:nvPr/>
        </p:nvCxnSpPr>
        <p:spPr>
          <a:xfrm>
            <a:off x="9139588" y="3051850"/>
            <a:ext cx="224100" cy="13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7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/>
          </a:p>
        </p:txBody>
      </p:sp>
      <p:sp>
        <p:nvSpPr>
          <p:cNvPr id="362" name="Google Shape;362;p2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Data Engineering: Multi-Domain Harmonization &amp; Anomaly Cleaning</a:t>
            </a:r>
            <a:endParaRPr/>
          </a:p>
        </p:txBody>
      </p:sp>
      <p:sp>
        <p:nvSpPr>
          <p:cNvPr id="363" name="Google Shape;363;p27"/>
          <p:cNvSpPr/>
          <p:nvPr/>
        </p:nvSpPr>
        <p:spPr>
          <a:xfrm>
            <a:off x="731520" y="1234440"/>
            <a:ext cx="5120700" cy="4480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7"/>
          <p:cNvSpPr txBox="1"/>
          <p:nvPr/>
        </p:nvSpPr>
        <p:spPr>
          <a:xfrm>
            <a:off x="960120" y="1436850"/>
            <a:ext cx="46635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PRIMARY IN-DOMAIN DATASET (VOC2028 / SHWD)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7,581 Real Construction Images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Rigorous 80/20 Partitioning: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6,064 TrainVal images / 1,517 independent Test images (Zero Data Leakage).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Noise &amp; Anomaly Cleaning: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Detected and purged 3 corrupted XML annotations labeled as "dog".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Extreme Label Imbalance: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1:12 class ratio (9,044 helmet labels vs. 111,514 person body labels).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Multi-Scale Standardization: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960×960 native training resolution with 640×640 / 1024×1024 multi-scale scaling.</a:t>
            </a:r>
            <a:endParaRPr sz="1800"/>
          </a:p>
        </p:txBody>
      </p:sp>
      <p:sp>
        <p:nvSpPr>
          <p:cNvPr id="365" name="Google Shape;365;p27"/>
          <p:cNvSpPr/>
          <p:nvPr/>
        </p:nvSpPr>
        <p:spPr>
          <a:xfrm>
            <a:off x="6126480" y="1234440"/>
            <a:ext cx="5303520" cy="4480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7"/>
          <p:cNvSpPr txBox="1"/>
          <p:nvPr/>
        </p:nvSpPr>
        <p:spPr>
          <a:xfrm>
            <a:off x="6355080" y="1508750"/>
            <a:ext cx="48462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5 CROSS-DOMAIN BENCHMARKS (&gt;25,000 IMAGES)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Zero-Shot Generalization Test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GDUT-HWD (13,499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Ultra-dense worker crowding (15–30 persons per camera frame).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SHEL5K (5,000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Vertical drone overhead perspective (70–90°), tiny helmets &lt;15px.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Hard Hat Workers (7,000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Outdoor surveillance under extreme natural lighting and shadows.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SHD &amp; SFCHD Benchmark: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Heavy industry metallurgical plants, oil refineries, and shipyards.</a:t>
            </a:r>
            <a:endParaRPr sz="1800"/>
          </a:p>
        </p:txBody>
      </p:sp>
      <p:sp>
        <p:nvSpPr>
          <p:cNvPr id="367" name="Google Shape;367;p27"/>
          <p:cNvSpPr/>
          <p:nvPr/>
        </p:nvSpPr>
        <p:spPr>
          <a:xfrm>
            <a:off x="731520" y="5806440"/>
            <a:ext cx="10698480" cy="6400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7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★ UNIFIED LABEL TAXONOMY C* = {0: "hat" (Safety Helmet), 1: "person" (Worker Body)} — Fully synchronized across 33,000+ images!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FEASIBILITY &amp; PROJECT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5" name="Google Shape;375;p2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14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2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Feasibility &amp; Scope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7" name="Google Shape;377;p28"/>
          <p:cNvSpPr/>
          <p:nvPr/>
        </p:nvSpPr>
        <p:spPr>
          <a:xfrm>
            <a:off x="532650" y="1220300"/>
            <a:ext cx="5456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8"/>
          <p:cNvSpPr/>
          <p:nvPr/>
        </p:nvSpPr>
        <p:spPr>
          <a:xfrm>
            <a:off x="6172200" y="1234200"/>
            <a:ext cx="5801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8"/>
          <p:cNvSpPr/>
          <p:nvPr/>
        </p:nvSpPr>
        <p:spPr>
          <a:xfrm>
            <a:off x="9601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Existing Foundations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0" name="Google Shape;380;p28"/>
          <p:cNvSpPr/>
          <p:nvPr/>
        </p:nvSpPr>
        <p:spPr>
          <a:xfrm>
            <a:off x="64465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Our Work &amp; Scope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28"/>
          <p:cNvSpPr/>
          <p:nvPr/>
        </p:nvSpPr>
        <p:spPr>
          <a:xfrm>
            <a:off x="1828800" y="22128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YOLO-based framework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8"/>
          <p:cNvSpPr/>
          <p:nvPr/>
        </p:nvSpPr>
        <p:spPr>
          <a:xfrm>
            <a:off x="1828800" y="24871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on the proven YOLO11s detection pipeline.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3" name="Google Shape;383;p28"/>
          <p:cNvSpPr/>
          <p:nvPr/>
        </p:nvSpPr>
        <p:spPr>
          <a:xfrm>
            <a:off x="1828800" y="31272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PyTorch and OpenCV tools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28"/>
          <p:cNvSpPr/>
          <p:nvPr/>
        </p:nvSpPr>
        <p:spPr>
          <a:xfrm>
            <a:off x="1828800" y="3401576"/>
            <a:ext cx="40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Leverage mature libraries for training and inference.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28"/>
          <p:cNvSpPr/>
          <p:nvPr/>
        </p:nvSpPr>
        <p:spPr>
          <a:xfrm>
            <a:off x="1828800" y="40416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TensorRT / ONNX / OpenVINO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28"/>
          <p:cNvSpPr/>
          <p:nvPr/>
        </p:nvSpPr>
        <p:spPr>
          <a:xfrm>
            <a:off x="1828800" y="4315974"/>
            <a:ext cx="41148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established toolchains for optimized deployment.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1828800" y="49560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RTSP surveillance pipeline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1828800" y="52303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 with standard IP camera streams.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7315200" y="22128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Integrate CoordConv, RepConv, BiFormer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0" name="Google Shape;390;p28"/>
          <p:cNvSpPr/>
          <p:nvPr/>
        </p:nvSpPr>
        <p:spPr>
          <a:xfrm>
            <a:off x="7315200" y="2487176"/>
            <a:ext cx="41148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 spatial encoding, re-parameterization and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attention modules in YOLO11s.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7315200" y="31272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Apply Focal EIoU loss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7315200" y="3401576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Focal EIoU to improve small target localization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reduce false alarms.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315200" y="40416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Conduct ablation and benchmarking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315200" y="4315977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 each component with systematic experiments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standard benchmarks.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315200" y="49560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Build real-time prototype system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6" name="Google Shape;396;p28"/>
          <p:cNvSpPr/>
          <p:nvPr/>
        </p:nvSpPr>
        <p:spPr>
          <a:xfrm>
            <a:off x="7315200" y="5230375"/>
            <a:ext cx="525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Implement and deploy an optimized model on edge hardware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live video inference.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97" name="Google Shape;39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120" y="2177179"/>
            <a:ext cx="731400" cy="3454459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  <p:pic>
        <p:nvPicPr>
          <p:cNvPr id="398" name="Google Shape;39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0925" y="2093375"/>
            <a:ext cx="731400" cy="36220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VALUE &amp; CONTRIBUTION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16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Research Value &amp; Practical Contribution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29"/>
          <p:cNvSpPr/>
          <p:nvPr/>
        </p:nvSpPr>
        <p:spPr>
          <a:xfrm>
            <a:off x="54864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9"/>
          <p:cNvSpPr/>
          <p:nvPr/>
        </p:nvSpPr>
        <p:spPr>
          <a:xfrm>
            <a:off x="84124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Academic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9" name="Google Shape;409;p29"/>
          <p:cNvCxnSpPr/>
          <p:nvPr/>
        </p:nvCxnSpPr>
        <p:spPr>
          <a:xfrm>
            <a:off x="84124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29"/>
          <p:cNvSpPr/>
          <p:nvPr/>
        </p:nvSpPr>
        <p:spPr>
          <a:xfrm>
            <a:off x="896112" y="3511296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"/>
          <p:cNvSpPr/>
          <p:nvPr/>
        </p:nvSpPr>
        <p:spPr>
          <a:xfrm>
            <a:off x="106070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p29"/>
          <p:cNvSpPr/>
          <p:nvPr/>
        </p:nvSpPr>
        <p:spPr>
          <a:xfrm>
            <a:off x="896112" y="4187952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29"/>
          <p:cNvSpPr/>
          <p:nvPr/>
        </p:nvSpPr>
        <p:spPr>
          <a:xfrm>
            <a:off x="106070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9"/>
          <p:cNvSpPr/>
          <p:nvPr/>
        </p:nvSpPr>
        <p:spPr>
          <a:xfrm>
            <a:off x="896112" y="4864608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106070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experimental evidence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6" name="Google Shape;416;p29"/>
          <p:cNvSpPr/>
          <p:nvPr/>
        </p:nvSpPr>
        <p:spPr>
          <a:xfrm>
            <a:off x="425196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454456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18" name="Google Shape;418;p29"/>
          <p:cNvCxnSpPr/>
          <p:nvPr/>
        </p:nvCxnSpPr>
        <p:spPr>
          <a:xfrm>
            <a:off x="454456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29"/>
          <p:cNvSpPr/>
          <p:nvPr/>
        </p:nvSpPr>
        <p:spPr>
          <a:xfrm>
            <a:off x="4599432" y="351129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476402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Supports construction safety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monitoring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1" name="Google Shape;421;p29"/>
          <p:cNvSpPr/>
          <p:nvPr/>
        </p:nvSpPr>
        <p:spPr>
          <a:xfrm>
            <a:off x="4599432" y="4187952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476402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Reduces manual supervision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burden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3" name="Google Shape;423;p29"/>
          <p:cNvSpPr/>
          <p:nvPr/>
        </p:nvSpPr>
        <p:spPr>
          <a:xfrm>
            <a:off x="4599432" y="486460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476402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Runs on affordable hardware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795528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9"/>
          <p:cNvSpPr/>
          <p:nvPr/>
        </p:nvSpPr>
        <p:spPr>
          <a:xfrm>
            <a:off x="824788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27" name="Google Shape;427;p29"/>
          <p:cNvCxnSpPr/>
          <p:nvPr/>
        </p:nvCxnSpPr>
        <p:spPr>
          <a:xfrm>
            <a:off x="824788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8" name="Google Shape;428;p29"/>
          <p:cNvSpPr/>
          <p:nvPr/>
        </p:nvSpPr>
        <p:spPr>
          <a:xfrm>
            <a:off x="8302752" y="3511296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9"/>
          <p:cNvSpPr/>
          <p:nvPr/>
        </p:nvSpPr>
        <p:spPr>
          <a:xfrm>
            <a:off x="846734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Integrates multiple targeted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" name="Google Shape;430;p29"/>
          <p:cNvSpPr/>
          <p:nvPr/>
        </p:nvSpPr>
        <p:spPr>
          <a:xfrm>
            <a:off x="8302752" y="4187952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9"/>
          <p:cNvSpPr/>
          <p:nvPr/>
        </p:nvSpPr>
        <p:spPr>
          <a:xfrm>
            <a:off x="846734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Focuses on real-time edge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2" name="Google Shape;432;p29"/>
          <p:cNvSpPr/>
          <p:nvPr/>
        </p:nvSpPr>
        <p:spPr>
          <a:xfrm>
            <a:off x="8302752" y="4864608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9"/>
          <p:cNvSpPr/>
          <p:nvPr/>
        </p:nvSpPr>
        <p:spPr>
          <a:xfrm>
            <a:off x="846734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Bridges research and working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4" name="Google Shape;434;p29"/>
          <p:cNvSpPr/>
          <p:nvPr/>
        </p:nvSpPr>
        <p:spPr>
          <a:xfrm>
            <a:off x="548640" y="5833872"/>
            <a:ext cx="10927200" cy="713100"/>
          </a:xfrm>
          <a:prstGeom prst="roundRect">
            <a:avLst>
              <a:gd fmla="val 15385" name="adj"/>
            </a:avLst>
          </a:prstGeom>
          <a:solidFill>
            <a:srgbClr val="F1F6FC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9"/>
          <p:cNvSpPr/>
          <p:nvPr/>
        </p:nvSpPr>
        <p:spPr>
          <a:xfrm>
            <a:off x="1645920" y="6099048"/>
            <a:ext cx="90525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An edge-ready helmet detection framework connecting academic research with practical deployment.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36" name="Google Shape;43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1600" y="1613825"/>
            <a:ext cx="777300" cy="758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9099" y="1623098"/>
            <a:ext cx="818180" cy="77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47899" y="1597475"/>
            <a:ext cx="818175" cy="828543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30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EMPIRICAL VERIFICATION &amp; SCIENTIFIC EVIDENCE</a:t>
            </a:r>
            <a:endParaRPr/>
          </a:p>
        </p:txBody>
      </p:sp>
      <p:sp>
        <p:nvSpPr>
          <p:cNvPr id="445" name="Google Shape;445;p30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/>
          </a:p>
        </p:txBody>
      </p:sp>
      <p:sp>
        <p:nvSpPr>
          <p:cNvPr id="446" name="Google Shape;446;p30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Ablation Study (A0–A6): Rigorous Component Verification</a:t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74358" y="1234440"/>
            <a:ext cx="4389000" cy="4937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0"/>
          <p:cNvSpPr txBox="1"/>
          <p:nvPr/>
        </p:nvSpPr>
        <p:spPr>
          <a:xfrm>
            <a:off x="452875" y="1408975"/>
            <a:ext cx="3927600" cy="34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STEP-BY-STEP MODULE CONTRIBUTIONS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A0 (Baseline YOLO11s):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94.74% mAP50 · 6.52 ms latency.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A1 (+ P2 Small Head):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Latency surged to 8.94 ms (+37%) -&gt; Pruned as suboptimal.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A2 (+ CoordConv):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94.78% mAP50 · Spatial awareness without latency overhead.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A3 (+ RepConv):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Rich gradient representation in training.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A4 (+ Focal EIoU):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94.88% mAP50 · Precise bounding box regression for tiny objects.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A5 (+ BiFormer):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94.80% mAP50 · Peak helmet Recall reaching 91.15%.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A6 (Full Fusion):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94.83% mAP50 · Latency plummets to a record 2.92 ms!</a:t>
            </a:r>
            <a:endParaRPr sz="1800"/>
          </a:p>
        </p:txBody>
      </p:sp>
      <p:sp>
        <p:nvSpPr>
          <p:cNvPr id="449" name="Google Shape;449;p30"/>
          <p:cNvSpPr txBox="1"/>
          <p:nvPr/>
        </p:nvSpPr>
        <p:spPr>
          <a:xfrm>
            <a:off x="5440680" y="5623560"/>
            <a:ext cx="5852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0" name="Google Shape;45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9200" y="1192975"/>
            <a:ext cx="6894776" cy="44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1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SOTA BENCHMARKING &amp; PARETO DOMINANCE</a:t>
            </a:r>
            <a:endParaRPr/>
          </a:p>
        </p:txBody>
      </p:sp>
      <p:sp>
        <p:nvSpPr>
          <p:cNvPr id="457" name="Google Shape;457;p31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18</a:t>
            </a:r>
            <a:endParaRPr/>
          </a:p>
        </p:txBody>
      </p:sp>
      <p:sp>
        <p:nvSpPr>
          <p:cNvPr id="458" name="Google Shape;458;p31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State-of-the-Art Benchmarking: Pareto Frontier Dominance</a:t>
            </a:r>
            <a:endParaRPr/>
          </a:p>
        </p:txBody>
      </p:sp>
      <p:sp>
        <p:nvSpPr>
          <p:cNvPr id="459" name="Google Shape;459;p31"/>
          <p:cNvSpPr/>
          <p:nvPr/>
        </p:nvSpPr>
        <p:spPr>
          <a:xfrm>
            <a:off x="731520" y="1234440"/>
            <a:ext cx="438912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1"/>
          <p:cNvSpPr txBox="1"/>
          <p:nvPr/>
        </p:nvSpPr>
        <p:spPr>
          <a:xfrm>
            <a:off x="982450" y="1508750"/>
            <a:ext cx="4023300" cy="27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COMPETITIVE EDGE OF REP-YOLO11s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2.23x Faster than Baseline: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2.92 ms vs 6.52 ms on Tesla T4 (342.5 FPS throughput).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4.25x Faster than YOLO-CBF: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YOLO-CBF takes 12.4 ms (80.6 FPS); our model takes only 2.92 ms.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2x Faster than EC-YOLOv8: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EC-YOLOv8 reaches 172.4 FPS; our model achieves 342.5 FPS.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5-Fold Stratified Peak: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96.64% ± 0.32% mAP50, peak fold reaching 97.11% mAP50 and F1: 0.9396.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Top-Left Pareto Dominance: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Ideal benchmark quadrant: Highest detection accuracy at lowest forward latency.</a:t>
            </a:r>
            <a:endParaRPr sz="1800"/>
          </a:p>
        </p:txBody>
      </p:sp>
      <p:sp>
        <p:nvSpPr>
          <p:cNvPr id="461" name="Google Shape;461;p31"/>
          <p:cNvSpPr/>
          <p:nvPr/>
        </p:nvSpPr>
        <p:spPr>
          <a:xfrm>
            <a:off x="5303520" y="1234440"/>
            <a:ext cx="612648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5_efficiency_frontier_latency_vs_map.png" id="462" name="Google Shape;46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5" y="1192863"/>
            <a:ext cx="6126476" cy="430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31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5: Pareto Efficiency Frontier (Latency vs. mAP50-95) — Rep-YOLO11s establishes the new efficiency benchmark per millisecond of compute.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MODEL TRANSPARENCY &amp; EXPLAINABLE AI</a:t>
            </a:r>
            <a:endParaRPr/>
          </a:p>
        </p:txBody>
      </p:sp>
      <p:sp>
        <p:nvSpPr>
          <p:cNvPr id="470" name="Google Shape;470;p32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/>
          </a:p>
        </p:txBody>
      </p:sp>
      <p:sp>
        <p:nvSpPr>
          <p:cNvPr id="471" name="Google Shape;471;p32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Visual Explainability (Grad-CAM XAI): Saliency &amp; Noise Suppression</a:t>
            </a:r>
            <a:endParaRPr/>
          </a:p>
        </p:txBody>
      </p:sp>
      <p:sp>
        <p:nvSpPr>
          <p:cNvPr id="472" name="Google Shape;472;p32"/>
          <p:cNvSpPr/>
          <p:nvPr/>
        </p:nvSpPr>
        <p:spPr>
          <a:xfrm>
            <a:off x="731520" y="1234440"/>
            <a:ext cx="402336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2"/>
          <p:cNvSpPr txBox="1"/>
          <p:nvPr/>
        </p:nvSpPr>
        <p:spPr>
          <a:xfrm>
            <a:off x="1004250" y="1508750"/>
            <a:ext cx="3657600" cy="26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 HARD INDUSTRIAL SCENARIOS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1: REFLECTIVE ORANGE VEST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disperses gradient across torso and scaffolding; Rep-YOLO11s focuses exclusively on helmet dome (conf 0.84).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2: SEVERE SPECULAR GLARE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Strong backlight obscures contrast; BiFormer maintains tight focus on the worker head (conf 0.89).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3: YELLOW WARNING SIGN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misclassifies yellow caution sign as helmet; CoordConv coordinates correctly suppress false alarm on the floor!</a:t>
            </a:r>
            <a:endParaRPr sz="1800"/>
          </a:p>
        </p:txBody>
      </p:sp>
      <p:sp>
        <p:nvSpPr>
          <p:cNvPr id="474" name="Google Shape;474;p32"/>
          <p:cNvSpPr/>
          <p:nvPr/>
        </p:nvSpPr>
        <p:spPr>
          <a:xfrm>
            <a:off x="4937760" y="1234440"/>
            <a:ext cx="649224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3_gradcam_xai_saliency_comparison.png" id="475" name="Google Shape;475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37750" y="1069850"/>
            <a:ext cx="6492250" cy="4443974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2"/>
          <p:cNvSpPr txBox="1"/>
          <p:nvPr/>
        </p:nvSpPr>
        <p:spPr>
          <a:xfrm>
            <a:off x="5265420" y="5599760"/>
            <a:ext cx="6217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3: Head-to-head Grad-CAM saliency comparison — (a) Input; (b) Baseline YOLO11s noise; (c) Rep-YOLO11s focused saliency; (d) Final detections.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3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CROSS-DOMAIN GENERALIZATION &amp; TAXONOMY</a:t>
            </a:r>
            <a:endParaRPr/>
          </a:p>
        </p:txBody>
      </p:sp>
      <p:sp>
        <p:nvSpPr>
          <p:cNvPr id="483" name="Google Shape;483;p3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/>
          </a:p>
        </p:txBody>
      </p:sp>
      <p:sp>
        <p:nvSpPr>
          <p:cNvPr id="484" name="Google Shape;484;p3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Cross-Domain Generalization &amp; IoU Collapse Autopsy</a:t>
            </a:r>
            <a:endParaRPr/>
          </a:p>
        </p:txBody>
      </p:sp>
      <p:sp>
        <p:nvSpPr>
          <p:cNvPr id="485" name="Google Shape;485;p33"/>
          <p:cNvSpPr/>
          <p:nvPr/>
        </p:nvSpPr>
        <p:spPr>
          <a:xfrm>
            <a:off x="731520" y="1234440"/>
            <a:ext cx="347472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3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HARD HAT WORKERS (7,000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97.03%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Harmonized PPE Protocol (Hat-Only)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Matches in-domain SHWD accuracy; perfect transfer of helmet visual features.</a:t>
            </a:r>
            <a:endParaRPr/>
          </a:p>
        </p:txBody>
      </p:sp>
      <p:sp>
        <p:nvSpPr>
          <p:cNvPr id="487" name="Google Shape;487;p33"/>
          <p:cNvSpPr/>
          <p:nvPr/>
        </p:nvSpPr>
        <p:spPr>
          <a:xfrm>
            <a:off x="7909570" y="1243578"/>
            <a:ext cx="347460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3"/>
          <p:cNvSpPr txBox="1"/>
          <p:nvPr/>
        </p:nvSpPr>
        <p:spPr>
          <a:xfrm>
            <a:off x="8183905" y="1357900"/>
            <a:ext cx="3200400" cy="10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GDUT-HWD (13,499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74.27%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Precision: 90.26% (15-30 workers/frame)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Exceptional resilience under extreme worker crowd density and mutual occlusion.</a:t>
            </a:r>
            <a:endParaRPr/>
          </a:p>
        </p:txBody>
      </p:sp>
      <p:sp>
        <p:nvSpPr>
          <p:cNvPr id="489" name="Google Shape;489;p33"/>
          <p:cNvSpPr/>
          <p:nvPr/>
        </p:nvSpPr>
        <p:spPr>
          <a:xfrm>
            <a:off x="731520" y="3703320"/>
            <a:ext cx="1069848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3"/>
          <p:cNvSpPr txBox="1"/>
          <p:nvPr/>
        </p:nvSpPr>
        <p:spPr>
          <a:xfrm>
            <a:off x="960120" y="3844385"/>
            <a:ext cx="102414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MATHEMATICAL AUTOPSY: THE CROSS-DOMAIN IOU COLLAPSE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Academic Label Taxonomy Conflict: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The source SHWD dataset annotates "person" as FULL-BODY, while Hard Hat Workers annotates "person" as HEAD-ONLY.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Mathematical Degradation: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Empirical Exoneration: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Evaluating under the Harmonized PPE Protocol (Hat-Only), mAP instantly surges to 97.03%, proving the learned visual representations are pristine!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REAL-WORLD DEPLOYMENT ON BUDGET HARDWARE</a:t>
            </a:r>
            <a:endParaRPr/>
          </a:p>
        </p:txBody>
      </p:sp>
      <p:sp>
        <p:nvSpPr>
          <p:cNvPr id="497" name="Google Shape;497;p3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/>
          </a:p>
        </p:txBody>
      </p:sp>
      <p:sp>
        <p:nvSpPr>
          <p:cNvPr id="498" name="Google Shape;498;p3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Realization: Real-Time on 2GB MX230 Laptop GPU</a:t>
            </a:r>
            <a:endParaRPr/>
          </a:p>
        </p:txBody>
      </p:sp>
      <p:sp>
        <p:nvSpPr>
          <p:cNvPr id="499" name="Google Shape;499;p34"/>
          <p:cNvSpPr/>
          <p:nvPr/>
        </p:nvSpPr>
        <p:spPr>
          <a:xfrm>
            <a:off x="7315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4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SERVER / CLUSTER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NVIDIA Tesla T4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2.92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342.5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Handles 12 RTSP camera streams concurrently.</a:t>
            </a:r>
            <a:endParaRPr/>
          </a:p>
        </p:txBody>
      </p:sp>
      <p:sp>
        <p:nvSpPr>
          <p:cNvPr id="501" name="Google Shape;501;p34"/>
          <p:cNvSpPr/>
          <p:nvPr/>
        </p:nvSpPr>
        <p:spPr>
          <a:xfrm>
            <a:off x="43891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4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MID-RANGE LAPTOP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RTX 3050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5.35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187.1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Portable edge surveillance workstation.</a:t>
            </a:r>
            <a:endParaRPr/>
          </a:p>
        </p:txBody>
      </p:sp>
      <p:sp>
        <p:nvSpPr>
          <p:cNvPr id="503" name="Google Shape;503;p34"/>
          <p:cNvSpPr/>
          <p:nvPr/>
        </p:nvSpPr>
        <p:spPr>
          <a:xfrm>
            <a:off x="80467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0FDF4"/>
          </a:solidFill>
          <a:ln cap="flat" cmpd="sng" w="2285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34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BUDGET OFFICE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GeForce MX230 (2GB VRAM)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36.0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27.8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Native PyTorch FP32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EXCEEDS 24 FPS CINEMATIC REAL-TIME!</a:t>
            </a:r>
            <a:endParaRPr/>
          </a:p>
        </p:txBody>
      </p:sp>
      <p:sp>
        <p:nvSpPr>
          <p:cNvPr id="505" name="Google Shape;505;p34"/>
          <p:cNvSpPr/>
          <p:nvPr/>
        </p:nvSpPr>
        <p:spPr>
          <a:xfrm>
            <a:off x="731520" y="3931920"/>
            <a:ext cx="10698480" cy="2240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4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ECONOMIC &amp; PRACTICAL VALUE OF GEFORCE MX230 (2GB VRAM) VERIFICATION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Breaking the Hardware Barrier: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100% Commercial Feasibility: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35" title="1818b700-829a-42bf-8740-3cb032bedb90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8552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1 · PROBLEM STATEMENT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11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3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Problem Statement &amp; Practical Motivation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731520" y="1325880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50800">
              <a:srgbClr val="B8B8B8">
                <a:alpha val="231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36"/>
          <p:cNvSpPr/>
          <p:nvPr/>
        </p:nvSpPr>
        <p:spPr>
          <a:xfrm>
            <a:off x="914400" y="1490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blurRad="322579988" rotWithShape="0" algn="bl" dist="645160000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6"/>
          <p:cNvSpPr/>
          <p:nvPr/>
        </p:nvSpPr>
        <p:spPr>
          <a:xfrm>
            <a:off x="987552" y="1563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3" name="Google Shape;523;p36"/>
          <p:cNvSpPr/>
          <p:nvPr/>
        </p:nvSpPr>
        <p:spPr>
          <a:xfrm>
            <a:off x="1755648" y="1481328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Tiny Distant Helmets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4" name="Google Shape;524;p36"/>
          <p:cNvSpPr/>
          <p:nvPr/>
        </p:nvSpPr>
        <p:spPr>
          <a:xfrm>
            <a:off x="1755648" y="1792224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Small targets under high-angle CCTV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5" name="Google Shape;525;p36"/>
          <p:cNvSpPr/>
          <p:nvPr/>
        </p:nvSpPr>
        <p:spPr>
          <a:xfrm>
            <a:off x="731520" y="2578608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4096766062500" rotWithShape="0" algn="bl" dist="-1265600768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6"/>
          <p:cNvSpPr/>
          <p:nvPr/>
        </p:nvSpPr>
        <p:spPr>
          <a:xfrm>
            <a:off x="914400" y="274320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blurRad="52028925000000000" rotWithShape="0" algn="bl" dist="-1362131984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6"/>
          <p:cNvSpPr/>
          <p:nvPr/>
        </p:nvSpPr>
        <p:spPr>
          <a:xfrm>
            <a:off x="987552" y="281635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8" name="Google Shape;528;p36"/>
          <p:cNvSpPr/>
          <p:nvPr/>
        </p:nvSpPr>
        <p:spPr>
          <a:xfrm>
            <a:off x="1755648" y="2734056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 Imbalance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9" name="Google Shape;529;p36"/>
          <p:cNvSpPr/>
          <p:nvPr/>
        </p:nvSpPr>
        <p:spPr>
          <a:xfrm>
            <a:off x="1755648" y="3044952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Helmet instances are far fewer than person instances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0" name="Google Shape;530;p36"/>
          <p:cNvSpPr/>
          <p:nvPr/>
        </p:nvSpPr>
        <p:spPr>
          <a:xfrm>
            <a:off x="731520" y="3831336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36"/>
          <p:cNvSpPr/>
          <p:nvPr/>
        </p:nvSpPr>
        <p:spPr>
          <a:xfrm>
            <a:off x="914400" y="399592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6"/>
          <p:cNvSpPr/>
          <p:nvPr/>
        </p:nvSpPr>
        <p:spPr>
          <a:xfrm>
            <a:off x="987552" y="406908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3" name="Google Shape;533;p36"/>
          <p:cNvSpPr/>
          <p:nvPr/>
        </p:nvSpPr>
        <p:spPr>
          <a:xfrm>
            <a:off x="1755648" y="3986784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False Alarms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4" name="Google Shape;534;p36"/>
          <p:cNvSpPr/>
          <p:nvPr/>
        </p:nvSpPr>
        <p:spPr>
          <a:xfrm>
            <a:off x="1755648" y="4297680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Yellow objects can be mistaken for helmets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5" name="Google Shape;535;p36"/>
          <p:cNvSpPr/>
          <p:nvPr/>
        </p:nvSpPr>
        <p:spPr>
          <a:xfrm>
            <a:off x="731520" y="5084064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6"/>
          <p:cNvSpPr/>
          <p:nvPr/>
        </p:nvSpPr>
        <p:spPr>
          <a:xfrm>
            <a:off x="914400" y="524865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6"/>
          <p:cNvSpPr/>
          <p:nvPr/>
        </p:nvSpPr>
        <p:spPr>
          <a:xfrm>
            <a:off x="987552" y="532180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8" name="Google Shape;538;p36"/>
          <p:cNvSpPr/>
          <p:nvPr/>
        </p:nvSpPr>
        <p:spPr>
          <a:xfrm>
            <a:off x="1755648" y="5239512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Edge Deployment Constraint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9" name="Google Shape;539;p36"/>
          <p:cNvSpPr/>
          <p:nvPr/>
        </p:nvSpPr>
        <p:spPr>
          <a:xfrm>
            <a:off x="1755648" y="5550408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Must run in real time on affordable hardware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0" name="Google Shape;540;p36"/>
          <p:cNvSpPr/>
          <p:nvPr/>
        </p:nvSpPr>
        <p:spPr>
          <a:xfrm>
            <a:off x="6053328" y="1325880"/>
            <a:ext cx="5394900" cy="4983600"/>
          </a:xfrm>
          <a:prstGeom prst="roundRect">
            <a:avLst>
              <a:gd fmla="val 2202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36"/>
          <p:cNvSpPr/>
          <p:nvPr/>
        </p:nvSpPr>
        <p:spPr>
          <a:xfrm>
            <a:off x="6766560" y="5833872"/>
            <a:ext cx="3931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F95"/>
              </a:buClr>
              <a:buSzPts val="850"/>
              <a:buFont typeface="Inter"/>
              <a:buNone/>
            </a:pPr>
            <a:r>
              <a:rPr b="0" i="0" lang="en-US" sz="850" u="none" cap="none" strike="noStrike">
                <a:solidFill>
                  <a:srgbClr val="6F7F95"/>
                </a:solidFill>
                <a:latin typeface="Inter"/>
                <a:ea typeface="Inter"/>
                <a:cs typeface="Inter"/>
                <a:sym typeface="Inter"/>
              </a:rPr>
              <a:t>Construction surveillance scene with distant small helmet target.</a:t>
            </a:r>
            <a:endParaRPr b="0" i="0" sz="8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2" name="Google Shape;5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9150" y="1563625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7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PROPOSED SOLUTION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9" name="Google Shape;549;p37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12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0" name="Google Shape;550;p37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Proposed Solution &amp; Final Deliverables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1" name="Google Shape;551;p37"/>
          <p:cNvSpPr/>
          <p:nvPr/>
        </p:nvSpPr>
        <p:spPr>
          <a:xfrm>
            <a:off x="731520" y="1353312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7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7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4" name="Google Shape;554;p37"/>
          <p:cNvSpPr/>
          <p:nvPr/>
        </p:nvSpPr>
        <p:spPr>
          <a:xfrm>
            <a:off x="1856232" y="1527048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REPORT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37"/>
          <p:cNvSpPr/>
          <p:nvPr/>
        </p:nvSpPr>
        <p:spPr>
          <a:xfrm>
            <a:off x="1856232" y="1810512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Paper and technical documentation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6" name="Google Shape;556;p37"/>
          <p:cNvSpPr/>
          <p:nvPr/>
        </p:nvSpPr>
        <p:spPr>
          <a:xfrm>
            <a:off x="731520" y="2615184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7"/>
          <p:cNvSpPr/>
          <p:nvPr/>
        </p:nvSpPr>
        <p:spPr>
          <a:xfrm>
            <a:off x="950976" y="277977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7"/>
          <p:cNvSpPr/>
          <p:nvPr/>
        </p:nvSpPr>
        <p:spPr>
          <a:xfrm>
            <a:off x="1024128" y="285292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9" name="Google Shape;559;p37"/>
          <p:cNvSpPr/>
          <p:nvPr/>
        </p:nvSpPr>
        <p:spPr>
          <a:xfrm>
            <a:off x="1856232" y="2788920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IMPROVED DETECTION MODEL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0" name="Google Shape;560;p37"/>
          <p:cNvSpPr/>
          <p:nvPr/>
        </p:nvSpPr>
        <p:spPr>
          <a:xfrm>
            <a:off x="1856232" y="3072384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Rep-YOLO11s for helmet detection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1" name="Google Shape;561;p37"/>
          <p:cNvSpPr/>
          <p:nvPr/>
        </p:nvSpPr>
        <p:spPr>
          <a:xfrm>
            <a:off x="731520" y="3877056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7"/>
          <p:cNvSpPr/>
          <p:nvPr/>
        </p:nvSpPr>
        <p:spPr>
          <a:xfrm>
            <a:off x="950976" y="404164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7"/>
          <p:cNvSpPr/>
          <p:nvPr/>
        </p:nvSpPr>
        <p:spPr>
          <a:xfrm>
            <a:off x="1024128" y="411480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4" name="Google Shape;564;p37"/>
          <p:cNvSpPr/>
          <p:nvPr/>
        </p:nvSpPr>
        <p:spPr>
          <a:xfrm>
            <a:off x="1856232" y="4050792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SOFTWARE PROTOTYPE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5" name="Google Shape;565;p37"/>
          <p:cNvSpPr/>
          <p:nvPr/>
        </p:nvSpPr>
        <p:spPr>
          <a:xfrm>
            <a:off x="1856232" y="4334256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RTSP surveillance demo system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6" name="Google Shape;566;p37"/>
          <p:cNvSpPr/>
          <p:nvPr/>
        </p:nvSpPr>
        <p:spPr>
          <a:xfrm>
            <a:off x="731520" y="5138928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37"/>
          <p:cNvSpPr/>
          <p:nvPr/>
        </p:nvSpPr>
        <p:spPr>
          <a:xfrm>
            <a:off x="950976" y="53035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7"/>
          <p:cNvSpPr/>
          <p:nvPr/>
        </p:nvSpPr>
        <p:spPr>
          <a:xfrm>
            <a:off x="1024128" y="53766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9" name="Google Shape;569;p37"/>
          <p:cNvSpPr/>
          <p:nvPr/>
        </p:nvSpPr>
        <p:spPr>
          <a:xfrm>
            <a:off x="1856232" y="5312664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DEPLOYMENT PACKAGE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0" name="Google Shape;570;p37"/>
          <p:cNvSpPr/>
          <p:nvPr/>
        </p:nvSpPr>
        <p:spPr>
          <a:xfrm>
            <a:off x="1856232" y="5596128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TensorRT, ONNX and OpenVINO engines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3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METHOD, REUSE &amp; DATA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7" name="Google Shape;577;p3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17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8" name="Google Shape;578;p3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Method Scope &amp; Implementation Strategy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9" name="Google Shape;579;p38"/>
          <p:cNvSpPr/>
          <p:nvPr/>
        </p:nvSpPr>
        <p:spPr>
          <a:xfrm>
            <a:off x="731520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8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38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2" name="Google Shape;582;p38"/>
          <p:cNvSpPr/>
          <p:nvPr/>
        </p:nvSpPr>
        <p:spPr>
          <a:xfrm>
            <a:off x="1719072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Approach &amp; Methods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3" name="Google Shape;583;p38"/>
          <p:cNvSpPr/>
          <p:nvPr/>
        </p:nvSpPr>
        <p:spPr>
          <a:xfrm>
            <a:off x="1691640" y="218541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8"/>
          <p:cNvSpPr/>
          <p:nvPr/>
        </p:nvSpPr>
        <p:spPr>
          <a:xfrm>
            <a:off x="1856232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Object detection approach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5" name="Google Shape;585;p38"/>
          <p:cNvSpPr/>
          <p:nvPr/>
        </p:nvSpPr>
        <p:spPr>
          <a:xfrm>
            <a:off x="1691640" y="250545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8"/>
          <p:cNvSpPr/>
          <p:nvPr/>
        </p:nvSpPr>
        <p:spPr>
          <a:xfrm>
            <a:off x="1856232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Baseline: YOLO11s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38"/>
          <p:cNvSpPr/>
          <p:nvPr/>
        </p:nvSpPr>
        <p:spPr>
          <a:xfrm>
            <a:off x="1691640" y="282549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38"/>
          <p:cNvSpPr/>
          <p:nvPr/>
        </p:nvSpPr>
        <p:spPr>
          <a:xfrm>
            <a:off x="1856225" y="2664238"/>
            <a:ext cx="3813000" cy="63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5 techniques studied: YOLO11s + 4 enhancement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9" name="Google Shape;589;p38"/>
          <p:cNvSpPr/>
          <p:nvPr/>
        </p:nvSpPr>
        <p:spPr>
          <a:xfrm>
            <a:off x="6144768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8"/>
          <p:cNvSpPr/>
          <p:nvPr/>
        </p:nvSpPr>
        <p:spPr>
          <a:xfrm>
            <a:off x="6364224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8"/>
          <p:cNvSpPr/>
          <p:nvPr/>
        </p:nvSpPr>
        <p:spPr>
          <a:xfrm>
            <a:off x="6437376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2" name="Google Shape;592;p38"/>
          <p:cNvSpPr/>
          <p:nvPr/>
        </p:nvSpPr>
        <p:spPr>
          <a:xfrm>
            <a:off x="7132320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vs. Build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38"/>
          <p:cNvSpPr/>
          <p:nvPr/>
        </p:nvSpPr>
        <p:spPr>
          <a:xfrm>
            <a:off x="7104888" y="218541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38"/>
          <p:cNvSpPr/>
          <p:nvPr/>
        </p:nvSpPr>
        <p:spPr>
          <a:xfrm>
            <a:off x="7269480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Reuse PyTorch, OpenCV and YOLO framework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5" name="Google Shape;595;p38"/>
          <p:cNvSpPr/>
          <p:nvPr/>
        </p:nvSpPr>
        <p:spPr>
          <a:xfrm>
            <a:off x="7104888" y="250545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8"/>
          <p:cNvSpPr/>
          <p:nvPr/>
        </p:nvSpPr>
        <p:spPr>
          <a:xfrm>
            <a:off x="7269480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Custom training, evaluation and RTSP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7" name="Google Shape;597;p38"/>
          <p:cNvSpPr/>
          <p:nvPr/>
        </p:nvSpPr>
        <p:spPr>
          <a:xfrm>
            <a:off x="7104888" y="282549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8"/>
          <p:cNvSpPr/>
          <p:nvPr/>
        </p:nvSpPr>
        <p:spPr>
          <a:xfrm>
            <a:off x="7269475" y="2743200"/>
            <a:ext cx="5170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Optimized deployment with TensorRT / ONNX /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OpenVINO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9" name="Google Shape;599;p38"/>
          <p:cNvSpPr/>
          <p:nvPr/>
        </p:nvSpPr>
        <p:spPr>
          <a:xfrm>
            <a:off x="731520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8"/>
          <p:cNvSpPr/>
          <p:nvPr/>
        </p:nvSpPr>
        <p:spPr>
          <a:xfrm>
            <a:off x="950976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38"/>
          <p:cNvSpPr/>
          <p:nvPr/>
        </p:nvSpPr>
        <p:spPr>
          <a:xfrm>
            <a:off x="1024128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2" name="Google Shape;602;p38"/>
          <p:cNvSpPr/>
          <p:nvPr/>
        </p:nvSpPr>
        <p:spPr>
          <a:xfrm>
            <a:off x="1719072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Model Improvements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3" name="Google Shape;603;p38"/>
          <p:cNvSpPr/>
          <p:nvPr/>
        </p:nvSpPr>
        <p:spPr>
          <a:xfrm>
            <a:off x="1691640" y="459943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8"/>
          <p:cNvSpPr/>
          <p:nvPr/>
        </p:nvSpPr>
        <p:spPr>
          <a:xfrm>
            <a:off x="1856232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4 targeted enhancements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5" name="Google Shape;605;p38"/>
          <p:cNvSpPr/>
          <p:nvPr/>
        </p:nvSpPr>
        <p:spPr>
          <a:xfrm>
            <a:off x="1691640" y="491947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8"/>
          <p:cNvSpPr/>
          <p:nvPr/>
        </p:nvSpPr>
        <p:spPr>
          <a:xfrm>
            <a:off x="1856232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CoordConv, RepConv, BiFormer, Focal EIoU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7" name="Google Shape;607;p38"/>
          <p:cNvSpPr/>
          <p:nvPr/>
        </p:nvSpPr>
        <p:spPr>
          <a:xfrm>
            <a:off x="1691640" y="523951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8"/>
          <p:cNvSpPr/>
          <p:nvPr/>
        </p:nvSpPr>
        <p:spPr>
          <a:xfrm>
            <a:off x="1856232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Integrated into one Rep-YOLO11s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9" name="Google Shape;609;p38"/>
          <p:cNvSpPr/>
          <p:nvPr/>
        </p:nvSpPr>
        <p:spPr>
          <a:xfrm>
            <a:off x="6144768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38"/>
          <p:cNvSpPr/>
          <p:nvPr/>
        </p:nvSpPr>
        <p:spPr>
          <a:xfrm>
            <a:off x="6364224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38"/>
          <p:cNvSpPr/>
          <p:nvPr/>
        </p:nvSpPr>
        <p:spPr>
          <a:xfrm>
            <a:off x="6437376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2" name="Google Shape;612;p38"/>
          <p:cNvSpPr/>
          <p:nvPr/>
        </p:nvSpPr>
        <p:spPr>
          <a:xfrm>
            <a:off x="7132320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Dataset Strategy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3" name="Google Shape;613;p38"/>
          <p:cNvSpPr/>
          <p:nvPr/>
        </p:nvSpPr>
        <p:spPr>
          <a:xfrm>
            <a:off x="7104888" y="459943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8"/>
          <p:cNvSpPr/>
          <p:nvPr/>
        </p:nvSpPr>
        <p:spPr>
          <a:xfrm>
            <a:off x="7269480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existing construction datasets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5" name="Google Shape;615;p38"/>
          <p:cNvSpPr/>
          <p:nvPr/>
        </p:nvSpPr>
        <p:spPr>
          <a:xfrm>
            <a:off x="7104888" y="491947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8"/>
          <p:cNvSpPr/>
          <p:nvPr/>
        </p:nvSpPr>
        <p:spPr>
          <a:xfrm>
            <a:off x="7269480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Harmonize labels and clean anomalies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38"/>
          <p:cNvSpPr/>
          <p:nvPr/>
        </p:nvSpPr>
        <p:spPr>
          <a:xfrm>
            <a:off x="7104888" y="523951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38"/>
          <p:cNvSpPr/>
          <p:nvPr/>
        </p:nvSpPr>
        <p:spPr>
          <a:xfrm>
            <a:off x="7269480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a unified benchmark for evaluation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731520" y="5980176"/>
            <a:ext cx="103509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8"/>
          <p:cNvSpPr/>
          <p:nvPr/>
        </p:nvSpPr>
        <p:spPr>
          <a:xfrm>
            <a:off x="1783080" y="6199632"/>
            <a:ext cx="87324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C7D"/>
              </a:buClr>
              <a:buSzPts val="1140"/>
              <a:buFont typeface="Inter"/>
              <a:buNone/>
            </a:pPr>
            <a:r>
              <a:rPr b="1" i="0" lang="en-US" sz="1140" u="none" cap="none" strike="noStrike">
                <a:solidFill>
                  <a:srgbClr val="244C7D"/>
                </a:solidFill>
                <a:latin typeface="Inter"/>
                <a:ea typeface="Inter"/>
                <a:cs typeface="Inter"/>
                <a:sym typeface="Inter"/>
              </a:rPr>
              <a:t>The project builds on mature frameworks while contributing targeted model integration, evaluation and deployment.</a:t>
            </a:r>
            <a:endParaRPr b="0" i="0" sz="11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9"/>
          <p:cNvSpPr/>
          <p:nvPr/>
        </p:nvSpPr>
        <p:spPr>
          <a:xfrm>
            <a:off x="697345" y="36095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PRACTICALITY, VALUE &amp; NOVELTY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7" name="Google Shape;627;p39"/>
          <p:cNvSpPr/>
          <p:nvPr/>
        </p:nvSpPr>
        <p:spPr>
          <a:xfrm>
            <a:off x="10682593" y="35181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18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39"/>
          <p:cNvSpPr/>
          <p:nvPr/>
        </p:nvSpPr>
        <p:spPr>
          <a:xfrm>
            <a:off x="697345" y="69014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Practicality, Value &amp; Novelty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9" name="Google Shape;629;p39"/>
          <p:cNvSpPr/>
          <p:nvPr/>
        </p:nvSpPr>
        <p:spPr>
          <a:xfrm>
            <a:off x="679032" y="149476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9"/>
          <p:cNvSpPr/>
          <p:nvPr/>
        </p:nvSpPr>
        <p:spPr>
          <a:xfrm>
            <a:off x="93508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1" name="Google Shape;631;p39"/>
          <p:cNvSpPr/>
          <p:nvPr/>
        </p:nvSpPr>
        <p:spPr>
          <a:xfrm>
            <a:off x="999097" y="3369334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9"/>
          <p:cNvSpPr/>
          <p:nvPr/>
        </p:nvSpPr>
        <p:spPr>
          <a:xfrm>
            <a:off x="116368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Real-time safety monitoring for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construction sites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3" name="Google Shape;633;p39"/>
          <p:cNvSpPr/>
          <p:nvPr/>
        </p:nvSpPr>
        <p:spPr>
          <a:xfrm flipH="1">
            <a:off x="1067795" y="4704351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39"/>
          <p:cNvSpPr/>
          <p:nvPr/>
        </p:nvSpPr>
        <p:spPr>
          <a:xfrm>
            <a:off x="1117689" y="38994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Can support CCTV / RTSP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surveillance workflows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5" name="Google Shape;635;p39"/>
          <p:cNvSpPr/>
          <p:nvPr/>
        </p:nvSpPr>
        <p:spPr>
          <a:xfrm>
            <a:off x="429093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9"/>
          <p:cNvSpPr/>
          <p:nvPr/>
        </p:nvSpPr>
        <p:spPr>
          <a:xfrm>
            <a:off x="454696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Value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7" name="Google Shape;637;p39"/>
          <p:cNvSpPr/>
          <p:nvPr/>
        </p:nvSpPr>
        <p:spPr>
          <a:xfrm>
            <a:off x="4610977" y="3369334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9"/>
          <p:cNvSpPr/>
          <p:nvPr/>
        </p:nvSpPr>
        <p:spPr>
          <a:xfrm>
            <a:off x="477556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9" name="Google Shape;639;p39"/>
          <p:cNvSpPr/>
          <p:nvPr/>
        </p:nvSpPr>
        <p:spPr>
          <a:xfrm>
            <a:off x="4610977" y="403684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39"/>
          <p:cNvSpPr/>
          <p:nvPr/>
        </p:nvSpPr>
        <p:spPr>
          <a:xfrm>
            <a:off x="477556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1" name="Google Shape;641;p39"/>
          <p:cNvSpPr/>
          <p:nvPr/>
        </p:nvSpPr>
        <p:spPr>
          <a:xfrm>
            <a:off x="4610977" y="470435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39"/>
          <p:cNvSpPr/>
          <p:nvPr/>
        </p:nvSpPr>
        <p:spPr>
          <a:xfrm>
            <a:off x="477556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 ablation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benchmark evidence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3" name="Google Shape;643;p39"/>
          <p:cNvSpPr/>
          <p:nvPr/>
        </p:nvSpPr>
        <p:spPr>
          <a:xfrm>
            <a:off x="790281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9"/>
          <p:cNvSpPr/>
          <p:nvPr/>
        </p:nvSpPr>
        <p:spPr>
          <a:xfrm>
            <a:off x="815884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 / Creativity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5" name="Google Shape;645;p39"/>
          <p:cNvSpPr/>
          <p:nvPr/>
        </p:nvSpPr>
        <p:spPr>
          <a:xfrm>
            <a:off x="8222857" y="3369334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39"/>
          <p:cNvSpPr/>
          <p:nvPr/>
        </p:nvSpPr>
        <p:spPr>
          <a:xfrm>
            <a:off x="838744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Not a detector built fully from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scratch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7" name="Google Shape;647;p39"/>
          <p:cNvSpPr/>
          <p:nvPr/>
        </p:nvSpPr>
        <p:spPr>
          <a:xfrm>
            <a:off x="8222857" y="4036846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39"/>
          <p:cNvSpPr/>
          <p:nvPr/>
        </p:nvSpPr>
        <p:spPr>
          <a:xfrm>
            <a:off x="838744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Novelty comes from targeted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 integration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9" name="Google Shape;649;p39"/>
          <p:cNvSpPr/>
          <p:nvPr/>
        </p:nvSpPr>
        <p:spPr>
          <a:xfrm>
            <a:off x="8222857" y="4704358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9"/>
          <p:cNvSpPr/>
          <p:nvPr/>
        </p:nvSpPr>
        <p:spPr>
          <a:xfrm>
            <a:off x="838744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Combines model design,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benchmark cleaning and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 deployment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1" name="Google Shape;651;p39"/>
          <p:cNvSpPr/>
          <p:nvPr/>
        </p:nvSpPr>
        <p:spPr>
          <a:xfrm>
            <a:off x="679057" y="5856502"/>
            <a:ext cx="104790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39"/>
          <p:cNvSpPr/>
          <p:nvPr/>
        </p:nvSpPr>
        <p:spPr>
          <a:xfrm>
            <a:off x="1794625" y="6075958"/>
            <a:ext cx="8549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60"/>
              <a:buFont typeface="Inter"/>
              <a:buNone/>
            </a:pPr>
            <a:r>
              <a:rPr b="1" i="0" lang="en-US" sz="11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 practical and meaningful capstone with applied research value and integration-based innovation.</a:t>
            </a:r>
            <a:endParaRPr b="0" i="0" sz="11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3" name="Google Shape;65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100" y="1861175"/>
            <a:ext cx="795525" cy="757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458" y="1874300"/>
            <a:ext cx="731400" cy="73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22849" y="1867774"/>
            <a:ext cx="731400" cy="7444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