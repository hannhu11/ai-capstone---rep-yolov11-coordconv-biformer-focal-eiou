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04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100" b="1">
                <a:solidFill>
                  <a:srgbClr val="0F172A"/>
                </a:solidFill>
                <a:latin typeface="Calibri"/>
              </a:defRPr>
            </a:pPr>
            <a:r>
              <a:t>Bảng So sánh Đối chuẩn SOTA Cơ sở trên Tập Chuẩn SHWD (VOC2028)</a:t>
            </a:r>
          </a:p>
        </p:txBody>
      </p:sp>
      <p:graphicFrame>
        <p:nvGraphicFramePr>
          <p:cNvPr id="6" name="Table 5"/>
          <p:cNvGraphicFramePr>
            <a:graphicFrameLocks noGrp="1"/>
          </p:cNvGraphicFramePr>
          <p:nvPr/>
        </p:nvGraphicFramePr>
        <p:xfrm>
          <a:off x="731520" y="1234440"/>
          <a:ext cx="10728655" cy="2926080"/>
        </p:xfrm>
        <a:graphic>
          <a:graphicData uri="http://schemas.openxmlformats.org/drawingml/2006/table">
            <a:tbl>
              <a:tblPr firstRow="1" bandRow="1">
                <a:tableStyleId>{5C22544A-7EE6-4342-B048-85BDC9FD1C3A}</a:tableStyleId>
              </a:tblPr>
              <a:tblGrid>
                <a:gridCol w="2864815"/>
                <a:gridCol w="1005840"/>
                <a:gridCol w="1005840"/>
                <a:gridCol w="1097280"/>
                <a:gridCol w="1188720"/>
                <a:gridCol w="1188720"/>
                <a:gridCol w="1188720"/>
                <a:gridCol w="1188720"/>
              </a:tblGrid>
              <a:tr h="365760">
                <a:tc>
                  <a:txBody>
                    <a:bodyPr/>
                    <a:lstStyle/>
                    <a:p>
                      <a:pPr algn="l">
                        <a:defRPr sz="950" b="1">
                          <a:solidFill>
                            <a:srgbClr val="FFFFFF"/>
                          </a:solidFill>
                          <a:latin typeface="Calibri"/>
                        </a:defRPr>
                      </a:pPr>
                      <a:r>
                        <a:t>Model Architecture</a:t>
                      </a:r>
                    </a:p>
                  </a:txBody>
                  <a:tcPr>
                    <a:solidFill>
                      <a:srgbClr val="0F172A"/>
                    </a:solidFill>
                  </a:tcPr>
                </a:tc>
                <a:tc>
                  <a:txBody>
                    <a:bodyPr/>
                    <a:lstStyle/>
                    <a:p>
                      <a:pPr algn="ctr">
                        <a:defRPr sz="950" b="1">
                          <a:solidFill>
                            <a:srgbClr val="FFFFFF"/>
                          </a:solidFill>
                          <a:latin typeface="Calibri"/>
                        </a:defRPr>
                      </a:pPr>
                      <a:r>
                        <a:t>Params (M)</a:t>
                      </a:r>
                    </a:p>
                  </a:txBody>
                  <a:tcPr>
                    <a:solidFill>
                      <a:srgbClr val="0F172A"/>
                    </a:solidFill>
                  </a:tcPr>
                </a:tc>
                <a:tc>
                  <a:txBody>
                    <a:bodyPr/>
                    <a:lstStyle/>
                    <a:p>
                      <a:pPr algn="ctr">
                        <a:defRPr sz="950" b="1">
                          <a:solidFill>
                            <a:srgbClr val="FFFFFF"/>
                          </a:solidFill>
                          <a:latin typeface="Calibri"/>
                        </a:defRPr>
                      </a:pPr>
                      <a:r>
                        <a:t>FLOPs (G)</a:t>
                      </a:r>
                    </a:p>
                  </a:txBody>
                  <a:tcPr>
                    <a:solidFill>
                      <a:srgbClr val="0F172A"/>
                    </a:solidFill>
                  </a:tcPr>
                </a:tc>
                <a:tc>
                  <a:txBody>
                    <a:bodyPr/>
                    <a:lstStyle/>
                    <a:p>
                      <a:pPr algn="ctr">
                        <a:defRPr sz="950" b="1">
                          <a:solidFill>
                            <a:srgbClr val="FFFFFF"/>
                          </a:solidFill>
                          <a:latin typeface="Calibri"/>
                        </a:defRPr>
                      </a:pPr>
                      <a:r>
                        <a:t>mAP50 (%)</a:t>
                      </a:r>
                    </a:p>
                  </a:txBody>
                  <a:tcPr>
                    <a:solidFill>
                      <a:srgbClr val="0F172A"/>
                    </a:solidFill>
                  </a:tcPr>
                </a:tc>
                <a:tc>
                  <a:txBody>
                    <a:bodyPr/>
                    <a:lstStyle/>
                    <a:p>
                      <a:pPr algn="ctr">
                        <a:defRPr sz="950" b="1">
                          <a:solidFill>
                            <a:srgbClr val="FFFFFF"/>
                          </a:solidFill>
                          <a:latin typeface="Calibri"/>
                        </a:defRPr>
                      </a:pPr>
                      <a:r>
                        <a:t>mAP50-95 (%)</a:t>
                      </a:r>
                    </a:p>
                  </a:txBody>
                  <a:tcPr>
                    <a:solidFill>
                      <a:srgbClr val="0F172A"/>
                    </a:solidFill>
                  </a:tcPr>
                </a:tc>
                <a:tc>
                  <a:txBody>
                    <a:bodyPr/>
                    <a:lstStyle/>
                    <a:p>
                      <a:pPr algn="ctr">
                        <a:defRPr sz="950" b="1">
                          <a:solidFill>
                            <a:srgbClr val="FFFFFF"/>
                          </a:solidFill>
                          <a:latin typeface="Calibri"/>
                        </a:defRPr>
                      </a:pPr>
                      <a:r>
                        <a:t>AP50 hat (%)</a:t>
                      </a:r>
                    </a:p>
                  </a:txBody>
                  <a:tcPr>
                    <a:solidFill>
                      <a:srgbClr val="0F172A"/>
                    </a:solidFill>
                  </a:tcPr>
                </a:tc>
                <a:tc>
                  <a:txBody>
                    <a:bodyPr/>
                    <a:lstStyle/>
                    <a:p>
                      <a:pPr algn="ctr">
                        <a:defRPr sz="950" b="1">
                          <a:solidFill>
                            <a:srgbClr val="FFFFFF"/>
                          </a:solidFill>
                          <a:latin typeface="Calibri"/>
                        </a:defRPr>
                      </a:pPr>
                      <a:r>
                        <a:t>Recall hat (%)</a:t>
                      </a:r>
                    </a:p>
                  </a:txBody>
                  <a:tcPr>
                    <a:solidFill>
                      <a:srgbClr val="0F172A"/>
                    </a:solidFill>
                  </a:tcPr>
                </a:tc>
                <a:tc>
                  <a:txBody>
                    <a:bodyPr/>
                    <a:lstStyle/>
                    <a:p>
                      <a:pPr algn="ctr">
                        <a:defRPr sz="950" b="1">
                          <a:solidFill>
                            <a:srgbClr val="FFFFFF"/>
                          </a:solidFill>
                          <a:latin typeface="Calibri"/>
                        </a:defRPr>
                      </a:pPr>
                      <a:r>
                        <a:t>F1 hat</a:t>
                      </a:r>
                    </a:p>
                  </a:txBody>
                  <a:tcPr>
                    <a:solidFill>
                      <a:srgbClr val="0F172A"/>
                    </a:solidFill>
                  </a:tcPr>
                </a:tc>
              </a:tr>
              <a:tr h="365760">
                <a:tc>
                  <a:txBody>
                    <a:bodyPr/>
                    <a:lstStyle/>
                    <a:p>
                      <a:pPr algn="l">
                        <a:defRPr sz="919" b="1">
                          <a:solidFill>
                            <a:srgbClr val="0F172A"/>
                          </a:solidFill>
                          <a:latin typeface="Calibri"/>
                        </a:defRPr>
                      </a:pPr>
                      <a:r>
                        <a:t>YOLOv8n</a:t>
                      </a:r>
                    </a:p>
                  </a:txBody>
                  <a:tcPr>
                    <a:solidFill>
                      <a:srgbClr val="FFFFFF"/>
                    </a:solidFill>
                  </a:tcPr>
                </a:tc>
                <a:tc>
                  <a:txBody>
                    <a:bodyPr/>
                    <a:lstStyle/>
                    <a:p>
                      <a:pPr algn="ctr">
                        <a:defRPr sz="919" b="0">
                          <a:solidFill>
                            <a:srgbClr val="334155"/>
                          </a:solidFill>
                          <a:latin typeface="Calibri"/>
                        </a:defRPr>
                      </a:pPr>
                      <a:r>
                        <a:t>3.15</a:t>
                      </a:r>
                    </a:p>
                  </a:txBody>
                  <a:tcPr>
                    <a:solidFill>
                      <a:srgbClr val="FFFFFF"/>
                    </a:solidFill>
                  </a:tcPr>
                </a:tc>
                <a:tc>
                  <a:txBody>
                    <a:bodyPr/>
                    <a:lstStyle/>
                    <a:p>
                      <a:pPr algn="ctr">
                        <a:defRPr sz="919" b="0">
                          <a:solidFill>
                            <a:srgbClr val="334155"/>
                          </a:solidFill>
                          <a:latin typeface="Calibri"/>
                        </a:defRPr>
                      </a:pPr>
                      <a:r>
                        <a:t>8.7</a:t>
                      </a:r>
                    </a:p>
                  </a:txBody>
                  <a:tcPr>
                    <a:solidFill>
                      <a:srgbClr val="FFFFFF"/>
                    </a:solidFill>
                  </a:tcPr>
                </a:tc>
                <a:tc>
                  <a:txBody>
                    <a:bodyPr/>
                    <a:lstStyle/>
                    <a:p>
                      <a:pPr algn="ctr">
                        <a:defRPr sz="919" b="0">
                          <a:solidFill>
                            <a:srgbClr val="334155"/>
                          </a:solidFill>
                          <a:latin typeface="Calibri"/>
                        </a:defRPr>
                      </a:pPr>
                      <a:r>
                        <a:t>93.21</a:t>
                      </a:r>
                    </a:p>
                  </a:txBody>
                  <a:tcPr>
                    <a:solidFill>
                      <a:srgbClr val="FFFFFF"/>
                    </a:solidFill>
                  </a:tcPr>
                </a:tc>
                <a:tc>
                  <a:txBody>
                    <a:bodyPr/>
                    <a:lstStyle/>
                    <a:p>
                      <a:pPr algn="ctr">
                        <a:defRPr sz="919" b="0">
                          <a:solidFill>
                            <a:srgbClr val="334155"/>
                          </a:solidFill>
                          <a:latin typeface="Calibri"/>
                        </a:defRPr>
                      </a:pPr>
                      <a:r>
                        <a:t>60.26</a:t>
                      </a:r>
                    </a:p>
                  </a:txBody>
                  <a:tcPr>
                    <a:solidFill>
                      <a:srgbClr val="FFFFFF"/>
                    </a:solidFill>
                  </a:tcPr>
                </a:tc>
                <a:tc>
                  <a:txBody>
                    <a:bodyPr/>
                    <a:lstStyle/>
                    <a:p>
                      <a:pPr algn="ctr">
                        <a:defRPr sz="919" b="0">
                          <a:solidFill>
                            <a:srgbClr val="334155"/>
                          </a:solidFill>
                          <a:latin typeface="Calibri"/>
                        </a:defRPr>
                      </a:pPr>
                      <a:r>
                        <a:t>92.42</a:t>
                      </a:r>
                    </a:p>
                  </a:txBody>
                  <a:tcPr>
                    <a:solidFill>
                      <a:srgbClr val="FFFFFF"/>
                    </a:solidFill>
                  </a:tcPr>
                </a:tc>
                <a:tc>
                  <a:txBody>
                    <a:bodyPr/>
                    <a:lstStyle/>
                    <a:p>
                      <a:pPr algn="ctr">
                        <a:defRPr sz="919" b="0">
                          <a:solidFill>
                            <a:srgbClr val="334155"/>
                          </a:solidFill>
                          <a:latin typeface="Calibri"/>
                        </a:defRPr>
                      </a:pPr>
                      <a:r>
                        <a:t>87.16</a:t>
                      </a:r>
                    </a:p>
                  </a:txBody>
                  <a:tcPr>
                    <a:solidFill>
                      <a:srgbClr val="FFFFFF"/>
                    </a:solidFill>
                  </a:tcPr>
                </a:tc>
                <a:tc>
                  <a:txBody>
                    <a:bodyPr/>
                    <a:lstStyle/>
                    <a:p>
                      <a:pPr algn="ctr">
                        <a:defRPr sz="919" b="0">
                          <a:solidFill>
                            <a:srgbClr val="334155"/>
                          </a:solidFill>
                          <a:latin typeface="Calibri"/>
                        </a:defRPr>
                      </a:pPr>
                      <a:r>
                        <a:t>0.8879</a:t>
                      </a:r>
                    </a:p>
                  </a:txBody>
                  <a:tcPr>
                    <a:solidFill>
                      <a:srgbClr val="FFFFFF"/>
                    </a:solidFill>
                  </a:tcPr>
                </a:tc>
              </a:tr>
              <a:tr h="365760">
                <a:tc>
                  <a:txBody>
                    <a:bodyPr/>
                    <a:lstStyle/>
                    <a:p>
                      <a:pPr algn="l">
                        <a:defRPr sz="919" b="1">
                          <a:solidFill>
                            <a:srgbClr val="0F172A"/>
                          </a:solidFill>
                          <a:latin typeface="Calibri"/>
                        </a:defRPr>
                      </a:pPr>
                      <a:r>
                        <a:t>YOLOv8s</a:t>
                      </a:r>
                    </a:p>
                  </a:txBody>
                  <a:tcPr>
                    <a:solidFill>
                      <a:srgbClr val="F1F5F9"/>
                    </a:solidFill>
                  </a:tcPr>
                </a:tc>
                <a:tc>
                  <a:txBody>
                    <a:bodyPr/>
                    <a:lstStyle/>
                    <a:p>
                      <a:pPr algn="ctr">
                        <a:defRPr sz="919" b="0">
                          <a:solidFill>
                            <a:srgbClr val="334155"/>
                          </a:solidFill>
                          <a:latin typeface="Calibri"/>
                        </a:defRPr>
                      </a:pPr>
                      <a:r>
                        <a:t>11.24</a:t>
                      </a:r>
                    </a:p>
                  </a:txBody>
                  <a:tcPr>
                    <a:solidFill>
                      <a:srgbClr val="F1F5F9"/>
                    </a:solidFill>
                  </a:tcPr>
                </a:tc>
                <a:tc>
                  <a:txBody>
                    <a:bodyPr/>
                    <a:lstStyle/>
                    <a:p>
                      <a:pPr algn="ctr">
                        <a:defRPr sz="919" b="0">
                          <a:solidFill>
                            <a:srgbClr val="334155"/>
                          </a:solidFill>
                          <a:latin typeface="Calibri"/>
                        </a:defRPr>
                      </a:pPr>
                      <a:r>
                        <a:t>28.6</a:t>
                      </a:r>
                    </a:p>
                  </a:txBody>
                  <a:tcPr>
                    <a:solidFill>
                      <a:srgbClr val="F1F5F9"/>
                    </a:solidFill>
                  </a:tcPr>
                </a:tc>
                <a:tc>
                  <a:txBody>
                    <a:bodyPr/>
                    <a:lstStyle/>
                    <a:p>
                      <a:pPr algn="ctr">
                        <a:defRPr sz="919" b="0">
                          <a:solidFill>
                            <a:srgbClr val="334155"/>
                          </a:solidFill>
                          <a:latin typeface="Calibri"/>
                        </a:defRPr>
                      </a:pPr>
                      <a:r>
                        <a:t>94.89</a:t>
                      </a:r>
                    </a:p>
                  </a:txBody>
                  <a:tcPr>
                    <a:solidFill>
                      <a:srgbClr val="F1F5F9"/>
                    </a:solidFill>
                  </a:tcPr>
                </a:tc>
                <a:tc>
                  <a:txBody>
                    <a:bodyPr/>
                    <a:lstStyle/>
                    <a:p>
                      <a:pPr algn="ctr">
                        <a:defRPr sz="919" b="0">
                          <a:solidFill>
                            <a:srgbClr val="334155"/>
                          </a:solidFill>
                          <a:latin typeface="Calibri"/>
                        </a:defRPr>
                      </a:pPr>
                      <a:r>
                        <a:t>62.21</a:t>
                      </a:r>
                    </a:p>
                  </a:txBody>
                  <a:tcPr>
                    <a:solidFill>
                      <a:srgbClr val="F1F5F9"/>
                    </a:solidFill>
                  </a:tcPr>
                </a:tc>
                <a:tc>
                  <a:txBody>
                    <a:bodyPr/>
                    <a:lstStyle/>
                    <a:p>
                      <a:pPr algn="ctr">
                        <a:defRPr sz="919" b="0">
                          <a:solidFill>
                            <a:srgbClr val="334155"/>
                          </a:solidFill>
                          <a:latin typeface="Calibri"/>
                        </a:defRPr>
                      </a:pPr>
                      <a:r>
                        <a:t>94.28</a:t>
                      </a:r>
                    </a:p>
                  </a:txBody>
                  <a:tcPr>
                    <a:solidFill>
                      <a:srgbClr val="F1F5F9"/>
                    </a:solidFill>
                  </a:tcPr>
                </a:tc>
                <a:tc>
                  <a:txBody>
                    <a:bodyPr/>
                    <a:lstStyle/>
                    <a:p>
                      <a:pPr algn="ctr">
                        <a:defRPr sz="919" b="0">
                          <a:solidFill>
                            <a:srgbClr val="334155"/>
                          </a:solidFill>
                          <a:latin typeface="Calibri"/>
                        </a:defRPr>
                      </a:pPr>
                      <a:r>
                        <a:t>90.62</a:t>
                      </a:r>
                    </a:p>
                  </a:txBody>
                  <a:tcPr>
                    <a:solidFill>
                      <a:srgbClr val="F1F5F9"/>
                    </a:solidFill>
                  </a:tcPr>
                </a:tc>
                <a:tc>
                  <a:txBody>
                    <a:bodyPr/>
                    <a:lstStyle/>
                    <a:p>
                      <a:pPr algn="ctr">
                        <a:defRPr sz="919" b="0">
                          <a:solidFill>
                            <a:srgbClr val="334155"/>
                          </a:solidFill>
                          <a:latin typeface="Calibri"/>
                        </a:defRPr>
                      </a:pPr>
                      <a:r>
                        <a:t>0.9120</a:t>
                      </a:r>
                    </a:p>
                  </a:txBody>
                  <a:tcPr>
                    <a:solidFill>
                      <a:srgbClr val="F1F5F9"/>
                    </a:solidFill>
                  </a:tcPr>
                </a:tc>
              </a:tr>
              <a:tr h="365760">
                <a:tc>
                  <a:txBody>
                    <a:bodyPr/>
                    <a:lstStyle/>
                    <a:p>
                      <a:pPr algn="l">
                        <a:defRPr sz="919" b="1">
                          <a:solidFill>
                            <a:srgbClr val="0F172A"/>
                          </a:solidFill>
                          <a:latin typeface="Calibri"/>
                        </a:defRPr>
                      </a:pPr>
                      <a:r>
                        <a:t>YOLOv10n</a:t>
                      </a:r>
                    </a:p>
                  </a:txBody>
                  <a:tcPr>
                    <a:solidFill>
                      <a:srgbClr val="FFFFFF"/>
                    </a:solidFill>
                  </a:tcPr>
                </a:tc>
                <a:tc>
                  <a:txBody>
                    <a:bodyPr/>
                    <a:lstStyle/>
                    <a:p>
                      <a:pPr algn="ctr">
                        <a:defRPr sz="919" b="0">
                          <a:solidFill>
                            <a:srgbClr val="334155"/>
                          </a:solidFill>
                          <a:latin typeface="Calibri"/>
                        </a:defRPr>
                      </a:pPr>
                      <a:r>
                        <a:t>2.30</a:t>
                      </a:r>
                    </a:p>
                  </a:txBody>
                  <a:tcPr>
                    <a:solidFill>
                      <a:srgbClr val="FFFFFF"/>
                    </a:solidFill>
                  </a:tcPr>
                </a:tc>
                <a:tc>
                  <a:txBody>
                    <a:bodyPr/>
                    <a:lstStyle/>
                    <a:p>
                      <a:pPr algn="ctr">
                        <a:defRPr sz="919" b="0">
                          <a:solidFill>
                            <a:srgbClr val="334155"/>
                          </a:solidFill>
                          <a:latin typeface="Calibri"/>
                        </a:defRPr>
                      </a:pPr>
                      <a:r>
                        <a:t>6.7</a:t>
                      </a:r>
                    </a:p>
                  </a:txBody>
                  <a:tcPr>
                    <a:solidFill>
                      <a:srgbClr val="FFFFFF"/>
                    </a:solidFill>
                  </a:tcPr>
                </a:tc>
                <a:tc>
                  <a:txBody>
                    <a:bodyPr/>
                    <a:lstStyle/>
                    <a:p>
                      <a:pPr algn="ctr">
                        <a:defRPr sz="919" b="0">
                          <a:solidFill>
                            <a:srgbClr val="334155"/>
                          </a:solidFill>
                          <a:latin typeface="Calibri"/>
                        </a:defRPr>
                      </a:pPr>
                      <a:r>
                        <a:t>93.30</a:t>
                      </a:r>
                    </a:p>
                  </a:txBody>
                  <a:tcPr>
                    <a:solidFill>
                      <a:srgbClr val="FFFFFF"/>
                    </a:solidFill>
                  </a:tcPr>
                </a:tc>
                <a:tc>
                  <a:txBody>
                    <a:bodyPr/>
                    <a:lstStyle/>
                    <a:p>
                      <a:pPr algn="ctr">
                        <a:defRPr sz="919" b="0">
                          <a:solidFill>
                            <a:srgbClr val="334155"/>
                          </a:solidFill>
                          <a:latin typeface="Calibri"/>
                        </a:defRPr>
                      </a:pPr>
                      <a:r>
                        <a:t>60.35</a:t>
                      </a:r>
                    </a:p>
                  </a:txBody>
                  <a:tcPr>
                    <a:solidFill>
                      <a:srgbClr val="FFFFFF"/>
                    </a:solidFill>
                  </a:tcPr>
                </a:tc>
                <a:tc>
                  <a:txBody>
                    <a:bodyPr/>
                    <a:lstStyle/>
                    <a:p>
                      <a:pPr algn="ctr">
                        <a:defRPr sz="919" b="0">
                          <a:solidFill>
                            <a:srgbClr val="334155"/>
                          </a:solidFill>
                          <a:latin typeface="Calibri"/>
                        </a:defRPr>
                      </a:pPr>
                      <a:r>
                        <a:t>92.97</a:t>
                      </a:r>
                    </a:p>
                  </a:txBody>
                  <a:tcPr>
                    <a:solidFill>
                      <a:srgbClr val="FFFFFF"/>
                    </a:solidFill>
                  </a:tcPr>
                </a:tc>
                <a:tc>
                  <a:txBody>
                    <a:bodyPr/>
                    <a:lstStyle/>
                    <a:p>
                      <a:pPr algn="ctr">
                        <a:defRPr sz="919" b="0">
                          <a:solidFill>
                            <a:srgbClr val="334155"/>
                          </a:solidFill>
                          <a:latin typeface="Calibri"/>
                        </a:defRPr>
                      </a:pPr>
                      <a:r>
                        <a:t>87.13</a:t>
                      </a:r>
                    </a:p>
                  </a:txBody>
                  <a:tcPr>
                    <a:solidFill>
                      <a:srgbClr val="FFFFFF"/>
                    </a:solidFill>
                  </a:tcPr>
                </a:tc>
                <a:tc>
                  <a:txBody>
                    <a:bodyPr/>
                    <a:lstStyle/>
                    <a:p>
                      <a:pPr algn="ctr">
                        <a:defRPr sz="919" b="0">
                          <a:solidFill>
                            <a:srgbClr val="334155"/>
                          </a:solidFill>
                          <a:latin typeface="Calibri"/>
                        </a:defRPr>
                      </a:pPr>
                      <a:r>
                        <a:t>0.8930</a:t>
                      </a:r>
                    </a:p>
                  </a:txBody>
                  <a:tcPr>
                    <a:solidFill>
                      <a:srgbClr val="FFFFFF"/>
                    </a:solidFill>
                  </a:tcPr>
                </a:tc>
              </a:tr>
              <a:tr h="365760">
                <a:tc>
                  <a:txBody>
                    <a:bodyPr/>
                    <a:lstStyle/>
                    <a:p>
                      <a:pPr algn="l">
                        <a:defRPr sz="919" b="1">
                          <a:solidFill>
                            <a:srgbClr val="0F172A"/>
                          </a:solidFill>
                          <a:latin typeface="Calibri"/>
                        </a:defRPr>
                      </a:pPr>
                      <a:r>
                        <a:t>YOLOv10s</a:t>
                      </a:r>
                    </a:p>
                  </a:txBody>
                  <a:tcPr>
                    <a:solidFill>
                      <a:srgbClr val="F1F5F9"/>
                    </a:solidFill>
                  </a:tcPr>
                </a:tc>
                <a:tc>
                  <a:txBody>
                    <a:bodyPr/>
                    <a:lstStyle/>
                    <a:p>
                      <a:pPr algn="ctr">
                        <a:defRPr sz="919" b="0">
                          <a:solidFill>
                            <a:srgbClr val="334155"/>
                          </a:solidFill>
                          <a:latin typeface="Calibri"/>
                        </a:defRPr>
                      </a:pPr>
                      <a:r>
                        <a:t>8.00</a:t>
                      </a:r>
                    </a:p>
                  </a:txBody>
                  <a:tcPr>
                    <a:solidFill>
                      <a:srgbClr val="F1F5F9"/>
                    </a:solidFill>
                  </a:tcPr>
                </a:tc>
                <a:tc>
                  <a:txBody>
                    <a:bodyPr/>
                    <a:lstStyle/>
                    <a:p>
                      <a:pPr algn="ctr">
                        <a:defRPr sz="919" b="0">
                          <a:solidFill>
                            <a:srgbClr val="334155"/>
                          </a:solidFill>
                          <a:latin typeface="Calibri"/>
                        </a:defRPr>
                      </a:pPr>
                      <a:r>
                        <a:t>21.6</a:t>
                      </a:r>
                    </a:p>
                  </a:txBody>
                  <a:tcPr>
                    <a:solidFill>
                      <a:srgbClr val="F1F5F9"/>
                    </a:solidFill>
                  </a:tcPr>
                </a:tc>
                <a:tc>
                  <a:txBody>
                    <a:bodyPr/>
                    <a:lstStyle/>
                    <a:p>
                      <a:pPr algn="ctr">
                        <a:defRPr sz="919" b="0">
                          <a:solidFill>
                            <a:srgbClr val="334155"/>
                          </a:solidFill>
                          <a:latin typeface="Calibri"/>
                        </a:defRPr>
                      </a:pPr>
                      <a:r>
                        <a:t>94.39</a:t>
                      </a:r>
                    </a:p>
                  </a:txBody>
                  <a:tcPr>
                    <a:solidFill>
                      <a:srgbClr val="F1F5F9"/>
                    </a:solidFill>
                  </a:tcPr>
                </a:tc>
                <a:tc>
                  <a:txBody>
                    <a:bodyPr/>
                    <a:lstStyle/>
                    <a:p>
                      <a:pPr algn="ctr">
                        <a:defRPr sz="919" b="0">
                          <a:solidFill>
                            <a:srgbClr val="334155"/>
                          </a:solidFill>
                          <a:latin typeface="Calibri"/>
                        </a:defRPr>
                      </a:pPr>
                      <a:r>
                        <a:t>62.19</a:t>
                      </a:r>
                    </a:p>
                  </a:txBody>
                  <a:tcPr>
                    <a:solidFill>
                      <a:srgbClr val="F1F5F9"/>
                    </a:solidFill>
                  </a:tcPr>
                </a:tc>
                <a:tc>
                  <a:txBody>
                    <a:bodyPr/>
                    <a:lstStyle/>
                    <a:p>
                      <a:pPr algn="ctr">
                        <a:defRPr sz="919" b="0">
                          <a:solidFill>
                            <a:srgbClr val="334155"/>
                          </a:solidFill>
                          <a:latin typeface="Calibri"/>
                        </a:defRPr>
                      </a:pPr>
                      <a:r>
                        <a:t>93.36</a:t>
                      </a:r>
                    </a:p>
                  </a:txBody>
                  <a:tcPr>
                    <a:solidFill>
                      <a:srgbClr val="F1F5F9"/>
                    </a:solidFill>
                  </a:tcPr>
                </a:tc>
                <a:tc>
                  <a:txBody>
                    <a:bodyPr/>
                    <a:lstStyle/>
                    <a:p>
                      <a:pPr algn="ctr">
                        <a:defRPr sz="919" b="0">
                          <a:solidFill>
                            <a:srgbClr val="334155"/>
                          </a:solidFill>
                          <a:latin typeface="Calibri"/>
                        </a:defRPr>
                      </a:pPr>
                      <a:r>
                        <a:t>89.14</a:t>
                      </a:r>
                    </a:p>
                  </a:txBody>
                  <a:tcPr>
                    <a:solidFill>
                      <a:srgbClr val="F1F5F9"/>
                    </a:solidFill>
                  </a:tcPr>
                </a:tc>
                <a:tc>
                  <a:txBody>
                    <a:bodyPr/>
                    <a:lstStyle/>
                    <a:p>
                      <a:pPr algn="ctr">
                        <a:defRPr sz="919" b="0">
                          <a:solidFill>
                            <a:srgbClr val="334155"/>
                          </a:solidFill>
                          <a:latin typeface="Calibri"/>
                        </a:defRPr>
                      </a:pPr>
                      <a:r>
                        <a:t>0.9049</a:t>
                      </a:r>
                    </a:p>
                  </a:txBody>
                  <a:tcPr>
                    <a:solidFill>
                      <a:srgbClr val="F1F5F9"/>
                    </a:solidFill>
                  </a:tcPr>
                </a:tc>
              </a:tr>
              <a:tr h="365760">
                <a:tc>
                  <a:txBody>
                    <a:bodyPr/>
                    <a:lstStyle/>
                    <a:p>
                      <a:pPr algn="l">
                        <a:defRPr sz="919" b="1">
                          <a:solidFill>
                            <a:srgbClr val="0F172A"/>
                          </a:solidFill>
                          <a:latin typeface="Calibri"/>
                        </a:defRPr>
                      </a:pPr>
                      <a:r>
                        <a:t>YOLO11n</a:t>
                      </a:r>
                    </a:p>
                  </a:txBody>
                  <a:tcPr>
                    <a:solidFill>
                      <a:srgbClr val="FFFFFF"/>
                    </a:solidFill>
                  </a:tcPr>
                </a:tc>
                <a:tc>
                  <a:txBody>
                    <a:bodyPr/>
                    <a:lstStyle/>
                    <a:p>
                      <a:pPr algn="ctr">
                        <a:defRPr sz="919" b="0">
                          <a:solidFill>
                            <a:srgbClr val="334155"/>
                          </a:solidFill>
                          <a:latin typeface="Calibri"/>
                        </a:defRPr>
                      </a:pPr>
                      <a:r>
                        <a:t>2.60</a:t>
                      </a:r>
                    </a:p>
                  </a:txBody>
                  <a:tcPr>
                    <a:solidFill>
                      <a:srgbClr val="FFFFFF"/>
                    </a:solidFill>
                  </a:tcPr>
                </a:tc>
                <a:tc>
                  <a:txBody>
                    <a:bodyPr/>
                    <a:lstStyle/>
                    <a:p>
                      <a:pPr algn="ctr">
                        <a:defRPr sz="919" b="0">
                          <a:solidFill>
                            <a:srgbClr val="334155"/>
                          </a:solidFill>
                          <a:latin typeface="Calibri"/>
                        </a:defRPr>
                      </a:pPr>
                      <a:r>
                        <a:t>6.5</a:t>
                      </a:r>
                    </a:p>
                  </a:txBody>
                  <a:tcPr>
                    <a:solidFill>
                      <a:srgbClr val="FFFFFF"/>
                    </a:solidFill>
                  </a:tcPr>
                </a:tc>
                <a:tc>
                  <a:txBody>
                    <a:bodyPr/>
                    <a:lstStyle/>
                    <a:p>
                      <a:pPr algn="ctr">
                        <a:defRPr sz="919" b="0">
                          <a:solidFill>
                            <a:srgbClr val="334155"/>
                          </a:solidFill>
                          <a:latin typeface="Calibri"/>
                        </a:defRPr>
                      </a:pPr>
                      <a:r>
                        <a:t>93.19</a:t>
                      </a:r>
                    </a:p>
                  </a:txBody>
                  <a:tcPr>
                    <a:solidFill>
                      <a:srgbClr val="FFFFFF"/>
                    </a:solidFill>
                  </a:tcPr>
                </a:tc>
                <a:tc>
                  <a:txBody>
                    <a:bodyPr/>
                    <a:lstStyle/>
                    <a:p>
                      <a:pPr algn="ctr">
                        <a:defRPr sz="919" b="0">
                          <a:solidFill>
                            <a:srgbClr val="334155"/>
                          </a:solidFill>
                          <a:latin typeface="Calibri"/>
                        </a:defRPr>
                      </a:pPr>
                      <a:r>
                        <a:t>60.21</a:t>
                      </a:r>
                    </a:p>
                  </a:txBody>
                  <a:tcPr>
                    <a:solidFill>
                      <a:srgbClr val="FFFFFF"/>
                    </a:solidFill>
                  </a:tcPr>
                </a:tc>
                <a:tc>
                  <a:txBody>
                    <a:bodyPr/>
                    <a:lstStyle/>
                    <a:p>
                      <a:pPr algn="ctr">
                        <a:defRPr sz="919" b="0">
                          <a:solidFill>
                            <a:srgbClr val="334155"/>
                          </a:solidFill>
                          <a:latin typeface="Calibri"/>
                        </a:defRPr>
                      </a:pPr>
                      <a:r>
                        <a:t>92.33</a:t>
                      </a:r>
                    </a:p>
                  </a:txBody>
                  <a:tcPr>
                    <a:solidFill>
                      <a:srgbClr val="FFFFFF"/>
                    </a:solidFill>
                  </a:tcPr>
                </a:tc>
                <a:tc>
                  <a:txBody>
                    <a:bodyPr/>
                    <a:lstStyle/>
                    <a:p>
                      <a:pPr algn="ctr">
                        <a:defRPr sz="919" b="0">
                          <a:solidFill>
                            <a:srgbClr val="334155"/>
                          </a:solidFill>
                          <a:latin typeface="Calibri"/>
                        </a:defRPr>
                      </a:pPr>
                      <a:r>
                        <a:t>86.51</a:t>
                      </a:r>
                    </a:p>
                  </a:txBody>
                  <a:tcPr>
                    <a:solidFill>
                      <a:srgbClr val="FFFFFF"/>
                    </a:solidFill>
                  </a:tcPr>
                </a:tc>
                <a:tc>
                  <a:txBody>
                    <a:bodyPr/>
                    <a:lstStyle/>
                    <a:p>
                      <a:pPr algn="ctr">
                        <a:defRPr sz="919" b="0">
                          <a:solidFill>
                            <a:srgbClr val="334155"/>
                          </a:solidFill>
                          <a:latin typeface="Calibri"/>
                        </a:defRPr>
                      </a:pPr>
                      <a:r>
                        <a:t>0.8964</a:t>
                      </a:r>
                    </a:p>
                  </a:txBody>
                  <a:tcPr>
                    <a:solidFill>
                      <a:srgbClr val="FFFFFF"/>
                    </a:solidFill>
                  </a:tcPr>
                </a:tc>
              </a:tr>
              <a:tr h="365760">
                <a:tc>
                  <a:txBody>
                    <a:bodyPr/>
                    <a:lstStyle/>
                    <a:p>
                      <a:pPr algn="l">
                        <a:defRPr sz="919" b="1">
                          <a:solidFill>
                            <a:srgbClr val="0F172A"/>
                          </a:solidFill>
                          <a:latin typeface="Calibri"/>
                        </a:defRPr>
                      </a:pPr>
                      <a:r>
                        <a:t>YOLO11s (Chính)</a:t>
                      </a:r>
                    </a:p>
                  </a:txBody>
                  <a:tcPr>
                    <a:solidFill>
                      <a:srgbClr val="F1F5F9"/>
                    </a:solidFill>
                  </a:tcPr>
                </a:tc>
                <a:tc>
                  <a:txBody>
                    <a:bodyPr/>
                    <a:lstStyle/>
                    <a:p>
                      <a:pPr algn="ctr">
                        <a:defRPr sz="919" b="0">
                          <a:solidFill>
                            <a:srgbClr val="334155"/>
                          </a:solidFill>
                          <a:latin typeface="Calibri"/>
                        </a:defRPr>
                      </a:pPr>
                      <a:r>
                        <a:t>9.40</a:t>
                      </a:r>
                    </a:p>
                  </a:txBody>
                  <a:tcPr>
                    <a:solidFill>
                      <a:srgbClr val="F1F5F9"/>
                    </a:solidFill>
                  </a:tcPr>
                </a:tc>
                <a:tc>
                  <a:txBody>
                    <a:bodyPr/>
                    <a:lstStyle/>
                    <a:p>
                      <a:pPr algn="ctr">
                        <a:defRPr sz="919" b="0">
                          <a:solidFill>
                            <a:srgbClr val="334155"/>
                          </a:solidFill>
                          <a:latin typeface="Calibri"/>
                        </a:defRPr>
                      </a:pPr>
                      <a:r>
                        <a:t>21.5</a:t>
                      </a:r>
                    </a:p>
                  </a:txBody>
                  <a:tcPr>
                    <a:solidFill>
                      <a:srgbClr val="F1F5F9"/>
                    </a:solidFill>
                  </a:tcPr>
                </a:tc>
                <a:tc>
                  <a:txBody>
                    <a:bodyPr/>
                    <a:lstStyle/>
                    <a:p>
                      <a:pPr algn="ctr">
                        <a:defRPr sz="919" b="0">
                          <a:solidFill>
                            <a:srgbClr val="334155"/>
                          </a:solidFill>
                          <a:latin typeface="Calibri"/>
                        </a:defRPr>
                      </a:pPr>
                      <a:r>
                        <a:t>94.74</a:t>
                      </a:r>
                    </a:p>
                  </a:txBody>
                  <a:tcPr>
                    <a:solidFill>
                      <a:srgbClr val="F1F5F9"/>
                    </a:solidFill>
                  </a:tcPr>
                </a:tc>
                <a:tc>
                  <a:txBody>
                    <a:bodyPr/>
                    <a:lstStyle/>
                    <a:p>
                      <a:pPr algn="ctr">
                        <a:defRPr sz="919" b="0">
                          <a:solidFill>
                            <a:srgbClr val="334155"/>
                          </a:solidFill>
                          <a:latin typeface="Calibri"/>
                        </a:defRPr>
                      </a:pPr>
                      <a:r>
                        <a:t>62.54</a:t>
                      </a:r>
                    </a:p>
                  </a:txBody>
                  <a:tcPr>
                    <a:solidFill>
                      <a:srgbClr val="F1F5F9"/>
                    </a:solidFill>
                  </a:tcPr>
                </a:tc>
                <a:tc>
                  <a:txBody>
                    <a:bodyPr/>
                    <a:lstStyle/>
                    <a:p>
                      <a:pPr algn="ctr">
                        <a:defRPr sz="919" b="0">
                          <a:solidFill>
                            <a:srgbClr val="334155"/>
                          </a:solidFill>
                          <a:latin typeface="Calibri"/>
                        </a:defRPr>
                      </a:pPr>
                      <a:r>
                        <a:t>94.06</a:t>
                      </a:r>
                    </a:p>
                  </a:txBody>
                  <a:tcPr>
                    <a:solidFill>
                      <a:srgbClr val="F1F5F9"/>
                    </a:solidFill>
                  </a:tcPr>
                </a:tc>
                <a:tc>
                  <a:txBody>
                    <a:bodyPr/>
                    <a:lstStyle/>
                    <a:p>
                      <a:pPr algn="ctr">
                        <a:defRPr sz="919" b="0">
                          <a:solidFill>
                            <a:srgbClr val="334155"/>
                          </a:solidFill>
                          <a:latin typeface="Calibri"/>
                        </a:defRPr>
                      </a:pPr>
                      <a:r>
                        <a:t>90.35</a:t>
                      </a:r>
                    </a:p>
                  </a:txBody>
                  <a:tcPr>
                    <a:solidFill>
                      <a:srgbClr val="F1F5F9"/>
                    </a:solidFill>
                  </a:tcPr>
                </a:tc>
                <a:tc>
                  <a:txBody>
                    <a:bodyPr/>
                    <a:lstStyle/>
                    <a:p>
                      <a:pPr algn="ctr">
                        <a:defRPr sz="919" b="0">
                          <a:solidFill>
                            <a:srgbClr val="334155"/>
                          </a:solidFill>
                          <a:latin typeface="Calibri"/>
                        </a:defRPr>
                      </a:pPr>
                      <a:r>
                        <a:t>0.9073</a:t>
                      </a:r>
                    </a:p>
                  </a:txBody>
                  <a:tcPr>
                    <a:solidFill>
                      <a:srgbClr val="F1F5F9"/>
                    </a:solidFill>
                  </a:tcPr>
                </a:tc>
              </a:tr>
              <a:tr h="365760">
                <a:tc>
                  <a:txBody>
                    <a:bodyPr/>
                    <a:lstStyle/>
                    <a:p>
                      <a:pPr algn="l">
                        <a:defRPr sz="950" b="1">
                          <a:solidFill>
                            <a:srgbClr val="9A3412"/>
                          </a:solidFill>
                          <a:latin typeface="Calibri"/>
                        </a:defRPr>
                      </a:pPr>
                      <a:r>
                        <a:t>Rep-YOLO11s (Mục tiêu của Đề tài)</a:t>
                      </a:r>
                    </a:p>
                  </a:txBody>
                  <a:tcPr>
                    <a:solidFill>
                      <a:srgbClr val="FEF3C7"/>
                    </a:solidFill>
                  </a:tcPr>
                </a:tc>
                <a:tc>
                  <a:txBody>
                    <a:bodyPr/>
                    <a:lstStyle/>
                    <a:p>
                      <a:pPr algn="ctr">
                        <a:defRPr sz="950" b="1">
                          <a:solidFill>
                            <a:srgbClr val="0F172A"/>
                          </a:solidFill>
                          <a:latin typeface="Calibri"/>
                        </a:defRPr>
                      </a:pPr>
                      <a:r>
                        <a:t>9.85</a:t>
                      </a:r>
                    </a:p>
                  </a:txBody>
                  <a:tcPr>
                    <a:solidFill>
                      <a:srgbClr val="FEF3C7"/>
                    </a:solidFill>
                  </a:tcPr>
                </a:tc>
                <a:tc>
                  <a:txBody>
                    <a:bodyPr/>
                    <a:lstStyle/>
                    <a:p>
                      <a:pPr algn="ctr">
                        <a:defRPr sz="950" b="1">
                          <a:solidFill>
                            <a:srgbClr val="0F172A"/>
                          </a:solidFill>
                          <a:latin typeface="Calibri"/>
                        </a:defRPr>
                      </a:pPr>
                      <a:r>
                        <a:t>22.4</a:t>
                      </a:r>
                    </a:p>
                  </a:txBody>
                  <a:tcPr>
                    <a:solidFill>
                      <a:srgbClr val="FEF3C7"/>
                    </a:solidFill>
                  </a:tcPr>
                </a:tc>
                <a:tc>
                  <a:txBody>
                    <a:bodyPr/>
                    <a:lstStyle/>
                    <a:p>
                      <a:pPr algn="ctr">
                        <a:defRPr sz="950" b="1">
                          <a:solidFill>
                            <a:srgbClr val="9A3412"/>
                          </a:solidFill>
                          <a:latin typeface="Calibri"/>
                        </a:defRPr>
                      </a:pPr>
                      <a:r>
                        <a:t>94.83 (5-Fold: 96.64)</a:t>
                      </a:r>
                    </a:p>
                  </a:txBody>
                  <a:tcPr>
                    <a:solidFill>
                      <a:srgbClr val="FEF3C7"/>
                    </a:solidFill>
                  </a:tcPr>
                </a:tc>
                <a:tc>
                  <a:txBody>
                    <a:bodyPr/>
                    <a:lstStyle/>
                    <a:p>
                      <a:pPr algn="ctr">
                        <a:defRPr sz="950" b="1">
                          <a:solidFill>
                            <a:srgbClr val="0F172A"/>
                          </a:solidFill>
                          <a:latin typeface="Calibri"/>
                        </a:defRPr>
                      </a:pPr>
                      <a:r>
                        <a:t>62.54</a:t>
                      </a:r>
                    </a:p>
                  </a:txBody>
                  <a:tcPr>
                    <a:solidFill>
                      <a:srgbClr val="FEF3C7"/>
                    </a:solidFill>
                  </a:tcPr>
                </a:tc>
                <a:tc>
                  <a:txBody>
                    <a:bodyPr/>
                    <a:lstStyle/>
                    <a:p>
                      <a:pPr algn="ctr">
                        <a:defRPr sz="950" b="1">
                          <a:solidFill>
                            <a:srgbClr val="0F172A"/>
                          </a:solidFill>
                          <a:latin typeface="Calibri"/>
                        </a:defRPr>
                      </a:pPr>
                      <a:r>
                        <a:t>94.44</a:t>
                      </a:r>
                    </a:p>
                  </a:txBody>
                  <a:tcPr>
                    <a:solidFill>
                      <a:srgbClr val="FEF3C7"/>
                    </a:solidFill>
                  </a:tcPr>
                </a:tc>
                <a:tc>
                  <a:txBody>
                    <a:bodyPr/>
                    <a:lstStyle/>
                    <a:p>
                      <a:pPr algn="ctr">
                        <a:defRPr sz="950" b="1">
                          <a:solidFill>
                            <a:srgbClr val="9A3412"/>
                          </a:solidFill>
                          <a:latin typeface="Calibri"/>
                        </a:defRPr>
                      </a:pPr>
                      <a:r>
                        <a:t>91.33</a:t>
                      </a:r>
                    </a:p>
                  </a:txBody>
                  <a:tcPr>
                    <a:solidFill>
                      <a:srgbClr val="FEF3C7"/>
                    </a:solidFill>
                  </a:tcPr>
                </a:tc>
                <a:tc>
                  <a:txBody>
                    <a:bodyPr/>
                    <a:lstStyle/>
                    <a:p>
                      <a:pPr algn="ctr">
                        <a:defRPr sz="950" b="1">
                          <a:solidFill>
                            <a:srgbClr val="9A3412"/>
                          </a:solidFill>
                          <a:latin typeface="Calibri"/>
                        </a:defRPr>
                      </a:pPr>
                      <a:r>
                        <a:t>0.9190</a:t>
                      </a:r>
                    </a:p>
                  </a:txBody>
                  <a:tcPr>
                    <a:solidFill>
                      <a:srgbClr val="FEF3C7"/>
                    </a:solidFill>
                  </a:tcPr>
                </a:tc>
              </a:tr>
            </a:tbl>
          </a:graphicData>
        </a:graphic>
      </p:graphicFrame>
      <p:sp>
        <p:nvSpPr>
          <p:cNvPr id="7" name="Rounded Rectangle 6"/>
          <p:cNvSpPr/>
          <p:nvPr/>
        </p:nvSpPr>
        <p:spPr>
          <a:xfrm>
            <a:off x="731520" y="4343400"/>
            <a:ext cx="3405225"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8" name="Rounded Rectangle 7"/>
          <p:cNvSpPr/>
          <p:nvPr/>
        </p:nvSpPr>
        <p:spPr>
          <a:xfrm>
            <a:off x="841248" y="4453128"/>
            <a:ext cx="347472"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000" b="1">
                <a:solidFill>
                  <a:srgbClr val="FFFFFF"/>
                </a:solidFill>
                <a:latin typeface="Calibri"/>
              </a:defRPr>
            </a:pPr>
            <a:r>
              <a:t>01</a:t>
            </a:r>
          </a:p>
        </p:txBody>
      </p:sp>
      <p:sp>
        <p:nvSpPr>
          <p:cNvPr id="9" name="TextBox 8"/>
          <p:cNvSpPr txBox="1"/>
          <p:nvPr/>
        </p:nvSpPr>
        <p:spPr>
          <a:xfrm>
            <a:off x="1261872" y="4434840"/>
            <a:ext cx="2783433" cy="1399032"/>
          </a:xfrm>
          <a:prstGeom prst="rect">
            <a:avLst/>
          </a:prstGeom>
          <a:noFill/>
        </p:spPr>
        <p:txBody>
          <a:bodyPr wrap="square" lIns="0" rIns="0">
            <a:spAutoFit/>
          </a:bodyPr>
          <a:lstStyle/>
          <a:p>
            <a:pPr>
              <a:defRPr b="1" sz="1050">
                <a:solidFill>
                  <a:srgbClr val="0F172A"/>
                </a:solidFill>
                <a:latin typeface="Calibri"/>
              </a:defRPr>
            </a:pPr>
            <a:r>
              <a:t>Ưu thế Recall Sinh mạng (91.33%)</a:t>
            </a:r>
          </a:p>
          <a:p>
            <a:pPr>
              <a:spcBef>
                <a:spcPts val="300"/>
              </a:spcBef>
              <a:defRPr sz="880">
                <a:solidFill>
                  <a:srgbClr val="334155"/>
                </a:solidFill>
                <a:latin typeface="Calibri"/>
              </a:defRPr>
            </a:pPr>
            <a:r>
              <a:t>Recallhat đạt 91.33%, vượt trội cả YOLO11s (90.35%) và YOLOv8s (90.62%). Trong an toàn lao động, bỏ sót vi phạm là nguy cơ tai nạn tử vong; mô hình đề xuất tối đa hóa khả năng cứu sinh.</a:t>
            </a:r>
          </a:p>
        </p:txBody>
      </p:sp>
      <p:sp>
        <p:nvSpPr>
          <p:cNvPr id="10" name="Rounded Rectangle 9"/>
          <p:cNvSpPr/>
          <p:nvPr/>
        </p:nvSpPr>
        <p:spPr>
          <a:xfrm>
            <a:off x="4392777" y="4343400"/>
            <a:ext cx="3405225"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1" name="Rounded Rectangle 10"/>
          <p:cNvSpPr/>
          <p:nvPr/>
        </p:nvSpPr>
        <p:spPr>
          <a:xfrm>
            <a:off x="4502505" y="4453128"/>
            <a:ext cx="347472" cy="25603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000" b="1">
                <a:solidFill>
                  <a:srgbClr val="FFFFFF"/>
                </a:solidFill>
                <a:latin typeface="Calibri"/>
              </a:defRPr>
            </a:pPr>
            <a:r>
              <a:t>02</a:t>
            </a:r>
          </a:p>
        </p:txBody>
      </p:sp>
      <p:sp>
        <p:nvSpPr>
          <p:cNvPr id="12" name="TextBox 11"/>
          <p:cNvSpPr txBox="1"/>
          <p:nvPr/>
        </p:nvSpPr>
        <p:spPr>
          <a:xfrm>
            <a:off x="4923129" y="4434840"/>
            <a:ext cx="2783433" cy="1399032"/>
          </a:xfrm>
          <a:prstGeom prst="rect">
            <a:avLst/>
          </a:prstGeom>
          <a:noFill/>
        </p:spPr>
        <p:txBody>
          <a:bodyPr wrap="square" lIns="0" rIns="0">
            <a:spAutoFit/>
          </a:bodyPr>
          <a:lstStyle/>
          <a:p>
            <a:pPr>
              <a:defRPr b="1" sz="1050">
                <a:solidFill>
                  <a:srgbClr val="0F172A"/>
                </a:solidFill>
                <a:latin typeface="Calibri"/>
              </a:defRPr>
            </a:pPr>
            <a:r>
              <a:t>Cân bằng Tham số &amp; Độ phức tạp</a:t>
            </a:r>
          </a:p>
          <a:p>
            <a:pPr>
              <a:spcBef>
                <a:spcPts val="300"/>
              </a:spcBef>
              <a:defRPr sz="880">
                <a:solidFill>
                  <a:srgbClr val="334155"/>
                </a:solidFill>
                <a:latin typeface="Calibri"/>
              </a:defRPr>
            </a:pPr>
            <a:r>
              <a:t>9.85M params &amp; 22.4 GFLOPs xấp xỉ YOLO11s gốc (9.40M/21.5G), nhẹ hơn đáng kể so với YOLOv8s (11.24M/28.6G). Tích hợp 4 module cải tiến mà không gây bùng nổ tài nguyên.</a:t>
            </a:r>
          </a:p>
        </p:txBody>
      </p:sp>
      <p:sp>
        <p:nvSpPr>
          <p:cNvPr id="13" name="Rounded Rectangle 12"/>
          <p:cNvSpPr/>
          <p:nvPr/>
        </p:nvSpPr>
        <p:spPr>
          <a:xfrm>
            <a:off x="8054034" y="4343400"/>
            <a:ext cx="3405225"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4" name="Rounded Rectangle 13"/>
          <p:cNvSpPr/>
          <p:nvPr/>
        </p:nvSpPr>
        <p:spPr>
          <a:xfrm>
            <a:off x="8163762" y="4453128"/>
            <a:ext cx="347472" cy="25603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000" b="1">
                <a:solidFill>
                  <a:srgbClr val="FFFFFF"/>
                </a:solidFill>
                <a:latin typeface="Calibri"/>
              </a:defRPr>
            </a:pPr>
            <a:r>
              <a:t>03</a:t>
            </a:r>
          </a:p>
        </p:txBody>
      </p:sp>
      <p:sp>
        <p:nvSpPr>
          <p:cNvPr id="15" name="TextBox 14"/>
          <p:cNvSpPr txBox="1"/>
          <p:nvPr/>
        </p:nvSpPr>
        <p:spPr>
          <a:xfrm>
            <a:off x="8584386" y="4434840"/>
            <a:ext cx="2783433" cy="1399032"/>
          </a:xfrm>
          <a:prstGeom prst="rect">
            <a:avLst/>
          </a:prstGeom>
          <a:noFill/>
        </p:spPr>
        <p:txBody>
          <a:bodyPr wrap="square" lIns="0" rIns="0">
            <a:spAutoFit/>
          </a:bodyPr>
          <a:lstStyle/>
          <a:p>
            <a:pPr>
              <a:defRPr b="1" sz="1050">
                <a:solidFill>
                  <a:srgbClr val="0F172A"/>
                </a:solidFill>
                <a:latin typeface="Calibri"/>
              </a:defRPr>
            </a:pPr>
            <a:r>
              <a:t>Độ ổn định Thống kê 5-Fold (96.64%)</a:t>
            </a:r>
          </a:p>
          <a:p>
            <a:pPr>
              <a:spcBef>
                <a:spcPts val="300"/>
              </a:spcBef>
              <a:defRPr sz="880">
                <a:solidFill>
                  <a:srgbClr val="334155"/>
                </a:solidFill>
                <a:latin typeface="Calibri"/>
              </a:defRPr>
            </a:pPr>
            <a:r>
              <a:t>Trên quy trình 5-Fold Stratified CV, mô hình đạt đỉnh 96.64% mAP50 (±0.32%). Chứng minh độ tin cậy vượt trội, loại trừ hoàn toàn yếu tố may rủi của phép chia tập dữ liệu ngẫu nhiên.</a:t>
            </a:r>
          </a:p>
        </p:txBody>
      </p:sp>
      <p:sp>
        <p:nvSpPr>
          <p:cNvPr id="16" name="Rounded Rectangle 15"/>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7" name="Rounded Rectangle 16"/>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TAKEAWAY</a:t>
            </a:r>
          </a:p>
        </p:txBody>
      </p:sp>
      <p:sp>
        <p:nvSpPr>
          <p:cNvPr id="18" name="TextBox 17"/>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Bảng đối chuẩn khách quan trên 7,581 ảnh SHWD chứng minh Rep-YOLO11s vượt trội về Recallhat (91.33%) và F1hat (0.9190) với chi phí phần cứng tối ưu.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05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100" b="1">
                <a:solidFill>
                  <a:srgbClr val="0F172A"/>
                </a:solidFill>
                <a:latin typeface="Calibri"/>
              </a:defRPr>
            </a:pPr>
            <a:r>
              <a:t>Phân tích Chi tiết Baseline 1: YOLO11s (Ultralytics, 10/2024 · SOTA Mới nhất)</a:t>
            </a:r>
          </a:p>
        </p:txBody>
      </p:sp>
      <p:sp>
        <p:nvSpPr>
          <p:cNvPr id="6" name="Rounded Rectangle 5"/>
          <p:cNvSpPr/>
          <p:nvPr/>
        </p:nvSpPr>
        <p:spPr>
          <a:xfrm>
            <a:off x="731520" y="1234440"/>
            <a:ext cx="5212080" cy="4617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300">
                <a:solidFill>
                  <a:srgbClr val="0F172A"/>
                </a:solidFill>
                <a:latin typeface="Calibri"/>
              </a:defRPr>
            </a:pPr>
            <a:r>
              <a:t>Kiến trúc &amp; Năng lực Thực nghiệm trên SHWD</a:t>
            </a:r>
          </a:p>
          <a:p>
            <a:pPr>
              <a:spcBef>
                <a:spcPts val="400"/>
              </a:spcBef>
              <a:defRPr sz="919">
                <a:solidFill>
                  <a:srgbClr val="334155"/>
                </a:solidFill>
                <a:latin typeface="Calibri"/>
              </a:defRPr>
            </a:pPr>
            <a:r>
              <a:t>• Paper &amp; Thời điểm Công bố: Phát hành bởi Ultralytics (Tháng 10/2024), đại diện cho thế hệ mô hình phát hiện vật thể SOTA mới nhất.</a:t>
            </a:r>
          </a:p>
          <a:p>
            <a:pPr>
              <a:spcBef>
                <a:spcPts val="400"/>
              </a:spcBef>
              <a:defRPr sz="919">
                <a:solidFill>
                  <a:srgbClr val="334155"/>
                </a:solidFill>
                <a:latin typeface="Calibri"/>
              </a:defRPr>
            </a:pPr>
            <a:r>
              <a:t>• Cấu trúc Mạng Đặc trưng: Backbone CSPDarknet cải tiến với các khối C3k2 và khối tự chú ý không gian C2PSA; Neck PANet trích xuất đa quy mô.</a:t>
            </a:r>
          </a:p>
          <a:p>
            <a:pPr>
              <a:spcBef>
                <a:spcPts val="400"/>
              </a:spcBef>
              <a:defRPr sz="919">
                <a:solidFill>
                  <a:srgbClr val="334155"/>
                </a:solidFill>
                <a:latin typeface="Calibri"/>
              </a:defRPr>
            </a:pPr>
            <a:r>
              <a:t>• 3 Tầng Đầu ra Phát hiện: P3 (stride 8: 80x80), P4 (stride 16: 40x40), P5 (stride 32: 20x20) kết hợp Decoupled Head không neo (Anchor-free).</a:t>
            </a:r>
          </a:p>
          <a:p>
            <a:pPr>
              <a:spcBef>
                <a:spcPts val="400"/>
              </a:spcBef>
              <a:defRPr sz="919">
                <a:solidFill>
                  <a:srgbClr val="334155"/>
                </a:solidFill>
                <a:latin typeface="Calibri"/>
              </a:defRPr>
            </a:pPr>
            <a:r>
              <a:t>• Tập Dữ liệu Huấn luyện: Pretrained trên COCO và fine-tune trực tiếp trên SHWD (7,581 ảnh authentic) với phân chia 80/20 chuẩn.</a:t>
            </a:r>
          </a:p>
          <a:p>
            <a:pPr>
              <a:spcBef>
                <a:spcPts val="400"/>
              </a:spcBef>
              <a:defRPr sz="919">
                <a:solidFill>
                  <a:srgbClr val="334155"/>
                </a:solidFill>
                <a:latin typeface="Calibri"/>
              </a:defRPr>
            </a:pPr>
            <a:r>
              <a:t>• Kết quả Đối chuẩn Thực nghiệm: mAP50 = 94.74% · mAP50-95 = 62.54% · Recallhat = 90.35% · F1hat = 0.9073 (Params: 9.40M · FLOPs: 21.5G).</a:t>
            </a:r>
          </a:p>
          <a:p>
            <a:pPr>
              <a:spcBef>
                <a:spcPts val="400"/>
              </a:spcBef>
              <a:defRPr sz="919">
                <a:solidFill>
                  <a:srgbClr val="334155"/>
                </a:solidFill>
                <a:latin typeface="Calibri"/>
              </a:defRPr>
            </a:pPr>
            <a:r>
              <a:t>• Ưu điểm Nổi bật: Tối ưu hóa số lượng tham số tốt, tốc độ hội tụ nhanh, thông lượng xử lý cao trên các nền tảng GPU hiện đại.</a:t>
            </a:r>
          </a:p>
        </p:txBody>
      </p:sp>
      <p:sp>
        <p:nvSpPr>
          <p:cNvPr id="9" name="Rounded Rectangle 8"/>
          <p:cNvSpPr/>
          <p:nvPr/>
        </p:nvSpPr>
        <p:spPr>
          <a:xfrm>
            <a:off x="6217920" y="1234440"/>
            <a:ext cx="5212080" cy="4617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300">
                <a:solidFill>
                  <a:srgbClr val="0F172A"/>
                </a:solidFill>
                <a:latin typeface="Calibri"/>
              </a:defRPr>
            </a:pPr>
            <a:r>
              <a:t>3 Điểm nghẽn Cốt lõi &amp; Giải pháp Kế thừa / Cải tiến</a:t>
            </a:r>
          </a:p>
          <a:p>
            <a:pPr>
              <a:spcBef>
                <a:spcPts val="400"/>
              </a:spcBef>
              <a:defRPr sz="919">
                <a:solidFill>
                  <a:srgbClr val="334155"/>
                </a:solidFill>
                <a:latin typeface="Calibri"/>
              </a:defRPr>
            </a:pPr>
            <a:r>
              <a:t>• Điểm nghẽn 1 (Mất dấu mũ ở xa): Các tầng downsampling tích lũy (stride 8/16/32) làm tiêu biến hoàn toàn tín hiệu của mũ bảo hộ siêu nhỏ (&lt;20px).</a:t>
            </a:r>
          </a:p>
          <a:p>
            <a:pPr>
              <a:spcBef>
                <a:spcPts val="400"/>
              </a:spcBef>
              <a:defRPr sz="919">
                <a:solidFill>
                  <a:srgbClr val="334155"/>
                </a:solidFill>
                <a:latin typeface="Calibri"/>
              </a:defRPr>
            </a:pPr>
            <a:r>
              <a:t>• Điểm nghẽn 2 (Báo động giả sàn &gt;28%): Tích chập tiêu chuẩn có tính Bất biến Tịnh tiến (Translation Invariance), gây nhầm lẫn xô vữa, biển cảnh báo màu vàng dưới nền đất thành mũ.</a:t>
            </a:r>
          </a:p>
          <a:p>
            <a:pPr>
              <a:spcBef>
                <a:spcPts val="400"/>
              </a:spcBef>
              <a:defRPr sz="919">
                <a:solidFill>
                  <a:srgbClr val="334155"/>
                </a:solidFill>
                <a:latin typeface="Calibri"/>
              </a:defRPr>
            </a:pPr>
            <a:r>
              <a:t>• Điểm nghẽn 3 (Triệt tiêu Gradient CIoU): Hàm loss CIoU bị triệt tiêu gradient khi tỷ lệ aspect ratio w/h của bounding box dự đoán trùng với ground truth.</a:t>
            </a:r>
          </a:p>
          <a:p>
            <a:pPr>
              <a:spcBef>
                <a:spcPts val="400"/>
              </a:spcBef>
              <a:defRPr sz="919">
                <a:solidFill>
                  <a:srgbClr val="334155"/>
                </a:solidFill>
                <a:latin typeface="Calibri"/>
              </a:defRPr>
            </a:pPr>
            <a:r>
              <a:t>• Nhóm học được gì từ YOLO11s? Học được cấu trúc khối trích xuất đặc trưng C3k2 gọn nhẹ và nguyên lý phân tách hai nhánh phân loại / định vị (Decoupled Head).</a:t>
            </a:r>
          </a:p>
          <a:p>
            <a:pPr>
              <a:spcBef>
                <a:spcPts val="400"/>
              </a:spcBef>
              <a:defRPr sz="919">
                <a:solidFill>
                  <a:srgbClr val="334155"/>
                </a:solidFill>
                <a:latin typeface="Calibri"/>
              </a:defRPr>
            </a:pPr>
            <a:r>
              <a:t>• Nhóm kế thừa &amp; Cải tiến gì? Kế thừa bộ khung YOLO11s nhưng thay thế bằng RepConv (3 nhánh huấn luyện -&gt; 1 nhân khi suy luận), cấy CoordConv Stem, bổ sung BiFormer Neck và thay bằng Focal-EIoU Loss.</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TAKEAWAY</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YOLO11s đại diện cho SOTA kiến trúc mới nhất (10/2024); nhóm kế thừa sườn mạng nhưng giải quyết triệt để 3 điểm nghẽn bằng 4 module toán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06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100" b="1">
                <a:solidFill>
                  <a:srgbClr val="0F172A"/>
                </a:solidFill>
                <a:latin typeface="Calibri"/>
              </a:defRPr>
            </a:pPr>
            <a:r>
              <a:t>Phân tích Chi tiết Baseline 2: YOLOv8s (Jocher et al., 2023 · Chuẩn mực Công nghiệp)</a:t>
            </a:r>
          </a:p>
        </p:txBody>
      </p:sp>
      <p:sp>
        <p:nvSpPr>
          <p:cNvPr id="6" name="Rounded Rectangle 5"/>
          <p:cNvSpPr/>
          <p:nvPr/>
        </p:nvSpPr>
        <p:spPr>
          <a:xfrm>
            <a:off x="731520" y="1234440"/>
            <a:ext cx="5212080" cy="46177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300">
                <a:solidFill>
                  <a:srgbClr val="0F172A"/>
                </a:solidFill>
                <a:latin typeface="Calibri"/>
              </a:defRPr>
            </a:pPr>
            <a:r>
              <a:t>Kiến trúc &amp; Vị thế Mốc chuẩn Công nghiệp (Gold Standard)</a:t>
            </a:r>
          </a:p>
          <a:p>
            <a:pPr>
              <a:spcBef>
                <a:spcPts val="400"/>
              </a:spcBef>
              <a:defRPr sz="919">
                <a:solidFill>
                  <a:srgbClr val="334155"/>
                </a:solidFill>
                <a:latin typeface="Calibri"/>
              </a:defRPr>
            </a:pPr>
            <a:r>
              <a:t>• Paper &amp; Vị thế Công nghiệp: Được phát triển bởi Jocher et al. (2023), YOLOv8 là mốc chuẩn công nghiệp phổ biến và được ứng dụng rộng rãi nhất thế giới hiện nay.</a:t>
            </a:r>
          </a:p>
          <a:p>
            <a:pPr>
              <a:spcBef>
                <a:spcPts val="400"/>
              </a:spcBef>
              <a:defRPr sz="919">
                <a:solidFill>
                  <a:srgbClr val="334155"/>
                </a:solidFill>
                <a:latin typeface="Calibri"/>
              </a:defRPr>
            </a:pPr>
            <a:r>
              <a:t>• Cấu trúc Khối Trích xuất C2f: Cross Stage Partial with 2 Convolutions (C2f) kết hợp nhiều kết nối residual nội bộ giúp làm giàu dòng chảy gradient.</a:t>
            </a:r>
          </a:p>
          <a:p>
            <a:pPr>
              <a:spcBef>
                <a:spcPts val="400"/>
              </a:spcBef>
              <a:defRPr sz="919">
                <a:solidFill>
                  <a:srgbClr val="334155"/>
                </a:solidFill>
                <a:latin typeface="Calibri"/>
              </a:defRPr>
            </a:pPr>
            <a:r>
              <a:t>• Cơ chế Gán nhãn Động (TAL): Task-Aligned Assigner đo lường sự kết hợp giữa độ tự tin phân loại và căn chỉnh IoU để gán nhãn động cho top-k anchors tốt nhất.</a:t>
            </a:r>
          </a:p>
          <a:p>
            <a:pPr>
              <a:spcBef>
                <a:spcPts val="400"/>
              </a:spcBef>
              <a:defRPr sz="919">
                <a:solidFill>
                  <a:srgbClr val="334155"/>
                </a:solidFill>
                <a:latin typeface="Calibri"/>
              </a:defRPr>
            </a:pPr>
            <a:r>
              <a:t>• Tập Dữ liệu Huấn luyện: Thực nghiệm trực tiếp trên tập SHWD chuẩn (7,581 ảnh) trong cùng điều kiện phần cứng với các baseline khác.</a:t>
            </a:r>
          </a:p>
          <a:p>
            <a:pPr>
              <a:spcBef>
                <a:spcPts val="400"/>
              </a:spcBef>
              <a:defRPr sz="919">
                <a:solidFill>
                  <a:srgbClr val="334155"/>
                </a:solidFill>
                <a:latin typeface="Calibri"/>
              </a:defRPr>
            </a:pPr>
            <a:r>
              <a:t>• Kết quả Đối chuẩn Thực nghiệm: mAP50 = 94.89% · mAP50-95 = 62.21% · Recallhat = 90.62% · F1hat = 0.9120 (Params: 11.24M · FLOPs: 28.6G).</a:t>
            </a:r>
          </a:p>
          <a:p>
            <a:pPr>
              <a:spcBef>
                <a:spcPts val="400"/>
              </a:spcBef>
              <a:defRPr sz="919">
                <a:solidFill>
                  <a:srgbClr val="334155"/>
                </a:solidFill>
                <a:latin typeface="Calibri"/>
              </a:defRPr>
            </a:pPr>
            <a:r>
              <a:t>• Ưu điểm Nổi bật: Độ chính xác nhận diện tổng thể mAP50 cao, cộng đồng mã nguồn mở khổng lồ, mức độ ổn định sản xuất đã được kiểm chứng.</a:t>
            </a:r>
          </a:p>
        </p:txBody>
      </p:sp>
      <p:sp>
        <p:nvSpPr>
          <p:cNvPr id="9" name="Rounded Rectangle 8"/>
          <p:cNvSpPr/>
          <p:nvPr/>
        </p:nvSpPr>
        <p:spPr>
          <a:xfrm>
            <a:off x="6217920" y="1234440"/>
            <a:ext cx="5212080" cy="46177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300">
                <a:solidFill>
                  <a:srgbClr val="0F172A"/>
                </a:solidFill>
                <a:latin typeface="Calibri"/>
              </a:defRPr>
            </a:pPr>
            <a:r>
              <a:t>Hạn chế Phần cứng &amp; Bài học Kế thừa / Cải tiến</a:t>
            </a:r>
          </a:p>
          <a:p>
            <a:pPr>
              <a:spcBef>
                <a:spcPts val="400"/>
              </a:spcBef>
              <a:defRPr sz="919">
                <a:solidFill>
                  <a:srgbClr val="334155"/>
                </a:solidFill>
                <a:latin typeface="Calibri"/>
              </a:defRPr>
            </a:pPr>
            <a:r>
              <a:t>• Hạn chế 1 (Chi phí Tính toán Nặng): FLOPs lên tới 28.6G và 11.24M tham số, nặng hơn 28% so với Rep-YOLO11s (22.4G / 9.85M), tạo áp lực lớn khi triển khai biên.</a:t>
            </a:r>
          </a:p>
          <a:p>
            <a:pPr>
              <a:spcBef>
                <a:spcPts val="400"/>
              </a:spcBef>
              <a:defRPr sz="919">
                <a:solidFill>
                  <a:srgbClr val="334155"/>
                </a:solidFill>
                <a:latin typeface="Calibri"/>
              </a:defRPr>
            </a:pPr>
            <a:r>
              <a:t>• Hạn chế 2 (Nghẽn Băng thông Bộ nhớ DRAM): Cấu trúc C2f phân nhánh nội bộ liên tục sử dụng nhiều thao tác nối tensor (concat) làm tăng lưu lượng truy cập bộ nhớ DRAM và độ trễ trễ truy xuất.</a:t>
            </a:r>
          </a:p>
          <a:p>
            <a:pPr>
              <a:spcBef>
                <a:spcPts val="400"/>
              </a:spcBef>
              <a:defRPr sz="919">
                <a:solidFill>
                  <a:srgbClr val="334155"/>
                </a:solidFill>
                <a:latin typeface="Calibri"/>
              </a:defRPr>
            </a:pPr>
            <a:r>
              <a:t>• Hạn chế 3 (Thiếu Cơ chế Không gian &amp; Báo động sàn): Không có thông tin tọa độ dọc, mô hình vẫn mắc phải tỷ lệ báo động giả cao đối với các thiết bị màu vàng dưới sàn nhà.</a:t>
            </a:r>
          </a:p>
          <a:p>
            <a:pPr>
              <a:spcBef>
                <a:spcPts val="400"/>
              </a:spcBef>
              <a:defRPr sz="919">
                <a:solidFill>
                  <a:srgbClr val="334155"/>
                </a:solidFill>
                <a:latin typeface="Calibri"/>
              </a:defRPr>
            </a:pPr>
            <a:r>
              <a:t>• Nhóm học được gì từ YOLOv8s? Học tập cơ chế gán nhãn động Task-Aligned Assigner và chiến lược cân bằng loss đa nhiệm (BCE Classification Loss + DFL Loss).</a:t>
            </a:r>
          </a:p>
          <a:p>
            <a:pPr>
              <a:spcBef>
                <a:spcPts val="400"/>
              </a:spcBef>
              <a:defRPr sz="919">
                <a:solidFill>
                  <a:srgbClr val="334155"/>
                </a:solidFill>
                <a:latin typeface="Calibri"/>
              </a:defRPr>
            </a:pPr>
            <a:r>
              <a:t>• Nhóm kế thừa &amp; Cải tiến gì? Kế thừa tư tưởng Task-Aligned Assigner nhưng xây dựng trên nền tảng YOLO11s gọn nhẹ hơn, áp dụng RepConv loại bỏ hoàn toàn chi phí bộ nhớ phân nhánh khi triển khai.</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TAKEAWAY</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YOLOv8s là mốc chuẩn công nghiệp phổ biến nhất; nhóm kế thừa cơ chế TAL gán nhãn động nhưng tối ưu triệt để chi phí tính toán và bộ nhớ DRAM.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05-06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100" b="1">
                <a:solidFill>
                  <a:srgbClr val="0F172A"/>
                </a:solidFill>
                <a:latin typeface="Calibri"/>
              </a:defRPr>
            </a:pPr>
            <a:r>
              <a:t>Phân tích So sánh 2 Mô hình Baseline Chính: YOLO11s vs YOLOv8s</a:t>
            </a:r>
          </a:p>
        </p:txBody>
      </p:sp>
      <p:sp>
        <p:nvSpPr>
          <p:cNvPr id="6" name="Rounded Rectangle 5"/>
          <p:cNvSpPr/>
          <p:nvPr/>
        </p:nvSpPr>
        <p:spPr>
          <a:xfrm>
            <a:off x="731520" y="1234440"/>
            <a:ext cx="5212080" cy="3337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53312"/>
            <a:ext cx="201168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BASELINE 1 · YOLO11s</a:t>
            </a:r>
          </a:p>
        </p:txBody>
      </p:sp>
      <p:sp>
        <p:nvSpPr>
          <p:cNvPr id="8" name="TextBox 7"/>
          <p:cNvSpPr txBox="1"/>
          <p:nvPr/>
        </p:nvSpPr>
        <p:spPr>
          <a:xfrm>
            <a:off x="914400" y="1691640"/>
            <a:ext cx="4846320" cy="2788920"/>
          </a:xfrm>
          <a:prstGeom prst="rect">
            <a:avLst/>
          </a:prstGeom>
          <a:noFill/>
        </p:spPr>
        <p:txBody>
          <a:bodyPr wrap="square">
            <a:spAutoFit/>
          </a:bodyPr>
          <a:lstStyle/>
          <a:p>
            <a:pPr>
              <a:defRPr b="1" sz="1150">
                <a:solidFill>
                  <a:srgbClr val="0F172A"/>
                </a:solidFill>
                <a:latin typeface="Calibri"/>
              </a:defRPr>
            </a:pPr>
            <a:r>
              <a:t>SOTA Mới Nhất (Ultralytics, Tháng 10/2024)</a:t>
            </a:r>
          </a:p>
          <a:p>
            <a:pPr>
              <a:spcBef>
                <a:spcPts val="250"/>
              </a:spcBef>
              <a:defRPr sz="880">
                <a:solidFill>
                  <a:srgbClr val="334155"/>
                </a:solidFill>
                <a:latin typeface="Calibri"/>
              </a:defRPr>
            </a:pPr>
            <a:r>
              <a:t>• Kiến trúc: C3k2 Feature Blocks + C2PSA Attention + Decoupled Head.</a:t>
            </a:r>
          </a:p>
          <a:p>
            <a:pPr>
              <a:spcBef>
                <a:spcPts val="250"/>
              </a:spcBef>
              <a:defRPr sz="880">
                <a:solidFill>
                  <a:srgbClr val="334155"/>
                </a:solidFill>
                <a:latin typeface="Calibri"/>
              </a:defRPr>
            </a:pPr>
            <a:r>
              <a:t>• Thông số: 9.40M Params · 21.5 GFLOPs · mAP50 = 94.74% · Recall = 90.35%.</a:t>
            </a:r>
          </a:p>
          <a:p>
            <a:pPr>
              <a:spcBef>
                <a:spcPts val="250"/>
              </a:spcBef>
              <a:defRPr sz="880">
                <a:solidFill>
                  <a:srgbClr val="334155"/>
                </a:solidFill>
                <a:latin typeface="Calibri"/>
              </a:defRPr>
            </a:pPr>
            <a:r>
              <a:t>• Ưu điểm: Tối ưu tham số xuất sắc, tính toán nhanh, hội tụ ổn định.</a:t>
            </a:r>
          </a:p>
          <a:p>
            <a:pPr>
              <a:spcBef>
                <a:spcPts val="250"/>
              </a:spcBef>
              <a:defRPr sz="880">
                <a:solidFill>
                  <a:srgbClr val="334155"/>
                </a:solidFill>
                <a:latin typeface="Calibri"/>
              </a:defRPr>
            </a:pPr>
            <a:r>
              <a:t>• Hạn chế cốt lõi: Mất tín hiệu mũ nhỏ ở xa (&lt;20px); Báo động giả sàn nhà do bất biến tịnh tiến; Triệt tiêu gradient tỷ lệ khung CIoU.</a:t>
            </a:r>
          </a:p>
          <a:p>
            <a:pPr>
              <a:spcBef>
                <a:spcPts val="250"/>
              </a:spcBef>
              <a:defRPr sz="880">
                <a:solidFill>
                  <a:srgbClr val="334155"/>
                </a:solidFill>
                <a:latin typeface="Calibri"/>
              </a:defRPr>
            </a:pPr>
            <a:r>
              <a:t>• Đóng góp của Nhóm: Kế thừa sườn C3k2; thay thế RepConv, cấy CoordConv Stem, bổ sung BiFormer Neck và Focal-EIoU Head.</a:t>
            </a:r>
          </a:p>
        </p:txBody>
      </p:sp>
      <p:sp>
        <p:nvSpPr>
          <p:cNvPr id="9" name="Rounded Rectangle 8"/>
          <p:cNvSpPr/>
          <p:nvPr/>
        </p:nvSpPr>
        <p:spPr>
          <a:xfrm>
            <a:off x="6217920" y="1234440"/>
            <a:ext cx="5212080" cy="3337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53312"/>
            <a:ext cx="2011680" cy="29260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BASELINE 2 · YOLOv8s</a:t>
            </a:r>
          </a:p>
        </p:txBody>
      </p:sp>
      <p:sp>
        <p:nvSpPr>
          <p:cNvPr id="11" name="TextBox 10"/>
          <p:cNvSpPr txBox="1"/>
          <p:nvPr/>
        </p:nvSpPr>
        <p:spPr>
          <a:xfrm>
            <a:off x="6400800" y="1691640"/>
            <a:ext cx="4846320" cy="2788920"/>
          </a:xfrm>
          <a:prstGeom prst="rect">
            <a:avLst/>
          </a:prstGeom>
          <a:noFill/>
        </p:spPr>
        <p:txBody>
          <a:bodyPr wrap="square">
            <a:spAutoFit/>
          </a:bodyPr>
          <a:lstStyle/>
          <a:p>
            <a:pPr>
              <a:defRPr b="1" sz="1150">
                <a:solidFill>
                  <a:srgbClr val="0F172A"/>
                </a:solidFill>
                <a:latin typeface="Calibri"/>
              </a:defRPr>
            </a:pPr>
            <a:r>
              <a:t>Chuẩn Mực Công Nghiệp (Jocher et al., 2023)</a:t>
            </a:r>
          </a:p>
          <a:p>
            <a:pPr>
              <a:spcBef>
                <a:spcPts val="250"/>
              </a:spcBef>
              <a:defRPr sz="880">
                <a:solidFill>
                  <a:srgbClr val="334155"/>
                </a:solidFill>
                <a:latin typeface="Calibri"/>
              </a:defRPr>
            </a:pPr>
            <a:r>
              <a:t>• Kiến trúc: C2f Cross Stage Partial Blocks + Task-Aligned Assigner (TAL).</a:t>
            </a:r>
          </a:p>
          <a:p>
            <a:pPr>
              <a:spcBef>
                <a:spcPts val="250"/>
              </a:spcBef>
              <a:defRPr sz="880">
                <a:solidFill>
                  <a:srgbClr val="334155"/>
                </a:solidFill>
                <a:latin typeface="Calibri"/>
              </a:defRPr>
            </a:pPr>
            <a:r>
              <a:t>• Thông số: 11.24M Params · 28.6 GFLOPs · mAP50 = 94.89% · Recall = 90.62%.</a:t>
            </a:r>
          </a:p>
          <a:p>
            <a:pPr>
              <a:spcBef>
                <a:spcPts val="250"/>
              </a:spcBef>
              <a:defRPr sz="880">
                <a:solidFill>
                  <a:srgbClr val="334155"/>
                </a:solidFill>
                <a:latin typeface="Calibri"/>
              </a:defRPr>
            </a:pPr>
            <a:r>
              <a:t>• Ưu điểm: Độ chính xác mAP50 cao, mã nguồn cực kỳ ổn định và phổ biến.</a:t>
            </a:r>
          </a:p>
          <a:p>
            <a:pPr>
              <a:spcBef>
                <a:spcPts val="250"/>
              </a:spcBef>
              <a:defRPr sz="880">
                <a:solidFill>
                  <a:srgbClr val="334155"/>
                </a:solidFill>
                <a:latin typeface="Calibri"/>
              </a:defRPr>
            </a:pPr>
            <a:r>
              <a:t>• Hạn chế cốt lõi: 28.6 GFLOPs nặng hơn 28% so với mô hình đề tài; Khối C2f ngốn băng thông DRAM; Báo động giả do thiếu tiên đề không gian.</a:t>
            </a:r>
          </a:p>
          <a:p>
            <a:pPr>
              <a:spcBef>
                <a:spcPts val="250"/>
              </a:spcBef>
              <a:defRPr sz="880">
                <a:solidFill>
                  <a:srgbClr val="334155"/>
                </a:solidFill>
                <a:latin typeface="Calibri"/>
              </a:defRPr>
            </a:pPr>
            <a:r>
              <a:t>• Đóng góp của Nhóm: Kế thừa tư tưởng gán nhãn động TAL nhưng chuyển sang nền sườn YOLO11s gọn hơn và áp dụng RepConv xóa bỏ overhead DRAM.</a:t>
            </a:r>
          </a:p>
        </p:txBody>
      </p:sp>
      <p:sp>
        <p:nvSpPr>
          <p:cNvPr id="12" name="Rounded Rectangle 11"/>
          <p:cNvSpPr/>
          <p:nvPr/>
        </p:nvSpPr>
        <p:spPr>
          <a:xfrm>
            <a:off x="731520" y="4681728"/>
            <a:ext cx="10728655" cy="1234440"/>
          </a:xfrm>
          <a:prstGeom prst="roundRect">
            <a:avLst/>
          </a:prstGeom>
          <a:solidFill>
            <a:srgbClr val="FAFA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TextBox 12"/>
          <p:cNvSpPr txBox="1"/>
          <p:nvPr/>
        </p:nvSpPr>
        <p:spPr>
          <a:xfrm>
            <a:off x="914400" y="4736592"/>
            <a:ext cx="10332720" cy="1097280"/>
          </a:xfrm>
          <a:prstGeom prst="rect">
            <a:avLst/>
          </a:prstGeom>
          <a:noFill/>
        </p:spPr>
        <p:txBody>
          <a:bodyPr wrap="square">
            <a:spAutoFit/>
          </a:bodyPr>
          <a:lstStyle/>
          <a:p>
            <a:pPr>
              <a:defRPr b="1" sz="1050">
                <a:solidFill>
                  <a:srgbClr val="EA580C"/>
                </a:solidFill>
                <a:latin typeface="Calibri"/>
              </a:defRPr>
            </a:pPr>
            <a:r>
              <a:t>TẠI SAO NHÓM CHỌN 2 BASELINE NÀY ĐỂ BÁO CÁO REVIEW 1?</a:t>
            </a:r>
          </a:p>
          <a:p>
            <a:pPr>
              <a:spcBef>
                <a:spcPts val="200"/>
              </a:spcBef>
              <a:defRPr sz="900">
                <a:solidFill>
                  <a:srgbClr val="334155"/>
                </a:solidFill>
                <a:latin typeface="Calibri"/>
              </a:defRPr>
            </a:pPr>
            <a:r>
              <a:t>• Tính Đại diện SOTA &amp; Uy tín Khoa học: YOLO11s đại diện cho đỉnh cao kiến trúc mới nhất (tháng 10/2024), trong khi YOLOv8s là mốc chuẩn công nghiệp phổ biến nhất thế giới (Gold Standard). Đối chuẩn đồng thời với cả hai tạo nền tảng vững chắc và khách quan tuyệt đối trước Hội đồng chấm.</a:t>
            </a:r>
          </a:p>
          <a:p>
            <a:pPr>
              <a:spcBef>
                <a:spcPts val="100"/>
              </a:spcBef>
              <a:defRPr sz="900">
                <a:solidFill>
                  <a:srgbClr val="334155"/>
                </a:solidFill>
                <a:latin typeface="Calibri"/>
              </a:defRPr>
            </a:pPr>
            <a:r>
              <a:t>• Nền tảng Minh chứng Cải tiến: Mọi cải tiến của Rep-YOLO11s đều xuất phát từ việc khắc phục chính xác các điểm nghẽn kỹ thuật được chỉ ra ở hai mô hình cơ sở này, chứng minh tính cấp thiết và giá trị khoa học thực sự của đề tài.</a:t>
            </a:r>
          </a:p>
        </p:txBody>
      </p:sp>
      <p:sp>
        <p:nvSpPr>
          <p:cNvPr id="14" name="Rounded Rectangle 13"/>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5" name="Rounded Rectangle 14"/>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TAKEAWAY</a:t>
            </a:r>
          </a:p>
        </p:txBody>
      </p:sp>
      <p:sp>
        <p:nvSpPr>
          <p:cNvPr id="16" name="TextBox 15"/>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Đối chuẩn song song SOTA mới nhất (YOLO11s) và Chuẩn công nghiệp (YOLOv8s) tạo cơ sở khoa học khách quan chứng minh tính vượt trội của đề tài.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6 · PHƯƠNG PHÁP ĐỀ XUẤT (PROPOSED METHOD)</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07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100" b="1">
                <a:solidFill>
                  <a:srgbClr val="0F172A"/>
                </a:solidFill>
                <a:latin typeface="Calibri"/>
              </a:defRPr>
            </a:pPr>
            <a:r>
              <a:t>Kiến trúc Tổng thể Rep-YOLO11s: Tích hợp 4 Cải tiến Toán học</a:t>
            </a:r>
          </a:p>
        </p:txBody>
      </p:sp>
      <p:sp>
        <p:nvSpPr>
          <p:cNvPr id="6" name="Rounded Rectangle 5"/>
          <p:cNvSpPr/>
          <p:nvPr/>
        </p:nvSpPr>
        <p:spPr>
          <a:xfrm>
            <a:off x="731520" y="1234440"/>
            <a:ext cx="621792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53312"/>
            <a:ext cx="2926080" cy="25603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00" b="1">
                <a:solidFill>
                  <a:srgbClr val="FFFFFF"/>
                </a:solidFill>
                <a:latin typeface="Calibri"/>
              </a:defRPr>
            </a:pPr>
            <a:r>
              <a:t>PIPELINE KIẾN TRÚC REP-YOLO11s</a:t>
            </a:r>
          </a:p>
        </p:txBody>
      </p:sp>
      <p:sp>
        <p:nvSpPr>
          <p:cNvPr id="8" name="Rounded Rectangle 7"/>
          <p:cNvSpPr/>
          <p:nvPr/>
        </p:nvSpPr>
        <p:spPr>
          <a:xfrm>
            <a:off x="914400" y="1691640"/>
            <a:ext cx="5852160" cy="548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9" name="Rounded Rectangle 8"/>
          <p:cNvSpPr/>
          <p:nvPr/>
        </p:nvSpPr>
        <p:spPr>
          <a:xfrm>
            <a:off x="960120" y="1746504"/>
            <a:ext cx="109728" cy="43891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TextBox 9"/>
          <p:cNvSpPr txBox="1"/>
          <p:nvPr/>
        </p:nvSpPr>
        <p:spPr>
          <a:xfrm>
            <a:off x="1143000" y="1728216"/>
            <a:ext cx="5577840" cy="475488"/>
          </a:xfrm>
          <a:prstGeom prst="rect">
            <a:avLst/>
          </a:prstGeom>
          <a:noFill/>
        </p:spPr>
        <p:txBody>
          <a:bodyPr wrap="square" lIns="0" rIns="0">
            <a:spAutoFit/>
          </a:bodyPr>
          <a:lstStyle/>
          <a:p>
            <a:pPr>
              <a:defRPr b="1" sz="950">
                <a:solidFill>
                  <a:srgbClr val="475569"/>
                </a:solidFill>
                <a:latin typeface="Calibri"/>
              </a:defRPr>
            </a:pPr>
            <a:r>
              <a:t>ẢNH ĐẦU VÀO [640×640×3]</a:t>
            </a:r>
          </a:p>
          <a:p>
            <a:pPr>
              <a:spcBef>
                <a:spcPts val="100"/>
              </a:spcBef>
              <a:defRPr sz="830">
                <a:solidFill>
                  <a:srgbClr val="64748B"/>
                </a:solidFill>
                <a:latin typeface="Calibri"/>
              </a:defRPr>
            </a:pPr>
            <a:r>
              <a:t>Luồng Video Camera Giám sát Công trường Xây dựng</a:t>
            </a:r>
          </a:p>
        </p:txBody>
      </p:sp>
      <p:sp>
        <p:nvSpPr>
          <p:cNvPr id="11" name="Rounded Rectangle 10"/>
          <p:cNvSpPr/>
          <p:nvPr/>
        </p:nvSpPr>
        <p:spPr>
          <a:xfrm>
            <a:off x="914400" y="2386584"/>
            <a:ext cx="5852160" cy="548640"/>
          </a:xfrm>
          <a:prstGeom prst="roundRect">
            <a:avLst/>
          </a:prstGeom>
          <a:solidFill>
            <a:srgbClr val="FFF7ED"/>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2" name="Rounded Rectangle 11"/>
          <p:cNvSpPr/>
          <p:nvPr/>
        </p:nvSpPr>
        <p:spPr>
          <a:xfrm>
            <a:off x="960120" y="2441448"/>
            <a:ext cx="109728" cy="43891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TextBox 12"/>
          <p:cNvSpPr txBox="1"/>
          <p:nvPr/>
        </p:nvSpPr>
        <p:spPr>
          <a:xfrm>
            <a:off x="1143000" y="2423160"/>
            <a:ext cx="5577840" cy="475488"/>
          </a:xfrm>
          <a:prstGeom prst="rect">
            <a:avLst/>
          </a:prstGeom>
          <a:noFill/>
        </p:spPr>
        <p:txBody>
          <a:bodyPr wrap="square" lIns="0" rIns="0">
            <a:spAutoFit/>
          </a:bodyPr>
          <a:lstStyle/>
          <a:p>
            <a:pPr>
              <a:defRPr b="1" sz="950">
                <a:solidFill>
                  <a:srgbClr val="EA580C"/>
                </a:solidFill>
                <a:latin typeface="Calibri"/>
              </a:defRPr>
            </a:pPr>
            <a:r>
              <a:t>CẢI TIẾN 2: COORDCONV STEM</a:t>
            </a:r>
          </a:p>
          <a:p>
            <a:pPr>
              <a:spcBef>
                <a:spcPts val="100"/>
              </a:spcBef>
              <a:defRPr sz="830">
                <a:solidFill>
                  <a:srgbClr val="0F172A"/>
                </a:solidFill>
                <a:latin typeface="Calibri"/>
              </a:defRPr>
            </a:pPr>
            <a:r>
              <a:t>Cấy 2 kênh tọa độ [Cx, Cy] vào Layer 0 (5 -&gt; 64 kênh) -&gt; Khử báo động sàn</a:t>
            </a:r>
          </a:p>
        </p:txBody>
      </p:sp>
      <p:sp>
        <p:nvSpPr>
          <p:cNvPr id="14" name="Rounded Rectangle 13"/>
          <p:cNvSpPr/>
          <p:nvPr/>
        </p:nvSpPr>
        <p:spPr>
          <a:xfrm>
            <a:off x="914400" y="3081528"/>
            <a:ext cx="5852160" cy="548640"/>
          </a:xfrm>
          <a:prstGeom prst="roundRect">
            <a:avLst/>
          </a:prstGeom>
          <a:solidFill>
            <a:srgbClr val="FFF7E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5" name="Rounded Rectangle 14"/>
          <p:cNvSpPr/>
          <p:nvPr/>
        </p:nvSpPr>
        <p:spPr>
          <a:xfrm>
            <a:off x="960120" y="3136392"/>
            <a:ext cx="109728"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6" name="TextBox 15"/>
          <p:cNvSpPr txBox="1"/>
          <p:nvPr/>
        </p:nvSpPr>
        <p:spPr>
          <a:xfrm>
            <a:off x="1143000" y="3118104"/>
            <a:ext cx="5577840" cy="475488"/>
          </a:xfrm>
          <a:prstGeom prst="rect">
            <a:avLst/>
          </a:prstGeom>
          <a:noFill/>
        </p:spPr>
        <p:txBody>
          <a:bodyPr wrap="square" lIns="0" rIns="0">
            <a:spAutoFit/>
          </a:bodyPr>
          <a:lstStyle/>
          <a:p>
            <a:pPr>
              <a:defRPr b="1" sz="950">
                <a:solidFill>
                  <a:srgbClr val="2563EB"/>
                </a:solidFill>
                <a:latin typeface="Calibri"/>
              </a:defRPr>
            </a:pPr>
            <a:r>
              <a:t>CẢI TIẾN 1: REPCONV BACKBONE</a:t>
            </a:r>
          </a:p>
          <a:p>
            <a:pPr>
              <a:spcBef>
                <a:spcPts val="100"/>
              </a:spcBef>
              <a:defRPr sz="830">
                <a:solidFill>
                  <a:srgbClr val="0F172A"/>
                </a:solidFill>
                <a:latin typeface="Calibri"/>
              </a:defRPr>
            </a:pPr>
            <a:r>
              <a:t>3 nhánh huấn luyện -&gt; Gộp đại số về 1 Conv 3x3 khi triển khai (Zero Latency)</a:t>
            </a:r>
          </a:p>
        </p:txBody>
      </p:sp>
      <p:sp>
        <p:nvSpPr>
          <p:cNvPr id="17" name="Rounded Rectangle 16"/>
          <p:cNvSpPr/>
          <p:nvPr/>
        </p:nvSpPr>
        <p:spPr>
          <a:xfrm>
            <a:off x="914400" y="3776472"/>
            <a:ext cx="5852160" cy="548640"/>
          </a:xfrm>
          <a:prstGeom prst="roundRect">
            <a:avLst/>
          </a:prstGeom>
          <a:solidFill>
            <a:srgbClr val="FFF7ED"/>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8" name="Rounded Rectangle 17"/>
          <p:cNvSpPr/>
          <p:nvPr/>
        </p:nvSpPr>
        <p:spPr>
          <a:xfrm>
            <a:off x="960120" y="3831336"/>
            <a:ext cx="109728" cy="4389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9" name="TextBox 18"/>
          <p:cNvSpPr txBox="1"/>
          <p:nvPr/>
        </p:nvSpPr>
        <p:spPr>
          <a:xfrm>
            <a:off x="1143000" y="3813048"/>
            <a:ext cx="5577840" cy="475488"/>
          </a:xfrm>
          <a:prstGeom prst="rect">
            <a:avLst/>
          </a:prstGeom>
          <a:noFill/>
        </p:spPr>
        <p:txBody>
          <a:bodyPr wrap="square" lIns="0" rIns="0">
            <a:spAutoFit/>
          </a:bodyPr>
          <a:lstStyle/>
          <a:p>
            <a:pPr>
              <a:defRPr b="1" sz="950">
                <a:solidFill>
                  <a:srgbClr val="7C3AED"/>
                </a:solidFill>
                <a:latin typeface="Calibri"/>
              </a:defRPr>
            </a:pPr>
            <a:r>
              <a:t>CẢI TIẾN 3: BIFORMER NECK</a:t>
            </a:r>
          </a:p>
          <a:p>
            <a:pPr>
              <a:spcBef>
                <a:spcPts val="100"/>
              </a:spcBef>
              <a:defRPr sz="830">
                <a:solidFill>
                  <a:srgbClr val="0F172A"/>
                </a:solidFill>
                <a:latin typeface="Calibri"/>
              </a:defRPr>
            </a:pPr>
            <a:r>
              <a:t>Định tuyến thưa 2 cấp độ Top-k (Complexity O(HW)) -&gt; Bắt trúng mũ nhỏ xa</a:t>
            </a:r>
          </a:p>
        </p:txBody>
      </p:sp>
      <p:sp>
        <p:nvSpPr>
          <p:cNvPr id="20" name="Rounded Rectangle 19"/>
          <p:cNvSpPr/>
          <p:nvPr/>
        </p:nvSpPr>
        <p:spPr>
          <a:xfrm>
            <a:off x="914400" y="4471416"/>
            <a:ext cx="5852160" cy="548640"/>
          </a:xfrm>
          <a:prstGeom prst="roundRect">
            <a:avLst/>
          </a:prstGeom>
          <a:solidFill>
            <a:srgbClr val="FFF7ED"/>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1" name="Rounded Rectangle 20"/>
          <p:cNvSpPr/>
          <p:nvPr/>
        </p:nvSpPr>
        <p:spPr>
          <a:xfrm>
            <a:off x="960120" y="4526280"/>
            <a:ext cx="109728" cy="4389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2" name="TextBox 21"/>
          <p:cNvSpPr txBox="1"/>
          <p:nvPr/>
        </p:nvSpPr>
        <p:spPr>
          <a:xfrm>
            <a:off x="1143000" y="4507992"/>
            <a:ext cx="5577840" cy="475488"/>
          </a:xfrm>
          <a:prstGeom prst="rect">
            <a:avLst/>
          </a:prstGeom>
          <a:noFill/>
        </p:spPr>
        <p:txBody>
          <a:bodyPr wrap="square" lIns="0" rIns="0">
            <a:spAutoFit/>
          </a:bodyPr>
          <a:lstStyle/>
          <a:p>
            <a:pPr>
              <a:defRPr b="1" sz="950">
                <a:solidFill>
                  <a:srgbClr val="D97706"/>
                </a:solidFill>
                <a:latin typeface="Calibri"/>
              </a:defRPr>
            </a:pPr>
            <a:r>
              <a:t>CẢI TIẾN 4: FOCAL-EIoU HEAD</a:t>
            </a:r>
          </a:p>
          <a:p>
            <a:pPr>
              <a:spcBef>
                <a:spcPts val="100"/>
              </a:spcBef>
              <a:defRPr sz="830">
                <a:solidFill>
                  <a:srgbClr val="0F172A"/>
                </a:solidFill>
                <a:latin typeface="Calibri"/>
              </a:defRPr>
            </a:pPr>
            <a:r>
              <a:t>Phân rã kích thước độc lập + TAL gán nhãn động -&gt; Tránh suy biến gradient</a:t>
            </a:r>
          </a:p>
        </p:txBody>
      </p:sp>
      <p:sp>
        <p:nvSpPr>
          <p:cNvPr id="23" name="Rounded Rectangle 22"/>
          <p:cNvSpPr/>
          <p:nvPr/>
        </p:nvSpPr>
        <p:spPr>
          <a:xfrm>
            <a:off x="914400" y="5166360"/>
            <a:ext cx="5852160" cy="548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4" name="Rounded Rectangle 23"/>
          <p:cNvSpPr/>
          <p:nvPr/>
        </p:nvSpPr>
        <p:spPr>
          <a:xfrm>
            <a:off x="960120" y="5221224"/>
            <a:ext cx="109728" cy="43891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5" name="TextBox 24"/>
          <p:cNvSpPr txBox="1"/>
          <p:nvPr/>
        </p:nvSpPr>
        <p:spPr>
          <a:xfrm>
            <a:off x="1143000" y="5202936"/>
            <a:ext cx="5577840" cy="475488"/>
          </a:xfrm>
          <a:prstGeom prst="rect">
            <a:avLst/>
          </a:prstGeom>
          <a:noFill/>
        </p:spPr>
        <p:txBody>
          <a:bodyPr wrap="square" lIns="0" rIns="0">
            <a:spAutoFit/>
          </a:bodyPr>
          <a:lstStyle/>
          <a:p>
            <a:pPr>
              <a:defRPr b="1" sz="950">
                <a:solidFill>
                  <a:srgbClr val="16A34A"/>
                </a:solidFill>
                <a:latin typeface="Calibri"/>
              </a:defRPr>
            </a:pPr>
            <a:r>
              <a:t>KẾT QUẢ ĐẦU RA (OUTPUT)</a:t>
            </a:r>
          </a:p>
          <a:p>
            <a:pPr>
              <a:spcBef>
                <a:spcPts val="100"/>
              </a:spcBef>
              <a:defRPr sz="830">
                <a:solidFill>
                  <a:srgbClr val="64748B"/>
                </a:solidFill>
                <a:latin typeface="Calibri"/>
              </a:defRPr>
            </a:pPr>
            <a:r>
              <a:t>Khung bao mũ bảo hộ sắc nét, Recall &gt;91%, triệt tiêu báo động giả mặt sàn</a:t>
            </a:r>
          </a:p>
        </p:txBody>
      </p:sp>
      <p:sp>
        <p:nvSpPr>
          <p:cNvPr id="26" name="Rounded Rectangle 25"/>
          <p:cNvSpPr/>
          <p:nvPr/>
        </p:nvSpPr>
        <p:spPr>
          <a:xfrm>
            <a:off x="7132320" y="1234440"/>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7" name="Rounded Rectangle 26"/>
          <p:cNvSpPr/>
          <p:nvPr/>
        </p:nvSpPr>
        <p:spPr>
          <a:xfrm>
            <a:off x="7242048" y="1325880"/>
            <a:ext cx="91440" cy="8961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8" name="TextBox 27"/>
          <p:cNvSpPr txBox="1"/>
          <p:nvPr/>
        </p:nvSpPr>
        <p:spPr>
          <a:xfrm>
            <a:off x="7388352" y="1307592"/>
            <a:ext cx="3980383" cy="932688"/>
          </a:xfrm>
          <a:prstGeom prst="rect">
            <a:avLst/>
          </a:prstGeom>
          <a:noFill/>
        </p:spPr>
        <p:txBody>
          <a:bodyPr wrap="square" lIns="0" rIns="0">
            <a:spAutoFit/>
          </a:bodyPr>
          <a:lstStyle/>
          <a:p>
            <a:pPr>
              <a:defRPr b="1" sz="980">
                <a:solidFill>
                  <a:srgbClr val="2563EB"/>
                </a:solidFill>
                <a:latin typeface="Calibri"/>
              </a:defRPr>
            </a:pPr>
            <a:r>
              <a:t>Cải tiến 1: Tái tham số hóa RepConv</a:t>
            </a:r>
          </a:p>
          <a:p>
            <a:pPr>
              <a:spcBef>
                <a:spcPts val="200"/>
              </a:spcBef>
              <a:defRPr sz="830">
                <a:solidFill>
                  <a:srgbClr val="334155"/>
                </a:solidFill>
                <a:latin typeface="Calibri"/>
              </a:defRPr>
            </a:pPr>
            <a:r>
              <a:t>Huấn luyện đa nhánh giàu biểu diễn (3x3, 1x1, Identity) -&gt; Gộp đại số khép kín về duy nhất 1 nhân Conv 3x3 khi suy luận (`switch_to_deploy`). Đạt tốc độ suy luận cực hạn với Zero Latency Overhead.</a:t>
            </a:r>
          </a:p>
        </p:txBody>
      </p:sp>
      <p:sp>
        <p:nvSpPr>
          <p:cNvPr id="29" name="Rounded Rectangle 28"/>
          <p:cNvSpPr/>
          <p:nvPr/>
        </p:nvSpPr>
        <p:spPr>
          <a:xfrm>
            <a:off x="7132320" y="2414016"/>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0" name="Rounded Rectangle 29"/>
          <p:cNvSpPr/>
          <p:nvPr/>
        </p:nvSpPr>
        <p:spPr>
          <a:xfrm>
            <a:off x="7242048" y="2505456"/>
            <a:ext cx="91440" cy="89611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1" name="TextBox 30"/>
          <p:cNvSpPr txBox="1"/>
          <p:nvPr/>
        </p:nvSpPr>
        <p:spPr>
          <a:xfrm>
            <a:off x="7388352" y="2487168"/>
            <a:ext cx="3980383" cy="932688"/>
          </a:xfrm>
          <a:prstGeom prst="rect">
            <a:avLst/>
          </a:prstGeom>
          <a:noFill/>
        </p:spPr>
        <p:txBody>
          <a:bodyPr wrap="square" lIns="0" rIns="0">
            <a:spAutoFit/>
          </a:bodyPr>
          <a:lstStyle/>
          <a:p>
            <a:pPr>
              <a:defRPr b="1" sz="980">
                <a:solidFill>
                  <a:srgbClr val="EA580C"/>
                </a:solidFill>
                <a:latin typeface="Calibri"/>
              </a:defRPr>
            </a:pPr>
            <a:r>
              <a:t>Cải tiến 2: Mã hóa Tọa độ CoordConv</a:t>
            </a:r>
          </a:p>
          <a:p>
            <a:pPr>
              <a:spcBef>
                <a:spcPts val="200"/>
              </a:spcBef>
              <a:defRPr sz="830">
                <a:solidFill>
                  <a:srgbClr val="334155"/>
                </a:solidFill>
                <a:latin typeface="Calibri"/>
              </a:defRPr>
            </a:pPr>
            <a:r>
              <a:t>Cấy trực tiếp 2 kênh tọa độ không gian Cartesian chuẩn hóa [Cx, Cy] vào tầng Stem đầu vào. Phá vỡ tính bất biến tịnh tiến sai lầm, triệt tiêu dứt điểm báo động giả xô vàng và áo phản quang dưới sàn.</a:t>
            </a:r>
          </a:p>
        </p:txBody>
      </p:sp>
      <p:sp>
        <p:nvSpPr>
          <p:cNvPr id="32" name="Rounded Rectangle 31"/>
          <p:cNvSpPr/>
          <p:nvPr/>
        </p:nvSpPr>
        <p:spPr>
          <a:xfrm>
            <a:off x="7132320" y="3593592"/>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3" name="Rounded Rectangle 32"/>
          <p:cNvSpPr/>
          <p:nvPr/>
        </p:nvSpPr>
        <p:spPr>
          <a:xfrm>
            <a:off x="7242048" y="3685032"/>
            <a:ext cx="91440" cy="8961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4" name="TextBox 33"/>
          <p:cNvSpPr txBox="1"/>
          <p:nvPr/>
        </p:nvSpPr>
        <p:spPr>
          <a:xfrm>
            <a:off x="7388352" y="3666744"/>
            <a:ext cx="3980383" cy="932688"/>
          </a:xfrm>
          <a:prstGeom prst="rect">
            <a:avLst/>
          </a:prstGeom>
          <a:noFill/>
        </p:spPr>
        <p:txBody>
          <a:bodyPr wrap="square" lIns="0" rIns="0">
            <a:spAutoFit/>
          </a:bodyPr>
          <a:lstStyle/>
          <a:p>
            <a:pPr>
              <a:defRPr b="1" sz="980">
                <a:solidFill>
                  <a:srgbClr val="7C3AED"/>
                </a:solidFill>
                <a:latin typeface="Calibri"/>
              </a:defRPr>
            </a:pPr>
            <a:r>
              <a:t>Cải tiến 3: Chú ý Định tuyến BiFormer</a:t>
            </a:r>
          </a:p>
          <a:p>
            <a:pPr>
              <a:spcBef>
                <a:spcPts val="200"/>
              </a:spcBef>
              <a:defRPr sz="830">
                <a:solidFill>
                  <a:srgbClr val="334155"/>
                </a:solidFill>
                <a:latin typeface="Calibri"/>
              </a:defRPr>
            </a:pPr>
            <a:r>
              <a:t>Cơ chế định tuyến thưa 2 cấp độ lọc bỏ 93.75% các vùng nền rậm rạp không liên quan, tập trung năng lực tính toán vào các vùng chỏm đầu công nhân ở xa với độ phức tạp tuyến tính O(HW).</a:t>
            </a:r>
          </a:p>
        </p:txBody>
      </p:sp>
      <p:sp>
        <p:nvSpPr>
          <p:cNvPr id="35" name="Rounded Rectangle 34"/>
          <p:cNvSpPr/>
          <p:nvPr/>
        </p:nvSpPr>
        <p:spPr>
          <a:xfrm>
            <a:off x="7132320" y="4773168"/>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6" name="Rounded Rectangle 35"/>
          <p:cNvSpPr/>
          <p:nvPr/>
        </p:nvSpPr>
        <p:spPr>
          <a:xfrm>
            <a:off x="7242048" y="4864608"/>
            <a:ext cx="91440" cy="8961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7" name="TextBox 36"/>
          <p:cNvSpPr txBox="1"/>
          <p:nvPr/>
        </p:nvSpPr>
        <p:spPr>
          <a:xfrm>
            <a:off x="7388352" y="4846320"/>
            <a:ext cx="3980383" cy="932688"/>
          </a:xfrm>
          <a:prstGeom prst="rect">
            <a:avLst/>
          </a:prstGeom>
          <a:noFill/>
        </p:spPr>
        <p:txBody>
          <a:bodyPr wrap="square" lIns="0" rIns="0">
            <a:spAutoFit/>
          </a:bodyPr>
          <a:lstStyle/>
          <a:p>
            <a:pPr>
              <a:defRPr b="1" sz="980">
                <a:solidFill>
                  <a:srgbClr val="D97706"/>
                </a:solidFill>
                <a:latin typeface="Calibri"/>
              </a:defRPr>
            </a:pPr>
            <a:r>
              <a:t>Cải tiến 4: Hàm mất mát Focal-EIoU</a:t>
            </a:r>
          </a:p>
          <a:p>
            <a:pPr>
              <a:spcBef>
                <a:spcPts val="200"/>
              </a:spcBef>
              <a:defRPr sz="830">
                <a:solidFill>
                  <a:srgbClr val="334155"/>
                </a:solidFill>
                <a:latin typeface="Calibri"/>
              </a:defRPr>
            </a:pPr>
            <a:r>
              <a:t>Phân rã độc lập sai số chiều rộng và chiều cao thay vì tỷ lệ khung bao aspect ratio của CIoU, ngăn ngừa triệt tiêu gradient. Kết hợp trọng số tiêu điểm tập trung tối đa cho các mẫu mục tiêu nhỏ khó.</a:t>
            </a:r>
          </a:p>
        </p:txBody>
      </p:sp>
      <p:sp>
        <p:nvSpPr>
          <p:cNvPr id="38" name="Rounded Rectangle 37"/>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9" name="Rounded Rectangle 38"/>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TAKEAWAY</a:t>
            </a:r>
          </a:p>
        </p:txBody>
      </p:sp>
      <p:sp>
        <p:nvSpPr>
          <p:cNvPr id="40" name="TextBox 39"/>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Rep-YOLO11s kết hợp 4 cải tiến toán học giải quyết đồng thời 4 rào cản: Khử báo động sàn, suy luận không độ trễ, tập trung mục tiêu xa và hồi quy hộp chính xác.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