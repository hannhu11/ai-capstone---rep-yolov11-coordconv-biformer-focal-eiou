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SECTION 4 &amp; SECTION 5 · RELATED WORK &amp; SOTA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SOTA Baseline Benchmarking on Standard SHWD (VOC2028 Format)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815"/>
                <a:gridCol w="1005840"/>
                <a:gridCol w="1005840"/>
                <a:gridCol w="1097280"/>
                <a:gridCol w="118872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Params (M)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FLOPs (G)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mAP50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mAP50-95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AP50 hat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 hat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hat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YOLOv8n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93.21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92.42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87.16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0.8879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YOLOv8s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11.24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28.6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94.89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62.21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94.28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90.62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0.9120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YOLOv10n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93.30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92.97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87.13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0.8930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YOLOv10s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8.00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21.6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94.39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62.19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93.36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89.14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0.9049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YOLO11n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93.19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92.33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0.8964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YOLO11s (Primary Baseline)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9.40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21.5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94.74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62.54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94.06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90.35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19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0.9073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9A3412"/>
                          </a:solidFill>
                          <a:latin typeface="Calibri"/>
                        </a:defRPr>
                      </a:pPr>
                      <a:r>
                        <a:t>Rep-YOLO11s (Proposed Capstone)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9.85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22.4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9A3412"/>
                          </a:solidFill>
                          <a:latin typeface="Calibri"/>
                        </a:defRPr>
                      </a:pPr>
                      <a:r>
                        <a:t>94.83 (5-Fold: 96.64)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62.54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94.44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9A3412"/>
                          </a:solidFill>
                          <a:latin typeface="Calibri"/>
                        </a:defRPr>
                      </a:pPr>
                      <a:r>
                        <a:t>91.33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9A3412"/>
                          </a:solidFill>
                          <a:latin typeface="Calibri"/>
                        </a:defRPr>
                      </a:pPr>
                      <a:r>
                        <a:t>0.9190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343400"/>
            <a:ext cx="340522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41248" y="4453128"/>
            <a:ext cx="347472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4434840"/>
            <a:ext cx="2783433" cy="1399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Life-Critical Recall Dominance (91.33%)</a:t>
            </a:r>
          </a:p>
          <a:p>
            <a:pPr>
              <a:spcBef>
                <a:spcPts val="30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Achieves 91.33% Recallhat, decisively outperforming YOLO11s (90.35%) and YOLOv8s (90.62%). In safety inspection, missed detections risk fatal injury; our architecture strictly prioritizes worker survivability.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2777" y="4343400"/>
            <a:ext cx="340522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4502505" y="4453128"/>
            <a:ext cx="347472" cy="25603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3129" y="4434840"/>
            <a:ext cx="2783433" cy="1399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Optimal Parameter &amp; FLOP Balance</a:t>
            </a:r>
          </a:p>
          <a:p>
            <a:pPr>
              <a:spcBef>
                <a:spcPts val="30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Requires 9.85M params &amp; 22.4 GFLOPs, closely matching stock YOLO11s (9.40M / 21.5G) while being 28% lighter than YOLOv8s (11.24M / 28.6G). Integrates 4 mathematical modules without resource explosion.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4034" y="4343400"/>
            <a:ext cx="3405225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163762" y="4453128"/>
            <a:ext cx="347472" cy="25603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84386" y="4434840"/>
            <a:ext cx="2783433" cy="13990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5-Fold Cross-Validation Stability (96.64%)</a:t>
            </a:r>
          </a:p>
          <a:p>
            <a:pPr>
              <a:spcBef>
                <a:spcPts val="30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Under rigorous 5-Fold Stratified CV, achieves peak 96.64% mAP50 (+-0.32%). Statistically proves exceptional generalization and eliminates any risk of train/val partitioning bias or data cherry-picking.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Standardized benchmarking across 7,581 SHWD images proves Rep-YOLO11s achieves superior Recallhat (91.33%) and F1hat (0.9190) with minimal hardware footprint.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SECTION 4 &amp; SECTION 5 · RELATED WORK &amp; SOTA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Baseline 1 Deep-Dive: YOLO11s (Ultralytics, Oct 2024 · Latest SOTA Architecture)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Architecture &amp; Empirical Performance on SHWD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Paper &amp; Release Date: Published by Ultralytics (October 2024), representing the latest state-of-the-art generation in real-time object detection.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Feature Network Backbone: Enhanced CSPDarknet backbone featuring C3k2 feature blocks and C2PSA spatial self-attention; multi-scale PANet neck.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- 3-Scale Detection Heads: P3 (stride 8: 80x80), P4 (stride 16: 40x40), P5 (stride 32: 20x20) coupled with anchor-free decoupled classification/regression heads.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Training &amp; Fine-Tuning: Pretrained on COCO and fine-tuned directly on authentic SHWD (7,581 images) under standard 80/20 train/test split.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Empirical Benchmark Results: mAP50 = 94.74% | mAP50-95 = 62.54% | Recallhat = 90.35% | F1hat = 0.9073 (Params: 9.40M | FLOPs: 21.5G).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Core Advantages: Highly parameter-efficient, rapid gradient convergence, and excellent inference throughput on modern GPU accelerators.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3 Core Bottlenecks &amp; Architectural Lessons Learned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Bottleneck 1 (Far-Range Helmet Vanishing): Successive downsampling strides (8/16/32) wash away spatial signals for tiny helmets (&lt;20px) captured by distant CCTV lenses.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Bottleneck 2 (&gt;28% Ground False Alarms): Standard convolution translation invariance confuses yellow construction buckets and floor cones with genuine safety helmets.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Bottleneck 3 (CIoU Aspect Ratio Vanishing): CIoU penalty derivative degenerates to zero when predicted box aspect ratio w/h matches ground-truth ratio w_gt/h_gt.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What We Learned from YOLO11s: Adopted the streamlined C3k2 feature extraction topology and the decoupled head principle separating classification and localization.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What We Inherited &amp; Improved: Retained YOLO11s macro-pipeline while embedding RepConv (multi-branch training -&gt; single-path deploy), CoordConv Stem, BiFormer Neck, and Focal-EIoU Loss.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YOLO11s represents the latest architectural SOTA (10/2024); our team inherited its core skeleton but systematically resolved its 3 bottlenecks via 4 mathematical modules.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SECTION 4 &amp; SECTION 5 · RELATED WORK &amp; SOTA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Baseline 2 Deep-Dive: YOLOv8s (Jocher et al., 2023 · Industrial Gold Standard)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Architecture &amp; Industrial Benchmark Status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Paper &amp; Industrial Prominence: Developed by Jocher et al. (2023), YOLOv8 serves as the globally recognized industry standard for commercial edge computer vision.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C2f Feature Extraction Blocks: Cross Stage Partial with 2 Convolutions (C2f) with internal residual split-and-merge connections for enriched gradient flow.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Task-Aligned Assigner (TAL): Dynamically allocates ground-truth labels using a joint metric balancing classification confidence and bounding box IoU alignment.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Empirical Dataset Benchmarking: Evaluated directly on the authentic SHWD benchmark (7,581 images) under identical hardware and evaluation protocols.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Empirical Benchmark Results: mAP50 = 94.89% | mAP50-95 = 62.21% | Recallhat = 90.62% | F1hat = 0.9120 (Params: 11.24M | FLOPs: 28.6G).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Core Strengths: Strong overall detection accuracy, battle-tested open-source codebase, and proven commercial deployment stability worldwide.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Hardware Constraints &amp; Architectural Lessons Learned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Constraint 1 (Heavy Computational Cost): Demands 28.6 GFLOPs and 11.24M parameters—28% heavier than Rep-YOLO11s (22.4G / 9.85M)—limiting budget edge hardware viability.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Constraint 2 (DRAM Memory Traffic Bottleneck): Frequent branching and tensor concatenation in C2f dramatically increases DRAM memory access latency and GPU kernel launches.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Constraint 3 (Lack of Spatial Priors): Without vertical coordinate inductive bias, exhibits high false alarm rates (&gt;28%) on ground-level yellow construction equipment.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What We Learned from YOLOv8s: Adopted the Task-Aligned Assigner (TAL) dynamic assignment mechanism and balanced multi-task loss formulation (BCE Cls + DFL).</a:t>
            </a:r>
          </a:p>
          <a:p>
            <a:pPr>
              <a:spcBef>
                <a:spcPts val="400"/>
              </a:spcBef>
              <a:defRPr sz="919">
                <a:solidFill>
                  <a:srgbClr val="334155"/>
                </a:solidFill>
                <a:latin typeface="Calibri"/>
              </a:defRPr>
            </a:pPr>
            <a:r>
              <a:t>- What We Inherited &amp; Improved: Retained TAL's dynamic assignment strength while migrating to the leaner YOLO11s backbone, utilizing RepConv to eliminate branching DRAM overhead.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YOLOv8s is the industry's most trusted gold standard; our project inherited TAL dynamic assignment while cutting 28% FLOPs and eliminating DRAM branching overhead.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SECTION 4 &amp; SECTION 5 · RELATED WORK &amp; SOTA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05-06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Head-to-Head Architectural Comparison: Baseline 1 (YOLO11s) vs Baseline 2 (YOLOv8s)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53312"/>
            <a:ext cx="2377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BASELINE 1 - YOLO11s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F172A"/>
                </a:solidFill>
                <a:latin typeface="Calibri"/>
              </a:defRPr>
            </a:pPr>
            <a:r>
              <a:t>Latest Architectural SOTA (Ultralytics, Oct 2024)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Architecture: C3k2 Feature Blocks + C2PSA Attention + Decoupled Head.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Specs: 9.40M Params | 21.5 GFLOPs | mAP50 = 94.74% | Recall = 90.35%.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Key Advantages: Superior parameter efficiency, fast convergence, low latency.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Core Bottlenecks: Vanishing signal for distant small helmets (&lt;20px); Ground false alarms due to translation invariance; CIoU aspect ratio gradient vanishing.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Capstone Contribution: Retains C3k2 macro-topology; upgrades to RepConv, embeds CoordConv Stem, BiFormer Neck, and Focal-EIoU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3337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6400800" y="1353312"/>
            <a:ext cx="2377440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BASELINE 2 - YOLOv8s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8463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F172A"/>
                </a:solidFill>
                <a:latin typeface="Calibri"/>
              </a:defRPr>
            </a:pPr>
            <a:r>
              <a:t>Industrial Benchmark Standard (Jocher et al., 2023)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Architecture: C2f Cross Stage Partial Blocks + Task-Aligned Assigner (TAL).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Specs: 11.24M Params | 28.6 GFLOPs | mAP50 = 94.89% | Recall = 90.62%.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Key Advantages: High mAP50 accuracy, mature ecosystem, battle-tested stability.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Core Bottlenecks: 28.6 GFLOPs is 28% heavier than our model; C2f branching causes DRAM memory bottlenecks; Ground false alarms from missing spatial priors.</a:t>
            </a:r>
          </a:p>
          <a:p>
            <a:pPr>
              <a:spcBef>
                <a:spcPts val="250"/>
              </a:spcBef>
              <a:defRPr sz="880">
                <a:solidFill>
                  <a:srgbClr val="334155"/>
                </a:solidFill>
                <a:latin typeface="Calibri"/>
              </a:defRPr>
            </a:pPr>
            <a:r>
              <a:t>- Capstone Contribution: Inherits TAL dynamic assignment philosophy while migrating to leaner YOLO11s backbone and applying RepConv to eliminate DRAM overhead.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81728"/>
            <a:ext cx="10728655" cy="12344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4736592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EA580C"/>
                </a:solidFill>
                <a:latin typeface="Calibri"/>
              </a:defRPr>
            </a:pPr>
            <a:r>
              <a:t>SCIENTIFIC JUSTIFICATION: WHY SELECT THESE TWO BASELINES FOR REVIEW 1?</a:t>
            </a:r>
          </a:p>
          <a:p>
            <a:pPr>
              <a:spcBef>
                <a:spcPts val="2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- SOTA Representativeness &amp; Scientific Authority: YOLO11s represents the cutting edge of real-time computer vision architectures (released Oct 2024), while YOLOv8s is the globally recognized industrial gold standard. Benchmarking against both establishes rigorous, unimpeachable credibility before the Defense Committee.</a:t>
            </a:r>
          </a:p>
          <a:p>
            <a:pPr>
              <a:spcBef>
                <a:spcPts val="1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- Empirical Grounding for Our Innovations: Every enhancement in Rep-YOLO11s directly stems from addressing specific, verifiable hardware and mathematical bottlenecks identified in these two models, proving the necessity, novelty, and scientific value of our research.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Parallel benchmarking against the latest SOTA (YOLO11s) and industrial gold standard (YOLOv8s) establishes an unassailable empirical baseline for our capstone.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SECTION 6 · PROPOSED METHOD: REP-YOLO11S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Proposed Rep-YOLO11s Architecture: Integrating 4 Mathematical Innovations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621792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914400" y="1353312"/>
            <a:ext cx="2926080" cy="25603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REP-YOLO11s ARCHITECTURAL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691640"/>
            <a:ext cx="585216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960120" y="1746504"/>
            <a:ext cx="109728" cy="438912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143000" y="1728216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475569"/>
                </a:solidFill>
                <a:latin typeface="Calibri"/>
              </a:defRPr>
            </a:pPr>
            <a:r>
              <a:t>INPUT STREAM [640x640x3]</a:t>
            </a:r>
          </a:p>
          <a:p>
            <a:pPr>
              <a:spcBef>
                <a:spcPts val="100"/>
              </a:spcBef>
              <a:defRPr sz="830">
                <a:solidFill>
                  <a:srgbClr val="64748B"/>
                </a:solidFill>
                <a:latin typeface="Calibri"/>
              </a:defRPr>
            </a:pPr>
            <a:r>
              <a:t>Raw 1080p CCTV Construction Video Stream with Letterbox Preprocessing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86584"/>
            <a:ext cx="5852160" cy="548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960120" y="2441448"/>
            <a:ext cx="109728" cy="4389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143000" y="2423160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EA580C"/>
                </a:solidFill>
                <a:latin typeface="Calibri"/>
              </a:defRPr>
            </a:pPr>
            <a:r>
              <a:t>INNOVATION 2: COORDCONV STEM</a:t>
            </a:r>
          </a:p>
          <a:p>
            <a:pPr>
              <a:spcBef>
                <a:spcPts val="100"/>
              </a:spcBef>
              <a:defRPr sz="830">
                <a:solidFill>
                  <a:srgbClr val="0F172A"/>
                </a:solidFill>
                <a:latin typeface="Calibri"/>
              </a:defRPr>
            </a:pPr>
            <a:r>
              <a:t>Injects normalized [Cx, Cy] coordinates into Layer 0 (5 -&gt; 64 ch) -&gt; Suppresses floor false alarms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081528"/>
            <a:ext cx="5852160" cy="548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960120" y="3136392"/>
            <a:ext cx="109728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143000" y="3118104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2563EB"/>
                </a:solidFill>
                <a:latin typeface="Calibri"/>
              </a:defRPr>
            </a:pPr>
            <a:r>
              <a:t>INNOVATION 1: REPCONV BACKBONE</a:t>
            </a:r>
          </a:p>
          <a:p>
            <a:pPr>
              <a:spcBef>
                <a:spcPts val="100"/>
              </a:spcBef>
              <a:defRPr sz="830">
                <a:solidFill>
                  <a:srgbClr val="0F172A"/>
                </a:solidFill>
                <a:latin typeface="Calibri"/>
              </a:defRPr>
            </a:pPr>
            <a:r>
              <a:t>Multi-branch training topology -&gt; Algebraic fusion into single 3x3 Conv at deploy (Zero Latency)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776472"/>
            <a:ext cx="5852160" cy="548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960120" y="3831336"/>
            <a:ext cx="109728" cy="43891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143000" y="3813048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7C3AED"/>
                </a:solidFill>
                <a:latin typeface="Calibri"/>
              </a:defRPr>
            </a:pPr>
            <a:r>
              <a:t>INNOVATION 3: BIFORMER NECK</a:t>
            </a:r>
          </a:p>
          <a:p>
            <a:pPr>
              <a:spcBef>
                <a:spcPts val="100"/>
              </a:spcBef>
              <a:defRPr sz="830">
                <a:solidFill>
                  <a:srgbClr val="0F172A"/>
                </a:solidFill>
                <a:latin typeface="Calibri"/>
              </a:defRPr>
            </a:pPr>
            <a:r>
              <a:t>Bi-level top-k sparse routing attention (Complexity O(HW)) -&gt; Pinpoints tiny distant helmets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471416"/>
            <a:ext cx="5852160" cy="54864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1" name="Rounded Rectangle 20"/>
          <p:cNvSpPr/>
          <p:nvPr/>
        </p:nvSpPr>
        <p:spPr>
          <a:xfrm>
            <a:off x="960120" y="4526280"/>
            <a:ext cx="109728" cy="43891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1143000" y="4507992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D97706"/>
                </a:solidFill>
                <a:latin typeface="Calibri"/>
              </a:defRPr>
            </a:pPr>
            <a:r>
              <a:t>INNOVATION 4: FOCAL-EIoU HEAD</a:t>
            </a:r>
          </a:p>
          <a:p>
            <a:pPr>
              <a:spcBef>
                <a:spcPts val="100"/>
              </a:spcBef>
              <a:defRPr sz="830">
                <a:solidFill>
                  <a:srgbClr val="0F172A"/>
                </a:solidFill>
                <a:latin typeface="Calibri"/>
              </a:defRPr>
            </a:pPr>
            <a:r>
              <a:t>Decoupled edge length regression + TAL dynamic assignment -&gt; Eliminates gradient vanishing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166360"/>
            <a:ext cx="5852160" cy="548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4" name="Rounded Rectangle 23"/>
          <p:cNvSpPr/>
          <p:nvPr/>
        </p:nvSpPr>
        <p:spPr>
          <a:xfrm>
            <a:off x="960120" y="5221224"/>
            <a:ext cx="109728" cy="43891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143000" y="5202936"/>
            <a:ext cx="5577840" cy="4754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50">
                <a:solidFill>
                  <a:srgbClr val="16A34A"/>
                </a:solidFill>
                <a:latin typeface="Calibri"/>
              </a:defRPr>
            </a:pPr>
            <a:r>
              <a:t>SYSTEM OUTPUT (PREDICTIONS)</a:t>
            </a:r>
          </a:p>
          <a:p>
            <a:pPr>
              <a:spcBef>
                <a:spcPts val="100"/>
              </a:spcBef>
              <a:defRPr sz="830">
                <a:solidFill>
                  <a:srgbClr val="64748B"/>
                </a:solidFill>
                <a:latin typeface="Calibri"/>
              </a:defRPr>
            </a:pPr>
            <a:r>
              <a:t>High-confidence bounding boxes, Recall &gt;91%, zero floor clutter alarms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234440"/>
            <a:ext cx="43278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7" name="Rounded Rectangle 26"/>
          <p:cNvSpPr/>
          <p:nvPr/>
        </p:nvSpPr>
        <p:spPr>
          <a:xfrm>
            <a:off x="7242048" y="1325880"/>
            <a:ext cx="91440" cy="8961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7388352" y="1307592"/>
            <a:ext cx="3980383" cy="932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80">
                <a:solidFill>
                  <a:srgbClr val="2563EB"/>
                </a:solidFill>
                <a:latin typeface="Calibri"/>
              </a:defRPr>
            </a:pPr>
            <a:r>
              <a:t>Innovation 1: Structural Re-parameterization (RepConv)</a:t>
            </a:r>
          </a:p>
          <a:p>
            <a:pPr>
              <a:spcBef>
                <a:spcPts val="200"/>
              </a:spcBef>
              <a:defRPr sz="830">
                <a:solidFill>
                  <a:srgbClr val="334155"/>
                </a:solidFill>
                <a:latin typeface="Calibri"/>
              </a:defRPr>
            </a:pPr>
            <a:r>
              <a:t>Trains with rich multi-branch topology (3x3, 1x1, Identity) -&gt; Algebraically folds into a single 3x3 Conv kernel at inference (`switch_to_deploy`). Yields optimal representation capacity with absolute Zero Latency Overhead.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2414016"/>
            <a:ext cx="43278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0" name="Rounded Rectangle 29"/>
          <p:cNvSpPr/>
          <p:nvPr/>
        </p:nvSpPr>
        <p:spPr>
          <a:xfrm>
            <a:off x="7242048" y="2505456"/>
            <a:ext cx="91440" cy="89611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7388352" y="2487168"/>
            <a:ext cx="3980383" cy="932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80">
                <a:solidFill>
                  <a:srgbClr val="EA580C"/>
                </a:solidFill>
                <a:latin typeface="Calibri"/>
              </a:defRPr>
            </a:pPr>
            <a:r>
              <a:t>Innovation 2: Spatial Coordinate Encoding (CoordConv)</a:t>
            </a:r>
          </a:p>
          <a:p>
            <a:pPr>
              <a:spcBef>
                <a:spcPts val="200"/>
              </a:spcBef>
              <a:defRPr sz="830">
                <a:solidFill>
                  <a:srgbClr val="334155"/>
                </a:solidFill>
                <a:latin typeface="Calibri"/>
              </a:defRPr>
            </a:pPr>
            <a:r>
              <a:t>Injects normalized 2D Cartesian spatial coordinates [Cx, Cy] directly into the input stem. Breaks translation invariance, eliminating false alarms on yellow buckets, floor vests, and ground clutter.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3593592"/>
            <a:ext cx="43278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3" name="Rounded Rectangle 32"/>
          <p:cNvSpPr/>
          <p:nvPr/>
        </p:nvSpPr>
        <p:spPr>
          <a:xfrm>
            <a:off x="7242048" y="3685032"/>
            <a:ext cx="91440" cy="89611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7388352" y="3666744"/>
            <a:ext cx="3980383" cy="932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80">
                <a:solidFill>
                  <a:srgbClr val="7C3AED"/>
                </a:solidFill>
                <a:latin typeface="Calibri"/>
              </a:defRPr>
            </a:pPr>
            <a:r>
              <a:t>Innovation 3: Bi-Level Routing Attention (BiFormer)</a:t>
            </a:r>
          </a:p>
          <a:p>
            <a:pPr>
              <a:spcBef>
                <a:spcPts val="200"/>
              </a:spcBef>
              <a:defRPr sz="830">
                <a:solidFill>
                  <a:srgbClr val="334155"/>
                </a:solidFill>
                <a:latin typeface="Calibri"/>
              </a:defRPr>
            </a:pPr>
            <a:r>
              <a:t>Two-level routing mechanism filters out 93.75% of irrelevant background regions, focusing compute budget purely on tiny worker head regions with linear O(HW) complexity and zero CUDA OOM risk.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4773168"/>
            <a:ext cx="432785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6" name="Rounded Rectangle 35"/>
          <p:cNvSpPr/>
          <p:nvPr/>
        </p:nvSpPr>
        <p:spPr>
          <a:xfrm>
            <a:off x="7242048" y="4864608"/>
            <a:ext cx="91440" cy="89611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7388352" y="4846320"/>
            <a:ext cx="3980383" cy="932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980">
                <a:solidFill>
                  <a:srgbClr val="D97706"/>
                </a:solidFill>
                <a:latin typeface="Calibri"/>
              </a:defRPr>
            </a:pPr>
            <a:r>
              <a:t>Innovation 4: Decoupled Focal-EIoU Bounding Box Loss</a:t>
            </a:r>
          </a:p>
          <a:p>
            <a:pPr>
              <a:spcBef>
                <a:spcPts val="200"/>
              </a:spcBef>
              <a:defRPr sz="830">
                <a:solidFill>
                  <a:srgbClr val="334155"/>
                </a:solidFill>
                <a:latin typeface="Calibri"/>
              </a:defRPr>
            </a:pPr>
            <a:r>
              <a:t>Independently penalizes width and height discrepancies rather than CIoU aspect ratios, preventing gradient vanishing. Focal weighting (IoU^0.5) optimizes hard boundary localization for distant helmets.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39" name="Rounded Rectangle 3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Rep-YOLO11s harmonizes 4 mathematical innovations to resolve 4 critical barriers: Zero-latency inference, floor false alarm suppression, distant target attention, and tight box regression.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