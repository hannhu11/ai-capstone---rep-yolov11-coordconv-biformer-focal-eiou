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</p:sldIdLst>
  <p:sldSz cy="6858000" cx="12191675"/>
  <p:notesSz cx="6858000" cy="9144000"/>
  <p:embeddedFontLst>
    <p:embeddedFont>
      <p:font typeface="Int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font" Target="fonts/Inter-regular.fntdata"/><Relationship Id="rId34" Type="http://schemas.openxmlformats.org/officeDocument/2006/relationships/font" Target="fonts/Inter-bold.fntdata"/><Relationship Id="rId35" Type="http://schemas.openxmlformats.org/officeDocument/2006/relationships/font" Target="fonts/Inter-italic.fntdata"/><Relationship Id="rId36" Type="http://schemas.openxmlformats.org/officeDocument/2006/relationships/font" Target="fonts/Inter-boldItalic.fntdata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6537f8b5a159938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6537f8b5a159938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6537f8b5a15993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6537f8b5a159938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6537f8b5a15993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h6537f8b5a159938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537f8b5a15993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6537f8b5a159938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537f8b5a1599382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6537f8b5a159938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6537f8b5a1599382_29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6537f8b5a1599382_2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6537f8b5a1599382_29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h6537f8b5a1599382_29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6537f8b5a1599382_2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6537f8b5a1599382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6537f8b5a1599382_29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6537f8b5a1599382_2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h6537f8b5a1599382_29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h6537f8b5a1599382_2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6537f8b5a1599382_29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6537f8b5a1599382_29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11906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31520" y="411480"/>
            <a:ext cx="5669280" cy="347472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41248" y="457200"/>
            <a:ext cx="548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FPT UNIVERSITY · ARTIFICIAL INTELLIGENCE CAPSTONE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96012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0995" y="1175530"/>
            <a:ext cx="6858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Re-Parameterization, Spatial Coordinate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Encoding, and Cross-Domain Robustness for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Safety Helmet Detection in Construction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Surveillance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41750" y="3037655"/>
            <a:ext cx="3474600" cy="110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06312" y="3184057"/>
            <a:ext cx="3145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TEAM M</a:t>
            </a:r>
            <a:r>
              <a:rPr b="1" lang="en-US" sz="10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Nguyen Han Nhu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· SE183644 (Lead)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Nguyen Van Thanh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· SE18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0387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 Pham Tuan Dung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SE183674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Role: Architecture, TensorRT Engine &amp; RTSP Pipeline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154775" y="4531525"/>
            <a:ext cx="3364200" cy="12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237137" y="4655307"/>
            <a:ext cx="3145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ACADEMIC ADVISOR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M.Sc.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Vu Ha Anh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(anhvh@fe.edu.vn)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Dept. of Artificial Intelligence — IT Faculty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FPT University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HCM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Campus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Focus: High-Impact Industrial Computer Vision</a:t>
            </a:r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300" y="1599525"/>
            <a:ext cx="3069665" cy="3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4183125" y="3037650"/>
            <a:ext cx="3364200" cy="110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96950" y="4531525"/>
            <a:ext cx="3364200" cy="12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321775" y="3151650"/>
            <a:ext cx="2939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6A34A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GROUP CODE</a:t>
            </a:r>
            <a:endParaRPr b="1" sz="1000">
              <a:solidFill>
                <a:srgbClr val="16A34A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GFA26AI17</a:t>
            </a:r>
            <a:endParaRPr b="1" sz="1000">
              <a:solidFill>
                <a:schemeClr val="dk1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61000" y="4655300"/>
            <a:ext cx="2939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PROJECT CODE</a:t>
            </a:r>
            <a:endParaRPr b="1" sz="1000">
              <a:solidFill>
                <a:srgbClr val="FF0000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FA26AI16</a:t>
            </a:r>
            <a:endParaRPr b="1" sz="1000">
              <a:solidFill>
                <a:schemeClr val="dk1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1 · PROBLEM DEFINITION &amp; URGENCY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18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 Construction Context &amp; 4 Technical Bottlenecks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31520" y="123444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68680" y="137160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68680" y="138074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89888" y="134416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Distant Tiny Objects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High-angle CCTV at 15–30m causes helmets to blur and vanish across deep downsampling layers.</a:t>
            </a:r>
            <a:endParaRPr sz="1200"/>
          </a:p>
        </p:txBody>
      </p:sp>
      <p:sp>
        <p:nvSpPr>
          <p:cNvPr id="110" name="Google Shape;110;p14"/>
          <p:cNvSpPr/>
          <p:nvPr/>
        </p:nvSpPr>
        <p:spPr>
          <a:xfrm>
            <a:off x="731520" y="246888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68680" y="260604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68680" y="261518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389888" y="257860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Class Imbalance (1:12)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9,044 helmets vs. 111,514 worker body instances; worker gradients dominate the loss.</a:t>
            </a:r>
            <a:endParaRPr sz="1200"/>
          </a:p>
        </p:txBody>
      </p:sp>
      <p:sp>
        <p:nvSpPr>
          <p:cNvPr id="114" name="Google Shape;114;p14"/>
          <p:cNvSpPr/>
          <p:nvPr/>
        </p:nvSpPr>
        <p:spPr>
          <a:xfrm>
            <a:off x="731520" y="370332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68680" y="384048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68680" y="384962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89888" y="381304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Color Noise &amp; False Alarms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Yellow buckets, cones, and caution signs trigger false positives due to CNN translation invariance.</a:t>
            </a:r>
            <a:endParaRPr sz="1200"/>
          </a:p>
        </p:txBody>
      </p:sp>
      <p:sp>
        <p:nvSpPr>
          <p:cNvPr id="118" name="Google Shape;118;p14"/>
          <p:cNvSpPr/>
          <p:nvPr/>
        </p:nvSpPr>
        <p:spPr>
          <a:xfrm>
            <a:off x="731520" y="493776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68680" y="507492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68680" y="508406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389888" y="504748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Edge Hardware Constraints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Strict &gt;= 25 FPS real-time requirement on budget laptops/GPUs without costly server clusters.</a:t>
            </a:r>
            <a:endParaRPr sz="1200"/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2212" y="1691650"/>
            <a:ext cx="4923270" cy="3992126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-12" y="69000"/>
            <a:ext cx="12191700" cy="69585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31520" y="292608"/>
            <a:ext cx="8686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2 · EXPECTED OUTCOMES</a:t>
            </a:r>
            <a:endParaRPr b="1" sz="10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332720" y="292608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18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31520" y="566928"/>
            <a:ext cx="1069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Scope </a:t>
            </a:r>
            <a:endParaRPr sz="1900"/>
          </a:p>
        </p:txBody>
      </p:sp>
      <p:sp>
        <p:nvSpPr>
          <p:cNvPr id="131" name="Google Shape;131;p15"/>
          <p:cNvSpPr/>
          <p:nvPr/>
        </p:nvSpPr>
        <p:spPr>
          <a:xfrm>
            <a:off x="485725" y="1484563"/>
            <a:ext cx="10944300" cy="134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43138" y="2064994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43138" y="2140451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645803" y="2067244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REP-YOLO11s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Accurate &amp; Generalizable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018199" y="2062513"/>
            <a:ext cx="72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Trained weights achieving </a:t>
            </a:r>
            <a:r>
              <a:rPr lang="en-US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map 50  &gt; 96%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14400" y="3218688"/>
            <a:ext cx="411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463040" y="3191256"/>
            <a:ext cx="292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485725" y="3127274"/>
            <a:ext cx="10959300" cy="139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43138" y="3665207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43150" y="3740675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645790" y="3609880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COMPILED ENGINES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Zero-latency Deploy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107985" y="3732868"/>
            <a:ext cx="676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(.engine), ONNX INT8 (.onnx), OpenVINO packages ready for cross-platform edge chips.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485725" y="4825248"/>
            <a:ext cx="10959300" cy="148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43138" y="5432919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43150" y="5508385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700"/>
          </a:p>
        </p:txBody>
      </p:sp>
      <p:sp>
        <p:nvSpPr>
          <p:cNvPr id="146" name="Google Shape;146;p15"/>
          <p:cNvSpPr txBox="1"/>
          <p:nvPr/>
        </p:nvSpPr>
        <p:spPr>
          <a:xfrm>
            <a:off x="1526740" y="5403430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STANDARDIZED BENCHMARK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9333EA"/>
                </a:solidFill>
                <a:latin typeface="Calibri"/>
                <a:ea typeface="Calibri"/>
                <a:cs typeface="Calibri"/>
                <a:sym typeface="Calibri"/>
              </a:rPr>
              <a:t>Cleaned Industry Benchmark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018210" y="5500581"/>
            <a:ext cx="676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&gt;33,000 images harmonized across 6 industrial domains with cleaned VOC2028 annotations.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31507" y="292608"/>
            <a:ext cx="8686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3 · FEASIBILITY &amp; THEORETICAL FOUNDATION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332708" y="292608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18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31507" y="566928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Literature Review of </a:t>
            </a:r>
            <a:r>
              <a:rPr b="1" lang="en-US" sz="2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Works &amp; SOTA Research Gap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731507" y="123444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14388" y="134416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Standard YOLO (v8 / 11)</a:t>
            </a:r>
            <a:endParaRPr sz="1800"/>
          </a:p>
        </p:txBody>
      </p:sp>
      <p:sp>
        <p:nvSpPr>
          <p:cNvPr id="158" name="Google Shape;158;p16"/>
          <p:cNvSpPr txBox="1"/>
          <p:nvPr/>
        </p:nvSpPr>
        <p:spPr>
          <a:xfrm>
            <a:off x="3749027" y="134416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94.74%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943588" y="134416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Coordinate-agnostic; frequent false positives on ground yellow buckets.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07" y="210312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914388" y="221284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EC-YOLOv8 (Zhang 2024)</a:t>
            </a:r>
            <a:endParaRPr sz="1800"/>
          </a:p>
        </p:txBody>
      </p:sp>
      <p:sp>
        <p:nvSpPr>
          <p:cNvPr id="162" name="Google Shape;162;p16"/>
          <p:cNvSpPr txBox="1"/>
          <p:nvPr/>
        </p:nvSpPr>
        <p:spPr>
          <a:xfrm>
            <a:off x="3749027" y="221284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95.70%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943588" y="2212848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 mAP via CARAFE operator, but heavy computational latency overhead.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731507" y="297180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914388" y="308152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YOLO-CBF (Li 2023)</a:t>
            </a:r>
            <a:endParaRPr sz="1800"/>
          </a:p>
        </p:txBody>
      </p:sp>
      <p:sp>
        <p:nvSpPr>
          <p:cNvPr id="166" name="Google Shape;166;p16"/>
          <p:cNvSpPr txBox="1"/>
          <p:nvPr/>
        </p:nvSpPr>
        <p:spPr>
          <a:xfrm>
            <a:off x="3749027" y="308152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95.60%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943588" y="3081528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Combines CoordConv &amp; BiFormer but balloons to 37.2M params and 104.5 GFLOPs.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731507" y="3840479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914388" y="3950207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YOLOv8n-FADS (Fu 2024)</a:t>
            </a:r>
            <a:endParaRPr sz="1800"/>
          </a:p>
        </p:txBody>
      </p:sp>
      <p:sp>
        <p:nvSpPr>
          <p:cNvPr id="170" name="Google Shape;170;p16"/>
          <p:cNvSpPr txBox="1"/>
          <p:nvPr/>
        </p:nvSpPr>
        <p:spPr>
          <a:xfrm>
            <a:off x="3749027" y="3950207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79.70%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943588" y="3950207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P2 branch expansion causes computational explosion; low empirical precision.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31507" y="5715000"/>
            <a:ext cx="10698600" cy="7314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914388" y="5779008"/>
            <a:ext cx="1033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★ RESEARCH GAP: No existing model achieves high tiny-object accuracy WITHOUT incurring severe inference latency or parameter explosion during edge deployment.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PROPOSED METHOD · NEURAL NETWORK ARCHITECTURE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18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Comprehensive 5-Stage Neural Architecture of Rep-YOLO11s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731520" y="1143000"/>
            <a:ext cx="10698480" cy="3931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2_rep_yolo11s_neural_architecture.png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75" y="923213"/>
            <a:ext cx="11180673" cy="457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7008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807242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1. SPATIAL BACKBONE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CSPDarknet with CoordConv coordinate injection (Cx, Cy) and multi-branch RepConv feature blocks.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3584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4495568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 SPARSE ROUTING NECK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PAN architecture embedded with BiFormer 2-level routing attention, reducing complexity to linear O(HW).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80160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183893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3. DECOUPLED HEAD &amp; LOSS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Anchor-free Decoupled Head paired with Focal EIoU loss decoupling bounding box dimension errors.</a:t>
            </a:r>
            <a:endParaRPr/>
          </a:p>
        </p:txBody>
      </p:sp>
      <p:pic>
        <p:nvPicPr>
          <p:cNvPr id="190" name="Google Shape;190;p17" title="7e12d5c4-e730-4487-a9f3-435ea124c5f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" y="0"/>
            <a:ext cx="1218552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-12" y="7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4070" y="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1: Structural Re-parameterization (RepConv) &amp; Algebraic Fusion</a:t>
            </a:r>
            <a:endParaRPr/>
          </a:p>
        </p:txBody>
      </p:sp>
      <p:pic>
        <p:nvPicPr>
          <p:cNvPr id="199" name="Google Shape;199;p18" title="Fig1A_Baseline_MultiBranch_Bottleneck.png"/>
          <p:cNvPicPr preferRelativeResize="0"/>
          <p:nvPr/>
        </p:nvPicPr>
        <p:blipFill rotWithShape="1">
          <a:blip r:embed="rId3">
            <a:alphaModFix/>
          </a:blip>
          <a:srcRect b="16053" l="3786" r="3424" t="13569"/>
          <a:stretch/>
        </p:blipFill>
        <p:spPr>
          <a:xfrm>
            <a:off x="196775" y="1090475"/>
            <a:ext cx="11864627" cy="49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332700" y="292597"/>
            <a:ext cx="116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-12" y="7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4070" y="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1: Structural Re-parameterization (RepConv) &amp; Algebraic Fusion</a:t>
            </a:r>
            <a:endParaRPr/>
          </a:p>
        </p:txBody>
      </p:sp>
      <p:pic>
        <p:nvPicPr>
          <p:cNvPr id="209" name="Google Shape;209;p19" title="Fig1B_Proposed_RepConv_Algebraic_Fusion.png"/>
          <p:cNvPicPr preferRelativeResize="0"/>
          <p:nvPr/>
        </p:nvPicPr>
        <p:blipFill rotWithShape="1">
          <a:blip r:embed="rId3">
            <a:alphaModFix/>
          </a:blip>
          <a:srcRect b="15493" l="3029" r="2032" t="13012"/>
          <a:stretch/>
        </p:blipFill>
        <p:spPr>
          <a:xfrm>
            <a:off x="216263" y="1012038"/>
            <a:ext cx="11759150" cy="48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43545" y="384016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2: CoordConv Spatial Encoding Suppresses False Alarms</a:t>
            </a:r>
            <a:endParaRPr/>
          </a:p>
        </p:txBody>
      </p:sp>
      <p:pic>
        <p:nvPicPr>
          <p:cNvPr id="218" name="Google Shape;218;p20" title="Fig2A_Baseline_Translation_Invariance_Flaw.png"/>
          <p:cNvPicPr preferRelativeResize="0"/>
          <p:nvPr/>
        </p:nvPicPr>
        <p:blipFill rotWithShape="1">
          <a:blip r:embed="rId3">
            <a:alphaModFix/>
          </a:blip>
          <a:srcRect b="3438" l="2817" r="3603" t="12915"/>
          <a:stretch/>
        </p:blipFill>
        <p:spPr>
          <a:xfrm>
            <a:off x="1047500" y="1325675"/>
            <a:ext cx="9794652" cy="490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43545" y="384016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2: CoordConv Spatial Encoding Suppresses False Alarms</a:t>
            </a:r>
            <a:endParaRPr/>
          </a:p>
        </p:txBody>
      </p:sp>
      <p:pic>
        <p:nvPicPr>
          <p:cNvPr id="227" name="Google Shape;227;p21" title="Fig2B_Proposed_CoordConv_Spatial_Injection.png"/>
          <p:cNvPicPr preferRelativeResize="0"/>
          <p:nvPr/>
        </p:nvPicPr>
        <p:blipFill rotWithShape="1">
          <a:blip r:embed="rId3">
            <a:alphaModFix/>
          </a:blip>
          <a:srcRect b="2962" l="2675" r="2798" t="12407"/>
          <a:stretch/>
        </p:blipFill>
        <p:spPr>
          <a:xfrm>
            <a:off x="731525" y="1196300"/>
            <a:ext cx="10539423" cy="515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67070" y="2259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3: BiFormer 2-Level Sparse Routing Attention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183880" y="5193792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2" title="Fig3A_Baseline_Dense_Attention_Bottleneck.png"/>
          <p:cNvPicPr preferRelativeResize="0"/>
          <p:nvPr/>
        </p:nvPicPr>
        <p:blipFill rotWithShape="1">
          <a:blip r:embed="rId3">
            <a:alphaModFix/>
          </a:blip>
          <a:srcRect b="3543" l="3960" r="2870" t="13297"/>
          <a:stretch/>
        </p:blipFill>
        <p:spPr>
          <a:xfrm>
            <a:off x="810076" y="1102225"/>
            <a:ext cx="10571551" cy="5150551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67070" y="2259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3: BiFormer 2-Level Sparse Routing Attention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183880" y="5193792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3" title="Fig3B_Proposed_BiFormer_Sparse_Routing.png"/>
          <p:cNvPicPr preferRelativeResize="0"/>
          <p:nvPr/>
        </p:nvPicPr>
        <p:blipFill rotWithShape="1">
          <a:blip r:embed="rId3">
            <a:alphaModFix/>
          </a:blip>
          <a:srcRect b="3548" l="2362" r="2789" t="12784"/>
          <a:stretch/>
        </p:blipFill>
        <p:spPr>
          <a:xfrm>
            <a:off x="613538" y="996425"/>
            <a:ext cx="10964598" cy="52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37645" y="2926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4: Focal EIoU Loss &amp; Small Target Optimization</a:t>
            </a:r>
            <a:endParaRPr/>
          </a:p>
        </p:txBody>
      </p:sp>
      <p:pic>
        <p:nvPicPr>
          <p:cNvPr id="256" name="Google Shape;256;p24" title="Fig4A_Baseline_CIoU_Vanishing_Gradient.png"/>
          <p:cNvPicPr preferRelativeResize="0"/>
          <p:nvPr/>
        </p:nvPicPr>
        <p:blipFill rotWithShape="1">
          <a:blip r:embed="rId3">
            <a:alphaModFix/>
          </a:blip>
          <a:srcRect b="3686" l="4122" r="3865" t="12737"/>
          <a:stretch/>
        </p:blipFill>
        <p:spPr>
          <a:xfrm>
            <a:off x="427875" y="843525"/>
            <a:ext cx="11218350" cy="55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37645" y="2926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4: Focal EIoU Loss &amp; Small Target Optimization</a:t>
            </a:r>
            <a:endParaRPr/>
          </a:p>
        </p:txBody>
      </p:sp>
      <p:pic>
        <p:nvPicPr>
          <p:cNvPr id="265" name="Google Shape;265;p25" title="Fig4B_Proposed_Focal_EIoU_Decomposition.png"/>
          <p:cNvPicPr preferRelativeResize="0"/>
          <p:nvPr/>
        </p:nvPicPr>
        <p:blipFill rotWithShape="1">
          <a:blip r:embed="rId3">
            <a:alphaModFix/>
          </a:blip>
          <a:srcRect b="4037" l="3059" r="2512" t="12386"/>
          <a:stretch/>
        </p:blipFill>
        <p:spPr>
          <a:xfrm>
            <a:off x="339688" y="902350"/>
            <a:ext cx="11512325" cy="55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2 · TECHNICAL APPROACH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13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Solution Overview &amp; Core Modules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347472" y="1371600"/>
            <a:ext cx="11493900" cy="3136500"/>
          </a:xfrm>
          <a:prstGeom prst="roundRect">
            <a:avLst>
              <a:gd fmla="val 349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48640" y="1682496"/>
            <a:ext cx="1737300" cy="2441400"/>
          </a:xfrm>
          <a:prstGeom prst="roundRect">
            <a:avLst>
              <a:gd fmla="val 5263" name="adj"/>
            </a:avLst>
          </a:prstGeom>
          <a:solidFill>
            <a:srgbClr val="F9FBFE"/>
          </a:solidFill>
          <a:ln cap="flat" cmpd="sng" w="13950">
            <a:solidFill>
              <a:srgbClr val="AFC4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548640" y="180136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Input Image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48640" y="3803904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1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640 × 640 × 3</a:t>
            </a:r>
            <a:endParaRPr b="0" i="0" sz="11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2514600" y="1682496"/>
            <a:ext cx="1527000" cy="2441400"/>
          </a:xfrm>
          <a:prstGeom prst="roundRect">
            <a:avLst>
              <a:gd fmla="val 5988" name="adj"/>
            </a:avLst>
          </a:prstGeom>
          <a:solidFill>
            <a:srgbClr val="FFFDFC"/>
          </a:solidFill>
          <a:ln cap="flat" cmpd="sng" w="13950">
            <a:solidFill>
              <a:srgbClr val="FF8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2514600" y="1801368"/>
            <a:ext cx="1527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CoordConv</a:t>
            </a:r>
            <a:endParaRPr b="0" i="0" sz="12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907792" y="2468880"/>
            <a:ext cx="777300" cy="896100"/>
          </a:xfrm>
          <a:prstGeom prst="rect">
            <a:avLst/>
          </a:prstGeom>
          <a:solidFill>
            <a:srgbClr val="2C5CC5"/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017520" y="2340864"/>
            <a:ext cx="777300" cy="896100"/>
          </a:xfrm>
          <a:prstGeom prst="rect">
            <a:avLst/>
          </a:prstGeom>
          <a:solidFill>
            <a:srgbClr val="29A7DF">
              <a:alpha val="94120"/>
            </a:srgbClr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127248" y="2212848"/>
            <a:ext cx="777300" cy="896100"/>
          </a:xfrm>
          <a:prstGeom prst="rect">
            <a:avLst/>
          </a:prstGeom>
          <a:solidFill>
            <a:srgbClr val="F7B62E">
              <a:alpha val="87840"/>
            </a:srgbClr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660904" y="36758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 × W × (3 + 2)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(RGB + X, Y)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242816" y="1682496"/>
            <a:ext cx="1728300" cy="2441400"/>
          </a:xfrm>
          <a:prstGeom prst="roundRect">
            <a:avLst>
              <a:gd fmla="val 5291" name="adj"/>
            </a:avLst>
          </a:prstGeom>
          <a:solidFill>
            <a:srgbClr val="F8FBFF"/>
          </a:solidFill>
          <a:ln cap="flat" cmpd="sng" w="13950">
            <a:solidFill>
              <a:srgbClr val="6AA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4242816" y="1801368"/>
            <a:ext cx="1728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Backbone + RepConv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471416" y="2359152"/>
            <a:ext cx="310800" cy="10515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4727448" y="2424989"/>
            <a:ext cx="310800" cy="9417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4983480" y="2490826"/>
            <a:ext cx="310800" cy="8322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239512" y="2556662"/>
            <a:ext cx="310800" cy="7224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5495544" y="2622499"/>
            <a:ext cx="310800" cy="6126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4315968" y="3675888"/>
            <a:ext cx="158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39"/>
              <a:buFont typeface="Inter"/>
              <a:buNone/>
            </a:pPr>
            <a:r>
              <a:rPr b="0" i="0" lang="en-US" sz="104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CSPDarknet + RepConv</a:t>
            </a:r>
            <a:endParaRPr b="0" i="0" sz="10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39"/>
              <a:buFont typeface="Inter"/>
              <a:buNone/>
            </a:pPr>
            <a:r>
              <a:rPr b="0" i="0" lang="en-US" sz="104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(Multi-branch → Single-path)</a:t>
            </a:r>
            <a:endParaRPr b="0" i="0" sz="10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172200" y="1682496"/>
            <a:ext cx="1965900" cy="2441400"/>
          </a:xfrm>
          <a:prstGeom prst="roundRect">
            <a:avLst>
              <a:gd fmla="val 4651" name="adj"/>
            </a:avLst>
          </a:prstGeom>
          <a:solidFill>
            <a:srgbClr val="F9FFFB"/>
          </a:solidFill>
          <a:ln cap="flat" cmpd="sng" w="13950">
            <a:solidFill>
              <a:srgbClr val="4DC9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6172200" y="1801368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Neck + BiFormer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6318504" y="2331720"/>
            <a:ext cx="411600" cy="173700"/>
          </a:xfrm>
          <a:prstGeom prst="rect">
            <a:avLst/>
          </a:prstGeom>
          <a:solidFill>
            <a:srgbClr val="6BA7F7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6318504" y="2770632"/>
            <a:ext cx="411600" cy="173700"/>
          </a:xfrm>
          <a:prstGeom prst="rect">
            <a:avLst/>
          </a:prstGeom>
          <a:solidFill>
            <a:srgbClr val="57D58F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6318504" y="3209544"/>
            <a:ext cx="411600" cy="173700"/>
          </a:xfrm>
          <a:prstGeom prst="rect">
            <a:avLst/>
          </a:prstGeom>
          <a:solidFill>
            <a:srgbClr val="9E65E8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6958584" y="2267712"/>
            <a:ext cx="676800" cy="960000"/>
          </a:xfrm>
          <a:prstGeom prst="roundRect">
            <a:avLst>
              <a:gd fmla="val 10811" name="adj"/>
            </a:avLst>
          </a:prstGeom>
          <a:solidFill>
            <a:srgbClr val="FFFFFF">
              <a:alpha val="80000"/>
            </a:srgbClr>
          </a:solidFill>
          <a:ln cap="flat" cmpd="sng" w="12700">
            <a:solidFill>
              <a:srgbClr val="AFC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7013448" y="2350008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BiFormer</a:t>
            </a:r>
            <a:endParaRPr b="0" i="0" sz="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7050024" y="2596896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7168896" y="2596896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7287768" y="2596896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7406640" y="2596896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7050024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7168896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7287768" y="2724912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7406640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7050024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7168896" y="2852928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7287768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7406640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7754112" y="2331720"/>
            <a:ext cx="274200" cy="137100"/>
          </a:xfrm>
          <a:prstGeom prst="rect">
            <a:avLst/>
          </a:prstGeom>
          <a:solidFill>
            <a:srgbClr val="6BA7F7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7754112" y="2770632"/>
            <a:ext cx="274200" cy="137100"/>
          </a:xfrm>
          <a:prstGeom prst="rect">
            <a:avLst/>
          </a:prstGeom>
          <a:solidFill>
            <a:srgbClr val="57D58F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7754112" y="3209544"/>
            <a:ext cx="274200" cy="137100"/>
          </a:xfrm>
          <a:prstGeom prst="rect">
            <a:avLst/>
          </a:prstGeom>
          <a:solidFill>
            <a:srgbClr val="9E65E8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6300216" y="3675888"/>
            <a:ext cx="171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25"/>
              <a:buFont typeface="Inter"/>
              <a:buNone/>
            </a:pPr>
            <a:r>
              <a:rPr b="0" i="0" lang="en-US" sz="1025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Multi-scale Feature Fusion</a:t>
            </a:r>
            <a:endParaRPr b="0" i="0" sz="1025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25"/>
              <a:buFont typeface="Inter"/>
              <a:buNone/>
            </a:pPr>
            <a:r>
              <a:rPr b="0" i="0" lang="en-US" sz="1025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with Sparse Routing Attention</a:t>
            </a:r>
            <a:endParaRPr b="0" i="0" sz="1025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8243366" y="1728184"/>
            <a:ext cx="1463100" cy="2441400"/>
          </a:xfrm>
          <a:prstGeom prst="roundRect">
            <a:avLst>
              <a:gd fmla="val 6250" name="adj"/>
            </a:avLst>
          </a:prstGeom>
          <a:solidFill>
            <a:srgbClr val="FFFDF8"/>
          </a:solidFill>
          <a:ln cap="flat" cmpd="sng" w="13950">
            <a:solidFill>
              <a:srgbClr val="F3B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8357616" y="180136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B26A00"/>
                </a:solidFill>
                <a:latin typeface="Inter"/>
                <a:ea typeface="Inter"/>
                <a:cs typeface="Inter"/>
                <a:sym typeface="Inter"/>
              </a:rPr>
              <a:t>Decoupled Head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348577" y="2469020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FFE8DF"/>
          </a:solidFill>
          <a:ln cap="flat" cmpd="sng" w="12700">
            <a:solidFill>
              <a:srgbClr val="D56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8339387" y="2484936"/>
            <a:ext cx="80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Classification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8348577" y="2871188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E7F2FF"/>
          </a:solidFill>
          <a:ln cap="flat" cmpd="sng" w="12700">
            <a:solidFill>
              <a:srgbClr val="4F8B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8362225" y="2916950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Bounding Box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8348589" y="3301082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F2EAFE"/>
          </a:solidFill>
          <a:ln cap="flat" cmpd="sng" w="12700">
            <a:solidFill>
              <a:srgbClr val="8B6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8389678" y="3287271"/>
            <a:ext cx="69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Objectness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10145586" y="1659746"/>
            <a:ext cx="1591200" cy="2441400"/>
          </a:xfrm>
          <a:prstGeom prst="roundRect">
            <a:avLst>
              <a:gd fmla="val 5747" name="adj"/>
            </a:avLst>
          </a:prstGeom>
          <a:solidFill>
            <a:srgbClr val="FCF9FF"/>
          </a:solidFill>
          <a:ln cap="flat" cmpd="sng" w="13950">
            <a:solidFill>
              <a:srgbClr val="B88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10003536" y="1801368"/>
            <a:ext cx="159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39E9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8C39E9"/>
                </a:solidFill>
                <a:latin typeface="Inter"/>
                <a:ea typeface="Inter"/>
                <a:cs typeface="Inter"/>
                <a:sym typeface="Inter"/>
              </a:rPr>
              <a:t>Helmet Detection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2359152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4114800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6044184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8023862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9944608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457200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612648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685800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280160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CoordConv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1280160" y="5257800"/>
            <a:ext cx="162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4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Adds spatial coordinates</a:t>
            </a:r>
            <a:endParaRPr b="0" i="0" sz="14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3319272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474720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3547872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4142232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RepConv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4142225" y="5166300"/>
            <a:ext cx="1710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Train multi-branch, deploy</a:t>
            </a:r>
            <a:r>
              <a:rPr lang="en-US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single-path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181344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6336792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6409944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004304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BiFormer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004275" y="5143500"/>
            <a:ext cx="17922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Sparse routing for small</a:t>
            </a:r>
            <a:r>
              <a:rPr lang="en-US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targets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9043416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9198864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9272016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9866376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Focal EIoU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9866376" y="5257800"/>
            <a:ext cx="162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4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box regression</a:t>
            </a:r>
            <a:endParaRPr b="0" i="0" sz="14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25" y="2177134"/>
            <a:ext cx="1554600" cy="154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0850" y="2154108"/>
            <a:ext cx="1463100" cy="145265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/>
          <p:nvPr/>
        </p:nvSpPr>
        <p:spPr>
          <a:xfrm>
            <a:off x="10981950" y="2569575"/>
            <a:ext cx="82500" cy="1371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6500">
            <a:solidFill>
              <a:srgbClr val="00E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9363675" y="2723213"/>
            <a:ext cx="567000" cy="670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lang="en-US" sz="900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Focal EIoU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26"/>
          <p:cNvCxnSpPr/>
          <p:nvPr/>
        </p:nvCxnSpPr>
        <p:spPr>
          <a:xfrm>
            <a:off x="9139588" y="3051850"/>
            <a:ext cx="224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Engineering: Multi-Domain Harmonization &amp; Anomaly Cleaning</a:t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731520" y="1234440"/>
            <a:ext cx="5120700" cy="44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960120" y="1436850"/>
            <a:ext cx="46635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PRIMARY IN-DOMAIN DATASET (VOC2028 / SHWD)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7,581 Real Construction Images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Rigorous 80/20 Partitioning: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6,064 TrainVal images / 1,517 independent Test images (Zero Data Leakage).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Noise &amp; Anomaly Cleaning: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Detected and purged 3 corrupted XML annotations labeled as "dog".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Extreme Label Imbalance: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1:12 class ratio (9,044 helmet labels vs. 111,514 person body labels).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Multi-Scale Standardization: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960×960 native training resolution with 640×640 / 1024×1024 multi-scale scaling.</a:t>
            </a:r>
            <a:endParaRPr sz="1800"/>
          </a:p>
        </p:txBody>
      </p:sp>
      <p:sp>
        <p:nvSpPr>
          <p:cNvPr id="365" name="Google Shape;365;p27"/>
          <p:cNvSpPr/>
          <p:nvPr/>
        </p:nvSpPr>
        <p:spPr>
          <a:xfrm>
            <a:off x="6126480" y="123444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6355080" y="1508750"/>
            <a:ext cx="48462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5 CROSS-DOMAIN BENCHMARKS (&gt;25,000 IMAGES)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Zero-Shot Generalization Test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GDUT-HWD (13,499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Ultra-dense worker crowding (15–30 persons per camera frame).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SHEL5K (5,000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High-angle CCTV surveillance perspective with complex multi-scale occlusions.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Hard Hat Workers (7,000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Outdoor surveillance under extreme natural lighting and shadows.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SHD &amp; SFCHD Benchmark: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Heavy industry metallurgical plants, oil refineries, and shipyards.</a:t>
            </a:r>
            <a:endParaRPr sz="1800"/>
          </a:p>
        </p:txBody>
      </p:sp>
      <p:sp>
        <p:nvSpPr>
          <p:cNvPr id="367" name="Google Shape;367;p27"/>
          <p:cNvSpPr/>
          <p:nvPr/>
        </p:nvSpPr>
        <p:spPr>
          <a:xfrm>
            <a:off x="731520" y="5806440"/>
            <a:ext cx="10698480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914400" y="587044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 UNIFIED LABEL TAXONOMY C* = {0: "hat" (Safety Helmet), 1: "person" (Worker Body)} — Fully synchronized across 33,000+ images!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3 · FEASIBILITY &amp; PROJECT SCOPE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14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Feasibility &amp; Scope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32650" y="1220300"/>
            <a:ext cx="5456700" cy="4517400"/>
          </a:xfrm>
          <a:prstGeom prst="roundRect">
            <a:avLst>
              <a:gd fmla="val 247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6172200" y="1234200"/>
            <a:ext cx="5801700" cy="4517400"/>
          </a:xfrm>
          <a:prstGeom prst="roundRect">
            <a:avLst>
              <a:gd fmla="val 247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960120" y="162763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Reuse Existing Foundations</a:t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6446520" y="162763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Our Work &amp; Scope</a:t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1828800" y="22128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YOLO-based framework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1828800" y="248716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Build on the proven YOLO11s detection pipeline.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1828800" y="31272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PyTorch and OpenCV tools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1828800" y="3401576"/>
            <a:ext cx="40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Leverage mature libraries for training and inference.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1828800" y="40416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TensorRT / ONNX / OpenVINO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1828800" y="4315974"/>
            <a:ext cx="4114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established toolchains for optimized deployment.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1828800" y="49560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RTSP surveillance pipeline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1828800" y="523036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 with standard IP camera streams.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7315200" y="22128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Integrate CoordConv, RepConv, BiFormer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7315200" y="2487176"/>
            <a:ext cx="4114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Combine spatial encoding, re-parameterization and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attention modules in YOLO11s.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315200" y="31272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Apply Focal EIoU loss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7315200" y="3401576"/>
            <a:ext cx="4015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Focal EIoU to improve small target localization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reduce false alarms.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7315200" y="40416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Conduct ablation and benchmarking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7315200" y="4315977"/>
            <a:ext cx="4015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 each component with systematic experiments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standard benchmarks.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7315200" y="49560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Build real-time prototype system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7315200" y="5230375"/>
            <a:ext cx="525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5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Implement and deploy an optimized model on edge hardware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5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with live video inference.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7" name="Google Shape;3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20" y="2177179"/>
            <a:ext cx="731400" cy="3454459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  <p:pic>
        <p:nvPicPr>
          <p:cNvPr id="398" name="Google Shape;3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925" y="2093375"/>
            <a:ext cx="731400" cy="362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4 · VALUE &amp; CONTRIBUTION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16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Research Value &amp; Practical Contribution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54864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84124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Academic Value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84124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29"/>
          <p:cNvSpPr/>
          <p:nvPr/>
        </p:nvSpPr>
        <p:spPr>
          <a:xfrm>
            <a:off x="896112" y="3511296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106070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the accuracy–latency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trade-off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896112" y="4187952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106070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Evaluates cross-domain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robustness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896112" y="4864608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9"/>
          <p:cNvSpPr/>
          <p:nvPr/>
        </p:nvSpPr>
        <p:spPr>
          <a:xfrm>
            <a:off x="106070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Provides structured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experimental evidence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425196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454456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 Value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8" name="Google Shape;418;p29"/>
          <p:cNvCxnSpPr/>
          <p:nvPr/>
        </p:nvCxnSpPr>
        <p:spPr>
          <a:xfrm>
            <a:off x="454456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29"/>
          <p:cNvSpPr/>
          <p:nvPr/>
        </p:nvSpPr>
        <p:spPr>
          <a:xfrm>
            <a:off x="4599432" y="3511296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476402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Supports construction safety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monitoring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4599432" y="4187952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476402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Reduces manual supervision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burden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4599432" y="4864608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476402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Runs on affordable hardware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795528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824788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Novelty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7" name="Google Shape;427;p29"/>
          <p:cNvCxnSpPr/>
          <p:nvPr/>
        </p:nvCxnSpPr>
        <p:spPr>
          <a:xfrm>
            <a:off x="824788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9"/>
          <p:cNvSpPr/>
          <p:nvPr/>
        </p:nvSpPr>
        <p:spPr>
          <a:xfrm>
            <a:off x="8302752" y="3511296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>
            <a:off x="846734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Integrates multiple targeted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8302752" y="4187952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846734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Focuses on real-time edge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deployment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8302752" y="4864608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846734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Bridges research and working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548640" y="5833872"/>
            <a:ext cx="10927200" cy="7131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1645920" y="6099048"/>
            <a:ext cx="9052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An edge-ready helmet detection framework connecting academic research with practical deployment.</a:t>
            </a:r>
            <a:endParaRPr b="0" i="0" sz="12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6" name="Google Shape;4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600" y="1613825"/>
            <a:ext cx="777300" cy="75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9099" y="1623098"/>
            <a:ext cx="818180" cy="7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7899" y="1597475"/>
            <a:ext cx="818175" cy="828543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EMPIRICAL VERIFICATION &amp; SCIENTIFIC EVIDENCE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Ablation Study (A0–A6): Rigorous Component Verification</a:t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174358" y="1234440"/>
            <a:ext cx="4389000" cy="493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452875" y="1408975"/>
            <a:ext cx="39276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STEP-BY-STEP MODULE CONTRIBUTIONS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A0 (Baseline YOLO11s):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94.74% mAP50 · 6.52 ms latency.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A1 (+ P2 Small Head):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94.81% mAP50 · Latency surged to 8.94 ms (+37%) -&gt; Pruned as suboptimal.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A2 (+ CoordConv):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94.78% mAP50 · Spatial awareness without latency overhead.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A3 (+ RepConv):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94.81% mAP50 · Rich gradient representation in training.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A4 (+ Focal EIoU):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94.88% mAP50 · Precise bounding box regression for tiny objects.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A5 (+ BiFormer):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94.80% mAP50 · Peak helmet Recall reaching 91.15%.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A6 (Full Fusion):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94.83% mAP50 · Latency plummets to a record 2.92 ms!</a:t>
            </a:r>
            <a:endParaRPr sz="1800"/>
          </a:p>
        </p:txBody>
      </p:sp>
      <p:sp>
        <p:nvSpPr>
          <p:cNvPr id="449" name="Google Shape;449;p30"/>
          <p:cNvSpPr txBox="1"/>
          <p:nvPr/>
        </p:nvSpPr>
        <p:spPr>
          <a:xfrm>
            <a:off x="5440680" y="5623560"/>
            <a:ext cx="585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200" y="1192975"/>
            <a:ext cx="6894776" cy="44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SOTA BENCHMARKING &amp; PARETO DOMINANCE</a:t>
            </a:r>
            <a:endParaRPr/>
          </a:p>
        </p:txBody>
      </p:sp>
      <p:sp>
        <p:nvSpPr>
          <p:cNvPr id="457" name="Google Shape;457;p31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State-of-the-Art Benchmarking: Pareto Frontier Dominance</a:t>
            </a:r>
            <a:endParaRPr/>
          </a:p>
        </p:txBody>
      </p:sp>
      <p:sp>
        <p:nvSpPr>
          <p:cNvPr id="459" name="Google Shape;459;p31"/>
          <p:cNvSpPr/>
          <p:nvPr/>
        </p:nvSpPr>
        <p:spPr>
          <a:xfrm>
            <a:off x="731520" y="1234440"/>
            <a:ext cx="438912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982450" y="1508750"/>
            <a:ext cx="40233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COMPETITIVE EDGE OF REP-YOLO11s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2.23x Faster than Baseline: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2.92 ms vs 6.52 ms on Tesla T4 (342.5 FPS throughput).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4.25x Faster than YOLO-CBF: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YOLO-CBF takes 12.4 ms (80.6 FPS); our model takes only 2.92 ms.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2x Faster than EC-YOLOv8: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EC-YOLOv8 reaches 172.4 FPS; our model achieves 342.5 FPS.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5-Fold Stratified Peak: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96.64% ± 0.32% mAP50, peak fold reaching 97.11% mAP50 and F1: 0.9396.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Top-Left Pareto Dominance: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Ideal benchmark quadrant: Highest detection accuracy at lowest forward latency.</a:t>
            </a:r>
            <a:endParaRPr sz="1800"/>
          </a:p>
        </p:txBody>
      </p:sp>
      <p:sp>
        <p:nvSpPr>
          <p:cNvPr id="461" name="Google Shape;461;p31"/>
          <p:cNvSpPr/>
          <p:nvPr/>
        </p:nvSpPr>
        <p:spPr>
          <a:xfrm>
            <a:off x="5303520" y="1234440"/>
            <a:ext cx="612648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5_efficiency_frontier_latency_vs_map.png" id="462" name="Google Shape;4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5" y="1192863"/>
            <a:ext cx="6126476" cy="430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1"/>
          <p:cNvSpPr txBox="1"/>
          <p:nvPr/>
        </p:nvSpPr>
        <p:spPr>
          <a:xfrm>
            <a:off x="5440680" y="562356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5: Pareto Efficiency Frontier (Latency vs. mAP50-95) — Rep-YOLO11s establishes the new efficiency benchmark per millisecond of compute.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MODEL TRANSPARENCY &amp; EXPLAINABLE AI</a:t>
            </a:r>
            <a:endParaRPr/>
          </a:p>
        </p:txBody>
      </p:sp>
      <p:sp>
        <p:nvSpPr>
          <p:cNvPr id="470" name="Google Shape;470;p32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Visual Explainability (Grad-CAM XAI): Saliency &amp; Noise Suppression</a:t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731520" y="1234440"/>
            <a:ext cx="402336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1004250" y="1508750"/>
            <a:ext cx="3657600" cy="2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 HARD INDUSTRIAL SCENARIOS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1: REFLECTIVE ORANGE VEST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disperses gradient across torso and scaffolding; Rep-YOLO11s focuses exclusively on helmet dome (conf 0.84).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2: SEVERE SPECULAR GLARE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Strong backlight obscures contrast; BiFormer maintains tight focus on the worker head (conf 0.89).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3: YELLOW WARNING SIGN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misclassifies yellow caution sign as helmet; CoordConv coordinates correctly suppress false alarm on the floor!</a:t>
            </a:r>
            <a:endParaRPr sz="1800"/>
          </a:p>
        </p:txBody>
      </p:sp>
      <p:sp>
        <p:nvSpPr>
          <p:cNvPr id="474" name="Google Shape;474;p32"/>
          <p:cNvSpPr/>
          <p:nvPr/>
        </p:nvSpPr>
        <p:spPr>
          <a:xfrm>
            <a:off x="4937760" y="1234440"/>
            <a:ext cx="649224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3_gradcam_xai_saliency_comparison.png" id="475" name="Google Shape;4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50" y="1069850"/>
            <a:ext cx="6492250" cy="444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 txBox="1"/>
          <p:nvPr/>
        </p:nvSpPr>
        <p:spPr>
          <a:xfrm>
            <a:off x="5265420" y="5599760"/>
            <a:ext cx="621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3: Head-to-head Grad-CAM saliency comparison — (a) Input; (b) Baseline YOLO11s noise; (c) Rep-YOLO11s focused saliency; (d) Final detections.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CROSS-DOMAIN GENERALIZATION &amp; TAXONOMY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Cross-Domain Generalization &amp; IoU Collapse Autopsy</a:t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731520" y="123444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3"/>
          <p:cNvSpPr txBox="1"/>
          <p:nvPr/>
        </p:nvSpPr>
        <p:spPr>
          <a:xfrm>
            <a:off x="868680" y="1353312"/>
            <a:ext cx="320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HARD HAT WORKERS (7,000 IMAGES)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97.03%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Harmonized PPE Protocol (Hat-Only)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Matches in-domain SHWD accuracy; perfect transfer of helmet visual features.</a:t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7909570" y="1243578"/>
            <a:ext cx="347460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 txBox="1"/>
          <p:nvPr/>
        </p:nvSpPr>
        <p:spPr>
          <a:xfrm>
            <a:off x="8183905" y="1357900"/>
            <a:ext cx="3200400" cy="1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GDUT-HWD (13,499 IMAGES)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74.27%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Precision: 90.26% (15-30 workers/frame)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Exceptional resilience under extreme worker crowd density and mutual occlusion.</a:t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731520" y="3703320"/>
            <a:ext cx="1069848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960120" y="3844385"/>
            <a:ext cx="10241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MATHEMATICAL AUTOPSY: THE CROSS-DOMAIN IOU COLLAPSE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Academic Label Taxonomy Conflict: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source SHWD dataset annotates "person" as FULL-BODY, while Hard Hat Workers annotates "person" as HEAD-ONLY.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Mathematical Degradation: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When the detector accurately identifies a full worker body, ground-truth is only the tiny head. Intersection IoU = Area(head) / Area(body) ≈ 0.07 – 0.14 &lt;&lt; 0.50! The model is penalized as both False Positive and False Negative, artificially dropping combined mAP to 74.40%.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• Empirical Exoneration: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Evaluating under the Harmonized PPE Protocol (Hat-Only), mAP instantly surges to 97.03%, proving the learned visual representations are pristine!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REAL-WORLD DEPLOYMENT ON BUDGET HARDWARE</a:t>
            </a:r>
            <a:endParaRPr/>
          </a:p>
        </p:txBody>
      </p:sp>
      <p:sp>
        <p:nvSpPr>
          <p:cNvPr id="497" name="Google Shape;497;p34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/>
          </a:p>
        </p:txBody>
      </p:sp>
      <p:sp>
        <p:nvSpPr>
          <p:cNvPr id="498" name="Google Shape;498;p3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Edge Hardware Realization: Real-Time on 2GB MX230 Laptop GPU</a:t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7315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8686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SERVER / CLUSTER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NVIDIA Tesla T4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2.92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342.5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Handles 12 RTSP camera streams concurrently.</a:t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43891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45262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MID-RANGE LAPTOP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RTX 3050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5.35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187.1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Portable edge surveillance workstation.</a:t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80467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228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81838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BUDGET OFFICE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GeForce MX230 (2GB VRAM)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36.0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27.8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Native PyTorch FP32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EXCEEDS 24 FPS CINEMATIC REAL-TIME!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731520" y="3931920"/>
            <a:ext cx="1069848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960120" y="4069080"/>
            <a:ext cx="10241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ECONOMIC &amp; PRACTICAL VALUE OF GEFORCE MX230 (2GB VRAM) VERIFICATION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Breaking the Hardware Barrier: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NVIDIA GeForce MX230 is an entry-level Pascal-generation mobile GPU (2019) lacking Tensor Cores and constrained by a 2GB VRAM ceiling. Most modern deep learning models crash with CUDA Out-Of-Memory (OOM) or choke at &lt;10 FPS on this tier.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• 100% Commercial Feasibility: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Rep-YOLO11s sustains 27.8 FPS with only 485 MB VRAM usage. Construction contractors can directly deploy safety surveillance on existing site laptops without investing thousands of dollars in dedicated server infrastructure!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5" title="1818b700-829a-42bf-8740-3cb032bedb90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1 · PROBLEM STATEMENT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11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25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Problem Statement &amp; Practical Motivation</a:t>
            </a:r>
            <a:endParaRPr b="0" i="0" sz="25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731520" y="1325880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B8B8B8">
                <a:alpha val="2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>
            <a:off x="914400" y="1490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645160000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987552" y="1563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755648" y="148132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Tiny Distant Helmets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1755648" y="1792224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Small targets under high-angle CCTV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731520" y="2578608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1265600768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6"/>
          <p:cNvSpPr/>
          <p:nvPr/>
        </p:nvSpPr>
        <p:spPr>
          <a:xfrm>
            <a:off x="914400" y="274320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-1362131984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>
            <a:off x="987552" y="281635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1755648" y="2734056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Class Imbalance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755648" y="3044952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Helmet instances are far fewer than person instances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731520" y="3831336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914400" y="3995928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6"/>
          <p:cNvSpPr/>
          <p:nvPr/>
        </p:nvSpPr>
        <p:spPr>
          <a:xfrm>
            <a:off x="987552" y="4069080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36"/>
          <p:cNvSpPr/>
          <p:nvPr/>
        </p:nvSpPr>
        <p:spPr>
          <a:xfrm>
            <a:off x="1755648" y="398678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False Alarms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1755648" y="4297680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Yellow objects can be mistaken for helmets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731520" y="5084064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914400" y="5248656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987552" y="532180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1755648" y="523951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Edge Deployment Constraint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1755648" y="5550408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Must run in real time on affordable hardware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6053328" y="1325880"/>
            <a:ext cx="5394900" cy="4983600"/>
          </a:xfrm>
          <a:prstGeom prst="roundRect">
            <a:avLst>
              <a:gd fmla="val 2202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6766560" y="583387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F9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F7F95"/>
                </a:solidFill>
                <a:latin typeface="Inter"/>
                <a:ea typeface="Inter"/>
                <a:cs typeface="Inter"/>
                <a:sym typeface="Inter"/>
              </a:rPr>
              <a:t>Construction surveillance scene with distant small helmet target.</a:t>
            </a:r>
            <a:endParaRPr b="0" i="0" sz="8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2" name="Google Shape;5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150" y="1563625"/>
            <a:ext cx="4923270" cy="3992126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2 · PROPOSED SOLUTION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12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Proposed Solution &amp; Final Deliverables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731520" y="1353312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7"/>
          <p:cNvSpPr/>
          <p:nvPr/>
        </p:nvSpPr>
        <p:spPr>
          <a:xfrm>
            <a:off x="950976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7"/>
          <p:cNvSpPr/>
          <p:nvPr/>
        </p:nvSpPr>
        <p:spPr>
          <a:xfrm>
            <a:off x="1024128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1856232" y="1527048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SCIENTIFIC REPORT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7"/>
          <p:cNvSpPr/>
          <p:nvPr/>
        </p:nvSpPr>
        <p:spPr>
          <a:xfrm>
            <a:off x="1856232" y="1810512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Paper and technical documentation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731520" y="2615184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950976" y="2779776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7"/>
          <p:cNvSpPr/>
          <p:nvPr/>
        </p:nvSpPr>
        <p:spPr>
          <a:xfrm>
            <a:off x="1024128" y="285292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1856232" y="2788920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IMPROVED DETECTION MODEL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1856232" y="3072384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Rep-YOLO11s for helmet detection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731520" y="3877056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7"/>
          <p:cNvSpPr/>
          <p:nvPr/>
        </p:nvSpPr>
        <p:spPr>
          <a:xfrm>
            <a:off x="950976" y="4041648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"/>
          <p:cNvSpPr/>
          <p:nvPr/>
        </p:nvSpPr>
        <p:spPr>
          <a:xfrm>
            <a:off x="1024128" y="4114800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1856232" y="4050792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SOFTWARE PROTOTYPE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1856232" y="4334256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RTSP surveillance demo system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731520" y="5138928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7"/>
          <p:cNvSpPr/>
          <p:nvPr/>
        </p:nvSpPr>
        <p:spPr>
          <a:xfrm>
            <a:off x="950976" y="53035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7"/>
          <p:cNvSpPr/>
          <p:nvPr/>
        </p:nvSpPr>
        <p:spPr>
          <a:xfrm>
            <a:off x="1024128" y="53766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1856232" y="5312664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DEPLOYMENT PACKAGE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1856232" y="5596128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TensorRT, ONNX and OpenVINO engines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8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3 · METHOD, REUSE &amp; DATA SCOPE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17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25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Method Scope &amp; Implementation Strategy</a:t>
            </a:r>
            <a:endParaRPr b="0" i="0" sz="25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38"/>
          <p:cNvSpPr/>
          <p:nvPr/>
        </p:nvSpPr>
        <p:spPr>
          <a:xfrm>
            <a:off x="731520" y="1353312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8"/>
          <p:cNvSpPr/>
          <p:nvPr/>
        </p:nvSpPr>
        <p:spPr>
          <a:xfrm>
            <a:off x="950976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8"/>
          <p:cNvSpPr/>
          <p:nvPr/>
        </p:nvSpPr>
        <p:spPr>
          <a:xfrm>
            <a:off x="1024128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1719072" y="15636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Approach &amp; Methods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1691640" y="218541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1856232" y="210312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Object detection approach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1691640" y="250545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8"/>
          <p:cNvSpPr/>
          <p:nvPr/>
        </p:nvSpPr>
        <p:spPr>
          <a:xfrm>
            <a:off x="1856232" y="242316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Baseline: YOLO11s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1691640" y="282549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1856225" y="2664238"/>
            <a:ext cx="38130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5 techniques studied: YOLO11s + 4 enhancement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38"/>
          <p:cNvSpPr/>
          <p:nvPr/>
        </p:nvSpPr>
        <p:spPr>
          <a:xfrm>
            <a:off x="6144768" y="1353312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8"/>
          <p:cNvSpPr/>
          <p:nvPr/>
        </p:nvSpPr>
        <p:spPr>
          <a:xfrm>
            <a:off x="6364224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8"/>
          <p:cNvSpPr/>
          <p:nvPr/>
        </p:nvSpPr>
        <p:spPr>
          <a:xfrm>
            <a:off x="6437376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7132320" y="15636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Reuse vs. Build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3" name="Google Shape;593;p38"/>
          <p:cNvSpPr/>
          <p:nvPr/>
        </p:nvSpPr>
        <p:spPr>
          <a:xfrm>
            <a:off x="7104888" y="218541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8"/>
          <p:cNvSpPr/>
          <p:nvPr/>
        </p:nvSpPr>
        <p:spPr>
          <a:xfrm>
            <a:off x="7269480" y="210312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Reuse PyTorch, OpenCV and YOLO framework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7104888" y="250545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7269480" y="242316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Custom training, evaluation and RTSP pipeline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7104888" y="282549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8"/>
          <p:cNvSpPr/>
          <p:nvPr/>
        </p:nvSpPr>
        <p:spPr>
          <a:xfrm>
            <a:off x="7269475" y="2743200"/>
            <a:ext cx="5170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Optimized deployment with TensorRT / ONNX /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OpenVINO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731520" y="3767328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950976" y="39319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8"/>
          <p:cNvSpPr/>
          <p:nvPr/>
        </p:nvSpPr>
        <p:spPr>
          <a:xfrm>
            <a:off x="1024128" y="40050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1719072" y="397764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Model Improvements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1691640" y="459943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1856232" y="451713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4 targeted enhancements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1691640" y="491947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1856232" y="483717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CoordConv, RepConv, BiFormer, Focal EIoU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1691640" y="523951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8"/>
          <p:cNvSpPr/>
          <p:nvPr/>
        </p:nvSpPr>
        <p:spPr>
          <a:xfrm>
            <a:off x="1856232" y="515721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Integrated into one Rep-YOLO11s pipeline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6144768" y="3767328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8"/>
          <p:cNvSpPr/>
          <p:nvPr/>
        </p:nvSpPr>
        <p:spPr>
          <a:xfrm>
            <a:off x="6364224" y="39319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8"/>
          <p:cNvSpPr/>
          <p:nvPr/>
        </p:nvSpPr>
        <p:spPr>
          <a:xfrm>
            <a:off x="6437376" y="40050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7132320" y="397764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Dataset Strategy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7104888" y="459943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7269480" y="451713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existing construction datasets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7104888" y="491947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8"/>
          <p:cNvSpPr/>
          <p:nvPr/>
        </p:nvSpPr>
        <p:spPr>
          <a:xfrm>
            <a:off x="7269480" y="483717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Harmonize labels and clean anomalies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7104888" y="523951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8"/>
          <p:cNvSpPr/>
          <p:nvPr/>
        </p:nvSpPr>
        <p:spPr>
          <a:xfrm>
            <a:off x="7269480" y="515721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Build a unified benchmark for evaluation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731520" y="5980176"/>
            <a:ext cx="10350900" cy="676800"/>
          </a:xfrm>
          <a:prstGeom prst="roundRect">
            <a:avLst>
              <a:gd fmla="val 16216" name="adj"/>
            </a:avLst>
          </a:prstGeom>
          <a:solidFill>
            <a:srgbClr val="F0F6FD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1783080" y="6199632"/>
            <a:ext cx="87324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C7D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244C7D"/>
                </a:solidFill>
                <a:latin typeface="Inter"/>
                <a:ea typeface="Inter"/>
                <a:cs typeface="Inter"/>
                <a:sym typeface="Inter"/>
              </a:rPr>
              <a:t>The project builds on mature frameworks while contributing targeted model integration, evaluation and deployment.</a:t>
            </a:r>
            <a:endParaRPr b="0" i="0" sz="11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697345" y="36095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4 · PRACTICALITY, VALUE &amp; NOVELTY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10682593" y="35181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18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697345" y="69014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Practicality, Value &amp; Novelty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679032" y="149476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9"/>
          <p:cNvSpPr/>
          <p:nvPr/>
        </p:nvSpPr>
        <p:spPr>
          <a:xfrm>
            <a:off x="93508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Practicality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999097" y="3369334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/>
          <p:nvPr/>
        </p:nvSpPr>
        <p:spPr>
          <a:xfrm>
            <a:off x="116368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Real-time safety monitoring for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construction sites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Google Shape;633;p39"/>
          <p:cNvSpPr/>
          <p:nvPr/>
        </p:nvSpPr>
        <p:spPr>
          <a:xfrm flipH="1">
            <a:off x="1067795" y="4704351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9"/>
          <p:cNvSpPr/>
          <p:nvPr/>
        </p:nvSpPr>
        <p:spPr>
          <a:xfrm>
            <a:off x="1117689" y="38994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Can support CCTV / RTSP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surveillance workflows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4290937" y="149481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9"/>
          <p:cNvSpPr/>
          <p:nvPr/>
        </p:nvSpPr>
        <p:spPr>
          <a:xfrm>
            <a:off x="454696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Scientific Value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4610977" y="3369334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9"/>
          <p:cNvSpPr/>
          <p:nvPr/>
        </p:nvSpPr>
        <p:spPr>
          <a:xfrm>
            <a:off x="477556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the accuracy–latency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trade-off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4610977" y="4036846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9"/>
          <p:cNvSpPr/>
          <p:nvPr/>
        </p:nvSpPr>
        <p:spPr>
          <a:xfrm>
            <a:off x="4775569" y="395455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Evaluates cross-domain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robustness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4610977" y="4704358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9"/>
          <p:cNvSpPr/>
          <p:nvPr/>
        </p:nvSpPr>
        <p:spPr>
          <a:xfrm>
            <a:off x="4775569" y="46220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Provides structured ablation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benchmark evidence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7902817" y="149481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9"/>
          <p:cNvSpPr/>
          <p:nvPr/>
        </p:nvSpPr>
        <p:spPr>
          <a:xfrm>
            <a:off x="815884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Novelty / Creativity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Google Shape;645;p39"/>
          <p:cNvSpPr/>
          <p:nvPr/>
        </p:nvSpPr>
        <p:spPr>
          <a:xfrm>
            <a:off x="8222857" y="3369334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9"/>
          <p:cNvSpPr/>
          <p:nvPr/>
        </p:nvSpPr>
        <p:spPr>
          <a:xfrm>
            <a:off x="838744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Not a detector built fully from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scratch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39"/>
          <p:cNvSpPr/>
          <p:nvPr/>
        </p:nvSpPr>
        <p:spPr>
          <a:xfrm>
            <a:off x="8222857" y="4036846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9"/>
          <p:cNvSpPr/>
          <p:nvPr/>
        </p:nvSpPr>
        <p:spPr>
          <a:xfrm>
            <a:off x="8387449" y="395455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Novelty comes from targeted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 integration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39"/>
          <p:cNvSpPr/>
          <p:nvPr/>
        </p:nvSpPr>
        <p:spPr>
          <a:xfrm>
            <a:off x="8222857" y="4704358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9"/>
          <p:cNvSpPr/>
          <p:nvPr/>
        </p:nvSpPr>
        <p:spPr>
          <a:xfrm>
            <a:off x="8387449" y="46220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Combines model design,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benchmark cleaning and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prototype deployment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679057" y="5856502"/>
            <a:ext cx="10479000" cy="676800"/>
          </a:xfrm>
          <a:prstGeom prst="roundRect">
            <a:avLst>
              <a:gd fmla="val 16216" name="adj"/>
            </a:avLst>
          </a:prstGeom>
          <a:solidFill>
            <a:srgbClr val="F0F6FD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9"/>
          <p:cNvSpPr/>
          <p:nvPr/>
        </p:nvSpPr>
        <p:spPr>
          <a:xfrm>
            <a:off x="1794625" y="6075958"/>
            <a:ext cx="854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60"/>
              <a:buFont typeface="Inter"/>
              <a:buNone/>
            </a:pPr>
            <a:r>
              <a:rPr b="1" i="0" lang="en-US" sz="11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 practical and meaningful capstone with applied research value and integration-based innovation.</a:t>
            </a:r>
            <a:endParaRPr b="0" i="0" sz="11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3" name="Google Shape;6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100" y="1861175"/>
            <a:ext cx="795525" cy="75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458" y="1874300"/>
            <a:ext cx="731400" cy="73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2849" y="1867774"/>
            <a:ext cx="731400" cy="744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SECTION 4 &amp; SECTION 5 · RELATED WORK &amp; SOTA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SOTA Baseline Benchmarking on Standard SHWD (VOC2028 Format)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344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1005840"/>
                <a:gridCol w="1005840"/>
                <a:gridCol w="1097280"/>
                <a:gridCol w="11887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 (M)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FLOPs (G)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mAP50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mAP50-95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AP50 hat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hat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 hat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YOLOv8n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93.21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92.42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87.16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YOLOv8s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11.24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28.6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94.89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62.21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94.28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90.62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0.9120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YOLOv10n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92.97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87.13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YOLOv10s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94.39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62.19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93.36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89.14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0.9049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YOLO11n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93.19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86.51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0.8964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YOLO11s (Primary 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9.40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21.5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94.74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62.54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94.06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90.35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0.9073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A3412"/>
                          </a:solidFill>
                          <a:latin typeface="Calibri"/>
                        </a:defRPr>
                      </a:pPr>
                      <a:r>
                        <a:t>Rep-YOLO11s (Proposed Capstone)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9.85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22.4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9A3412"/>
                          </a:solidFill>
                          <a:latin typeface="Calibri"/>
                        </a:defRPr>
                      </a:pPr>
                      <a:r>
                        <a:t>94.83 (5-Fold: 96.64)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62.54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94.44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9A3412"/>
                          </a:solidFill>
                          <a:latin typeface="Calibri"/>
                        </a:defRPr>
                      </a:pPr>
                      <a:r>
                        <a:t>91.33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9A3412"/>
                          </a:solidFill>
                          <a:latin typeface="Calibri"/>
                        </a:defRPr>
                      </a:pPr>
                      <a:r>
                        <a:t>0.9190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343400"/>
            <a:ext cx="340522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841248" y="4453128"/>
            <a:ext cx="34747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434840"/>
            <a:ext cx="2783433" cy="1399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Life-Critical Recall Dominance (91.33%)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Achieves 91.33% Recallhat, decisively outperforming YOLO11s (90.35%) and YOLOv8s (90.62%). In safety inspection, missed detections risk fatal injury; our architecture strictly prioritizes worker survivability.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2777" y="4343400"/>
            <a:ext cx="340522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502505" y="4453128"/>
            <a:ext cx="347472" cy="25603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3129" y="4434840"/>
            <a:ext cx="2783433" cy="1399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Optimal Parameter &amp; FLOP Balance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Requires 9.85M params &amp; 22.4 GFLOPs, closely matching stock YOLO11s (9.40M / 21.5G) while being 28% lighter than YOLOv8s (11.24M / 28.6G). Integrates 4 mathematical modules without resource explosion.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4034" y="4343400"/>
            <a:ext cx="3405225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8163762" y="4453128"/>
            <a:ext cx="347472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4386" y="4434840"/>
            <a:ext cx="2783433" cy="1399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5-Fold Cross-Validation Stability (96.64%)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Under rigorous 5-Fold Stratified CV, achieves peak 96.64% mAP50 (+-0.32%). Statistically proves exceptional generalization and eliminates any risk of train/val partitioning bias or data cherry-picking.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Standardized benchmarking across 7,581 SHWD images proves Rep-YOLO11s achieves superior Recallhat (91.33%) and F1hat (0.9190) with minimal hardware footprint.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SECTION 4 &amp; SECTION 5 · RELATED WORK &amp; SOTA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Baseline 1 Deep-Dive: YOLO11s (Ultralytics, Oct 2024 · Latest SOTA Architecture)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Architecture &amp; Empirical Performance on SHWD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Paper &amp; Release Date: Published by Ultralytics (October 2024), representing the latest state-of-the-art generation in real-time object detection.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Feature Network Backbone: Enhanced CSPDarknet backbone featuring C3k2 feature blocks and C2PSA spatial self-attention; multi-scale PANet neck.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- 3-Scale Detection Heads: P3 (stride 8: 80x80), P4 (stride 16: 40x40), P5 (stride 32: 20x20) coupled with anchor-free decoupled classification/regression heads.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Training &amp; Fine-Tuning: Pretrained on COCO and fine-tuned directly on authentic SHWD (7,581 images) under standard 80/20 train/test split.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Empirical Benchmark Results: mAP50 = 94.74% | mAP50-95 = 62.54% | Recallhat = 90.35% | F1hat = 0.9073 (Params: 9.40M | FLOPs: 21.5G).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Core Advantages: Highly parameter-efficient, rapid gradient convergence, and excellent inference throughput on modern GPU accelerators.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3 Core Bottlenecks &amp; Architectural Lessons Learned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Bottleneck 1 (Far-Range Helmet Vanishing): Successive downsampling strides (8/16/32) wash away spatial signals for tiny helmets (&lt;20px) captured by distant CCTV lenses.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Bottleneck 2 (&gt;28% Ground False Alarms): Standard convolution translation invariance confuses yellow construction buckets and floor cones with genuine safety helmets.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Bottleneck 3 (CIoU Aspect Ratio Vanishing): CIoU penalty derivative degenerates to zero when predicted box aspect ratio w/h matches ground-truth ratio w_gt/h_gt.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What We Learned from YOLO11s: Adopted the streamlined C3k2 feature extraction topology and the decoupled head principle separating classification and localization.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What We Inherited &amp; Improved: Retained YOLO11s macro-pipeline while embedding RepConv (multi-branch training -&gt; single-path deploy), CoordConv Stem, BiFormer Neck, and Focal-EIoU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YOLO11s represents the latest architectural SOTA (10/2024); our team inherited its core skeleton but systematically resolved its 3 bottlenecks via 4 mathematical modules.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SECTION 4 &amp; SECTION 5 · RELATED WORK &amp; SOTA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Baseline 2 Deep-Dive: YOLOv8s (Jocher et al., 2023 · Industrial Gold Standard)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Architecture &amp; Industrial Benchmark Status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Paper &amp; Industrial Prominence: Developed by Jocher et al. (2023), YOLOv8 serves as the globally recognized industry standard for commercial edge computer vision.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C2f Feature Extraction Blocks: Cross Stage Partial with 2 Convolutions (C2f) with internal residual split-and-merge connections for enriched gradient flow.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Task-Aligned Assigner (TAL): Dynamically allocates ground-truth labels using a joint metric balancing classification confidence and bounding box IoU alignment.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Empirical Dataset Benchmarking: Evaluated directly on the authentic SHWD benchmark (7,581 images) under identical hardware and evaluation protocols.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Empirical Benchmark Results: mAP50 = 94.89% | mAP50-95 = 62.21% | Recallhat = 90.62% | F1hat = 0.9120 (Params: 11.24M | FLOPs: 28.6G).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Core Strengths: Strong overall detection accuracy, battle-tested open-source codebase, and proven commercial deployment stability worldwide.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617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Hardware Constraints &amp; Architectural Lessons Learned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Constraint 1 (Heavy Computational Cost): Demands 28.6 GFLOPs and 11.24M parameters—28% heavier than Rep-YOLO11s (22.4G / 9.85M)—limiting budget edge hardware viability.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Constraint 2 (DRAM Memory Traffic Bottleneck): Frequent branching and tensor concatenation in C2f dramatically increases DRAM memory access latency and GPU kernel launches.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Constraint 3 (Lack of Spatial Priors): Without vertical coordinate inductive bias, exhibits high false alarm rates (&gt;28%) on ground-level yellow construction equipment.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What We Learned from YOLOv8s: Adopted the Task-Aligned Assigner (TAL) dynamic assignment mechanism and balanced multi-task loss formulation (BCE Cls + DFL).</a:t>
            </a:r>
          </a:p>
          <a:p>
            <a:pPr>
              <a:spcBef>
                <a:spcPts val="400"/>
              </a:spcBef>
              <a:defRPr sz="919">
                <a:solidFill>
                  <a:srgbClr val="334155"/>
                </a:solidFill>
                <a:latin typeface="Calibri"/>
              </a:defRPr>
            </a:pPr>
            <a:r>
              <a:t>- What We Inherited &amp; Improved: Retained TAL's dynamic assignment strength while migrating to the leaner YOLO11s backbone, utilizing RepConv to eliminate branching DRAM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YOLOv8s is the industry's most trusted gold standard; our project inherited TAL dynamic assignment while cutting 28% FLOPs and eliminating DRAM branching overhead.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SECTION 4 &amp; SECTION 5 · RELATED WORK &amp; SOTA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05-06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Head-to-Head Architectural Comparison: Baseline 1 (YOLO11s) vs Baseline 2 (YOLOv8s)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53312"/>
            <a:ext cx="23774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BASELINE 1 - YOLO11s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46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  <a:latin typeface="Calibri"/>
              </a:defRPr>
            </a:pPr>
            <a:r>
              <a:t>Latest Architectural SOTA (Ultralytics, Oct 2024)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Architecture: C3k2 Feature Blocks + C2PSA Attention + Decoupled Head.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Specs: 9.40M Params | 21.5 GFLOPs | mAP50 = 94.74% | Recall = 90.35%.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Key Advantages: Superior parameter efficiency, fast convergence, low latency.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Core Bottlenecks: Vanishing signal for distant small helmets (&lt;20px); Ground false alarms due to translation invariance; CIoU aspect ratio gradient vanishing.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Capstone Contribution: Retains C3k2 macro-topology; upgrades to RepConv, embeds CoordConv Stem, BiFormer Neck, and Focal-EIoU 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53312"/>
            <a:ext cx="2377440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 b="1">
                <a:solidFill>
                  <a:srgbClr val="FFFFFF"/>
                </a:solidFill>
                <a:latin typeface="Calibri"/>
              </a:defRPr>
            </a:pPr>
            <a:r>
              <a:t>BASELINE 2 - YOLOv8s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8463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  <a:latin typeface="Calibri"/>
              </a:defRPr>
            </a:pPr>
            <a:r>
              <a:t>Industrial Benchmark Standard (Jocher et al., 2023)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Architecture: C2f Cross Stage Partial Blocks + Task-Aligned Assigner (TAL).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Specs: 11.24M Params | 28.6 GFLOPs | mAP50 = 94.89% | Recall = 90.62%.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Key Advantages: High mAP50 accuracy, mature ecosystem, battle-tested stability.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Core Bottlenecks: 28.6 GFLOPs is 28% heavier than our model; C2f branching causes DRAM memory bottlenecks; Ground false alarms from missing spatial priors.</a:t>
            </a:r>
          </a:p>
          <a:p>
            <a:pPr>
              <a:spcBef>
                <a:spcPts val="250"/>
              </a:spcBef>
              <a:defRPr sz="880">
                <a:solidFill>
                  <a:srgbClr val="334155"/>
                </a:solidFill>
                <a:latin typeface="Calibri"/>
              </a:defRPr>
            </a:pPr>
            <a:r>
              <a:t>- Capstone Contribution: Inherits TAL dynamic assignment philosophy while migrating to leaner YOLO11s backbone and applying RepConv to eliminate DRAM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81728"/>
            <a:ext cx="10728655" cy="1234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EA580C"/>
                </a:solidFill>
                <a:latin typeface="Calibri"/>
              </a:defRPr>
            </a:pPr>
            <a:r>
              <a:t>SCIENTIFIC JUSTIFICATION: WHY SELECT THESE TWO BASELINES FOR REVIEW 1?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- SOTA Representativeness &amp; Scientific Authority: YOLO11s represents the cutting edge of real-time computer vision architectures (released Oct 2024), while YOLOv8s is the globally recognized industrial gold standard. Benchmarking against both establishes rigorous, unimpeachable credibility before the Defense Committee.</a:t>
            </a:r>
          </a:p>
          <a:p>
            <a:pPr>
              <a:spcBef>
                <a:spcPts val="1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- Empirical Grounding for Our Innovations: Every enhancement in Rep-YOLO11s directly stems from addressing specific, verifiable hardware and mathematical bottlenecks identified in these two models, proving the necessity, novelty, and scientific value of our research.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Parallel benchmarking against the latest SOTA (YOLO11s) and industrial gold standard (YOLOv8s) establishes an unassailable empirical baseline for our capstone.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SECTION 6 · PROPOSED METHOD: REP-YOLO11S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Proposed Rep-YOLO11s Architecture: Integrating 4 Mathematical Innovations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6217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53312"/>
            <a:ext cx="2926080" cy="25603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 b="1">
                <a:solidFill>
                  <a:srgbClr val="FFFFFF"/>
                </a:solidFill>
                <a:latin typeface="Calibri"/>
              </a:defRPr>
            </a:pPr>
            <a:r>
              <a:t>REP-YOLO11s ARCHITECTURAL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58521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960120" y="1746504"/>
            <a:ext cx="109728" cy="43891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143000" y="1728216"/>
            <a:ext cx="557784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50">
                <a:solidFill>
                  <a:srgbClr val="475569"/>
                </a:solidFill>
                <a:latin typeface="Calibri"/>
              </a:defRPr>
            </a:pPr>
            <a:r>
              <a:t>INPUT STREAM [640x640x3]</a:t>
            </a:r>
          </a:p>
          <a:p>
            <a:pPr>
              <a:spcBef>
                <a:spcPts val="100"/>
              </a:spcBef>
              <a:defRPr sz="830">
                <a:solidFill>
                  <a:srgbClr val="64748B"/>
                </a:solidFill>
                <a:latin typeface="Calibri"/>
              </a:defRPr>
            </a:pPr>
            <a:r>
              <a:t>Raw 1080p CCTV Construction Video Stream with Letterbox Preprocessing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86584"/>
            <a:ext cx="5852160" cy="548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960120" y="2441448"/>
            <a:ext cx="109728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143000" y="2423160"/>
            <a:ext cx="557784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50">
                <a:solidFill>
                  <a:srgbClr val="EA580C"/>
                </a:solidFill>
                <a:latin typeface="Calibri"/>
              </a:defRPr>
            </a:pPr>
            <a:r>
              <a:t>INNOVATION 2: COORDCONV STEM</a:t>
            </a:r>
          </a:p>
          <a:p>
            <a:pPr>
              <a:spcBef>
                <a:spcPts val="10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Injects normalized [Cx, Cy] coordinates into Layer 0 (5 -&gt; 64 ch) -&gt; Suppresses floor false alarms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81528"/>
            <a:ext cx="5852160" cy="548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960120" y="3136392"/>
            <a:ext cx="109728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143000" y="3118104"/>
            <a:ext cx="557784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  <a:latin typeface="Calibri"/>
              </a:defRPr>
            </a:pPr>
            <a:r>
              <a:t>INNOVATION 1: REPCONV BACKBONE</a:t>
            </a:r>
          </a:p>
          <a:p>
            <a:pPr>
              <a:spcBef>
                <a:spcPts val="10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Multi-branch training topology -&gt; Algebraic fusion into single 3x3 Conv at deploy (Zero Latency)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76472"/>
            <a:ext cx="5852160" cy="548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960120" y="3831336"/>
            <a:ext cx="109728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143000" y="3813048"/>
            <a:ext cx="557784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50">
                <a:solidFill>
                  <a:srgbClr val="7C3AED"/>
                </a:solidFill>
                <a:latin typeface="Calibri"/>
              </a:defRPr>
            </a:pPr>
            <a:r>
              <a:t>INNOVATION 3: BIFORMER NECK</a:t>
            </a:r>
          </a:p>
          <a:p>
            <a:pPr>
              <a:spcBef>
                <a:spcPts val="10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Bi-level top-k sparse routing attention (Complexity O(HW)) -&gt; Pinpoints tiny distant helmets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71416"/>
            <a:ext cx="5852160" cy="5486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960120" y="4526280"/>
            <a:ext cx="109728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143000" y="4507992"/>
            <a:ext cx="557784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50">
                <a:solidFill>
                  <a:srgbClr val="D97706"/>
                </a:solidFill>
                <a:latin typeface="Calibri"/>
              </a:defRPr>
            </a:pPr>
            <a:r>
              <a:t>INNOVATION 4: FOCAL-EIoU HEAD</a:t>
            </a:r>
          </a:p>
          <a:p>
            <a:pPr>
              <a:spcBef>
                <a:spcPts val="100"/>
              </a:spcBef>
              <a:defRPr sz="830">
                <a:solidFill>
                  <a:srgbClr val="0F172A"/>
                </a:solidFill>
                <a:latin typeface="Calibri"/>
              </a:defRPr>
            </a:pPr>
            <a:r>
              <a:t>Decoupled edge length regression + TAL dynamic assignment -&gt; Eliminates gradient vanishing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66360"/>
            <a:ext cx="585216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5" name="Rounded Rectangle 24"/>
          <p:cNvSpPr/>
          <p:nvPr/>
        </p:nvSpPr>
        <p:spPr>
          <a:xfrm>
            <a:off x="960120" y="5221224"/>
            <a:ext cx="109728" cy="4389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143000" y="5202936"/>
            <a:ext cx="5577840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50">
                <a:solidFill>
                  <a:srgbClr val="16A34A"/>
                </a:solidFill>
                <a:latin typeface="Calibri"/>
              </a:defRPr>
            </a:pPr>
            <a:r>
              <a:t>SYSTEM OUTPUT (PREDICTIONS)</a:t>
            </a:r>
          </a:p>
          <a:p>
            <a:pPr>
              <a:spcBef>
                <a:spcPts val="100"/>
              </a:spcBef>
              <a:defRPr sz="830">
                <a:solidFill>
                  <a:srgbClr val="64748B"/>
                </a:solidFill>
                <a:latin typeface="Calibri"/>
              </a:defRPr>
            </a:pPr>
            <a:r>
              <a:t>High-confidence bounding boxes, Recall &gt;91%, zero floor clutter alarms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1234440"/>
            <a:ext cx="43278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7242048" y="1325880"/>
            <a:ext cx="91440" cy="8961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388352" y="1307592"/>
            <a:ext cx="3980383" cy="932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80">
                <a:solidFill>
                  <a:srgbClr val="2563EB"/>
                </a:solidFill>
                <a:latin typeface="Calibri"/>
              </a:defRPr>
            </a:pPr>
            <a:r>
              <a:t>Innovation 1: Structural Re-parameterization (RepConv)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Calibri"/>
              </a:defRPr>
            </a:pPr>
            <a:r>
              <a:t>Trains with rich multi-branch topology (3x3, 1x1, Identity) -&gt; Algebraically folds into a single 3x3 Conv kernel at inference (`switch_to_deploy`). Yields optimal representation capacity with absolute Zero Latency Overhead.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2414016"/>
            <a:ext cx="43278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1" name="Rounded Rectangle 30"/>
          <p:cNvSpPr/>
          <p:nvPr/>
        </p:nvSpPr>
        <p:spPr>
          <a:xfrm>
            <a:off x="7242048" y="2505456"/>
            <a:ext cx="91440" cy="8961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388352" y="2487168"/>
            <a:ext cx="3980383" cy="932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80">
                <a:solidFill>
                  <a:srgbClr val="EA580C"/>
                </a:solidFill>
                <a:latin typeface="Calibri"/>
              </a:defRPr>
            </a:pPr>
            <a:r>
              <a:t>Innovation 2: Spatial Coordinate Encoding (CoordConv)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Calibri"/>
              </a:defRPr>
            </a:pPr>
            <a:r>
              <a:t>Injects normalized 2D Cartesian spatial coordinates [Cx, Cy] directly into the input stem. Breaks translation invariance, eliminating false alarms on yellow buckets, floor vests, and ground clutter.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3593592"/>
            <a:ext cx="43278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7242048" y="3685032"/>
            <a:ext cx="91440" cy="8961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7388352" y="3666744"/>
            <a:ext cx="3980383" cy="932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80">
                <a:solidFill>
                  <a:srgbClr val="7C3AED"/>
                </a:solidFill>
                <a:latin typeface="Calibri"/>
              </a:defRPr>
            </a:pPr>
            <a:r>
              <a:t>Innovation 3: Bi-Level Routing Attention (BiFormer)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Calibri"/>
              </a:defRPr>
            </a:pPr>
            <a:r>
              <a:t>Two-level routing mechanism filters out 93.75% of irrelevant background regions, focusing compute budget purely on tiny worker head regions with linear O(HW) complexity and zero CUDA OOM risk.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773168"/>
            <a:ext cx="4327855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7" name="Rounded Rectangle 36"/>
          <p:cNvSpPr/>
          <p:nvPr/>
        </p:nvSpPr>
        <p:spPr>
          <a:xfrm>
            <a:off x="7242048" y="4864608"/>
            <a:ext cx="91440" cy="8961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7388352" y="4846320"/>
            <a:ext cx="3980383" cy="932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980">
                <a:solidFill>
                  <a:srgbClr val="D97706"/>
                </a:solidFill>
                <a:latin typeface="Calibri"/>
              </a:defRPr>
            </a:pPr>
            <a:r>
              <a:t>Innovation 4: Decoupled Focal-EIoU Bounding Box Loss</a:t>
            </a:r>
          </a:p>
          <a:p>
            <a:pPr>
              <a:spcBef>
                <a:spcPts val="200"/>
              </a:spcBef>
              <a:defRPr sz="830">
                <a:solidFill>
                  <a:srgbClr val="334155"/>
                </a:solidFill>
                <a:latin typeface="Calibri"/>
              </a:defRPr>
            </a:pPr>
            <a:r>
              <a:t>Independently penalizes width and height discrepancies rather than CIoU aspect ratios, preventing gradient vanishing. Focal weighting (IoU^0.5) optimizes hard boundary localization for distant helmets.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Rep-YOLO11s harmonizes 4 mathematical innovations to resolve 4 critical barriers: Zero-latency inference, floor false alarm suppression, distant target attention, and tight box regression.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4 ·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Rigorous Multi-Metric Evaluation &amp; Life-Critical Recall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Core Accuracy &amp; Localization Metrics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mAP50 (Gold Standard): Evaluates primary detection precision at standard IoU 0.50.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mAP50-95 (Boundary Tightness): Strict average across 10 IoU steps [0.50:0.05:0.95]; heavily penalizes loose or misaligned bounding boxes.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Precision &amp; F1-Score: Measures trade-off between false detections and completeness.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Real-Time Constraint: Enforces strict inference latency suitable for 25+ FPS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35331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Life-Critical Priority: Recall Over Precision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Zero-Tolerance for False Negatives (FN): In safety monitoring, a missed violation allows an unprotected worker into a hazard zone -&gt; fatal risk.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Asymmetric Impact: A False Alarm (FP) causes minor verification overhead; a Missed Violation (FN) leads to irreversible human tragedy.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Target Recallhat &gt; 90%: Architecture specifically refined to maximize helmet recall.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Gradient Countermeasure: Focal BCE and Task-Aligned Assigner prevent helmet loss collapse.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5-Fold Stratified Cross-Validation Protocol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Rigorous Stratification: All 5 folds strictly preserve the exact 1:12.33 class ratio.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Statistical Confidence (μ ± σ): Reports 96.64% ± 0.32% mAP50, proving performance is not a fluke of a lucky test split.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Cross-Fold Stability: Validates consistency across varying illumination and crowd densities.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Ablation Reliability: Ensures all module comparisons are statistically significant.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6400800" y="3749039"/>
            <a:ext cx="38404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Model Transparency: Grad-CAM XAI Audit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Feature Saliency Validation: Grad-CAM heatmaps verify network attention is sharply localized on head-worn helmets.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Suppression of Vest &amp; Floor Clutter: Proves CoordConv successfully damps out ground-level yellow buckets and reflective vests.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Long-Range Attention Routing: Confirms BiFormer routes attention directly to small distant heads (&lt;20px).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Industrial Audit Readiness: Provides visual accountability required by HSE site managers.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Multi-metric evaluation prioritizes Life-Critical Recall while eliminating split bias via 5-Fold Stratified CV and Grad-CAM interpretability.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5 · PROJECT PLAN &amp; GANTT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Project Roadmap: 5 Phases &amp; Milestone Tracking (W1–W15)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4672" y="1325880"/>
            <a:ext cx="189280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 (W1–W5)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Foundation &amp; Review 1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30-paper survey, RQ/Gap, SHWD data cleaning, Baseline setup.</a:t>
            </a:r>
          </a:p>
          <a:p>
            <a:pPr>
              <a:spcBef>
                <a:spcPts val="400"/>
              </a:spcBef>
              <a:defRPr sz="850" b="1">
                <a:solidFill>
                  <a:srgbClr val="EA580C"/>
                </a:solidFill>
                <a:latin typeface="Calibri"/>
              </a:defRPr>
            </a:pPr>
            <a:r>
              <a:t>Target: Review 1 Deck &amp; Cleaned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971800" y="1325880"/>
            <a:ext cx="18928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 (W6–W8)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Core Engineering &amp; Review 2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Module coding (RepConv, CoordConv, BiFormer, EIoU), Ablation A0–A6.</a:t>
            </a:r>
          </a:p>
          <a:p>
            <a:pPr>
              <a:spcBef>
                <a:spcPts val="400"/>
              </a:spcBef>
              <a:defRPr sz="850" b="1">
                <a:solidFill>
                  <a:srgbClr val="2563EB"/>
                </a:solidFill>
                <a:latin typeface="Calibri"/>
              </a:defRPr>
            </a:pPr>
            <a:r>
              <a:t>Target: Review 2 Report &amp;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5138928" y="1325880"/>
            <a:ext cx="189280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 (W9–W11)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Validation &amp; Review 3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5-Fold CV, Cross-domain testing (25k+ imgs), Grad-CAM XAI.</a:t>
            </a:r>
          </a:p>
          <a:p>
            <a:pPr>
              <a:spcBef>
                <a:spcPts val="400"/>
              </a:spcBef>
              <a:defRPr sz="850" b="1">
                <a:solidFill>
                  <a:srgbClr val="D97706"/>
                </a:solidFill>
                <a:latin typeface="Calibri"/>
              </a:defRPr>
            </a:pPr>
            <a:r>
              <a:t>Target: Review 3 Data &amp; Weights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306056" y="1325880"/>
            <a:ext cx="189280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 (W12–W14)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Deployment &amp; Docs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RTSP camera pipeline, Docker packaging, Scientific paper polish.</a:t>
            </a:r>
          </a:p>
          <a:p>
            <a:pPr>
              <a:spcBef>
                <a:spcPts val="400"/>
              </a:spcBef>
              <a:defRPr sz="850" b="1">
                <a:solidFill>
                  <a:srgbClr val="16A34A"/>
                </a:solidFill>
                <a:latin typeface="Calibri"/>
              </a:defRPr>
            </a:pPr>
            <a:r>
              <a:t>Target: RTSP Demo &amp; Paper 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9473184" y="1325880"/>
            <a:ext cx="18928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5 (W15)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Final Defense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Thesis Book submission, final defense presentation rehearsal.</a:t>
            </a:r>
          </a:p>
          <a:p>
            <a:pPr>
              <a:spcBef>
                <a:spcPts val="400"/>
              </a:spcBef>
              <a:defRPr sz="850" b="1">
                <a:solidFill>
                  <a:srgbClr val="7C3AED"/>
                </a:solidFill>
                <a:latin typeface="Calibri"/>
              </a:defRPr>
            </a:pPr>
            <a:r>
              <a:t>Target: Thesis Book &amp; Defense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914400" y="3749039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Agile Sprint Execution &amp; Contingency Buffers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2-Week Sprint Cadence: Rapid iterative cycles with bi-weekly progress synchronization with Academic Advisor.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1-Week Risk Buffer per Phase: Dedicated contingency time for cloud GPU re-training and parameter exploration.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Review Gating Criteria: Strict quality gates and benchmark hurdles before advancing to the next Review.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Transparent Version Control: Daily code, configuration, and model checkpoint commits synchronized to GitHub.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400800" y="3749039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Strategic Team Role Allocation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Nguyễn Hàn Như (Lead · SE183644): Overall network architecture, custom PyTorch modules, and Scientific paper writing.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Nguyễn Văn Thành (SE180387): Data engineering, label harmonization (C*), SHWD cleaning, 5-Fold Stratified CV.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Trần Phạm Tuấn Dũng (SE183674): Real-time RTSP video streaming pipeline, hardware acceleration, and documentation.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High-Efficiency Collaboration: Clear responsibility boundaries with unified shared Git repo and issue tracking.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Structured 15-week Hybrid Agile roadmap strictly aligned with 3 Review milestones and final Capstone Defense.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6 · SCIENTIFIC RESEARCH &amp; PUBLICATION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Scientific Research Manuscript: Publication-Ready Paper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53312"/>
            <a:ext cx="3291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SCIENTIFIC MANUSCRIPT &amp; ACADEMIC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alibri"/>
              </a:defRPr>
            </a:pPr>
            <a:r>
              <a:t>Publication-Ready Master Manuscript (Targeting Peer-Reviewed Venues)</a:t>
            </a:r>
          </a:p>
          <a:p>
            <a:pPr>
              <a:spcBef>
                <a:spcPts val="200"/>
              </a:spcBef>
              <a:defRPr sz="1100" b="1">
                <a:solidFill>
                  <a:srgbClr val="EA580C"/>
                </a:solidFill>
                <a:latin typeface="Calibri"/>
              </a:defRPr>
            </a:pPr>
            <a:r>
              <a:t>Formatted in Standard IEEE Double-Column · Ready for Academic Committee Review &amp; Journal Submission</a:t>
            </a:r>
          </a:p>
          <a:p>
            <a:pPr>
              <a:spcBef>
                <a:spcPts val="300"/>
              </a:spcBef>
              <a:defRPr sz="1050" i="1">
                <a:solidFill>
                  <a:srgbClr val="334155"/>
                </a:solidFill>
                <a:latin typeface="Calibri"/>
              </a:defRPr>
            </a:pPr>
            <a:r>
              <a:t>Title: "Structural Re-Parameterization, Spatial Coordinate Encoding, and Cross-Domain Robustness for Real-Time Safety Helmet Detection in Construction Surveillance"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Manuscript Status: Complete 10-page master technical paper fully drafted in IEEE format, ready for Academic Council evaluation and journal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02152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4 Key Scientific Contributions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1. Novel Architecture: Rep-YOLO11s integrating spatial coordinates, attention routing, and edge-decoupled loss.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2. Closed-Form Mathematical Proof: Rigorous algebraic proof of lossless 3-branch RepConv re-parameterization (error &lt; 10^-5).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3. Explainable Ground Invariance: Empirical Grad-CAM proof that CoordConv eliminates ground-level color false alarms.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4. Multi-Domain Taxonomy Autopsy: Comprehensive benchmark across &gt;33,000 images resolving the IoU Collapse phenomenon.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400800" y="3520440"/>
            <a:ext cx="38404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02152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Publication Roadmap &amp; Scientific Integrity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1–3 (Empirical Evidence): Solidify 5-Fold Stratified CV, multi-dataset zero-shot tests, and Grad-CAM saliency maps.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4 (Writing &amp; Academic Review): Rigorous academic polishing, IEEE LaTeX double-column typesetting, and mentor co-author review.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5 &amp; Defense: Present manuscript to Academic Council; finalize submission to reputable journals/conferences under advisor mentorship.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Reproducibility Standards: Full open-source release with deterministic seed control and complete training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Publication-ready scientific manuscript prepared to international IEEE standards, fully verifiable by the Academic Council and ready for peer-reviewed venues.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7 · RISK ASSESSMENT &amp; MITIGATION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Proactive Risk Analysis &amp; Engineering Mitigation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41248" y="1344168"/>
            <a:ext cx="86868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1. Extreme Class Imbalance (1:12)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111,514 body instances overpower 9,044 helmet instances, causing helmet gradient starvation.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Task-Aligned Assigner (TAL) top-10 anchor alignment + Focal BCE Loss with dynamic alpha-balance to prioritize helmet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4498848" y="1344168"/>
            <a:ext cx="868680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2. Ground False Positives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Yellow buckets, traffic cones, and caution signs on the floor trigger high false alarm rates (&gt;28%).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CoordConv Stem injects vertical coordinate Cy; provides anatomical prior suppressing ground logits (Cy &gt; 0.4) to &lt;0.02.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156448" y="1344168"/>
            <a:ext cx="868680" cy="21945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3. Distant Tiny Helmets (&lt;20px)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Small targets under high-angle CCTV blur and vanish through standard convolutional downsampling.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BiFormer Bi-Level Routing Attention filters out 93.75% of background and preserves small target features with O(HW)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841248" y="3749040"/>
            <a:ext cx="868680" cy="21945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4. CIoU Gradient Vanishing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When aspect ratio w/h matches ground truth, CIoU penalty gradient vanishes, stalling boundary regression.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Focal-EIoU Loss decouples width and height errors independently; guarantees dL/dw != 0 whenever width is not aligned.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498848" y="3749040"/>
            <a:ext cx="86868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5. Video Sequence Data Leakage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Consecutive frames from identical camera scenes appearing in both train and test artificially inflate accuracy.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Video sequence hashing groups continuous frames strictly into the same partition, guaranteeing 100% leak-free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156448" y="3749040"/>
            <a:ext cx="868680" cy="21945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MED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6. GPU Memory &amp; Compute Limits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Training high-resolution multi-module models risks CUDA Out-Of-Memory (OOM) and long training times.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Dual Kaggle Tesla T4 GPUs (32 GB VRAM) using PyTorch DDP; FP16 mixed precision halves memory footprint without accuracy loss.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All 6 core engineering risks are proactively resolved through mathematically sound and empirically verified architectural solutions.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8 · EXPECTED OUTCOMES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Final Deliverables &amp; 8-Point Project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5 Tangible Project Deliverables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1. High-Accuracy AI Weights (.pt)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Rep-YOLO11s trained weights achieving &gt;96% 5-Fold mAP50 with optimized small helmet recall.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2. Standardized Dataset Pipeline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Cleaned SHWD (7,581 images) with zero label corruption, plus unified C* taxonomy across &gt;33,000 industrial images.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3. Open-Source Code Repository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Clean GitHub repository with PyTorch modules, switch_to_deploy() scripts, and multi-GPU DDP training configs.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4. Real-Time RTSP Software Demo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Surveillance desktop application running on live CCTV streams with automated violation alerts and bounding boxes.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5. Scientific Research Manuscript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Publication-ready master paper in IEEE format, ready for Academic Council evaluation and journal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8-Point Project Synthesis (Conclusion)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Problem: Industrial CCTV challenges (tiny targets, 1:12 class imbalance, ground false alarms).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Research Gap: Heavy architectures lack real-time viability; standard models lack spatial height priors.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SOTA Baselines: Directly benchmarked against YOLO11s (latest SOTA) and YOLOv8s (industry standard).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Proposed Method: Rep-YOLO11s integrating RepConv, CoordConv, BiFormer, and Focal-EIoU.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Data Engineering: 7,581 SHWD images with zero leakage + 5 cross-domain benchmarks (&gt;25,000 images).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Evaluation: Life-critical Recall prioritization, 5-Fold Stratified CV, and Grad-CAM explainability.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Feasibility: High-efficiency single-path architecture verified on accessible GPU hardware.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Practical Value: Seamlessly bridges top-tier academic rigor with live worker safety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 comprehensive, publication-grade AI capstone delivering high-accuracy helmet surveillance, robust software, and verifiable scientific contributions.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