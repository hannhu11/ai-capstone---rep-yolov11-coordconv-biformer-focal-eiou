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7"/>
    <p:sldId id="284" r:id="rId38"/>
    <p:sldId id="285" r:id="rId39"/>
    <p:sldId id="286" r:id="rId40"/>
    <p:sldId id="287" r:id="rId41"/>
    <p:sldId id="288" r:id="rId42"/>
    <p:sldId id="289" r:id="rId43"/>
    <p:sldId id="290" r:id="rId44"/>
    <p:sldId id="291" r:id="rId45"/>
    <p:sldId id="292" r:id="rId46"/>
  </p:sldIdLst>
  <p:sldSz cy="6858000" cx="12191675"/>
  <p:notesSz cx="6858000" cy="9144000"/>
  <p:embeddedFontLst>
    <p:embeddedFont>
      <p:font typeface="Inter"/>
      <p:regular r:id="rId33"/>
      <p:bold r:id="rId34"/>
      <p:italic r:id="rId35"/>
      <p:boldItalic r:id="rId3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font" Target="fonts/Inter-regular.fntdata"/><Relationship Id="rId34" Type="http://schemas.openxmlformats.org/officeDocument/2006/relationships/font" Target="fonts/Inter-bold.fntdata"/><Relationship Id="rId35" Type="http://schemas.openxmlformats.org/officeDocument/2006/relationships/font" Target="fonts/Inter-italic.fntdata"/><Relationship Id="rId36" Type="http://schemas.openxmlformats.org/officeDocument/2006/relationships/font" Target="fonts/Inter-boldItalic.fntdata"/><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36.xml"/><Relationship Id="rId46"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h6537f8b5a1599382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h6537f8b5a1599382_0_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h6537f8b5a1599382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h6537f8b5a1599382_0_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h6537f8b5a1599382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h6537f8b5a1599382_0_1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h6537f8b5a1599382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h6537f8b5a1599382_0_2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h6537f8b5a1599382_0_3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h6537f8b5a1599382_0_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5" name="Shape 355"/>
        <p:cNvGrpSpPr/>
        <p:nvPr/>
      </p:nvGrpSpPr>
      <p:grpSpPr>
        <a:xfrm>
          <a:off x="0" y="0"/>
          <a:ext cx="0" cy="0"/>
          <a:chOff x="0" y="0"/>
          <a:chExt cx="0" cy="0"/>
        </a:xfrm>
      </p:grpSpPr>
      <p:sp>
        <p:nvSpPr>
          <p:cNvPr id="356" name="Google Shape;356;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h6537f8b5a1599382_29_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71" name="Google Shape;371;h6537f8b5a1599382_29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h6537f8b5a1599382_29_1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01" name="Google Shape;401;h6537f8b5a1599382_29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4" name="Shape 464"/>
        <p:cNvGrpSpPr/>
        <p:nvPr/>
      </p:nvGrpSpPr>
      <p:grpSpPr>
        <a:xfrm>
          <a:off x="0" y="0"/>
          <a:ext cx="0" cy="0"/>
          <a:chOff x="0" y="0"/>
          <a:chExt cx="0" cy="0"/>
        </a:xfrm>
      </p:grpSpPr>
      <p:sp>
        <p:nvSpPr>
          <p:cNvPr id="465" name="Google Shape;465;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7" name="Shape 477"/>
        <p:cNvGrpSpPr/>
        <p:nvPr/>
      </p:nvGrpSpPr>
      <p:grpSpPr>
        <a:xfrm>
          <a:off x="0" y="0"/>
          <a:ext cx="0" cy="0"/>
          <a:chOff x="0" y="0"/>
          <a:chExt cx="0" cy="0"/>
        </a:xfrm>
      </p:grpSpPr>
      <p:sp>
        <p:nvSpPr>
          <p:cNvPr id="478" name="Google Shape;478;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h6537f8b5a1599382_29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514" name="Google Shape;514;h6537f8b5a1599382_29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h6537f8b5a1599382_29_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h6537f8b5a1599382_29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1" name="Shape 571"/>
        <p:cNvGrpSpPr/>
        <p:nvPr/>
      </p:nvGrpSpPr>
      <p:grpSpPr>
        <a:xfrm>
          <a:off x="0" y="0"/>
          <a:ext cx="0" cy="0"/>
          <a:chOff x="0" y="0"/>
          <a:chExt cx="0" cy="0"/>
        </a:xfrm>
      </p:grpSpPr>
      <p:sp>
        <p:nvSpPr>
          <p:cNvPr id="572" name="Google Shape;572;h6537f8b5a1599382_29_1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573" name="Google Shape;573;h6537f8b5a1599382_29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1" name="Shape 621"/>
        <p:cNvGrpSpPr/>
        <p:nvPr/>
      </p:nvGrpSpPr>
      <p:grpSpPr>
        <a:xfrm>
          <a:off x="0" y="0"/>
          <a:ext cx="0" cy="0"/>
          <a:chOff x="0" y="0"/>
          <a:chExt cx="0" cy="0"/>
        </a:xfrm>
      </p:grpSpPr>
      <p:sp>
        <p:nvSpPr>
          <p:cNvPr id="622" name="Google Shape;622;h6537f8b5a1599382_29_11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623" name="Google Shape;623;h6537f8b5a1599382_29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0.png"/><Relationship Id="rId4" Type="http://schemas.openxmlformats.org/officeDocument/2006/relationships/image" Target="../media/image11.png"/><Relationship Id="rId5"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3"/>
          <p:cNvSpPr/>
          <p:nvPr/>
        </p:nvSpPr>
        <p:spPr>
          <a:xfrm>
            <a:off x="0" y="11906"/>
            <a:ext cx="12191700"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 name="Google Shape;85;p13"/>
          <p:cNvSpPr/>
          <p:nvPr/>
        </p:nvSpPr>
        <p:spPr>
          <a:xfrm>
            <a:off x="731520" y="411480"/>
            <a:ext cx="5669280" cy="347472"/>
          </a:xfrm>
          <a:prstGeom prst="roundRect">
            <a:avLst>
              <a:gd fmla="val 16667" name="adj"/>
            </a:avLst>
          </a:prstGeom>
          <a:solidFill>
            <a:srgbClr val="FFF7ED"/>
          </a:solidFill>
          <a:ln cap="flat" cmpd="sng" w="12700">
            <a:solidFill>
              <a:srgbClr val="EA580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3"/>
          <p:cNvSpPr txBox="1"/>
          <p:nvPr/>
        </p:nvSpPr>
        <p:spPr>
          <a:xfrm>
            <a:off x="841248" y="457200"/>
            <a:ext cx="5486400" cy="146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50" u="none" cap="none" strike="noStrike">
                <a:solidFill>
                  <a:srgbClr val="EA580C"/>
                </a:solidFill>
                <a:latin typeface="Calibri"/>
                <a:ea typeface="Calibri"/>
                <a:cs typeface="Calibri"/>
                <a:sym typeface="Calibri"/>
              </a:rPr>
              <a:t>FPT UNIVERSITY · ARTIFICIAL INTELLIGENCE CAPSTONE </a:t>
            </a:r>
            <a:endParaRPr/>
          </a:p>
        </p:txBody>
      </p:sp>
      <p:sp>
        <p:nvSpPr>
          <p:cNvPr id="87" name="Google Shape;87;p13"/>
          <p:cNvSpPr txBox="1"/>
          <p:nvPr/>
        </p:nvSpPr>
        <p:spPr>
          <a:xfrm>
            <a:off x="731520" y="960120"/>
            <a:ext cx="68580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88" name="Google Shape;88;p13"/>
          <p:cNvSpPr txBox="1"/>
          <p:nvPr/>
        </p:nvSpPr>
        <p:spPr>
          <a:xfrm>
            <a:off x="660995" y="1175530"/>
            <a:ext cx="6858000" cy="2078100"/>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Clr>
                <a:schemeClr val="dk1"/>
              </a:buClr>
              <a:buSzPts val="1100"/>
              <a:buFont typeface="Arial"/>
              <a:buNone/>
            </a:pPr>
            <a:r>
              <a:rPr b="1" lang="en-US" sz="2250">
                <a:solidFill>
                  <a:schemeClr val="dk1"/>
                </a:solidFill>
                <a:latin typeface="Calibri"/>
                <a:ea typeface="Calibri"/>
                <a:cs typeface="Calibri"/>
                <a:sym typeface="Calibri"/>
              </a:rPr>
              <a:t>Structural Re-Parameterization, Spatial Coordinate</a:t>
            </a:r>
            <a:endParaRPr b="1" sz="2250">
              <a:solidFill>
                <a:schemeClr val="dk1"/>
              </a:solidFill>
              <a:latin typeface="Calibri"/>
              <a:ea typeface="Calibri"/>
              <a:cs typeface="Calibri"/>
              <a:sym typeface="Calibri"/>
            </a:endParaRPr>
          </a:p>
          <a:p>
            <a:pPr indent="0" lvl="0" marL="0" rtl="0" algn="l">
              <a:spcBef>
                <a:spcPts val="0"/>
              </a:spcBef>
              <a:spcAft>
                <a:spcPts val="0"/>
              </a:spcAft>
              <a:buClr>
                <a:schemeClr val="dk1"/>
              </a:buClr>
              <a:buSzPts val="1100"/>
              <a:buFont typeface="Arial"/>
              <a:buNone/>
            </a:pPr>
            <a:r>
              <a:rPr b="1" lang="en-US" sz="2250">
                <a:solidFill>
                  <a:schemeClr val="dk1"/>
                </a:solidFill>
                <a:latin typeface="Calibri"/>
                <a:ea typeface="Calibri"/>
                <a:cs typeface="Calibri"/>
                <a:sym typeface="Calibri"/>
              </a:rPr>
              <a:t>Encoding, and Cross-Domain Robustness for</a:t>
            </a:r>
            <a:endParaRPr b="1" sz="2250">
              <a:solidFill>
                <a:schemeClr val="dk1"/>
              </a:solidFill>
              <a:latin typeface="Calibri"/>
              <a:ea typeface="Calibri"/>
              <a:cs typeface="Calibri"/>
              <a:sym typeface="Calibri"/>
            </a:endParaRPr>
          </a:p>
          <a:p>
            <a:pPr indent="0" lvl="0" marL="0" rtl="0" algn="l">
              <a:spcBef>
                <a:spcPts val="0"/>
              </a:spcBef>
              <a:spcAft>
                <a:spcPts val="0"/>
              </a:spcAft>
              <a:buClr>
                <a:schemeClr val="dk1"/>
              </a:buClr>
              <a:buSzPts val="1100"/>
              <a:buFont typeface="Arial"/>
              <a:buNone/>
            </a:pPr>
            <a:r>
              <a:rPr b="1" lang="en-US" sz="2250">
                <a:solidFill>
                  <a:schemeClr val="dk1"/>
                </a:solidFill>
                <a:latin typeface="Calibri"/>
                <a:ea typeface="Calibri"/>
                <a:cs typeface="Calibri"/>
                <a:sym typeface="Calibri"/>
              </a:rPr>
              <a:t>Real-Time Safety Helmet Detection in Construction</a:t>
            </a:r>
            <a:endParaRPr b="1" sz="2250">
              <a:solidFill>
                <a:schemeClr val="dk1"/>
              </a:solidFill>
              <a:latin typeface="Calibri"/>
              <a:ea typeface="Calibri"/>
              <a:cs typeface="Calibri"/>
              <a:sym typeface="Calibri"/>
            </a:endParaRPr>
          </a:p>
          <a:p>
            <a:pPr indent="0" lvl="0" marL="0" rtl="0" algn="l">
              <a:spcBef>
                <a:spcPts val="0"/>
              </a:spcBef>
              <a:spcAft>
                <a:spcPts val="0"/>
              </a:spcAft>
              <a:buClr>
                <a:schemeClr val="dk1"/>
              </a:buClr>
              <a:buSzPts val="1100"/>
              <a:buFont typeface="Arial"/>
              <a:buNone/>
            </a:pPr>
            <a:r>
              <a:rPr b="1" lang="en-US" sz="2250">
                <a:solidFill>
                  <a:schemeClr val="dk1"/>
                </a:solidFill>
                <a:latin typeface="Calibri"/>
                <a:ea typeface="Calibri"/>
                <a:cs typeface="Calibri"/>
                <a:sym typeface="Calibri"/>
              </a:rPr>
              <a:t>Surveillance</a:t>
            </a:r>
            <a:endParaRPr b="1" sz="2250">
              <a:solidFill>
                <a:schemeClr val="dk1"/>
              </a:solidFill>
              <a:latin typeface="Calibri"/>
              <a:ea typeface="Calibri"/>
              <a:cs typeface="Calibri"/>
              <a:sym typeface="Calibri"/>
            </a:endParaRPr>
          </a:p>
          <a:p>
            <a:pPr indent="0" lvl="0" marL="0" rtl="0" algn="l">
              <a:spcBef>
                <a:spcPts val="0"/>
              </a:spcBef>
              <a:spcAft>
                <a:spcPts val="0"/>
              </a:spcAft>
              <a:buClr>
                <a:schemeClr val="dk1"/>
              </a:buClr>
              <a:buSzPts val="1100"/>
              <a:buFont typeface="Arial"/>
              <a:buNone/>
            </a:pPr>
            <a:r>
              <a:t/>
            </a:r>
            <a:endParaRPr b="1" sz="2250">
              <a:solidFill>
                <a:schemeClr val="dk1"/>
              </a:solidFill>
              <a:latin typeface="Calibri"/>
              <a:ea typeface="Calibri"/>
              <a:cs typeface="Calibri"/>
              <a:sym typeface="Calibri"/>
            </a:endParaRPr>
          </a:p>
          <a:p>
            <a:pPr indent="0" lvl="0" marL="0" marR="0" rtl="0" algn="l">
              <a:spcBef>
                <a:spcPts val="0"/>
              </a:spcBef>
              <a:spcAft>
                <a:spcPts val="0"/>
              </a:spcAft>
              <a:buNone/>
            </a:pPr>
            <a:r>
              <a:t/>
            </a:r>
            <a:endParaRPr b="1" sz="2250">
              <a:solidFill>
                <a:schemeClr val="dk1"/>
              </a:solidFill>
              <a:latin typeface="Calibri"/>
              <a:ea typeface="Calibri"/>
              <a:cs typeface="Calibri"/>
              <a:sym typeface="Calibri"/>
            </a:endParaRPr>
          </a:p>
        </p:txBody>
      </p:sp>
      <p:sp>
        <p:nvSpPr>
          <p:cNvPr id="89" name="Google Shape;89;p13"/>
          <p:cNvSpPr/>
          <p:nvPr/>
        </p:nvSpPr>
        <p:spPr>
          <a:xfrm>
            <a:off x="441750" y="3037655"/>
            <a:ext cx="3474600" cy="1107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 name="Google Shape;90;p13"/>
          <p:cNvSpPr txBox="1"/>
          <p:nvPr/>
        </p:nvSpPr>
        <p:spPr>
          <a:xfrm>
            <a:off x="606312" y="3184057"/>
            <a:ext cx="3145500" cy="814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EA580C"/>
                </a:solidFill>
                <a:latin typeface="Calibri"/>
                <a:ea typeface="Calibri"/>
                <a:cs typeface="Calibri"/>
                <a:sym typeface="Calibri"/>
              </a:rPr>
              <a:t>TEAM M</a:t>
            </a:r>
            <a:r>
              <a:rPr b="1" lang="en-US" sz="1000">
                <a:solidFill>
                  <a:srgbClr val="EA580C"/>
                </a:solidFill>
                <a:latin typeface="Calibri"/>
                <a:ea typeface="Calibri"/>
                <a:cs typeface="Calibri"/>
                <a:sym typeface="Calibri"/>
              </a:rPr>
              <a:t>EMBERS</a:t>
            </a:r>
            <a:endParaRPr/>
          </a:p>
          <a:p>
            <a:pPr indent="0" lvl="0" marL="0" marR="0" rtl="0" algn="l">
              <a:spcBef>
                <a:spcPts val="0"/>
              </a:spcBef>
              <a:spcAft>
                <a:spcPts val="0"/>
              </a:spcAft>
              <a:buNone/>
            </a:pPr>
            <a:r>
              <a:rPr b="1" lang="en-US" sz="1019">
                <a:solidFill>
                  <a:srgbClr val="0F172A"/>
                </a:solidFill>
                <a:latin typeface="Calibri"/>
                <a:ea typeface="Calibri"/>
                <a:cs typeface="Calibri"/>
                <a:sym typeface="Calibri"/>
              </a:rPr>
              <a:t>Nguyen Han Nhu </a:t>
            </a:r>
            <a:r>
              <a:rPr b="1" i="0" lang="en-US" sz="1019" u="none" cap="none" strike="noStrike">
                <a:solidFill>
                  <a:srgbClr val="0F172A"/>
                </a:solidFill>
                <a:latin typeface="Calibri"/>
                <a:ea typeface="Calibri"/>
                <a:cs typeface="Calibri"/>
                <a:sym typeface="Calibri"/>
              </a:rPr>
              <a:t>· SE183644 (Lead)</a:t>
            </a:r>
            <a:br>
              <a:rPr b="1" i="0" lang="en-US" sz="1019" u="none" cap="none" strike="noStrike">
                <a:solidFill>
                  <a:srgbClr val="0F172A"/>
                </a:solidFill>
                <a:latin typeface="Calibri"/>
                <a:ea typeface="Calibri"/>
                <a:cs typeface="Calibri"/>
                <a:sym typeface="Calibri"/>
              </a:rPr>
            </a:br>
            <a:r>
              <a:rPr b="1" lang="en-US" sz="1019">
                <a:solidFill>
                  <a:srgbClr val="0F172A"/>
                </a:solidFill>
                <a:latin typeface="Calibri"/>
                <a:ea typeface="Calibri"/>
                <a:cs typeface="Calibri"/>
                <a:sym typeface="Calibri"/>
              </a:rPr>
              <a:t>Nguyen Van Thanh</a:t>
            </a:r>
            <a:r>
              <a:rPr b="1" i="0" lang="en-US" sz="1019" u="none" cap="none" strike="noStrike">
                <a:solidFill>
                  <a:srgbClr val="0F172A"/>
                </a:solidFill>
                <a:latin typeface="Calibri"/>
                <a:ea typeface="Calibri"/>
                <a:cs typeface="Calibri"/>
                <a:sym typeface="Calibri"/>
              </a:rPr>
              <a:t> · SE18</a:t>
            </a:r>
            <a:r>
              <a:rPr b="1" lang="en-US" sz="1019">
                <a:solidFill>
                  <a:srgbClr val="0F172A"/>
                </a:solidFill>
                <a:latin typeface="Calibri"/>
                <a:ea typeface="Calibri"/>
                <a:cs typeface="Calibri"/>
                <a:sym typeface="Calibri"/>
              </a:rPr>
              <a:t>0387</a:t>
            </a:r>
            <a:br>
              <a:rPr b="1" i="0" lang="en-US" sz="1019" u="none" cap="none" strike="noStrike">
                <a:solidFill>
                  <a:srgbClr val="0F172A"/>
                </a:solidFill>
                <a:latin typeface="Calibri"/>
                <a:ea typeface="Calibri"/>
                <a:cs typeface="Calibri"/>
                <a:sym typeface="Calibri"/>
              </a:rPr>
            </a:br>
            <a:r>
              <a:rPr b="1" lang="en-US" sz="1019">
                <a:solidFill>
                  <a:srgbClr val="0F172A"/>
                </a:solidFill>
                <a:latin typeface="Calibri"/>
                <a:ea typeface="Calibri"/>
                <a:cs typeface="Calibri"/>
                <a:sym typeface="Calibri"/>
              </a:rPr>
              <a:t>Tran Pham Tuan Dung</a:t>
            </a:r>
            <a:r>
              <a:rPr b="1" i="0" lang="en-US" sz="1019" u="none" cap="none" strike="noStrike">
                <a:solidFill>
                  <a:srgbClr val="0F172A"/>
                </a:solidFill>
                <a:latin typeface="Calibri"/>
                <a:ea typeface="Calibri"/>
                <a:cs typeface="Calibri"/>
                <a:sym typeface="Calibri"/>
              </a:rPr>
              <a:t> · </a:t>
            </a:r>
            <a:r>
              <a:rPr b="1" lang="en-US" sz="1019">
                <a:solidFill>
                  <a:srgbClr val="0F172A"/>
                </a:solidFill>
                <a:latin typeface="Calibri"/>
                <a:ea typeface="Calibri"/>
                <a:cs typeface="Calibri"/>
                <a:sym typeface="Calibri"/>
              </a:rPr>
              <a:t>SE183674</a:t>
            </a:r>
            <a:endParaRPr/>
          </a:p>
          <a:p>
            <a:pPr indent="0" lvl="0" marL="0" marR="0" rtl="0" algn="l">
              <a:spcBef>
                <a:spcPts val="400"/>
              </a:spcBef>
              <a:spcAft>
                <a:spcPts val="0"/>
              </a:spcAft>
              <a:buNone/>
            </a:pPr>
            <a:r>
              <a:rPr b="0" i="0" lang="en-US" sz="900" u="none" cap="none" strike="noStrike">
                <a:solidFill>
                  <a:srgbClr val="64748B"/>
                </a:solidFill>
                <a:latin typeface="Calibri"/>
                <a:ea typeface="Calibri"/>
                <a:cs typeface="Calibri"/>
                <a:sym typeface="Calibri"/>
              </a:rPr>
              <a:t>Role: Architecture, TensorRT Engine &amp; RTSP Pipeline</a:t>
            </a:r>
            <a:endParaRPr/>
          </a:p>
        </p:txBody>
      </p:sp>
      <p:sp>
        <p:nvSpPr>
          <p:cNvPr id="91" name="Google Shape;91;p13"/>
          <p:cNvSpPr/>
          <p:nvPr/>
        </p:nvSpPr>
        <p:spPr>
          <a:xfrm>
            <a:off x="4154775" y="4531525"/>
            <a:ext cx="3364200" cy="12282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2" name="Google Shape;92;p13"/>
          <p:cNvSpPr txBox="1"/>
          <p:nvPr/>
        </p:nvSpPr>
        <p:spPr>
          <a:xfrm>
            <a:off x="4237137" y="4655307"/>
            <a:ext cx="3145500" cy="814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2563EB"/>
                </a:solidFill>
                <a:latin typeface="Calibri"/>
                <a:ea typeface="Calibri"/>
                <a:cs typeface="Calibri"/>
                <a:sym typeface="Calibri"/>
              </a:rPr>
              <a:t>ACADEMIC ADVISOR</a:t>
            </a:r>
            <a:endParaRPr/>
          </a:p>
          <a:p>
            <a:pPr indent="0" lvl="0" marL="0" marR="0" rtl="0" algn="l">
              <a:spcBef>
                <a:spcPts val="0"/>
              </a:spcBef>
              <a:spcAft>
                <a:spcPts val="0"/>
              </a:spcAft>
              <a:buNone/>
            </a:pPr>
            <a:r>
              <a:rPr b="1" i="0" lang="en-US" sz="1019" u="none" cap="none" strike="noStrike">
                <a:solidFill>
                  <a:srgbClr val="0F172A"/>
                </a:solidFill>
                <a:latin typeface="Calibri"/>
                <a:ea typeface="Calibri"/>
                <a:cs typeface="Calibri"/>
                <a:sym typeface="Calibri"/>
              </a:rPr>
              <a:t>M.Sc. </a:t>
            </a:r>
            <a:r>
              <a:rPr b="1" lang="en-US" sz="1019">
                <a:solidFill>
                  <a:srgbClr val="0F172A"/>
                </a:solidFill>
                <a:latin typeface="Calibri"/>
                <a:ea typeface="Calibri"/>
                <a:cs typeface="Calibri"/>
                <a:sym typeface="Calibri"/>
              </a:rPr>
              <a:t>Vu Ha Anh </a:t>
            </a:r>
            <a:r>
              <a:rPr b="1" i="0" lang="en-US" sz="1019" u="none" cap="none" strike="noStrike">
                <a:solidFill>
                  <a:srgbClr val="0F172A"/>
                </a:solidFill>
                <a:latin typeface="Calibri"/>
                <a:ea typeface="Calibri"/>
                <a:cs typeface="Calibri"/>
                <a:sym typeface="Calibri"/>
              </a:rPr>
              <a:t> (anhvh@fe.edu.vn)</a:t>
            </a:r>
            <a:br>
              <a:rPr b="1" i="0" lang="en-US" sz="1019" u="none" cap="none" strike="noStrike">
                <a:solidFill>
                  <a:srgbClr val="0F172A"/>
                </a:solidFill>
                <a:latin typeface="Calibri"/>
                <a:ea typeface="Calibri"/>
                <a:cs typeface="Calibri"/>
                <a:sym typeface="Calibri"/>
              </a:rPr>
            </a:br>
            <a:r>
              <a:rPr b="1" i="0" lang="en-US" sz="1019" u="none" cap="none" strike="noStrike">
                <a:solidFill>
                  <a:srgbClr val="0F172A"/>
                </a:solidFill>
                <a:latin typeface="Calibri"/>
                <a:ea typeface="Calibri"/>
                <a:cs typeface="Calibri"/>
                <a:sym typeface="Calibri"/>
              </a:rPr>
              <a:t>Dept. of Artificial Intelligence — IT Faculty</a:t>
            </a:r>
            <a:br>
              <a:rPr b="1" i="0" lang="en-US" sz="1019" u="none" cap="none" strike="noStrike">
                <a:solidFill>
                  <a:srgbClr val="0F172A"/>
                </a:solidFill>
                <a:latin typeface="Calibri"/>
                <a:ea typeface="Calibri"/>
                <a:cs typeface="Calibri"/>
                <a:sym typeface="Calibri"/>
              </a:rPr>
            </a:br>
            <a:r>
              <a:rPr b="1" i="0" lang="en-US" sz="1019" u="none" cap="none" strike="noStrike">
                <a:solidFill>
                  <a:srgbClr val="0F172A"/>
                </a:solidFill>
                <a:latin typeface="Calibri"/>
                <a:ea typeface="Calibri"/>
                <a:cs typeface="Calibri"/>
                <a:sym typeface="Calibri"/>
              </a:rPr>
              <a:t>FPT University </a:t>
            </a:r>
            <a:r>
              <a:rPr b="1" lang="en-US" sz="1019">
                <a:solidFill>
                  <a:srgbClr val="0F172A"/>
                </a:solidFill>
                <a:latin typeface="Calibri"/>
                <a:ea typeface="Calibri"/>
                <a:cs typeface="Calibri"/>
                <a:sym typeface="Calibri"/>
              </a:rPr>
              <a:t>HCM </a:t>
            </a:r>
            <a:r>
              <a:rPr b="1" i="0" lang="en-US" sz="1019" u="none" cap="none" strike="noStrike">
                <a:solidFill>
                  <a:srgbClr val="0F172A"/>
                </a:solidFill>
                <a:latin typeface="Calibri"/>
                <a:ea typeface="Calibri"/>
                <a:cs typeface="Calibri"/>
                <a:sym typeface="Calibri"/>
              </a:rPr>
              <a:t>Campus</a:t>
            </a:r>
            <a:endParaRPr/>
          </a:p>
          <a:p>
            <a:pPr indent="0" lvl="0" marL="0" marR="0" rtl="0" algn="l">
              <a:spcBef>
                <a:spcPts val="400"/>
              </a:spcBef>
              <a:spcAft>
                <a:spcPts val="0"/>
              </a:spcAft>
              <a:buNone/>
            </a:pPr>
            <a:r>
              <a:rPr b="0" i="0" lang="en-US" sz="900" u="none" cap="none" strike="noStrike">
                <a:solidFill>
                  <a:srgbClr val="64748B"/>
                </a:solidFill>
                <a:latin typeface="Calibri"/>
                <a:ea typeface="Calibri"/>
                <a:cs typeface="Calibri"/>
                <a:sym typeface="Calibri"/>
              </a:rPr>
              <a:t>Focus: High-Impact Industrial Computer Vision</a:t>
            </a:r>
            <a:endParaRPr/>
          </a:p>
        </p:txBody>
      </p:sp>
      <p:pic>
        <p:nvPicPr>
          <p:cNvPr id="93" name="Google Shape;93;p13"/>
          <p:cNvPicPr preferRelativeResize="0"/>
          <p:nvPr/>
        </p:nvPicPr>
        <p:blipFill>
          <a:blip r:embed="rId3">
            <a:alphaModFix/>
          </a:blip>
          <a:stretch>
            <a:fillRect/>
          </a:stretch>
        </p:blipFill>
        <p:spPr>
          <a:xfrm>
            <a:off x="8186300" y="1599525"/>
            <a:ext cx="3069665" cy="3538800"/>
          </a:xfrm>
          <a:prstGeom prst="rect">
            <a:avLst/>
          </a:prstGeom>
          <a:noFill/>
          <a:ln>
            <a:noFill/>
          </a:ln>
        </p:spPr>
      </p:pic>
      <p:sp>
        <p:nvSpPr>
          <p:cNvPr id="94" name="Google Shape;94;p13"/>
          <p:cNvSpPr/>
          <p:nvPr/>
        </p:nvSpPr>
        <p:spPr>
          <a:xfrm>
            <a:off x="4183125" y="3037650"/>
            <a:ext cx="3364200" cy="1107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000" u="none" cap="none" strike="noStrike">
              <a:solidFill>
                <a:schemeClr val="dk1"/>
              </a:solidFill>
              <a:latin typeface="Calibri"/>
              <a:ea typeface="Calibri"/>
              <a:cs typeface="Calibri"/>
              <a:sym typeface="Calibri"/>
            </a:endParaRPr>
          </a:p>
        </p:txBody>
      </p:sp>
      <p:sp>
        <p:nvSpPr>
          <p:cNvPr id="95" name="Google Shape;95;p13"/>
          <p:cNvSpPr/>
          <p:nvPr/>
        </p:nvSpPr>
        <p:spPr>
          <a:xfrm>
            <a:off x="496950" y="4531525"/>
            <a:ext cx="3364200" cy="12282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6" name="Google Shape;96;p13"/>
          <p:cNvSpPr txBox="1"/>
          <p:nvPr/>
        </p:nvSpPr>
        <p:spPr>
          <a:xfrm>
            <a:off x="4321775" y="3151650"/>
            <a:ext cx="2939100" cy="814200"/>
          </a:xfrm>
          <a:prstGeom prst="rect">
            <a:avLst/>
          </a:prstGeom>
          <a:noFill/>
          <a:ln>
            <a:noFill/>
          </a:ln>
        </p:spPr>
        <p:txBody>
          <a:bodyPr anchorCtr="0" anchor="t" bIns="91425" lIns="91425" spcFirstLastPara="1" rIns="91425" wrap="square" tIns="91425">
            <a:noAutofit/>
          </a:bodyPr>
          <a:lstStyle/>
          <a:p>
            <a:pPr indent="0" lvl="0" marL="0" marR="190500" rtl="0" algn="l">
              <a:lnSpc>
                <a:spcPct val="128571"/>
              </a:lnSpc>
              <a:spcBef>
                <a:spcPts val="0"/>
              </a:spcBef>
              <a:spcAft>
                <a:spcPts val="0"/>
              </a:spcAft>
              <a:buNone/>
            </a:pPr>
            <a:r>
              <a:rPr b="1" lang="en-US" sz="1000">
                <a:solidFill>
                  <a:srgbClr val="16A34A"/>
                </a:solidFill>
                <a:highlight>
                  <a:srgbClr val="F8F9FA"/>
                </a:highlight>
                <a:latin typeface="Calibri"/>
                <a:ea typeface="Calibri"/>
                <a:cs typeface="Calibri"/>
                <a:sym typeface="Calibri"/>
              </a:rPr>
              <a:t>GROUP CODE</a:t>
            </a:r>
            <a:endParaRPr b="1" sz="1000">
              <a:solidFill>
                <a:srgbClr val="16A34A"/>
              </a:solidFill>
              <a:highlight>
                <a:srgbClr val="F8F9FA"/>
              </a:highlight>
              <a:latin typeface="Calibri"/>
              <a:ea typeface="Calibri"/>
              <a:cs typeface="Calibri"/>
              <a:sym typeface="Calibri"/>
            </a:endParaRPr>
          </a:p>
          <a:p>
            <a:pPr indent="0" lvl="0" marL="0" marR="190500" rtl="0" algn="l">
              <a:lnSpc>
                <a:spcPct val="128571"/>
              </a:lnSpc>
              <a:spcBef>
                <a:spcPts val="0"/>
              </a:spcBef>
              <a:spcAft>
                <a:spcPts val="0"/>
              </a:spcAft>
              <a:buClr>
                <a:schemeClr val="dk1"/>
              </a:buClr>
              <a:buSzPts val="1100"/>
              <a:buFont typeface="Arial"/>
              <a:buNone/>
            </a:pPr>
            <a:r>
              <a:rPr b="1" lang="en-US" sz="1000">
                <a:solidFill>
                  <a:schemeClr val="dk1"/>
                </a:solidFill>
                <a:highlight>
                  <a:srgbClr val="F8F9FA"/>
                </a:highlight>
                <a:latin typeface="Calibri"/>
                <a:ea typeface="Calibri"/>
                <a:cs typeface="Calibri"/>
                <a:sym typeface="Calibri"/>
              </a:rPr>
              <a:t>GFA26AI17</a:t>
            </a:r>
            <a:endParaRPr b="1" sz="1000">
              <a:solidFill>
                <a:schemeClr val="dk1"/>
              </a:solidFill>
              <a:highlight>
                <a:srgbClr val="F8F9FA"/>
              </a:highlight>
              <a:latin typeface="Calibri"/>
              <a:ea typeface="Calibri"/>
              <a:cs typeface="Calibri"/>
              <a:sym typeface="Calibri"/>
            </a:endParaRPr>
          </a:p>
          <a:p>
            <a:pPr indent="0" lvl="0" marL="0" rtl="0" algn="l">
              <a:lnSpc>
                <a:spcPct val="115000"/>
              </a:lnSpc>
              <a:spcBef>
                <a:spcPts val="0"/>
              </a:spcBef>
              <a:spcAft>
                <a:spcPts val="0"/>
              </a:spcAft>
              <a:buClr>
                <a:schemeClr val="dk1"/>
              </a:buClr>
              <a:buSzPts val="1100"/>
              <a:buFont typeface="Arial"/>
              <a:buNone/>
            </a:pPr>
            <a:r>
              <a:t/>
            </a:r>
            <a:endParaRPr sz="1100">
              <a:solidFill>
                <a:schemeClr val="dk1"/>
              </a:solidFill>
            </a:endParaRPr>
          </a:p>
          <a:p>
            <a:pPr indent="0" lvl="0" marL="0" rtl="0" algn="l">
              <a:spcBef>
                <a:spcPts val="0"/>
              </a:spcBef>
              <a:spcAft>
                <a:spcPts val="0"/>
              </a:spcAft>
              <a:buNone/>
            </a:pPr>
            <a:r>
              <a:t/>
            </a:r>
            <a:endParaRPr sz="1000">
              <a:solidFill>
                <a:schemeClr val="dk1"/>
              </a:solidFill>
              <a:latin typeface="Calibri"/>
              <a:ea typeface="Calibri"/>
              <a:cs typeface="Calibri"/>
              <a:sym typeface="Calibri"/>
            </a:endParaRPr>
          </a:p>
        </p:txBody>
      </p:sp>
      <p:sp>
        <p:nvSpPr>
          <p:cNvPr id="97" name="Google Shape;97;p13"/>
          <p:cNvSpPr txBox="1"/>
          <p:nvPr/>
        </p:nvSpPr>
        <p:spPr>
          <a:xfrm>
            <a:off x="661000" y="4655300"/>
            <a:ext cx="2939100" cy="814200"/>
          </a:xfrm>
          <a:prstGeom prst="rect">
            <a:avLst/>
          </a:prstGeom>
          <a:noFill/>
          <a:ln>
            <a:noFill/>
          </a:ln>
        </p:spPr>
        <p:txBody>
          <a:bodyPr anchorCtr="0" anchor="t" bIns="91425" lIns="91425" spcFirstLastPara="1" rIns="91425" wrap="square" tIns="91425">
            <a:noAutofit/>
          </a:bodyPr>
          <a:lstStyle/>
          <a:p>
            <a:pPr indent="0" lvl="0" marL="0" marR="190500" rtl="0" algn="l">
              <a:lnSpc>
                <a:spcPct val="128571"/>
              </a:lnSpc>
              <a:spcBef>
                <a:spcPts val="0"/>
              </a:spcBef>
              <a:spcAft>
                <a:spcPts val="0"/>
              </a:spcAft>
              <a:buNone/>
            </a:pPr>
            <a:r>
              <a:rPr b="1" lang="en-US" sz="1000">
                <a:solidFill>
                  <a:srgbClr val="FF0000"/>
                </a:solidFill>
                <a:highlight>
                  <a:srgbClr val="F8F9FA"/>
                </a:highlight>
                <a:latin typeface="Calibri"/>
                <a:ea typeface="Calibri"/>
                <a:cs typeface="Calibri"/>
                <a:sym typeface="Calibri"/>
              </a:rPr>
              <a:t>PROJECT CODE</a:t>
            </a:r>
            <a:endParaRPr b="1" sz="1000">
              <a:solidFill>
                <a:srgbClr val="FF0000"/>
              </a:solidFill>
              <a:highlight>
                <a:srgbClr val="F8F9FA"/>
              </a:highlight>
              <a:latin typeface="Calibri"/>
              <a:ea typeface="Calibri"/>
              <a:cs typeface="Calibri"/>
              <a:sym typeface="Calibri"/>
            </a:endParaRPr>
          </a:p>
          <a:p>
            <a:pPr indent="0" lvl="0" marL="0" marR="190500" rtl="0" algn="l">
              <a:lnSpc>
                <a:spcPct val="128571"/>
              </a:lnSpc>
              <a:spcBef>
                <a:spcPts val="0"/>
              </a:spcBef>
              <a:spcAft>
                <a:spcPts val="0"/>
              </a:spcAft>
              <a:buNone/>
            </a:pPr>
            <a:r>
              <a:rPr b="1" lang="en-US" sz="1000">
                <a:solidFill>
                  <a:schemeClr val="dk1"/>
                </a:solidFill>
                <a:highlight>
                  <a:srgbClr val="F8F9FA"/>
                </a:highlight>
                <a:latin typeface="Calibri"/>
                <a:ea typeface="Calibri"/>
                <a:cs typeface="Calibri"/>
                <a:sym typeface="Calibri"/>
              </a:rPr>
              <a:t>FA26AI16</a:t>
            </a:r>
            <a:endParaRPr b="1" sz="1000">
              <a:solidFill>
                <a:schemeClr val="dk1"/>
              </a:solidFill>
              <a:highlight>
                <a:srgbClr val="F8F9FA"/>
              </a:highlight>
              <a:latin typeface="Calibri"/>
              <a:ea typeface="Calibri"/>
              <a:cs typeface="Calibri"/>
              <a:sym typeface="Calibri"/>
            </a:endParaRPr>
          </a:p>
          <a:p>
            <a:pPr indent="0" lvl="0" marL="0" rtl="0" algn="l">
              <a:lnSpc>
                <a:spcPct val="115000"/>
              </a:lnSpc>
              <a:spcBef>
                <a:spcPts val="0"/>
              </a:spcBef>
              <a:spcAft>
                <a:spcPts val="0"/>
              </a:spcAft>
              <a:buNone/>
            </a:pPr>
            <a:r>
              <a:t/>
            </a:r>
            <a:endParaRPr sz="1100">
              <a:solidFill>
                <a:schemeClr val="dk1"/>
              </a:solidFill>
            </a:endParaRPr>
          </a:p>
          <a:p>
            <a:pPr indent="0" lvl="0" marL="0" rtl="0" algn="l">
              <a:spcBef>
                <a:spcPts val="0"/>
              </a:spcBef>
              <a:spcAft>
                <a:spcPts val="0"/>
              </a:spcAft>
              <a:buNone/>
            </a:pPr>
            <a:r>
              <a:t/>
            </a:r>
            <a:endParaRPr sz="10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4"/>
          <p:cNvSpPr/>
          <p:nvPr/>
        </p:nvSpPr>
        <p:spPr>
          <a:xfrm>
            <a:off x="0" y="0"/>
            <a:ext cx="12191695"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 name="Google Shape;103;p14"/>
          <p:cNvSpPr txBox="1"/>
          <p:nvPr/>
        </p:nvSpPr>
        <p:spPr>
          <a:xfrm>
            <a:off x="731520" y="292608"/>
            <a:ext cx="8686800" cy="2560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EA580C"/>
                </a:solidFill>
                <a:latin typeface="Calibri"/>
                <a:ea typeface="Calibri"/>
                <a:cs typeface="Calibri"/>
                <a:sym typeface="Calibri"/>
              </a:rPr>
              <a:t>CRITERION 1 · PROBLEM DEFINITION &amp; URGENCY</a:t>
            </a:r>
            <a:endParaRPr/>
          </a:p>
        </p:txBody>
      </p:sp>
      <p:sp>
        <p:nvSpPr>
          <p:cNvPr id="104" name="Google Shape;104;p14"/>
          <p:cNvSpPr txBox="1"/>
          <p:nvPr/>
        </p:nvSpPr>
        <p:spPr>
          <a:xfrm>
            <a:off x="10332720" y="292608"/>
            <a:ext cx="1097280" cy="256032"/>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02 / 18</a:t>
            </a:r>
            <a:endParaRPr/>
          </a:p>
        </p:txBody>
      </p:sp>
      <p:sp>
        <p:nvSpPr>
          <p:cNvPr id="105" name="Google Shape;105;p14"/>
          <p:cNvSpPr txBox="1"/>
          <p:nvPr/>
        </p:nvSpPr>
        <p:spPr>
          <a:xfrm>
            <a:off x="731520" y="566928"/>
            <a:ext cx="1069848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Real Construction Context &amp; 4 Technical Bottlenecks</a:t>
            </a:r>
            <a:endParaRPr/>
          </a:p>
        </p:txBody>
      </p:sp>
      <p:sp>
        <p:nvSpPr>
          <p:cNvPr id="106" name="Google Shape;106;p14"/>
          <p:cNvSpPr/>
          <p:nvPr/>
        </p:nvSpPr>
        <p:spPr>
          <a:xfrm>
            <a:off x="731520" y="1234440"/>
            <a:ext cx="5120640" cy="1143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 name="Google Shape;107;p14"/>
          <p:cNvSpPr/>
          <p:nvPr/>
        </p:nvSpPr>
        <p:spPr>
          <a:xfrm>
            <a:off x="868680" y="1371600"/>
            <a:ext cx="411480" cy="320040"/>
          </a:xfrm>
          <a:prstGeom prst="roundRect">
            <a:avLst>
              <a:gd fmla="val 16667" name="adj"/>
            </a:avLst>
          </a:prstGeom>
          <a:solidFill>
            <a:srgbClr val="EA580C"/>
          </a:solidFill>
          <a:ln cap="flat" cmpd="sng" w="12700">
            <a:solidFill>
              <a:srgbClr val="EA580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8" name="Google Shape;108;p14"/>
          <p:cNvSpPr txBox="1"/>
          <p:nvPr/>
        </p:nvSpPr>
        <p:spPr>
          <a:xfrm>
            <a:off x="868680" y="1380744"/>
            <a:ext cx="411480" cy="32004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100" u="none" cap="none" strike="noStrike">
                <a:solidFill>
                  <a:srgbClr val="FFFFFF"/>
                </a:solidFill>
                <a:latin typeface="Calibri"/>
                <a:ea typeface="Calibri"/>
                <a:cs typeface="Calibri"/>
                <a:sym typeface="Calibri"/>
              </a:rPr>
              <a:t>01</a:t>
            </a:r>
            <a:endParaRPr/>
          </a:p>
        </p:txBody>
      </p:sp>
      <p:sp>
        <p:nvSpPr>
          <p:cNvPr id="109" name="Google Shape;109;p14"/>
          <p:cNvSpPr txBox="1"/>
          <p:nvPr/>
        </p:nvSpPr>
        <p:spPr>
          <a:xfrm>
            <a:off x="1389888" y="1344168"/>
            <a:ext cx="4297800" cy="546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50" u="none" cap="none" strike="noStrike">
                <a:solidFill>
                  <a:srgbClr val="0F172A"/>
                </a:solidFill>
                <a:latin typeface="Calibri"/>
                <a:ea typeface="Calibri"/>
                <a:cs typeface="Calibri"/>
                <a:sym typeface="Calibri"/>
              </a:rPr>
              <a:t>Distant Tiny Objects </a:t>
            </a:r>
            <a:endParaRPr/>
          </a:p>
          <a:p>
            <a:pPr indent="0" lvl="0" marL="0" marR="0" rtl="0" algn="l">
              <a:spcBef>
                <a:spcPts val="0"/>
              </a:spcBef>
              <a:spcAft>
                <a:spcPts val="0"/>
              </a:spcAft>
              <a:buNone/>
            </a:pPr>
            <a:r>
              <a:rPr b="0" i="0" lang="en-US" sz="1200" u="none" cap="none" strike="noStrike">
                <a:solidFill>
                  <a:srgbClr val="334155"/>
                </a:solidFill>
                <a:latin typeface="Calibri"/>
                <a:ea typeface="Calibri"/>
                <a:cs typeface="Calibri"/>
                <a:sym typeface="Calibri"/>
              </a:rPr>
              <a:t>High-angle CCTV at 15–30m causes helmets to blur and vanish across deep downsampling layers.</a:t>
            </a:r>
            <a:endParaRPr sz="1200"/>
          </a:p>
        </p:txBody>
      </p:sp>
      <p:sp>
        <p:nvSpPr>
          <p:cNvPr id="110" name="Google Shape;110;p14"/>
          <p:cNvSpPr/>
          <p:nvPr/>
        </p:nvSpPr>
        <p:spPr>
          <a:xfrm>
            <a:off x="731520" y="2468880"/>
            <a:ext cx="5120640" cy="1143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1" name="Google Shape;111;p14"/>
          <p:cNvSpPr/>
          <p:nvPr/>
        </p:nvSpPr>
        <p:spPr>
          <a:xfrm>
            <a:off x="868680" y="2606040"/>
            <a:ext cx="411480" cy="320040"/>
          </a:xfrm>
          <a:prstGeom prst="roundRect">
            <a:avLst>
              <a:gd fmla="val 16667" name="adj"/>
            </a:avLst>
          </a:prstGeom>
          <a:solidFill>
            <a:srgbClr val="2563EB"/>
          </a:solidFill>
          <a:ln cap="flat" cmpd="sng" w="12700">
            <a:solidFill>
              <a:srgbClr val="2563EB"/>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2" name="Google Shape;112;p14"/>
          <p:cNvSpPr txBox="1"/>
          <p:nvPr/>
        </p:nvSpPr>
        <p:spPr>
          <a:xfrm>
            <a:off x="868680" y="2615184"/>
            <a:ext cx="411480" cy="32004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100" u="none" cap="none" strike="noStrike">
                <a:solidFill>
                  <a:srgbClr val="FFFFFF"/>
                </a:solidFill>
                <a:latin typeface="Calibri"/>
                <a:ea typeface="Calibri"/>
                <a:cs typeface="Calibri"/>
                <a:sym typeface="Calibri"/>
              </a:rPr>
              <a:t>02</a:t>
            </a:r>
            <a:endParaRPr/>
          </a:p>
        </p:txBody>
      </p:sp>
      <p:sp>
        <p:nvSpPr>
          <p:cNvPr id="113" name="Google Shape;113;p14"/>
          <p:cNvSpPr txBox="1"/>
          <p:nvPr/>
        </p:nvSpPr>
        <p:spPr>
          <a:xfrm>
            <a:off x="1389888" y="2578608"/>
            <a:ext cx="4297800" cy="546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50" u="none" cap="none" strike="noStrike">
                <a:solidFill>
                  <a:srgbClr val="0F172A"/>
                </a:solidFill>
                <a:latin typeface="Calibri"/>
                <a:ea typeface="Calibri"/>
                <a:cs typeface="Calibri"/>
                <a:sym typeface="Calibri"/>
              </a:rPr>
              <a:t>Extreme Class Imbalance (1:12)</a:t>
            </a:r>
            <a:endParaRPr/>
          </a:p>
          <a:p>
            <a:pPr indent="0" lvl="0" marL="0" marR="0" rtl="0" algn="l">
              <a:spcBef>
                <a:spcPts val="0"/>
              </a:spcBef>
              <a:spcAft>
                <a:spcPts val="0"/>
              </a:spcAft>
              <a:buNone/>
            </a:pPr>
            <a:r>
              <a:rPr b="0" i="0" lang="en-US" sz="1200" u="none" cap="none" strike="noStrike">
                <a:solidFill>
                  <a:srgbClr val="334155"/>
                </a:solidFill>
                <a:latin typeface="Calibri"/>
                <a:ea typeface="Calibri"/>
                <a:cs typeface="Calibri"/>
                <a:sym typeface="Calibri"/>
              </a:rPr>
              <a:t>9,044 helmets vs. 111,514 worker body instances; worker gradients dominate the loss.</a:t>
            </a:r>
            <a:endParaRPr sz="1200"/>
          </a:p>
        </p:txBody>
      </p:sp>
      <p:sp>
        <p:nvSpPr>
          <p:cNvPr id="114" name="Google Shape;114;p14"/>
          <p:cNvSpPr/>
          <p:nvPr/>
        </p:nvSpPr>
        <p:spPr>
          <a:xfrm>
            <a:off x="731520" y="3703320"/>
            <a:ext cx="5120640" cy="1143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 name="Google Shape;115;p14"/>
          <p:cNvSpPr/>
          <p:nvPr/>
        </p:nvSpPr>
        <p:spPr>
          <a:xfrm>
            <a:off x="868680" y="3840480"/>
            <a:ext cx="411480" cy="320040"/>
          </a:xfrm>
          <a:prstGeom prst="roundRect">
            <a:avLst>
              <a:gd fmla="val 16667" name="adj"/>
            </a:avLst>
          </a:prstGeom>
          <a:solidFill>
            <a:srgbClr val="D97706"/>
          </a:solidFill>
          <a:ln cap="flat" cmpd="sng" w="12700">
            <a:solidFill>
              <a:srgbClr val="D97706"/>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6" name="Google Shape;116;p14"/>
          <p:cNvSpPr txBox="1"/>
          <p:nvPr/>
        </p:nvSpPr>
        <p:spPr>
          <a:xfrm>
            <a:off x="868680" y="3849624"/>
            <a:ext cx="411480" cy="32004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100" u="none" cap="none" strike="noStrike">
                <a:solidFill>
                  <a:srgbClr val="FFFFFF"/>
                </a:solidFill>
                <a:latin typeface="Calibri"/>
                <a:ea typeface="Calibri"/>
                <a:cs typeface="Calibri"/>
                <a:sym typeface="Calibri"/>
              </a:rPr>
              <a:t>03</a:t>
            </a:r>
            <a:endParaRPr/>
          </a:p>
        </p:txBody>
      </p:sp>
      <p:sp>
        <p:nvSpPr>
          <p:cNvPr id="117" name="Google Shape;117;p14"/>
          <p:cNvSpPr txBox="1"/>
          <p:nvPr/>
        </p:nvSpPr>
        <p:spPr>
          <a:xfrm>
            <a:off x="1389888" y="3813048"/>
            <a:ext cx="4297800" cy="546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50" u="none" cap="none" strike="noStrike">
                <a:solidFill>
                  <a:srgbClr val="0F172A"/>
                </a:solidFill>
                <a:latin typeface="Calibri"/>
                <a:ea typeface="Calibri"/>
                <a:cs typeface="Calibri"/>
                <a:sym typeface="Calibri"/>
              </a:rPr>
              <a:t>Color Noise &amp; False Alarms</a:t>
            </a:r>
            <a:endParaRPr/>
          </a:p>
          <a:p>
            <a:pPr indent="0" lvl="0" marL="0" marR="0" rtl="0" algn="l">
              <a:spcBef>
                <a:spcPts val="0"/>
              </a:spcBef>
              <a:spcAft>
                <a:spcPts val="0"/>
              </a:spcAft>
              <a:buNone/>
            </a:pPr>
            <a:r>
              <a:rPr b="0" i="0" lang="en-US" sz="1200" u="none" cap="none" strike="noStrike">
                <a:solidFill>
                  <a:srgbClr val="334155"/>
                </a:solidFill>
                <a:latin typeface="Calibri"/>
                <a:ea typeface="Calibri"/>
                <a:cs typeface="Calibri"/>
                <a:sym typeface="Calibri"/>
              </a:rPr>
              <a:t>Yellow buckets, cones, and caution signs trigger false positives due to CNN translation invariance.</a:t>
            </a:r>
            <a:endParaRPr sz="1200"/>
          </a:p>
        </p:txBody>
      </p:sp>
      <p:sp>
        <p:nvSpPr>
          <p:cNvPr id="118" name="Google Shape;118;p14"/>
          <p:cNvSpPr/>
          <p:nvPr/>
        </p:nvSpPr>
        <p:spPr>
          <a:xfrm>
            <a:off x="731520" y="4937760"/>
            <a:ext cx="5120640" cy="1143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9" name="Google Shape;119;p14"/>
          <p:cNvSpPr/>
          <p:nvPr/>
        </p:nvSpPr>
        <p:spPr>
          <a:xfrm>
            <a:off x="868680" y="5074920"/>
            <a:ext cx="411480" cy="320040"/>
          </a:xfrm>
          <a:prstGeom prst="roundRect">
            <a:avLst>
              <a:gd fmla="val 16667" name="adj"/>
            </a:avLst>
          </a:prstGeom>
          <a:solidFill>
            <a:srgbClr val="16A34A"/>
          </a:solidFill>
          <a:ln cap="flat" cmpd="sng" w="12700">
            <a:solidFill>
              <a:srgbClr val="16A34A"/>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0" name="Google Shape;120;p14"/>
          <p:cNvSpPr txBox="1"/>
          <p:nvPr/>
        </p:nvSpPr>
        <p:spPr>
          <a:xfrm>
            <a:off x="868680" y="5084064"/>
            <a:ext cx="411480" cy="32004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100" u="none" cap="none" strike="noStrike">
                <a:solidFill>
                  <a:srgbClr val="FFFFFF"/>
                </a:solidFill>
                <a:latin typeface="Calibri"/>
                <a:ea typeface="Calibri"/>
                <a:cs typeface="Calibri"/>
                <a:sym typeface="Calibri"/>
              </a:rPr>
              <a:t>04</a:t>
            </a:r>
            <a:endParaRPr/>
          </a:p>
        </p:txBody>
      </p:sp>
      <p:sp>
        <p:nvSpPr>
          <p:cNvPr id="121" name="Google Shape;121;p14"/>
          <p:cNvSpPr txBox="1"/>
          <p:nvPr/>
        </p:nvSpPr>
        <p:spPr>
          <a:xfrm>
            <a:off x="1389888" y="5047488"/>
            <a:ext cx="4297800" cy="546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50" u="none" cap="none" strike="noStrike">
                <a:solidFill>
                  <a:srgbClr val="0F172A"/>
                </a:solidFill>
                <a:latin typeface="Calibri"/>
                <a:ea typeface="Calibri"/>
                <a:cs typeface="Calibri"/>
                <a:sym typeface="Calibri"/>
              </a:rPr>
              <a:t>Edge Hardware Constraints</a:t>
            </a:r>
            <a:endParaRPr/>
          </a:p>
          <a:p>
            <a:pPr indent="0" lvl="0" marL="0" marR="0" rtl="0" algn="l">
              <a:spcBef>
                <a:spcPts val="0"/>
              </a:spcBef>
              <a:spcAft>
                <a:spcPts val="0"/>
              </a:spcAft>
              <a:buNone/>
            </a:pPr>
            <a:r>
              <a:rPr b="0" i="0" lang="en-US" sz="1200" u="none" cap="none" strike="noStrike">
                <a:solidFill>
                  <a:srgbClr val="334155"/>
                </a:solidFill>
                <a:latin typeface="Calibri"/>
                <a:ea typeface="Calibri"/>
                <a:cs typeface="Calibri"/>
                <a:sym typeface="Calibri"/>
              </a:rPr>
              <a:t>Strict &gt;= 25 FPS real-time requirement on budget laptops/GPUs without costly server clusters.</a:t>
            </a:r>
            <a:endParaRPr sz="1200"/>
          </a:p>
        </p:txBody>
      </p:sp>
      <p:pic>
        <p:nvPicPr>
          <p:cNvPr id="122" name="Google Shape;122;p14"/>
          <p:cNvPicPr preferRelativeResize="0"/>
          <p:nvPr/>
        </p:nvPicPr>
        <p:blipFill>
          <a:blip r:embed="rId3">
            <a:alphaModFix/>
          </a:blip>
          <a:stretch>
            <a:fillRect/>
          </a:stretch>
        </p:blipFill>
        <p:spPr>
          <a:xfrm>
            <a:off x="6692212" y="1691650"/>
            <a:ext cx="4923270" cy="3992126"/>
          </a:xfrm>
          <a:prstGeom prst="rect">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15"/>
          <p:cNvSpPr/>
          <p:nvPr/>
        </p:nvSpPr>
        <p:spPr>
          <a:xfrm>
            <a:off x="-12" y="69000"/>
            <a:ext cx="12191700" cy="69585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8" name="Google Shape;128;p15"/>
          <p:cNvSpPr txBox="1"/>
          <p:nvPr/>
        </p:nvSpPr>
        <p:spPr>
          <a:xfrm>
            <a:off x="731520" y="292608"/>
            <a:ext cx="8686800" cy="330900"/>
          </a:xfrm>
          <a:prstGeom prst="rect">
            <a:avLst/>
          </a:prstGeom>
          <a:noFill/>
          <a:ln>
            <a:noFill/>
          </a:ln>
        </p:spPr>
        <p:txBody>
          <a:bodyPr anchorCtr="0" anchor="t" bIns="0" lIns="0" spcFirstLastPara="1" rIns="0" wrap="square" tIns="0">
            <a:spAutoFit/>
          </a:bodyPr>
          <a:lstStyle/>
          <a:p>
            <a:pPr indent="0" lvl="0" marL="0" rtl="0" algn="l">
              <a:lnSpc>
                <a:spcPct val="115000"/>
              </a:lnSpc>
              <a:spcBef>
                <a:spcPts val="0"/>
              </a:spcBef>
              <a:spcAft>
                <a:spcPts val="0"/>
              </a:spcAft>
              <a:buClr>
                <a:schemeClr val="dk1"/>
              </a:buClr>
              <a:buSzPts val="1100"/>
              <a:buFont typeface="Arial"/>
              <a:buNone/>
            </a:pPr>
            <a:r>
              <a:rPr b="1" lang="en-US" sz="1000">
                <a:solidFill>
                  <a:srgbClr val="EA580C"/>
                </a:solidFill>
                <a:latin typeface="Calibri"/>
                <a:ea typeface="Calibri"/>
                <a:cs typeface="Calibri"/>
                <a:sym typeface="Calibri"/>
              </a:rPr>
              <a:t>CRITERION 2 · EXPECTED OUTCOMES</a:t>
            </a:r>
            <a:endParaRPr b="1" sz="1000">
              <a:solidFill>
                <a:srgbClr val="EA580C"/>
              </a:solidFill>
              <a:latin typeface="Calibri"/>
              <a:ea typeface="Calibri"/>
              <a:cs typeface="Calibri"/>
              <a:sym typeface="Calibri"/>
            </a:endParaRPr>
          </a:p>
          <a:p>
            <a:pPr indent="0" lvl="0" marL="0" marR="0" rtl="0" algn="l">
              <a:spcBef>
                <a:spcPts val="0"/>
              </a:spcBef>
              <a:spcAft>
                <a:spcPts val="0"/>
              </a:spcAft>
              <a:buNone/>
            </a:pPr>
            <a:r>
              <a:t/>
            </a:r>
            <a:endParaRPr b="1" sz="1000">
              <a:solidFill>
                <a:srgbClr val="EA580C"/>
              </a:solidFill>
              <a:latin typeface="Calibri"/>
              <a:ea typeface="Calibri"/>
              <a:cs typeface="Calibri"/>
              <a:sym typeface="Calibri"/>
            </a:endParaRPr>
          </a:p>
        </p:txBody>
      </p:sp>
      <p:sp>
        <p:nvSpPr>
          <p:cNvPr id="129" name="Google Shape;129;p15"/>
          <p:cNvSpPr txBox="1"/>
          <p:nvPr/>
        </p:nvSpPr>
        <p:spPr>
          <a:xfrm>
            <a:off x="10332720" y="292608"/>
            <a:ext cx="1097400" cy="1692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0</a:t>
            </a:r>
            <a:r>
              <a:rPr b="1" lang="en-US" sz="1100">
                <a:solidFill>
                  <a:srgbClr val="64748B"/>
                </a:solidFill>
                <a:latin typeface="Calibri"/>
                <a:ea typeface="Calibri"/>
                <a:cs typeface="Calibri"/>
                <a:sym typeface="Calibri"/>
              </a:rPr>
              <a:t>3</a:t>
            </a:r>
            <a:r>
              <a:rPr b="1" i="0" lang="en-US" sz="1100" u="none" cap="none" strike="noStrike">
                <a:solidFill>
                  <a:srgbClr val="64748B"/>
                </a:solidFill>
                <a:latin typeface="Calibri"/>
                <a:ea typeface="Calibri"/>
                <a:cs typeface="Calibri"/>
                <a:sym typeface="Calibri"/>
              </a:rPr>
              <a:t> / 18</a:t>
            </a:r>
            <a:endParaRPr/>
          </a:p>
        </p:txBody>
      </p:sp>
      <p:sp>
        <p:nvSpPr>
          <p:cNvPr id="130" name="Google Shape;130;p15"/>
          <p:cNvSpPr txBox="1"/>
          <p:nvPr/>
        </p:nvSpPr>
        <p:spPr>
          <a:xfrm>
            <a:off x="731520" y="566928"/>
            <a:ext cx="10698600" cy="384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500" u="none" cap="none" strike="noStrike">
                <a:solidFill>
                  <a:srgbClr val="0F172A"/>
                </a:solidFill>
                <a:latin typeface="Calibri"/>
                <a:ea typeface="Calibri"/>
                <a:cs typeface="Calibri"/>
                <a:sym typeface="Calibri"/>
              </a:rPr>
              <a:t>Project Scope </a:t>
            </a:r>
            <a:endParaRPr sz="1900"/>
          </a:p>
        </p:txBody>
      </p:sp>
      <p:sp>
        <p:nvSpPr>
          <p:cNvPr id="131" name="Google Shape;131;p15"/>
          <p:cNvSpPr/>
          <p:nvPr/>
        </p:nvSpPr>
        <p:spPr>
          <a:xfrm>
            <a:off x="485725" y="1484563"/>
            <a:ext cx="10944300" cy="13407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2" name="Google Shape;132;p15"/>
          <p:cNvSpPr/>
          <p:nvPr/>
        </p:nvSpPr>
        <p:spPr>
          <a:xfrm>
            <a:off x="843138" y="2064994"/>
            <a:ext cx="411600" cy="320100"/>
          </a:xfrm>
          <a:prstGeom prst="roundRect">
            <a:avLst>
              <a:gd fmla="val 16667" name="adj"/>
            </a:avLst>
          </a:prstGeom>
          <a:solidFill>
            <a:srgbClr val="2563EB"/>
          </a:solidFill>
          <a:ln cap="flat" cmpd="sng" w="12700">
            <a:solidFill>
              <a:srgbClr val="2563EB"/>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3" name="Google Shape;133;p15"/>
          <p:cNvSpPr txBox="1"/>
          <p:nvPr/>
        </p:nvSpPr>
        <p:spPr>
          <a:xfrm>
            <a:off x="843138" y="2140451"/>
            <a:ext cx="411600" cy="215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US">
                <a:solidFill>
                  <a:srgbClr val="FFFFFF"/>
                </a:solidFill>
                <a:latin typeface="Calibri"/>
                <a:ea typeface="Calibri"/>
                <a:cs typeface="Calibri"/>
                <a:sym typeface="Calibri"/>
              </a:rPr>
              <a:t>01</a:t>
            </a:r>
            <a:endParaRPr/>
          </a:p>
        </p:txBody>
      </p:sp>
      <p:sp>
        <p:nvSpPr>
          <p:cNvPr id="134" name="Google Shape;134;p15"/>
          <p:cNvSpPr txBox="1"/>
          <p:nvPr/>
        </p:nvSpPr>
        <p:spPr>
          <a:xfrm>
            <a:off x="1645803" y="2067244"/>
            <a:ext cx="29262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u="none" cap="none" strike="noStrike">
                <a:solidFill>
                  <a:srgbClr val="0F172A"/>
                </a:solidFill>
                <a:latin typeface="Calibri"/>
                <a:ea typeface="Calibri"/>
                <a:cs typeface="Calibri"/>
                <a:sym typeface="Calibri"/>
              </a:rPr>
              <a:t>REP-YOLO11s MODEL</a:t>
            </a:r>
            <a:endParaRPr/>
          </a:p>
          <a:p>
            <a:pPr indent="0" lvl="0" marL="0" marR="0" rtl="0" algn="l">
              <a:spcBef>
                <a:spcPts val="0"/>
              </a:spcBef>
              <a:spcAft>
                <a:spcPts val="0"/>
              </a:spcAft>
              <a:buNone/>
            </a:pPr>
            <a:r>
              <a:rPr b="1" i="0" lang="en-US" u="none" cap="none" strike="noStrike">
                <a:solidFill>
                  <a:srgbClr val="2563EB"/>
                </a:solidFill>
                <a:latin typeface="Calibri"/>
                <a:ea typeface="Calibri"/>
                <a:cs typeface="Calibri"/>
                <a:sym typeface="Calibri"/>
              </a:rPr>
              <a:t>Accurate &amp; Generalizable</a:t>
            </a:r>
            <a:endParaRPr/>
          </a:p>
        </p:txBody>
      </p:sp>
      <p:sp>
        <p:nvSpPr>
          <p:cNvPr id="135" name="Google Shape;135;p15"/>
          <p:cNvSpPr txBox="1"/>
          <p:nvPr/>
        </p:nvSpPr>
        <p:spPr>
          <a:xfrm>
            <a:off x="4018199" y="2062513"/>
            <a:ext cx="7228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u="none" cap="none" strike="noStrike">
                <a:solidFill>
                  <a:srgbClr val="334155"/>
                </a:solidFill>
                <a:latin typeface="Calibri"/>
                <a:ea typeface="Calibri"/>
                <a:cs typeface="Calibri"/>
                <a:sym typeface="Calibri"/>
              </a:rPr>
              <a:t>Trained weights achieving </a:t>
            </a:r>
            <a:r>
              <a:rPr lang="en-US">
                <a:solidFill>
                  <a:srgbClr val="334155"/>
                </a:solidFill>
                <a:latin typeface="Calibri"/>
                <a:ea typeface="Calibri"/>
                <a:cs typeface="Calibri"/>
                <a:sym typeface="Calibri"/>
              </a:rPr>
              <a:t>map 50  &gt; 96%</a:t>
            </a:r>
            <a:endParaRPr/>
          </a:p>
        </p:txBody>
      </p:sp>
      <p:sp>
        <p:nvSpPr>
          <p:cNvPr id="136" name="Google Shape;136;p15"/>
          <p:cNvSpPr txBox="1"/>
          <p:nvPr/>
        </p:nvSpPr>
        <p:spPr>
          <a:xfrm>
            <a:off x="914400" y="3218688"/>
            <a:ext cx="411600" cy="1692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100" u="none" cap="none" strike="noStrike">
                <a:solidFill>
                  <a:srgbClr val="FFFFFF"/>
                </a:solidFill>
                <a:latin typeface="Calibri"/>
                <a:ea typeface="Calibri"/>
                <a:cs typeface="Calibri"/>
                <a:sym typeface="Calibri"/>
              </a:rPr>
              <a:t>0</a:t>
            </a:r>
            <a:endParaRPr/>
          </a:p>
        </p:txBody>
      </p:sp>
      <p:sp>
        <p:nvSpPr>
          <p:cNvPr id="137" name="Google Shape;137;p15"/>
          <p:cNvSpPr txBox="1"/>
          <p:nvPr/>
        </p:nvSpPr>
        <p:spPr>
          <a:xfrm>
            <a:off x="1463040" y="3191256"/>
            <a:ext cx="29262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138" name="Google Shape;138;p15"/>
          <p:cNvSpPr/>
          <p:nvPr/>
        </p:nvSpPr>
        <p:spPr>
          <a:xfrm>
            <a:off x="485725" y="3127274"/>
            <a:ext cx="10959300" cy="13962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15"/>
          <p:cNvSpPr/>
          <p:nvPr/>
        </p:nvSpPr>
        <p:spPr>
          <a:xfrm>
            <a:off x="843138" y="3665207"/>
            <a:ext cx="411600" cy="320100"/>
          </a:xfrm>
          <a:prstGeom prst="roundRect">
            <a:avLst>
              <a:gd fmla="val 16667" name="adj"/>
            </a:avLst>
          </a:prstGeom>
          <a:solidFill>
            <a:srgbClr val="D97706"/>
          </a:solidFill>
          <a:ln cap="flat" cmpd="sng" w="12700">
            <a:solidFill>
              <a:srgbClr val="D97706"/>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0" name="Google Shape;140;p15"/>
          <p:cNvSpPr txBox="1"/>
          <p:nvPr/>
        </p:nvSpPr>
        <p:spPr>
          <a:xfrm>
            <a:off x="843150" y="3740675"/>
            <a:ext cx="411600" cy="215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US">
                <a:solidFill>
                  <a:srgbClr val="FFFFFF"/>
                </a:solidFill>
                <a:latin typeface="Calibri"/>
                <a:ea typeface="Calibri"/>
                <a:cs typeface="Calibri"/>
                <a:sym typeface="Calibri"/>
              </a:rPr>
              <a:t>02</a:t>
            </a:r>
            <a:endParaRPr/>
          </a:p>
        </p:txBody>
      </p:sp>
      <p:sp>
        <p:nvSpPr>
          <p:cNvPr id="141" name="Google Shape;141;p15"/>
          <p:cNvSpPr txBox="1"/>
          <p:nvPr/>
        </p:nvSpPr>
        <p:spPr>
          <a:xfrm>
            <a:off x="1645790" y="3609880"/>
            <a:ext cx="29262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u="none" cap="none" strike="noStrike">
                <a:solidFill>
                  <a:srgbClr val="0F172A"/>
                </a:solidFill>
                <a:latin typeface="Calibri"/>
                <a:ea typeface="Calibri"/>
                <a:cs typeface="Calibri"/>
                <a:sym typeface="Calibri"/>
              </a:rPr>
              <a:t>COMPILED ENGINES</a:t>
            </a:r>
            <a:endParaRPr/>
          </a:p>
          <a:p>
            <a:pPr indent="0" lvl="0" marL="0" marR="0" rtl="0" algn="l">
              <a:spcBef>
                <a:spcPts val="0"/>
              </a:spcBef>
              <a:spcAft>
                <a:spcPts val="0"/>
              </a:spcAft>
              <a:buNone/>
            </a:pPr>
            <a:r>
              <a:rPr b="1" i="0" lang="en-US" u="none" cap="none" strike="noStrike">
                <a:solidFill>
                  <a:srgbClr val="D97706"/>
                </a:solidFill>
                <a:latin typeface="Calibri"/>
                <a:ea typeface="Calibri"/>
                <a:cs typeface="Calibri"/>
                <a:sym typeface="Calibri"/>
              </a:rPr>
              <a:t>Zero-latency Deploy</a:t>
            </a:r>
            <a:endParaRPr/>
          </a:p>
        </p:txBody>
      </p:sp>
      <p:sp>
        <p:nvSpPr>
          <p:cNvPr id="142" name="Google Shape;142;p15"/>
          <p:cNvSpPr txBox="1"/>
          <p:nvPr/>
        </p:nvSpPr>
        <p:spPr>
          <a:xfrm>
            <a:off x="4107985" y="3732868"/>
            <a:ext cx="67665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u="none" cap="none" strike="noStrike">
                <a:solidFill>
                  <a:srgbClr val="334155"/>
                </a:solidFill>
                <a:latin typeface="Calibri"/>
                <a:ea typeface="Calibri"/>
                <a:cs typeface="Calibri"/>
                <a:sym typeface="Calibri"/>
              </a:rPr>
              <a:t>TensorRT 11.2 FP16 (.engine), ONNX INT8 (.onnx), OpenVINO packages ready for cross-platform edge chips.</a:t>
            </a:r>
            <a:endParaRPr/>
          </a:p>
        </p:txBody>
      </p:sp>
      <p:sp>
        <p:nvSpPr>
          <p:cNvPr id="143" name="Google Shape;143;p15"/>
          <p:cNvSpPr/>
          <p:nvPr/>
        </p:nvSpPr>
        <p:spPr>
          <a:xfrm>
            <a:off x="485725" y="4825248"/>
            <a:ext cx="10959300" cy="14862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4" name="Google Shape;144;p15"/>
          <p:cNvSpPr/>
          <p:nvPr/>
        </p:nvSpPr>
        <p:spPr>
          <a:xfrm>
            <a:off x="843138" y="5432919"/>
            <a:ext cx="411600" cy="320100"/>
          </a:xfrm>
          <a:prstGeom prst="roundRect">
            <a:avLst>
              <a:gd fmla="val 16667" name="adj"/>
            </a:avLst>
          </a:prstGeom>
          <a:solidFill>
            <a:srgbClr val="9333EA"/>
          </a:solidFill>
          <a:ln cap="flat" cmpd="sng" w="12700">
            <a:solidFill>
              <a:srgbClr val="9333EA"/>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5" name="Google Shape;145;p15"/>
          <p:cNvSpPr txBox="1"/>
          <p:nvPr/>
        </p:nvSpPr>
        <p:spPr>
          <a:xfrm>
            <a:off x="843150" y="5508385"/>
            <a:ext cx="411600" cy="215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US">
                <a:solidFill>
                  <a:srgbClr val="FFFFFF"/>
                </a:solidFill>
                <a:latin typeface="Calibri"/>
                <a:ea typeface="Calibri"/>
                <a:cs typeface="Calibri"/>
                <a:sym typeface="Calibri"/>
              </a:rPr>
              <a:t>03</a:t>
            </a:r>
            <a:endParaRPr sz="1700"/>
          </a:p>
        </p:txBody>
      </p:sp>
      <p:sp>
        <p:nvSpPr>
          <p:cNvPr id="146" name="Google Shape;146;p15"/>
          <p:cNvSpPr txBox="1"/>
          <p:nvPr/>
        </p:nvSpPr>
        <p:spPr>
          <a:xfrm>
            <a:off x="1526740" y="5403430"/>
            <a:ext cx="29262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u="none" cap="none" strike="noStrike">
                <a:solidFill>
                  <a:srgbClr val="0F172A"/>
                </a:solidFill>
                <a:latin typeface="Calibri"/>
                <a:ea typeface="Calibri"/>
                <a:cs typeface="Calibri"/>
                <a:sym typeface="Calibri"/>
              </a:rPr>
              <a:t>STANDARDIZED BENCHMARK</a:t>
            </a:r>
            <a:endParaRPr/>
          </a:p>
          <a:p>
            <a:pPr indent="0" lvl="0" marL="0" marR="0" rtl="0" algn="l">
              <a:spcBef>
                <a:spcPts val="0"/>
              </a:spcBef>
              <a:spcAft>
                <a:spcPts val="0"/>
              </a:spcAft>
              <a:buNone/>
            </a:pPr>
            <a:r>
              <a:rPr b="1" i="0" lang="en-US" u="none" cap="none" strike="noStrike">
                <a:solidFill>
                  <a:srgbClr val="9333EA"/>
                </a:solidFill>
                <a:latin typeface="Calibri"/>
                <a:ea typeface="Calibri"/>
                <a:cs typeface="Calibri"/>
                <a:sym typeface="Calibri"/>
              </a:rPr>
              <a:t>Cleaned Industry Benchmark</a:t>
            </a:r>
            <a:endParaRPr/>
          </a:p>
        </p:txBody>
      </p:sp>
      <p:sp>
        <p:nvSpPr>
          <p:cNvPr id="147" name="Google Shape;147;p15"/>
          <p:cNvSpPr txBox="1"/>
          <p:nvPr/>
        </p:nvSpPr>
        <p:spPr>
          <a:xfrm>
            <a:off x="4018210" y="5500581"/>
            <a:ext cx="67665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u="none" cap="none" strike="noStrike">
                <a:solidFill>
                  <a:srgbClr val="334155"/>
                </a:solidFill>
                <a:latin typeface="Calibri"/>
                <a:ea typeface="Calibri"/>
                <a:cs typeface="Calibri"/>
                <a:sym typeface="Calibri"/>
              </a:rPr>
              <a:t>&gt;33,000 images harmonized across 6 industrial domains with cleaned VOC2028 annotations.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16"/>
          <p:cNvSpPr/>
          <p:nvPr/>
        </p:nvSpPr>
        <p:spPr>
          <a:xfrm>
            <a:off x="-12" y="0"/>
            <a:ext cx="12191700"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3" name="Google Shape;153;p16"/>
          <p:cNvSpPr txBox="1"/>
          <p:nvPr/>
        </p:nvSpPr>
        <p:spPr>
          <a:xfrm>
            <a:off x="731507" y="292608"/>
            <a:ext cx="8686800" cy="153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EA580C"/>
                </a:solidFill>
                <a:latin typeface="Calibri"/>
                <a:ea typeface="Calibri"/>
                <a:cs typeface="Calibri"/>
                <a:sym typeface="Calibri"/>
              </a:rPr>
              <a:t>CRITERION 3 · FEASIBILITY &amp; THEORETICAL FOUNDATION</a:t>
            </a:r>
            <a:endParaRPr/>
          </a:p>
        </p:txBody>
      </p:sp>
      <p:sp>
        <p:nvSpPr>
          <p:cNvPr id="154" name="Google Shape;154;p16"/>
          <p:cNvSpPr txBox="1"/>
          <p:nvPr/>
        </p:nvSpPr>
        <p:spPr>
          <a:xfrm>
            <a:off x="10332708" y="292608"/>
            <a:ext cx="1097400" cy="1692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04 / 18</a:t>
            </a:r>
            <a:endParaRPr/>
          </a:p>
        </p:txBody>
      </p:sp>
      <p:sp>
        <p:nvSpPr>
          <p:cNvPr id="155" name="Google Shape;155;p16"/>
          <p:cNvSpPr txBox="1"/>
          <p:nvPr/>
        </p:nvSpPr>
        <p:spPr>
          <a:xfrm>
            <a:off x="731507" y="566928"/>
            <a:ext cx="10698600" cy="307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Literature Review of </a:t>
            </a:r>
            <a:r>
              <a:rPr b="1" lang="en-US" sz="2000">
                <a:solidFill>
                  <a:srgbClr val="0F172A"/>
                </a:solidFill>
                <a:latin typeface="Calibri"/>
                <a:ea typeface="Calibri"/>
                <a:cs typeface="Calibri"/>
                <a:sym typeface="Calibri"/>
              </a:rPr>
              <a:t>30</a:t>
            </a:r>
            <a:r>
              <a:rPr b="1" i="0" lang="en-US" sz="2000" u="none" cap="none" strike="noStrike">
                <a:solidFill>
                  <a:srgbClr val="0F172A"/>
                </a:solidFill>
                <a:latin typeface="Calibri"/>
                <a:ea typeface="Calibri"/>
                <a:cs typeface="Calibri"/>
                <a:sym typeface="Calibri"/>
              </a:rPr>
              <a:t> Works &amp; SOTA Research Gap</a:t>
            </a:r>
            <a:endParaRPr/>
          </a:p>
        </p:txBody>
      </p:sp>
      <p:sp>
        <p:nvSpPr>
          <p:cNvPr id="156" name="Google Shape;156;p16"/>
          <p:cNvSpPr/>
          <p:nvPr/>
        </p:nvSpPr>
        <p:spPr>
          <a:xfrm>
            <a:off x="731507" y="1234440"/>
            <a:ext cx="10698600" cy="7773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7" name="Google Shape;157;p16"/>
          <p:cNvSpPr txBox="1"/>
          <p:nvPr/>
        </p:nvSpPr>
        <p:spPr>
          <a:xfrm>
            <a:off x="914388" y="1344168"/>
            <a:ext cx="27432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0F172A"/>
                </a:solidFill>
                <a:latin typeface="Calibri"/>
                <a:ea typeface="Calibri"/>
                <a:cs typeface="Calibri"/>
                <a:sym typeface="Calibri"/>
              </a:rPr>
              <a:t>Standard YOLO (v8 / 11)</a:t>
            </a:r>
            <a:endParaRPr sz="1800"/>
          </a:p>
        </p:txBody>
      </p:sp>
      <p:sp>
        <p:nvSpPr>
          <p:cNvPr id="158" name="Google Shape;158;p16"/>
          <p:cNvSpPr txBox="1"/>
          <p:nvPr/>
        </p:nvSpPr>
        <p:spPr>
          <a:xfrm>
            <a:off x="3749027" y="1344168"/>
            <a:ext cx="21030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u="none" cap="none" strike="noStrike">
                <a:solidFill>
                  <a:srgbClr val="0F172A"/>
                </a:solidFill>
                <a:latin typeface="Calibri"/>
                <a:ea typeface="Calibri"/>
                <a:cs typeface="Calibri"/>
                <a:sym typeface="Calibri"/>
              </a:rPr>
              <a:t>mAP50: 94.74% mAP50</a:t>
            </a:r>
            <a:endParaRPr/>
          </a:p>
          <a:p>
            <a:pPr indent="0" lvl="0" marL="0" marR="0" rtl="0" algn="l">
              <a:spcBef>
                <a:spcPts val="0"/>
              </a:spcBef>
              <a:spcAft>
                <a:spcPts val="0"/>
              </a:spcAft>
              <a:buNone/>
            </a:pPr>
            <a:r>
              <a:t/>
            </a:r>
            <a:endParaRPr/>
          </a:p>
        </p:txBody>
      </p:sp>
      <p:sp>
        <p:nvSpPr>
          <p:cNvPr id="159" name="Google Shape;159;p16"/>
          <p:cNvSpPr txBox="1"/>
          <p:nvPr/>
        </p:nvSpPr>
        <p:spPr>
          <a:xfrm>
            <a:off x="5943588" y="1344168"/>
            <a:ext cx="53034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u="none" cap="none" strike="noStrike">
                <a:solidFill>
                  <a:srgbClr val="334155"/>
                </a:solidFill>
                <a:latin typeface="Calibri"/>
                <a:ea typeface="Calibri"/>
                <a:cs typeface="Calibri"/>
                <a:sym typeface="Calibri"/>
              </a:rPr>
              <a:t>Coordinate-agnostic; frequent false positives on ground yellow buckets.</a:t>
            </a:r>
            <a:endParaRPr/>
          </a:p>
        </p:txBody>
      </p:sp>
      <p:sp>
        <p:nvSpPr>
          <p:cNvPr id="160" name="Google Shape;160;p16"/>
          <p:cNvSpPr/>
          <p:nvPr/>
        </p:nvSpPr>
        <p:spPr>
          <a:xfrm>
            <a:off x="731507" y="2103120"/>
            <a:ext cx="10698600" cy="7773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1" name="Google Shape;161;p16"/>
          <p:cNvSpPr txBox="1"/>
          <p:nvPr/>
        </p:nvSpPr>
        <p:spPr>
          <a:xfrm>
            <a:off x="914388" y="2212848"/>
            <a:ext cx="27432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0F172A"/>
                </a:solidFill>
                <a:latin typeface="Calibri"/>
                <a:ea typeface="Calibri"/>
                <a:cs typeface="Calibri"/>
                <a:sym typeface="Calibri"/>
              </a:rPr>
              <a:t>EC-YOLOv8 (Zhang 2024)</a:t>
            </a:r>
            <a:endParaRPr sz="1800"/>
          </a:p>
        </p:txBody>
      </p:sp>
      <p:sp>
        <p:nvSpPr>
          <p:cNvPr id="162" name="Google Shape;162;p16"/>
          <p:cNvSpPr txBox="1"/>
          <p:nvPr/>
        </p:nvSpPr>
        <p:spPr>
          <a:xfrm>
            <a:off x="3749027" y="2212848"/>
            <a:ext cx="21030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u="none" cap="none" strike="noStrike">
                <a:solidFill>
                  <a:srgbClr val="0F172A"/>
                </a:solidFill>
                <a:latin typeface="Calibri"/>
                <a:ea typeface="Calibri"/>
                <a:cs typeface="Calibri"/>
                <a:sym typeface="Calibri"/>
              </a:rPr>
              <a:t>mAP50: 95.70% mAP50</a:t>
            </a:r>
            <a:endParaRPr/>
          </a:p>
          <a:p>
            <a:pPr indent="0" lvl="0" marL="0" marR="0" rtl="0" algn="l">
              <a:spcBef>
                <a:spcPts val="0"/>
              </a:spcBef>
              <a:spcAft>
                <a:spcPts val="0"/>
              </a:spcAft>
              <a:buNone/>
            </a:pPr>
            <a:r>
              <a:t/>
            </a:r>
            <a:endParaRPr/>
          </a:p>
        </p:txBody>
      </p:sp>
      <p:sp>
        <p:nvSpPr>
          <p:cNvPr id="163" name="Google Shape;163;p16"/>
          <p:cNvSpPr txBox="1"/>
          <p:nvPr/>
        </p:nvSpPr>
        <p:spPr>
          <a:xfrm>
            <a:off x="5943588" y="2212848"/>
            <a:ext cx="53034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u="none" cap="none" strike="noStrike">
                <a:solidFill>
                  <a:srgbClr val="334155"/>
                </a:solidFill>
                <a:latin typeface="Calibri"/>
                <a:ea typeface="Calibri"/>
                <a:cs typeface="Calibri"/>
                <a:sym typeface="Calibri"/>
              </a:rPr>
              <a:t>High mAP via CARAFE operator, but heavy computational latency overhead.</a:t>
            </a:r>
            <a:endParaRPr/>
          </a:p>
        </p:txBody>
      </p:sp>
      <p:sp>
        <p:nvSpPr>
          <p:cNvPr id="164" name="Google Shape;164;p16"/>
          <p:cNvSpPr/>
          <p:nvPr/>
        </p:nvSpPr>
        <p:spPr>
          <a:xfrm>
            <a:off x="731507" y="2971800"/>
            <a:ext cx="10698600" cy="7773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5" name="Google Shape;165;p16"/>
          <p:cNvSpPr txBox="1"/>
          <p:nvPr/>
        </p:nvSpPr>
        <p:spPr>
          <a:xfrm>
            <a:off x="914388" y="3081528"/>
            <a:ext cx="27432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0F172A"/>
                </a:solidFill>
                <a:latin typeface="Calibri"/>
                <a:ea typeface="Calibri"/>
                <a:cs typeface="Calibri"/>
                <a:sym typeface="Calibri"/>
              </a:rPr>
              <a:t>YOLO-CBF (Li 2023)</a:t>
            </a:r>
            <a:endParaRPr sz="1800"/>
          </a:p>
        </p:txBody>
      </p:sp>
      <p:sp>
        <p:nvSpPr>
          <p:cNvPr id="166" name="Google Shape;166;p16"/>
          <p:cNvSpPr txBox="1"/>
          <p:nvPr/>
        </p:nvSpPr>
        <p:spPr>
          <a:xfrm>
            <a:off x="3749027" y="3081528"/>
            <a:ext cx="21030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u="none" cap="none" strike="noStrike">
                <a:solidFill>
                  <a:srgbClr val="0F172A"/>
                </a:solidFill>
                <a:latin typeface="Calibri"/>
                <a:ea typeface="Calibri"/>
                <a:cs typeface="Calibri"/>
                <a:sym typeface="Calibri"/>
              </a:rPr>
              <a:t>mAP50: 95.60% mAP50</a:t>
            </a:r>
            <a:endParaRPr/>
          </a:p>
          <a:p>
            <a:pPr indent="0" lvl="0" marL="0" marR="0" rtl="0" algn="l">
              <a:spcBef>
                <a:spcPts val="0"/>
              </a:spcBef>
              <a:spcAft>
                <a:spcPts val="0"/>
              </a:spcAft>
              <a:buNone/>
            </a:pPr>
            <a:r>
              <a:t/>
            </a:r>
            <a:endParaRPr/>
          </a:p>
        </p:txBody>
      </p:sp>
      <p:sp>
        <p:nvSpPr>
          <p:cNvPr id="167" name="Google Shape;167;p16"/>
          <p:cNvSpPr txBox="1"/>
          <p:nvPr/>
        </p:nvSpPr>
        <p:spPr>
          <a:xfrm>
            <a:off x="5943588" y="3081528"/>
            <a:ext cx="53034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u="none" cap="none" strike="noStrike">
                <a:solidFill>
                  <a:srgbClr val="334155"/>
                </a:solidFill>
                <a:latin typeface="Calibri"/>
                <a:ea typeface="Calibri"/>
                <a:cs typeface="Calibri"/>
                <a:sym typeface="Calibri"/>
              </a:rPr>
              <a:t>Combines CoordConv &amp; BiFormer but balloons to 37.2M params and 104.5 GFLOPs.</a:t>
            </a:r>
            <a:endParaRPr/>
          </a:p>
        </p:txBody>
      </p:sp>
      <p:sp>
        <p:nvSpPr>
          <p:cNvPr id="168" name="Google Shape;168;p16"/>
          <p:cNvSpPr/>
          <p:nvPr/>
        </p:nvSpPr>
        <p:spPr>
          <a:xfrm>
            <a:off x="731507" y="3840479"/>
            <a:ext cx="10698600" cy="7773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9" name="Google Shape;169;p16"/>
          <p:cNvSpPr txBox="1"/>
          <p:nvPr/>
        </p:nvSpPr>
        <p:spPr>
          <a:xfrm>
            <a:off x="914388" y="3950207"/>
            <a:ext cx="27432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0F172A"/>
                </a:solidFill>
                <a:latin typeface="Calibri"/>
                <a:ea typeface="Calibri"/>
                <a:cs typeface="Calibri"/>
                <a:sym typeface="Calibri"/>
              </a:rPr>
              <a:t>YOLOv8n-FADS (Fu 2024)</a:t>
            </a:r>
            <a:endParaRPr sz="1800"/>
          </a:p>
        </p:txBody>
      </p:sp>
      <p:sp>
        <p:nvSpPr>
          <p:cNvPr id="170" name="Google Shape;170;p16"/>
          <p:cNvSpPr txBox="1"/>
          <p:nvPr/>
        </p:nvSpPr>
        <p:spPr>
          <a:xfrm>
            <a:off x="3749027" y="3950207"/>
            <a:ext cx="21030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u="none" cap="none" strike="noStrike">
                <a:solidFill>
                  <a:srgbClr val="0F172A"/>
                </a:solidFill>
                <a:latin typeface="Calibri"/>
                <a:ea typeface="Calibri"/>
                <a:cs typeface="Calibri"/>
                <a:sym typeface="Calibri"/>
              </a:rPr>
              <a:t>mAP50: 79.70% mAP50</a:t>
            </a:r>
            <a:endParaRPr/>
          </a:p>
          <a:p>
            <a:pPr indent="0" lvl="0" marL="0" marR="0" rtl="0" algn="l">
              <a:spcBef>
                <a:spcPts val="0"/>
              </a:spcBef>
              <a:spcAft>
                <a:spcPts val="0"/>
              </a:spcAft>
              <a:buNone/>
            </a:pPr>
            <a:r>
              <a:t/>
            </a:r>
            <a:endParaRPr/>
          </a:p>
        </p:txBody>
      </p:sp>
      <p:sp>
        <p:nvSpPr>
          <p:cNvPr id="171" name="Google Shape;171;p16"/>
          <p:cNvSpPr txBox="1"/>
          <p:nvPr/>
        </p:nvSpPr>
        <p:spPr>
          <a:xfrm>
            <a:off x="5943588" y="3950207"/>
            <a:ext cx="53034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u="none" cap="none" strike="noStrike">
                <a:solidFill>
                  <a:srgbClr val="334155"/>
                </a:solidFill>
                <a:latin typeface="Calibri"/>
                <a:ea typeface="Calibri"/>
                <a:cs typeface="Calibri"/>
                <a:sym typeface="Calibri"/>
              </a:rPr>
              <a:t>P2 branch expansion causes computational explosion; low empirical precision.</a:t>
            </a:r>
            <a:endParaRPr/>
          </a:p>
        </p:txBody>
      </p:sp>
      <p:sp>
        <p:nvSpPr>
          <p:cNvPr id="172" name="Google Shape;172;p16"/>
          <p:cNvSpPr/>
          <p:nvPr/>
        </p:nvSpPr>
        <p:spPr>
          <a:xfrm>
            <a:off x="731507" y="5715000"/>
            <a:ext cx="10698600" cy="731400"/>
          </a:xfrm>
          <a:prstGeom prst="roundRect">
            <a:avLst>
              <a:gd fmla="val 16667" name="adj"/>
            </a:avLst>
          </a:prstGeom>
          <a:solidFill>
            <a:srgbClr val="FFF7ED"/>
          </a:solidFill>
          <a:ln cap="flat" cmpd="sng" w="12700">
            <a:solidFill>
              <a:srgbClr val="EA580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3" name="Google Shape;173;p16"/>
          <p:cNvSpPr txBox="1"/>
          <p:nvPr/>
        </p:nvSpPr>
        <p:spPr>
          <a:xfrm>
            <a:off x="914388" y="5779008"/>
            <a:ext cx="10332600" cy="161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50" u="none" cap="none" strike="noStrike">
                <a:solidFill>
                  <a:srgbClr val="EA580C"/>
                </a:solidFill>
                <a:latin typeface="Calibri"/>
                <a:ea typeface="Calibri"/>
                <a:cs typeface="Calibri"/>
                <a:sym typeface="Calibri"/>
              </a:rPr>
              <a:t>★ RESEARCH GAP: No existing model achieves high tiny-object accuracy WITHOUT incurring severe inference latency or parameter explosion during edge deployment.</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sp>
        <p:nvSpPr>
          <p:cNvPr id="178" name="Google Shape;178;p17"/>
          <p:cNvSpPr/>
          <p:nvPr/>
        </p:nvSpPr>
        <p:spPr>
          <a:xfrm>
            <a:off x="0" y="0"/>
            <a:ext cx="12191700"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9" name="Google Shape;179;p17"/>
          <p:cNvSpPr txBox="1"/>
          <p:nvPr/>
        </p:nvSpPr>
        <p:spPr>
          <a:xfrm>
            <a:off x="731520" y="292608"/>
            <a:ext cx="8686800" cy="2560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EA580C"/>
                </a:solidFill>
                <a:latin typeface="Calibri"/>
                <a:ea typeface="Calibri"/>
                <a:cs typeface="Calibri"/>
                <a:sym typeface="Calibri"/>
              </a:rPr>
              <a:t>PROPOSED METHOD · NEURAL NETWORK ARCHITECTURE</a:t>
            </a:r>
            <a:endParaRPr/>
          </a:p>
        </p:txBody>
      </p:sp>
      <p:sp>
        <p:nvSpPr>
          <p:cNvPr id="180" name="Google Shape;180;p17"/>
          <p:cNvSpPr txBox="1"/>
          <p:nvPr/>
        </p:nvSpPr>
        <p:spPr>
          <a:xfrm>
            <a:off x="10332720" y="292608"/>
            <a:ext cx="1097280" cy="256032"/>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05 / 18</a:t>
            </a:r>
            <a:endParaRPr/>
          </a:p>
        </p:txBody>
      </p:sp>
      <p:sp>
        <p:nvSpPr>
          <p:cNvPr id="181" name="Google Shape;181;p17"/>
          <p:cNvSpPr txBox="1"/>
          <p:nvPr/>
        </p:nvSpPr>
        <p:spPr>
          <a:xfrm>
            <a:off x="731520" y="566928"/>
            <a:ext cx="1069848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Comprehensive 5-Stage Neural Architecture of Rep-YOLO11s</a:t>
            </a:r>
            <a:endParaRPr/>
          </a:p>
        </p:txBody>
      </p:sp>
      <p:sp>
        <p:nvSpPr>
          <p:cNvPr id="182" name="Google Shape;182;p17"/>
          <p:cNvSpPr/>
          <p:nvPr/>
        </p:nvSpPr>
        <p:spPr>
          <a:xfrm>
            <a:off x="731520" y="1143000"/>
            <a:ext cx="10698480" cy="393192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Fig2_rep_yolo11s_neural_architecture.png" id="183" name="Google Shape;183;p17"/>
          <p:cNvPicPr preferRelativeResize="0"/>
          <p:nvPr/>
        </p:nvPicPr>
        <p:blipFill rotWithShape="1">
          <a:blip r:embed="rId3">
            <a:alphaModFix/>
          </a:blip>
          <a:srcRect b="0" l="0" r="0" t="0"/>
          <a:stretch/>
        </p:blipFill>
        <p:spPr>
          <a:xfrm>
            <a:off x="594375" y="923213"/>
            <a:ext cx="11180673" cy="4576764"/>
          </a:xfrm>
          <a:prstGeom prst="rect">
            <a:avLst/>
          </a:prstGeom>
          <a:noFill/>
          <a:ln>
            <a:noFill/>
          </a:ln>
        </p:spPr>
      </p:pic>
      <p:sp>
        <p:nvSpPr>
          <p:cNvPr id="184" name="Google Shape;184;p17"/>
          <p:cNvSpPr/>
          <p:nvPr/>
        </p:nvSpPr>
        <p:spPr>
          <a:xfrm>
            <a:off x="700883" y="5499985"/>
            <a:ext cx="3474600" cy="1326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5" name="Google Shape;185;p17"/>
          <p:cNvSpPr txBox="1"/>
          <p:nvPr/>
        </p:nvSpPr>
        <p:spPr>
          <a:xfrm>
            <a:off x="807242" y="5927918"/>
            <a:ext cx="3200400" cy="470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50" u="none" cap="none" strike="noStrike">
                <a:solidFill>
                  <a:srgbClr val="EA580C"/>
                </a:solidFill>
                <a:latin typeface="Calibri"/>
                <a:ea typeface="Calibri"/>
                <a:cs typeface="Calibri"/>
                <a:sym typeface="Calibri"/>
              </a:rPr>
              <a:t>1. SPATIAL BACKBONE</a:t>
            </a:r>
            <a:endParaRPr/>
          </a:p>
          <a:p>
            <a:pPr indent="0" lvl="0" marL="0" marR="0" rtl="0" algn="l">
              <a:spcBef>
                <a:spcPts val="200"/>
              </a:spcBef>
              <a:spcAft>
                <a:spcPts val="0"/>
              </a:spcAft>
              <a:buNone/>
            </a:pPr>
            <a:r>
              <a:rPr b="0" i="0" lang="en-US" sz="919" u="none" cap="none" strike="noStrike">
                <a:solidFill>
                  <a:srgbClr val="334155"/>
                </a:solidFill>
                <a:latin typeface="Calibri"/>
                <a:ea typeface="Calibri"/>
                <a:cs typeface="Calibri"/>
                <a:sym typeface="Calibri"/>
              </a:rPr>
              <a:t>CSPDarknet with CoordConv coordinate injection (Cx, Cy) and multi-branch RepConv feature blocks.</a:t>
            </a:r>
            <a:endParaRPr/>
          </a:p>
        </p:txBody>
      </p:sp>
      <p:sp>
        <p:nvSpPr>
          <p:cNvPr id="186" name="Google Shape;186;p17"/>
          <p:cNvSpPr/>
          <p:nvPr/>
        </p:nvSpPr>
        <p:spPr>
          <a:xfrm>
            <a:off x="4358483" y="5499985"/>
            <a:ext cx="3474600" cy="1326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17"/>
          <p:cNvSpPr txBox="1"/>
          <p:nvPr/>
        </p:nvSpPr>
        <p:spPr>
          <a:xfrm>
            <a:off x="4495568" y="5927918"/>
            <a:ext cx="3200400" cy="470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50" u="none" cap="none" strike="noStrike">
                <a:solidFill>
                  <a:srgbClr val="2563EB"/>
                </a:solidFill>
                <a:latin typeface="Calibri"/>
                <a:ea typeface="Calibri"/>
                <a:cs typeface="Calibri"/>
                <a:sym typeface="Calibri"/>
              </a:rPr>
              <a:t>2. SPARSE ROUTING NECK</a:t>
            </a:r>
            <a:endParaRPr/>
          </a:p>
          <a:p>
            <a:pPr indent="0" lvl="0" marL="0" marR="0" rtl="0" algn="l">
              <a:spcBef>
                <a:spcPts val="200"/>
              </a:spcBef>
              <a:spcAft>
                <a:spcPts val="0"/>
              </a:spcAft>
              <a:buNone/>
            </a:pPr>
            <a:r>
              <a:rPr b="0" i="0" lang="en-US" sz="919" u="none" cap="none" strike="noStrike">
                <a:solidFill>
                  <a:srgbClr val="334155"/>
                </a:solidFill>
                <a:latin typeface="Calibri"/>
                <a:ea typeface="Calibri"/>
                <a:cs typeface="Calibri"/>
                <a:sym typeface="Calibri"/>
              </a:rPr>
              <a:t>PAN architecture embedded with BiFormer 2-level routing attention, reducing complexity to linear O(HW).</a:t>
            </a:r>
            <a:endParaRPr/>
          </a:p>
        </p:txBody>
      </p:sp>
      <p:sp>
        <p:nvSpPr>
          <p:cNvPr id="188" name="Google Shape;188;p17"/>
          <p:cNvSpPr/>
          <p:nvPr/>
        </p:nvSpPr>
        <p:spPr>
          <a:xfrm>
            <a:off x="8016083" y="5499985"/>
            <a:ext cx="3474600" cy="1326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9" name="Google Shape;189;p17"/>
          <p:cNvSpPr txBox="1"/>
          <p:nvPr/>
        </p:nvSpPr>
        <p:spPr>
          <a:xfrm>
            <a:off x="8183893" y="5927918"/>
            <a:ext cx="3200400" cy="470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50" u="none" cap="none" strike="noStrike">
                <a:solidFill>
                  <a:srgbClr val="16A34A"/>
                </a:solidFill>
                <a:latin typeface="Calibri"/>
                <a:ea typeface="Calibri"/>
                <a:cs typeface="Calibri"/>
                <a:sym typeface="Calibri"/>
              </a:rPr>
              <a:t>3. DECOUPLED HEAD &amp; LOSS</a:t>
            </a:r>
            <a:endParaRPr/>
          </a:p>
          <a:p>
            <a:pPr indent="0" lvl="0" marL="0" marR="0" rtl="0" algn="l">
              <a:spcBef>
                <a:spcPts val="200"/>
              </a:spcBef>
              <a:spcAft>
                <a:spcPts val="0"/>
              </a:spcAft>
              <a:buNone/>
            </a:pPr>
            <a:r>
              <a:rPr b="0" i="0" lang="en-US" sz="919" u="none" cap="none" strike="noStrike">
                <a:solidFill>
                  <a:srgbClr val="334155"/>
                </a:solidFill>
                <a:latin typeface="Calibri"/>
                <a:ea typeface="Calibri"/>
                <a:cs typeface="Calibri"/>
                <a:sym typeface="Calibri"/>
              </a:rPr>
              <a:t>Anchor-free Decoupled Head paired with Focal EIoU loss decoupling bounding box dimension errors.</a:t>
            </a:r>
            <a:endParaRPr/>
          </a:p>
        </p:txBody>
      </p:sp>
      <p:pic>
        <p:nvPicPr>
          <p:cNvPr id="190" name="Google Shape;190;p17" title="7e12d5c4-e730-4487-a9f3-435ea124c5fa.png"/>
          <p:cNvPicPr preferRelativeResize="0"/>
          <p:nvPr/>
        </p:nvPicPr>
        <p:blipFill>
          <a:blip r:embed="rId4">
            <a:alphaModFix/>
          </a:blip>
          <a:stretch>
            <a:fillRect/>
          </a:stretch>
        </p:blipFill>
        <p:spPr>
          <a:xfrm>
            <a:off x="3077" y="0"/>
            <a:ext cx="12185523" cy="68580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18"/>
          <p:cNvSpPr/>
          <p:nvPr/>
        </p:nvSpPr>
        <p:spPr>
          <a:xfrm>
            <a:off x="-12" y="7"/>
            <a:ext cx="12191700"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6" name="Google Shape;196;p18"/>
          <p:cNvSpPr txBox="1"/>
          <p:nvPr/>
        </p:nvSpPr>
        <p:spPr>
          <a:xfrm>
            <a:off x="731520" y="292608"/>
            <a:ext cx="8686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197" name="Google Shape;197;p18"/>
          <p:cNvSpPr txBox="1"/>
          <p:nvPr/>
        </p:nvSpPr>
        <p:spPr>
          <a:xfrm>
            <a:off x="10332720" y="292608"/>
            <a:ext cx="1097400" cy="2154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t/>
            </a:r>
            <a:endParaRPr/>
          </a:p>
        </p:txBody>
      </p:sp>
      <p:sp>
        <p:nvSpPr>
          <p:cNvPr id="198" name="Google Shape;198;p18"/>
          <p:cNvSpPr txBox="1"/>
          <p:nvPr/>
        </p:nvSpPr>
        <p:spPr>
          <a:xfrm>
            <a:off x="94070" y="3"/>
            <a:ext cx="10698600" cy="307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Innovation 1: Structural Re-parameterization (RepConv) &amp; Algebraic Fusion</a:t>
            </a:r>
            <a:endParaRPr/>
          </a:p>
        </p:txBody>
      </p:sp>
      <p:pic>
        <p:nvPicPr>
          <p:cNvPr id="199" name="Google Shape;199;p18" title="Fig1A_Baseline_MultiBranch_Bottleneck.png"/>
          <p:cNvPicPr preferRelativeResize="0"/>
          <p:nvPr/>
        </p:nvPicPr>
        <p:blipFill rotWithShape="1">
          <a:blip r:embed="rId3">
            <a:alphaModFix/>
          </a:blip>
          <a:srcRect b="16053" l="3786" r="3424" t="13569"/>
          <a:stretch/>
        </p:blipFill>
        <p:spPr>
          <a:xfrm>
            <a:off x="196775" y="1090475"/>
            <a:ext cx="11864627" cy="4912900"/>
          </a:xfrm>
          <a:prstGeom prst="rect">
            <a:avLst/>
          </a:prstGeom>
          <a:noFill/>
          <a:ln>
            <a:noFill/>
          </a:ln>
        </p:spPr>
      </p:pic>
      <p:sp>
        <p:nvSpPr>
          <p:cNvPr id="200" name="Google Shape;200;p18"/>
          <p:cNvSpPr txBox="1"/>
          <p:nvPr/>
        </p:nvSpPr>
        <p:spPr>
          <a:xfrm>
            <a:off x="10332700" y="292597"/>
            <a:ext cx="1164000" cy="1692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0</a:t>
            </a:r>
            <a:r>
              <a:rPr b="1" lang="en-US" sz="1100">
                <a:solidFill>
                  <a:srgbClr val="64748B"/>
                </a:solidFill>
                <a:latin typeface="Calibri"/>
                <a:ea typeface="Calibri"/>
                <a:cs typeface="Calibri"/>
                <a:sym typeface="Calibri"/>
              </a:rPr>
              <a:t>6</a:t>
            </a:r>
            <a:r>
              <a:rPr b="1" i="0" lang="en-US" sz="1100" u="none" cap="none" strike="noStrike">
                <a:solidFill>
                  <a:srgbClr val="64748B"/>
                </a:solidFill>
                <a:latin typeface="Calibri"/>
                <a:ea typeface="Calibri"/>
                <a:cs typeface="Calibri"/>
                <a:sym typeface="Calibri"/>
              </a:rPr>
              <a:t>/ 18</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19"/>
          <p:cNvSpPr/>
          <p:nvPr/>
        </p:nvSpPr>
        <p:spPr>
          <a:xfrm>
            <a:off x="-12" y="7"/>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6" name="Google Shape;206;p19"/>
          <p:cNvSpPr txBox="1"/>
          <p:nvPr/>
        </p:nvSpPr>
        <p:spPr>
          <a:xfrm>
            <a:off x="731520" y="292608"/>
            <a:ext cx="8686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207" name="Google Shape;207;p19"/>
          <p:cNvSpPr txBox="1"/>
          <p:nvPr/>
        </p:nvSpPr>
        <p:spPr>
          <a:xfrm>
            <a:off x="10332720" y="292608"/>
            <a:ext cx="1097400" cy="2154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t/>
            </a:r>
            <a:endParaRPr/>
          </a:p>
        </p:txBody>
      </p:sp>
      <p:sp>
        <p:nvSpPr>
          <p:cNvPr id="208" name="Google Shape;208;p19"/>
          <p:cNvSpPr txBox="1"/>
          <p:nvPr/>
        </p:nvSpPr>
        <p:spPr>
          <a:xfrm>
            <a:off x="94070" y="3"/>
            <a:ext cx="10698600" cy="307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Innovation 1: Structural Re-parameterization (RepConv) &amp; Algebraic Fusion</a:t>
            </a:r>
            <a:endParaRPr/>
          </a:p>
        </p:txBody>
      </p:sp>
      <p:pic>
        <p:nvPicPr>
          <p:cNvPr id="209" name="Google Shape;209;p19" title="Fig1B_Proposed_RepConv_Algebraic_Fusion.png"/>
          <p:cNvPicPr preferRelativeResize="0"/>
          <p:nvPr/>
        </p:nvPicPr>
        <p:blipFill rotWithShape="1">
          <a:blip r:embed="rId3">
            <a:alphaModFix/>
          </a:blip>
          <a:srcRect b="15493" l="3029" r="2032" t="13012"/>
          <a:stretch/>
        </p:blipFill>
        <p:spPr>
          <a:xfrm>
            <a:off x="216263" y="1012038"/>
            <a:ext cx="11759150" cy="483392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20"/>
          <p:cNvSpPr/>
          <p:nvPr/>
        </p:nvSpPr>
        <p:spPr>
          <a:xfrm>
            <a:off x="0" y="0"/>
            <a:ext cx="12191695"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5" name="Google Shape;215;p20"/>
          <p:cNvSpPr txBox="1"/>
          <p:nvPr/>
        </p:nvSpPr>
        <p:spPr>
          <a:xfrm>
            <a:off x="731520" y="292608"/>
            <a:ext cx="8686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216" name="Google Shape;216;p20"/>
          <p:cNvSpPr txBox="1"/>
          <p:nvPr/>
        </p:nvSpPr>
        <p:spPr>
          <a:xfrm>
            <a:off x="10332720" y="292608"/>
            <a:ext cx="1097400" cy="2154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t/>
            </a:r>
            <a:endParaRPr/>
          </a:p>
        </p:txBody>
      </p:sp>
      <p:sp>
        <p:nvSpPr>
          <p:cNvPr id="217" name="Google Shape;217;p20"/>
          <p:cNvSpPr txBox="1"/>
          <p:nvPr/>
        </p:nvSpPr>
        <p:spPr>
          <a:xfrm>
            <a:off x="143545" y="384016"/>
            <a:ext cx="10698600" cy="307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Innovation 2: CoordConv Spatial Encoding Suppresses False Alarms</a:t>
            </a:r>
            <a:endParaRPr/>
          </a:p>
        </p:txBody>
      </p:sp>
      <p:pic>
        <p:nvPicPr>
          <p:cNvPr id="218" name="Google Shape;218;p20" title="Fig2A_Baseline_Translation_Invariance_Flaw.png"/>
          <p:cNvPicPr preferRelativeResize="0"/>
          <p:nvPr/>
        </p:nvPicPr>
        <p:blipFill rotWithShape="1">
          <a:blip r:embed="rId3">
            <a:alphaModFix/>
          </a:blip>
          <a:srcRect b="3438" l="2817" r="3603" t="12915"/>
          <a:stretch/>
        </p:blipFill>
        <p:spPr>
          <a:xfrm>
            <a:off x="1047500" y="1325675"/>
            <a:ext cx="9794652" cy="4903601"/>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 name="Shape 222"/>
        <p:cNvGrpSpPr/>
        <p:nvPr/>
      </p:nvGrpSpPr>
      <p:grpSpPr>
        <a:xfrm>
          <a:off x="0" y="0"/>
          <a:ext cx="0" cy="0"/>
          <a:chOff x="0" y="0"/>
          <a:chExt cx="0" cy="0"/>
        </a:xfrm>
      </p:grpSpPr>
      <p:sp>
        <p:nvSpPr>
          <p:cNvPr id="223" name="Google Shape;223;p21"/>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4" name="Google Shape;224;p21"/>
          <p:cNvSpPr txBox="1"/>
          <p:nvPr/>
        </p:nvSpPr>
        <p:spPr>
          <a:xfrm>
            <a:off x="731520" y="292608"/>
            <a:ext cx="8686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225" name="Google Shape;225;p21"/>
          <p:cNvSpPr txBox="1"/>
          <p:nvPr/>
        </p:nvSpPr>
        <p:spPr>
          <a:xfrm>
            <a:off x="10332720" y="292608"/>
            <a:ext cx="1097400" cy="2154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t/>
            </a:r>
            <a:endParaRPr/>
          </a:p>
        </p:txBody>
      </p:sp>
      <p:sp>
        <p:nvSpPr>
          <p:cNvPr id="226" name="Google Shape;226;p21"/>
          <p:cNvSpPr txBox="1"/>
          <p:nvPr/>
        </p:nvSpPr>
        <p:spPr>
          <a:xfrm>
            <a:off x="143545" y="384016"/>
            <a:ext cx="10698600" cy="307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Innovation 2: CoordConv Spatial Encoding Suppresses False Alarms</a:t>
            </a:r>
            <a:endParaRPr/>
          </a:p>
        </p:txBody>
      </p:sp>
      <p:pic>
        <p:nvPicPr>
          <p:cNvPr id="227" name="Google Shape;227;p21" title="Fig2B_Proposed_CoordConv_Spatial_Injection.png"/>
          <p:cNvPicPr preferRelativeResize="0"/>
          <p:nvPr/>
        </p:nvPicPr>
        <p:blipFill rotWithShape="1">
          <a:blip r:embed="rId3">
            <a:alphaModFix/>
          </a:blip>
          <a:srcRect b="2962" l="2675" r="2798" t="12407"/>
          <a:stretch/>
        </p:blipFill>
        <p:spPr>
          <a:xfrm>
            <a:off x="731525" y="1196300"/>
            <a:ext cx="10539423" cy="5150551"/>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22"/>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3" name="Google Shape;233;p22"/>
          <p:cNvSpPr txBox="1"/>
          <p:nvPr/>
        </p:nvSpPr>
        <p:spPr>
          <a:xfrm>
            <a:off x="731520" y="292608"/>
            <a:ext cx="8686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234" name="Google Shape;234;p22"/>
          <p:cNvSpPr txBox="1"/>
          <p:nvPr/>
        </p:nvSpPr>
        <p:spPr>
          <a:xfrm>
            <a:off x="10332720" y="292608"/>
            <a:ext cx="1097400" cy="2154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t/>
            </a:r>
            <a:endParaRPr/>
          </a:p>
        </p:txBody>
      </p:sp>
      <p:sp>
        <p:nvSpPr>
          <p:cNvPr id="235" name="Google Shape;235;p22"/>
          <p:cNvSpPr txBox="1"/>
          <p:nvPr/>
        </p:nvSpPr>
        <p:spPr>
          <a:xfrm>
            <a:off x="167070" y="225903"/>
            <a:ext cx="10698600" cy="307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Innovation 3: BiFormer 2-Level Sparse Routing Attention</a:t>
            </a:r>
            <a:endParaRPr/>
          </a:p>
        </p:txBody>
      </p:sp>
      <p:sp>
        <p:nvSpPr>
          <p:cNvPr id="236" name="Google Shape;236;p22"/>
          <p:cNvSpPr txBox="1"/>
          <p:nvPr/>
        </p:nvSpPr>
        <p:spPr>
          <a:xfrm>
            <a:off x="8183880" y="5193792"/>
            <a:ext cx="3200400" cy="215400"/>
          </a:xfrm>
          <a:prstGeom prst="rect">
            <a:avLst/>
          </a:prstGeom>
          <a:noFill/>
          <a:ln>
            <a:noFill/>
          </a:ln>
        </p:spPr>
        <p:txBody>
          <a:bodyPr anchorCtr="0" anchor="t" bIns="0" lIns="0" spcFirstLastPara="1" rIns="0" wrap="square" tIns="0">
            <a:spAutoFit/>
          </a:bodyPr>
          <a:lstStyle/>
          <a:p>
            <a:pPr indent="0" lvl="0" marL="0" marR="0" rtl="0" algn="l">
              <a:spcBef>
                <a:spcPts val="200"/>
              </a:spcBef>
              <a:spcAft>
                <a:spcPts val="0"/>
              </a:spcAft>
              <a:buNone/>
            </a:pPr>
            <a:r>
              <a:t/>
            </a:r>
            <a:endParaRPr/>
          </a:p>
        </p:txBody>
      </p:sp>
      <p:pic>
        <p:nvPicPr>
          <p:cNvPr id="237" name="Google Shape;237;p22" title="Fig3A_Baseline_Dense_Attention_Bottleneck.png"/>
          <p:cNvPicPr preferRelativeResize="0"/>
          <p:nvPr/>
        </p:nvPicPr>
        <p:blipFill rotWithShape="1">
          <a:blip r:embed="rId3">
            <a:alphaModFix/>
          </a:blip>
          <a:srcRect b="3543" l="3960" r="2870" t="13297"/>
          <a:stretch/>
        </p:blipFill>
        <p:spPr>
          <a:xfrm>
            <a:off x="810076" y="1102225"/>
            <a:ext cx="10571551" cy="5150551"/>
          </a:xfrm>
          <a:prstGeom prst="rect">
            <a:avLst/>
          </a:prstGeom>
          <a:solidFill>
            <a:srgbClr val="FAF8F5"/>
          </a:solidFill>
          <a:ln>
            <a:noFill/>
          </a:ln>
          <a:effectLst>
            <a:outerShdw blurRad="40000" rotWithShape="0" dir="5400000" dist="23000">
              <a:srgbClr val="000000">
                <a:alpha val="34900"/>
              </a:srgbClr>
            </a:outerShdw>
          </a:effectLst>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23"/>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23"/>
          <p:cNvSpPr txBox="1"/>
          <p:nvPr/>
        </p:nvSpPr>
        <p:spPr>
          <a:xfrm>
            <a:off x="731520" y="292608"/>
            <a:ext cx="8686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244" name="Google Shape;244;p23"/>
          <p:cNvSpPr txBox="1"/>
          <p:nvPr/>
        </p:nvSpPr>
        <p:spPr>
          <a:xfrm>
            <a:off x="10332720" y="292608"/>
            <a:ext cx="1097400" cy="2154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t/>
            </a:r>
            <a:endParaRPr/>
          </a:p>
        </p:txBody>
      </p:sp>
      <p:sp>
        <p:nvSpPr>
          <p:cNvPr id="245" name="Google Shape;245;p23"/>
          <p:cNvSpPr txBox="1"/>
          <p:nvPr/>
        </p:nvSpPr>
        <p:spPr>
          <a:xfrm>
            <a:off x="167070" y="225903"/>
            <a:ext cx="10698600" cy="307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Innovation 3: BiFormer 2-Level Sparse Routing Attention</a:t>
            </a:r>
            <a:endParaRPr/>
          </a:p>
        </p:txBody>
      </p:sp>
      <p:sp>
        <p:nvSpPr>
          <p:cNvPr id="246" name="Google Shape;246;p23"/>
          <p:cNvSpPr txBox="1"/>
          <p:nvPr/>
        </p:nvSpPr>
        <p:spPr>
          <a:xfrm>
            <a:off x="8183880" y="5193792"/>
            <a:ext cx="3200400" cy="215400"/>
          </a:xfrm>
          <a:prstGeom prst="rect">
            <a:avLst/>
          </a:prstGeom>
          <a:noFill/>
          <a:ln>
            <a:noFill/>
          </a:ln>
        </p:spPr>
        <p:txBody>
          <a:bodyPr anchorCtr="0" anchor="t" bIns="0" lIns="0" spcFirstLastPara="1" rIns="0" wrap="square" tIns="0">
            <a:spAutoFit/>
          </a:bodyPr>
          <a:lstStyle/>
          <a:p>
            <a:pPr indent="0" lvl="0" marL="0" marR="0" rtl="0" algn="l">
              <a:spcBef>
                <a:spcPts val="200"/>
              </a:spcBef>
              <a:spcAft>
                <a:spcPts val="0"/>
              </a:spcAft>
              <a:buNone/>
            </a:pPr>
            <a:r>
              <a:t/>
            </a:r>
            <a:endParaRPr/>
          </a:p>
        </p:txBody>
      </p:sp>
      <p:pic>
        <p:nvPicPr>
          <p:cNvPr id="247" name="Google Shape;247;p23" title="Fig3B_Proposed_BiFormer_Sparse_Routing.png"/>
          <p:cNvPicPr preferRelativeResize="0"/>
          <p:nvPr/>
        </p:nvPicPr>
        <p:blipFill rotWithShape="1">
          <a:blip r:embed="rId3">
            <a:alphaModFix/>
          </a:blip>
          <a:srcRect b="3548" l="2362" r="2789" t="12784"/>
          <a:stretch/>
        </p:blipFill>
        <p:spPr>
          <a:xfrm>
            <a:off x="613538" y="996425"/>
            <a:ext cx="10964598" cy="52799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24"/>
          <p:cNvSpPr/>
          <p:nvPr/>
        </p:nvSpPr>
        <p:spPr>
          <a:xfrm>
            <a:off x="0" y="0"/>
            <a:ext cx="12191695"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3" name="Google Shape;253;p24"/>
          <p:cNvSpPr txBox="1"/>
          <p:nvPr/>
        </p:nvSpPr>
        <p:spPr>
          <a:xfrm>
            <a:off x="731520" y="292608"/>
            <a:ext cx="8686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254" name="Google Shape;254;p24"/>
          <p:cNvSpPr txBox="1"/>
          <p:nvPr/>
        </p:nvSpPr>
        <p:spPr>
          <a:xfrm>
            <a:off x="10332720" y="292608"/>
            <a:ext cx="1097400" cy="2154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t/>
            </a:r>
            <a:endParaRPr/>
          </a:p>
        </p:txBody>
      </p:sp>
      <p:sp>
        <p:nvSpPr>
          <p:cNvPr id="255" name="Google Shape;255;p24"/>
          <p:cNvSpPr txBox="1"/>
          <p:nvPr/>
        </p:nvSpPr>
        <p:spPr>
          <a:xfrm>
            <a:off x="237645" y="292603"/>
            <a:ext cx="10698600" cy="307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Innovation 4: Focal EIoU Loss &amp; Small Target Optimization</a:t>
            </a:r>
            <a:endParaRPr/>
          </a:p>
        </p:txBody>
      </p:sp>
      <p:pic>
        <p:nvPicPr>
          <p:cNvPr id="256" name="Google Shape;256;p24" title="Fig4A_Baseline_CIoU_Vanishing_Gradient.png"/>
          <p:cNvPicPr preferRelativeResize="0"/>
          <p:nvPr/>
        </p:nvPicPr>
        <p:blipFill rotWithShape="1">
          <a:blip r:embed="rId3">
            <a:alphaModFix/>
          </a:blip>
          <a:srcRect b="3686" l="4122" r="3865" t="12737"/>
          <a:stretch/>
        </p:blipFill>
        <p:spPr>
          <a:xfrm>
            <a:off x="427875" y="843525"/>
            <a:ext cx="11218350" cy="556212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25"/>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2" name="Google Shape;262;p25"/>
          <p:cNvSpPr txBox="1"/>
          <p:nvPr/>
        </p:nvSpPr>
        <p:spPr>
          <a:xfrm>
            <a:off x="731520" y="292608"/>
            <a:ext cx="8686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263" name="Google Shape;263;p25"/>
          <p:cNvSpPr txBox="1"/>
          <p:nvPr/>
        </p:nvSpPr>
        <p:spPr>
          <a:xfrm>
            <a:off x="10332720" y="292608"/>
            <a:ext cx="1097400" cy="2154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t/>
            </a:r>
            <a:endParaRPr/>
          </a:p>
        </p:txBody>
      </p:sp>
      <p:sp>
        <p:nvSpPr>
          <p:cNvPr id="264" name="Google Shape;264;p25"/>
          <p:cNvSpPr txBox="1"/>
          <p:nvPr/>
        </p:nvSpPr>
        <p:spPr>
          <a:xfrm>
            <a:off x="237645" y="292603"/>
            <a:ext cx="10698600" cy="307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Innovation 4: Focal EIoU Loss &amp; Small Target Optimization</a:t>
            </a:r>
            <a:endParaRPr/>
          </a:p>
        </p:txBody>
      </p:sp>
      <p:pic>
        <p:nvPicPr>
          <p:cNvPr id="265" name="Google Shape;265;p25" title="Fig4B_Proposed_Focal_EIoU_Decomposition.png"/>
          <p:cNvPicPr preferRelativeResize="0"/>
          <p:nvPr/>
        </p:nvPicPr>
        <p:blipFill rotWithShape="1">
          <a:blip r:embed="rId3">
            <a:alphaModFix/>
          </a:blip>
          <a:srcRect b="4037" l="3059" r="2512" t="12386"/>
          <a:stretch/>
        </p:blipFill>
        <p:spPr>
          <a:xfrm>
            <a:off x="339688" y="902350"/>
            <a:ext cx="11512325" cy="556212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69" name="Shape 269"/>
        <p:cNvGrpSpPr/>
        <p:nvPr/>
      </p:nvGrpSpPr>
      <p:grpSpPr>
        <a:xfrm>
          <a:off x="0" y="0"/>
          <a:ext cx="0" cy="0"/>
          <a:chOff x="0" y="0"/>
          <a:chExt cx="0" cy="0"/>
        </a:xfrm>
      </p:grpSpPr>
      <p:sp>
        <p:nvSpPr>
          <p:cNvPr id="270" name="Google Shape;270;p26"/>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1" name="Google Shape;271;p26"/>
          <p:cNvSpPr/>
          <p:nvPr/>
        </p:nvSpPr>
        <p:spPr>
          <a:xfrm>
            <a:off x="731520" y="292608"/>
            <a:ext cx="56694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5B00"/>
              </a:buClr>
              <a:buSzPts val="1120"/>
              <a:buFont typeface="Inter"/>
              <a:buNone/>
            </a:pPr>
            <a:r>
              <a:rPr b="1" i="0" lang="en-US" sz="1120" u="none" cap="none" strike="noStrike">
                <a:solidFill>
                  <a:srgbClr val="F35B00"/>
                </a:solidFill>
                <a:latin typeface="Inter"/>
                <a:ea typeface="Inter"/>
                <a:cs typeface="Inter"/>
                <a:sym typeface="Inter"/>
              </a:rPr>
              <a:t>CRITERION 2 · TECHNICAL APPROACH</a:t>
            </a:r>
            <a:endParaRPr b="0" i="0" sz="1120" u="none" cap="none" strike="noStrike">
              <a:solidFill>
                <a:srgbClr val="000000"/>
              </a:solidFill>
              <a:latin typeface="Inter"/>
              <a:ea typeface="Inter"/>
              <a:cs typeface="Inter"/>
              <a:sym typeface="Inter"/>
            </a:endParaRPr>
          </a:p>
        </p:txBody>
      </p:sp>
      <p:sp>
        <p:nvSpPr>
          <p:cNvPr id="272" name="Google Shape;272;p26"/>
          <p:cNvSpPr/>
          <p:nvPr/>
        </p:nvSpPr>
        <p:spPr>
          <a:xfrm>
            <a:off x="10716768" y="283464"/>
            <a:ext cx="731400" cy="219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1728B"/>
              </a:buClr>
              <a:buSzPts val="1100"/>
              <a:buFont typeface="Inter"/>
              <a:buNone/>
            </a:pPr>
            <a:r>
              <a:rPr b="1" i="0" lang="en-US" sz="1100" u="none" cap="none" strike="noStrike">
                <a:solidFill>
                  <a:srgbClr val="61728B"/>
                </a:solidFill>
                <a:latin typeface="Inter"/>
                <a:ea typeface="Inter"/>
                <a:cs typeface="Inter"/>
                <a:sym typeface="Inter"/>
              </a:rPr>
              <a:t>13 / 18</a:t>
            </a:r>
            <a:endParaRPr b="0" i="0" sz="1100" u="none" cap="none" strike="noStrike">
              <a:solidFill>
                <a:srgbClr val="000000"/>
              </a:solidFill>
              <a:latin typeface="Inter"/>
              <a:ea typeface="Inter"/>
              <a:cs typeface="Inter"/>
              <a:sym typeface="Inter"/>
            </a:endParaRPr>
          </a:p>
        </p:txBody>
      </p:sp>
      <p:sp>
        <p:nvSpPr>
          <p:cNvPr id="273" name="Google Shape;273;p26"/>
          <p:cNvSpPr/>
          <p:nvPr/>
        </p:nvSpPr>
        <p:spPr>
          <a:xfrm>
            <a:off x="731520" y="621792"/>
            <a:ext cx="1024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580"/>
              <a:buFont typeface="Inter"/>
              <a:buNone/>
            </a:pPr>
            <a:r>
              <a:rPr b="1" i="0" lang="en-US" sz="3080" u="none" cap="none" strike="noStrike">
                <a:solidFill>
                  <a:srgbClr val="101A33"/>
                </a:solidFill>
                <a:latin typeface="Inter"/>
                <a:ea typeface="Inter"/>
                <a:cs typeface="Inter"/>
                <a:sym typeface="Inter"/>
              </a:rPr>
              <a:t>Solution Overview &amp; Core Modules</a:t>
            </a:r>
            <a:endParaRPr b="0" i="0" sz="3080" u="none" cap="none" strike="noStrike">
              <a:solidFill>
                <a:srgbClr val="000000"/>
              </a:solidFill>
              <a:latin typeface="Inter"/>
              <a:ea typeface="Inter"/>
              <a:cs typeface="Inter"/>
              <a:sym typeface="Inter"/>
            </a:endParaRPr>
          </a:p>
        </p:txBody>
      </p:sp>
      <p:sp>
        <p:nvSpPr>
          <p:cNvPr id="274" name="Google Shape;274;p26"/>
          <p:cNvSpPr/>
          <p:nvPr/>
        </p:nvSpPr>
        <p:spPr>
          <a:xfrm>
            <a:off x="347472" y="1371600"/>
            <a:ext cx="11493900" cy="3136500"/>
          </a:xfrm>
          <a:prstGeom prst="roundRect">
            <a:avLst>
              <a:gd fmla="val 3499"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26"/>
          <p:cNvSpPr/>
          <p:nvPr/>
        </p:nvSpPr>
        <p:spPr>
          <a:xfrm>
            <a:off x="548640" y="1682496"/>
            <a:ext cx="1737300" cy="2441400"/>
          </a:xfrm>
          <a:prstGeom prst="roundRect">
            <a:avLst>
              <a:gd fmla="val 5263" name="adj"/>
            </a:avLst>
          </a:prstGeom>
          <a:solidFill>
            <a:srgbClr val="F9FBFE"/>
          </a:solidFill>
          <a:ln cap="flat" cmpd="sng" w="13950">
            <a:solidFill>
              <a:srgbClr val="AFC4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26"/>
          <p:cNvSpPr/>
          <p:nvPr/>
        </p:nvSpPr>
        <p:spPr>
          <a:xfrm>
            <a:off x="548640" y="1801368"/>
            <a:ext cx="17373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01A33"/>
              </a:buClr>
              <a:buSzPts val="1250"/>
              <a:buFont typeface="Inter"/>
              <a:buNone/>
            </a:pPr>
            <a:r>
              <a:rPr b="1" i="0" lang="en-US" sz="1250" u="none" cap="none" strike="noStrike">
                <a:solidFill>
                  <a:srgbClr val="101A33"/>
                </a:solidFill>
                <a:latin typeface="Inter"/>
                <a:ea typeface="Inter"/>
                <a:cs typeface="Inter"/>
                <a:sym typeface="Inter"/>
              </a:rPr>
              <a:t>Input Image</a:t>
            </a:r>
            <a:endParaRPr b="0" i="0" sz="1250" u="none" cap="none" strike="noStrike">
              <a:solidFill>
                <a:srgbClr val="000000"/>
              </a:solidFill>
              <a:latin typeface="Inter"/>
              <a:ea typeface="Inter"/>
              <a:cs typeface="Inter"/>
              <a:sym typeface="Inter"/>
            </a:endParaRPr>
          </a:p>
        </p:txBody>
      </p:sp>
      <p:sp>
        <p:nvSpPr>
          <p:cNvPr id="277" name="Google Shape;277;p26"/>
          <p:cNvSpPr/>
          <p:nvPr/>
        </p:nvSpPr>
        <p:spPr>
          <a:xfrm>
            <a:off x="548640" y="3803904"/>
            <a:ext cx="17373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1647F"/>
              </a:buClr>
              <a:buSzPts val="930"/>
              <a:buFont typeface="Inter"/>
              <a:buNone/>
            </a:pPr>
            <a:r>
              <a:rPr b="0" i="0" lang="en-US" sz="1130" u="none" cap="none" strike="noStrike">
                <a:solidFill>
                  <a:srgbClr val="51647F"/>
                </a:solidFill>
                <a:latin typeface="Inter"/>
                <a:ea typeface="Inter"/>
                <a:cs typeface="Inter"/>
                <a:sym typeface="Inter"/>
              </a:rPr>
              <a:t>640 × 640 × 3</a:t>
            </a:r>
            <a:endParaRPr b="0" i="0" sz="1130" u="none" cap="none" strike="noStrike">
              <a:solidFill>
                <a:srgbClr val="000000"/>
              </a:solidFill>
              <a:latin typeface="Inter"/>
              <a:ea typeface="Inter"/>
              <a:cs typeface="Inter"/>
              <a:sym typeface="Inter"/>
            </a:endParaRPr>
          </a:p>
        </p:txBody>
      </p:sp>
      <p:sp>
        <p:nvSpPr>
          <p:cNvPr id="278" name="Google Shape;278;p26"/>
          <p:cNvSpPr/>
          <p:nvPr/>
        </p:nvSpPr>
        <p:spPr>
          <a:xfrm>
            <a:off x="2514600" y="1682496"/>
            <a:ext cx="1527000" cy="2441400"/>
          </a:xfrm>
          <a:prstGeom prst="roundRect">
            <a:avLst>
              <a:gd fmla="val 5988" name="adj"/>
            </a:avLst>
          </a:prstGeom>
          <a:solidFill>
            <a:srgbClr val="FFFDFC"/>
          </a:solidFill>
          <a:ln cap="flat" cmpd="sng" w="13950">
            <a:solidFill>
              <a:srgbClr val="FF8B3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26"/>
          <p:cNvSpPr/>
          <p:nvPr/>
        </p:nvSpPr>
        <p:spPr>
          <a:xfrm>
            <a:off x="2514600" y="1801368"/>
            <a:ext cx="1527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35B00"/>
              </a:buClr>
              <a:buSzPts val="1220"/>
              <a:buFont typeface="Inter"/>
              <a:buNone/>
            </a:pPr>
            <a:r>
              <a:rPr b="1" i="0" lang="en-US" sz="1220" u="none" cap="none" strike="noStrike">
                <a:solidFill>
                  <a:srgbClr val="F35B00"/>
                </a:solidFill>
                <a:latin typeface="Inter"/>
                <a:ea typeface="Inter"/>
                <a:cs typeface="Inter"/>
                <a:sym typeface="Inter"/>
              </a:rPr>
              <a:t>CoordConv</a:t>
            </a:r>
            <a:endParaRPr b="0" i="0" sz="1220" u="none" cap="none" strike="noStrike">
              <a:solidFill>
                <a:srgbClr val="000000"/>
              </a:solidFill>
              <a:latin typeface="Inter"/>
              <a:ea typeface="Inter"/>
              <a:cs typeface="Inter"/>
              <a:sym typeface="Inter"/>
            </a:endParaRPr>
          </a:p>
        </p:txBody>
      </p:sp>
      <p:sp>
        <p:nvSpPr>
          <p:cNvPr id="280" name="Google Shape;280;p26"/>
          <p:cNvSpPr/>
          <p:nvPr/>
        </p:nvSpPr>
        <p:spPr>
          <a:xfrm>
            <a:off x="2907792" y="2468880"/>
            <a:ext cx="777300" cy="896100"/>
          </a:xfrm>
          <a:prstGeom prst="rect">
            <a:avLst/>
          </a:prstGeom>
          <a:solidFill>
            <a:srgbClr val="2C5CC5"/>
          </a:solidFill>
          <a:ln cap="flat" cmpd="sng" w="12700">
            <a:solidFill>
              <a:srgbClr val="FFFFFF">
                <a:alpha val="349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26"/>
          <p:cNvSpPr/>
          <p:nvPr/>
        </p:nvSpPr>
        <p:spPr>
          <a:xfrm>
            <a:off x="3017520" y="2340864"/>
            <a:ext cx="777300" cy="896100"/>
          </a:xfrm>
          <a:prstGeom prst="rect">
            <a:avLst/>
          </a:prstGeom>
          <a:solidFill>
            <a:srgbClr val="29A7DF">
              <a:alpha val="94120"/>
            </a:srgbClr>
          </a:solidFill>
          <a:ln cap="flat" cmpd="sng" w="12700">
            <a:solidFill>
              <a:srgbClr val="FFFFFF">
                <a:alpha val="349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26"/>
          <p:cNvSpPr/>
          <p:nvPr/>
        </p:nvSpPr>
        <p:spPr>
          <a:xfrm>
            <a:off x="3127248" y="2212848"/>
            <a:ext cx="777300" cy="896100"/>
          </a:xfrm>
          <a:prstGeom prst="rect">
            <a:avLst/>
          </a:prstGeom>
          <a:solidFill>
            <a:srgbClr val="F7B62E">
              <a:alpha val="87840"/>
            </a:srgbClr>
          </a:solidFill>
          <a:ln cap="flat" cmpd="sng" w="12700">
            <a:solidFill>
              <a:srgbClr val="FFFFFF">
                <a:alpha val="349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26"/>
          <p:cNvSpPr/>
          <p:nvPr/>
        </p:nvSpPr>
        <p:spPr>
          <a:xfrm>
            <a:off x="2660904" y="3675888"/>
            <a:ext cx="1234500" cy="34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1647F"/>
              </a:buClr>
              <a:buSzPts val="880"/>
              <a:buFont typeface="Inter"/>
              <a:buNone/>
            </a:pPr>
            <a:r>
              <a:rPr b="0" i="0" lang="en-US" sz="1180" u="none" cap="none" strike="noStrike">
                <a:solidFill>
                  <a:srgbClr val="51647F"/>
                </a:solidFill>
                <a:latin typeface="Inter"/>
                <a:ea typeface="Inter"/>
                <a:cs typeface="Inter"/>
                <a:sym typeface="Inter"/>
              </a:rPr>
              <a:t>H × W × (3 + 2)</a:t>
            </a:r>
            <a:endParaRPr b="0" i="0" sz="1180" u="none" cap="none" strike="noStrike">
              <a:solidFill>
                <a:srgbClr val="000000"/>
              </a:solidFill>
              <a:latin typeface="Inter"/>
              <a:ea typeface="Inter"/>
              <a:cs typeface="Inter"/>
              <a:sym typeface="Inter"/>
            </a:endParaRPr>
          </a:p>
          <a:p>
            <a:pPr indent="0" lvl="0" marL="0" marR="0" rtl="0" algn="ctr">
              <a:spcBef>
                <a:spcPts val="0"/>
              </a:spcBef>
              <a:spcAft>
                <a:spcPts val="0"/>
              </a:spcAft>
              <a:buClr>
                <a:srgbClr val="51647F"/>
              </a:buClr>
              <a:buSzPts val="880"/>
              <a:buFont typeface="Inter"/>
              <a:buNone/>
            </a:pPr>
            <a:r>
              <a:rPr b="0" i="0" lang="en-US" sz="1180" u="none" cap="none" strike="noStrike">
                <a:solidFill>
                  <a:srgbClr val="51647F"/>
                </a:solidFill>
                <a:latin typeface="Inter"/>
                <a:ea typeface="Inter"/>
                <a:cs typeface="Inter"/>
                <a:sym typeface="Inter"/>
              </a:rPr>
              <a:t>(RGB + X, Y)</a:t>
            </a:r>
            <a:endParaRPr b="0" i="0" sz="1180" u="none" cap="none" strike="noStrike">
              <a:solidFill>
                <a:srgbClr val="000000"/>
              </a:solidFill>
              <a:latin typeface="Inter"/>
              <a:ea typeface="Inter"/>
              <a:cs typeface="Inter"/>
              <a:sym typeface="Inter"/>
            </a:endParaRPr>
          </a:p>
        </p:txBody>
      </p:sp>
      <p:sp>
        <p:nvSpPr>
          <p:cNvPr id="284" name="Google Shape;284;p26"/>
          <p:cNvSpPr/>
          <p:nvPr/>
        </p:nvSpPr>
        <p:spPr>
          <a:xfrm>
            <a:off x="4242816" y="1682496"/>
            <a:ext cx="1728300" cy="2441400"/>
          </a:xfrm>
          <a:prstGeom prst="roundRect">
            <a:avLst>
              <a:gd fmla="val 5291" name="adj"/>
            </a:avLst>
          </a:prstGeom>
          <a:solidFill>
            <a:srgbClr val="F8FBFF"/>
          </a:solidFill>
          <a:ln cap="flat" cmpd="sng" w="13950">
            <a:solidFill>
              <a:srgbClr val="6AA3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26"/>
          <p:cNvSpPr/>
          <p:nvPr/>
        </p:nvSpPr>
        <p:spPr>
          <a:xfrm>
            <a:off x="4242816" y="1801368"/>
            <a:ext cx="17283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01A33"/>
              </a:buClr>
              <a:buSzPts val="1180"/>
              <a:buFont typeface="Inter"/>
              <a:buNone/>
            </a:pPr>
            <a:r>
              <a:rPr b="1" i="0" lang="en-US" sz="1180" u="none" cap="none" strike="noStrike">
                <a:solidFill>
                  <a:srgbClr val="101A33"/>
                </a:solidFill>
                <a:latin typeface="Inter"/>
                <a:ea typeface="Inter"/>
                <a:cs typeface="Inter"/>
                <a:sym typeface="Inter"/>
              </a:rPr>
              <a:t>Backbone + RepConv</a:t>
            </a:r>
            <a:endParaRPr b="0" i="0" sz="1180" u="none" cap="none" strike="noStrike">
              <a:solidFill>
                <a:srgbClr val="000000"/>
              </a:solidFill>
              <a:latin typeface="Inter"/>
              <a:ea typeface="Inter"/>
              <a:cs typeface="Inter"/>
              <a:sym typeface="Inter"/>
            </a:endParaRPr>
          </a:p>
        </p:txBody>
      </p:sp>
      <p:sp>
        <p:nvSpPr>
          <p:cNvPr id="286" name="Google Shape;286;p26"/>
          <p:cNvSpPr/>
          <p:nvPr/>
        </p:nvSpPr>
        <p:spPr>
          <a:xfrm>
            <a:off x="4471416" y="2359152"/>
            <a:ext cx="310800" cy="1051500"/>
          </a:xfrm>
          <a:prstGeom prst="rect">
            <a:avLst/>
          </a:prstGeom>
          <a:solidFill>
            <a:srgbClr val="A8CAE8"/>
          </a:solidFill>
          <a:ln cap="flat" cmpd="sng" w="12700">
            <a:solidFill>
              <a:srgbClr val="5383B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26"/>
          <p:cNvSpPr/>
          <p:nvPr/>
        </p:nvSpPr>
        <p:spPr>
          <a:xfrm>
            <a:off x="4727448" y="2424989"/>
            <a:ext cx="310800" cy="941700"/>
          </a:xfrm>
          <a:prstGeom prst="rect">
            <a:avLst/>
          </a:prstGeom>
          <a:solidFill>
            <a:srgbClr val="A8CAE8"/>
          </a:solidFill>
          <a:ln cap="flat" cmpd="sng" w="12700">
            <a:solidFill>
              <a:srgbClr val="5383B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26"/>
          <p:cNvSpPr/>
          <p:nvPr/>
        </p:nvSpPr>
        <p:spPr>
          <a:xfrm>
            <a:off x="4983480" y="2490826"/>
            <a:ext cx="310800" cy="832200"/>
          </a:xfrm>
          <a:prstGeom prst="rect">
            <a:avLst/>
          </a:prstGeom>
          <a:solidFill>
            <a:srgbClr val="A8CAE8"/>
          </a:solidFill>
          <a:ln cap="flat" cmpd="sng" w="12700">
            <a:solidFill>
              <a:srgbClr val="5383B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26"/>
          <p:cNvSpPr/>
          <p:nvPr/>
        </p:nvSpPr>
        <p:spPr>
          <a:xfrm>
            <a:off x="5239512" y="2556662"/>
            <a:ext cx="310800" cy="722400"/>
          </a:xfrm>
          <a:prstGeom prst="rect">
            <a:avLst/>
          </a:prstGeom>
          <a:solidFill>
            <a:srgbClr val="A8CAE8"/>
          </a:solidFill>
          <a:ln cap="flat" cmpd="sng" w="12700">
            <a:solidFill>
              <a:srgbClr val="5383B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26"/>
          <p:cNvSpPr/>
          <p:nvPr/>
        </p:nvSpPr>
        <p:spPr>
          <a:xfrm>
            <a:off x="5495544" y="2622499"/>
            <a:ext cx="310800" cy="612600"/>
          </a:xfrm>
          <a:prstGeom prst="rect">
            <a:avLst/>
          </a:prstGeom>
          <a:solidFill>
            <a:srgbClr val="A8CAE8"/>
          </a:solidFill>
          <a:ln cap="flat" cmpd="sng" w="12700">
            <a:solidFill>
              <a:srgbClr val="5383B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26"/>
          <p:cNvSpPr/>
          <p:nvPr/>
        </p:nvSpPr>
        <p:spPr>
          <a:xfrm>
            <a:off x="4315968" y="3675888"/>
            <a:ext cx="1581900" cy="34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1647F"/>
              </a:buClr>
              <a:buSzPts val="839"/>
              <a:buFont typeface="Inter"/>
              <a:buNone/>
            </a:pPr>
            <a:r>
              <a:rPr b="0" i="0" lang="en-US" sz="1040" u="none" cap="none" strike="noStrike">
                <a:solidFill>
                  <a:srgbClr val="51647F"/>
                </a:solidFill>
                <a:latin typeface="Inter"/>
                <a:ea typeface="Inter"/>
                <a:cs typeface="Inter"/>
                <a:sym typeface="Inter"/>
              </a:rPr>
              <a:t>CSPDarknet + RepConv</a:t>
            </a:r>
            <a:endParaRPr b="0" i="0" sz="1040" u="none" cap="none" strike="noStrike">
              <a:solidFill>
                <a:srgbClr val="000000"/>
              </a:solidFill>
              <a:latin typeface="Inter"/>
              <a:ea typeface="Inter"/>
              <a:cs typeface="Inter"/>
              <a:sym typeface="Inter"/>
            </a:endParaRPr>
          </a:p>
          <a:p>
            <a:pPr indent="0" lvl="0" marL="0" marR="0" rtl="0" algn="ctr">
              <a:spcBef>
                <a:spcPts val="0"/>
              </a:spcBef>
              <a:spcAft>
                <a:spcPts val="0"/>
              </a:spcAft>
              <a:buClr>
                <a:srgbClr val="51647F"/>
              </a:buClr>
              <a:buSzPts val="839"/>
              <a:buFont typeface="Inter"/>
              <a:buNone/>
            </a:pPr>
            <a:r>
              <a:rPr b="0" i="0" lang="en-US" sz="1040" u="none" cap="none" strike="noStrike">
                <a:solidFill>
                  <a:srgbClr val="51647F"/>
                </a:solidFill>
                <a:latin typeface="Inter"/>
                <a:ea typeface="Inter"/>
                <a:cs typeface="Inter"/>
                <a:sym typeface="Inter"/>
              </a:rPr>
              <a:t>(Multi-branch → Single-path)</a:t>
            </a:r>
            <a:endParaRPr b="0" i="0" sz="1040" u="none" cap="none" strike="noStrike">
              <a:solidFill>
                <a:srgbClr val="000000"/>
              </a:solidFill>
              <a:latin typeface="Inter"/>
              <a:ea typeface="Inter"/>
              <a:cs typeface="Inter"/>
              <a:sym typeface="Inter"/>
            </a:endParaRPr>
          </a:p>
        </p:txBody>
      </p:sp>
      <p:sp>
        <p:nvSpPr>
          <p:cNvPr id="292" name="Google Shape;292;p26"/>
          <p:cNvSpPr/>
          <p:nvPr/>
        </p:nvSpPr>
        <p:spPr>
          <a:xfrm>
            <a:off x="6172200" y="1682496"/>
            <a:ext cx="1965900" cy="2441400"/>
          </a:xfrm>
          <a:prstGeom prst="roundRect">
            <a:avLst>
              <a:gd fmla="val 4651" name="adj"/>
            </a:avLst>
          </a:prstGeom>
          <a:solidFill>
            <a:srgbClr val="F9FFFB"/>
          </a:solidFill>
          <a:ln cap="flat" cmpd="sng" w="13950">
            <a:solidFill>
              <a:srgbClr val="4DC98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26"/>
          <p:cNvSpPr/>
          <p:nvPr/>
        </p:nvSpPr>
        <p:spPr>
          <a:xfrm>
            <a:off x="6172200" y="1801368"/>
            <a:ext cx="19659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01A33"/>
              </a:buClr>
              <a:buSzPts val="1180"/>
              <a:buFont typeface="Inter"/>
              <a:buNone/>
            </a:pPr>
            <a:r>
              <a:rPr b="1" i="0" lang="en-US" sz="1180" u="none" cap="none" strike="noStrike">
                <a:solidFill>
                  <a:srgbClr val="101A33"/>
                </a:solidFill>
                <a:latin typeface="Inter"/>
                <a:ea typeface="Inter"/>
                <a:cs typeface="Inter"/>
                <a:sym typeface="Inter"/>
              </a:rPr>
              <a:t>Neck + BiFormer</a:t>
            </a:r>
            <a:endParaRPr b="0" i="0" sz="1180" u="none" cap="none" strike="noStrike">
              <a:solidFill>
                <a:srgbClr val="000000"/>
              </a:solidFill>
              <a:latin typeface="Inter"/>
              <a:ea typeface="Inter"/>
              <a:cs typeface="Inter"/>
              <a:sym typeface="Inter"/>
            </a:endParaRPr>
          </a:p>
        </p:txBody>
      </p:sp>
      <p:sp>
        <p:nvSpPr>
          <p:cNvPr id="294" name="Google Shape;294;p26"/>
          <p:cNvSpPr/>
          <p:nvPr/>
        </p:nvSpPr>
        <p:spPr>
          <a:xfrm>
            <a:off x="6318504" y="2331720"/>
            <a:ext cx="411600" cy="173700"/>
          </a:xfrm>
          <a:prstGeom prst="rect">
            <a:avLst/>
          </a:prstGeom>
          <a:solidFill>
            <a:srgbClr val="6BA7F7"/>
          </a:solidFill>
          <a:ln cap="flat" cmpd="sng" w="12700">
            <a:solidFill>
              <a:srgbClr val="55718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26"/>
          <p:cNvSpPr/>
          <p:nvPr/>
        </p:nvSpPr>
        <p:spPr>
          <a:xfrm>
            <a:off x="6318504" y="2770632"/>
            <a:ext cx="411600" cy="173700"/>
          </a:xfrm>
          <a:prstGeom prst="rect">
            <a:avLst/>
          </a:prstGeom>
          <a:solidFill>
            <a:srgbClr val="57D58F"/>
          </a:solidFill>
          <a:ln cap="flat" cmpd="sng" w="12700">
            <a:solidFill>
              <a:srgbClr val="55718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26"/>
          <p:cNvSpPr/>
          <p:nvPr/>
        </p:nvSpPr>
        <p:spPr>
          <a:xfrm>
            <a:off x="6318504" y="3209544"/>
            <a:ext cx="411600" cy="173700"/>
          </a:xfrm>
          <a:prstGeom prst="rect">
            <a:avLst/>
          </a:prstGeom>
          <a:solidFill>
            <a:srgbClr val="9E65E8"/>
          </a:solidFill>
          <a:ln cap="flat" cmpd="sng" w="12700">
            <a:solidFill>
              <a:srgbClr val="55718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26"/>
          <p:cNvSpPr/>
          <p:nvPr/>
        </p:nvSpPr>
        <p:spPr>
          <a:xfrm>
            <a:off x="6958584" y="2267712"/>
            <a:ext cx="676800" cy="960000"/>
          </a:xfrm>
          <a:prstGeom prst="roundRect">
            <a:avLst>
              <a:gd fmla="val 10811" name="adj"/>
            </a:avLst>
          </a:prstGeom>
          <a:solidFill>
            <a:srgbClr val="FFFFFF">
              <a:alpha val="80000"/>
            </a:srgbClr>
          </a:solidFill>
          <a:ln cap="flat" cmpd="sng" w="12700">
            <a:solidFill>
              <a:srgbClr val="AFC5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26"/>
          <p:cNvSpPr/>
          <p:nvPr/>
        </p:nvSpPr>
        <p:spPr>
          <a:xfrm>
            <a:off x="7013448" y="2350008"/>
            <a:ext cx="567000" cy="164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01A33"/>
              </a:buClr>
              <a:buSzPts val="800"/>
              <a:buFont typeface="Inter"/>
              <a:buNone/>
            </a:pPr>
            <a:r>
              <a:rPr b="1" i="0" lang="en-US" sz="800" u="none" cap="none" strike="noStrike">
                <a:solidFill>
                  <a:srgbClr val="101A33"/>
                </a:solidFill>
                <a:latin typeface="Inter"/>
                <a:ea typeface="Inter"/>
                <a:cs typeface="Inter"/>
                <a:sym typeface="Inter"/>
              </a:rPr>
              <a:t>BiFormer</a:t>
            </a:r>
            <a:endParaRPr b="0" i="0" sz="800" u="none" cap="none" strike="noStrike">
              <a:solidFill>
                <a:srgbClr val="000000"/>
              </a:solidFill>
              <a:latin typeface="Inter"/>
              <a:ea typeface="Inter"/>
              <a:cs typeface="Inter"/>
              <a:sym typeface="Inter"/>
            </a:endParaRPr>
          </a:p>
        </p:txBody>
      </p:sp>
      <p:sp>
        <p:nvSpPr>
          <p:cNvPr id="299" name="Google Shape;299;p26"/>
          <p:cNvSpPr/>
          <p:nvPr/>
        </p:nvSpPr>
        <p:spPr>
          <a:xfrm>
            <a:off x="7050024" y="2596896"/>
            <a:ext cx="73200" cy="73200"/>
          </a:xfrm>
          <a:prstGeom prst="rect">
            <a:avLst/>
          </a:prstGeom>
          <a:solidFill>
            <a:srgbClr val="5C82C8"/>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26"/>
          <p:cNvSpPr/>
          <p:nvPr/>
        </p:nvSpPr>
        <p:spPr>
          <a:xfrm>
            <a:off x="7168896" y="2596896"/>
            <a:ext cx="73200" cy="73200"/>
          </a:xfrm>
          <a:prstGeom prst="rect">
            <a:avLst/>
          </a:prstGeom>
          <a:solidFill>
            <a:srgbClr val="D7E4F2"/>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26"/>
          <p:cNvSpPr/>
          <p:nvPr/>
        </p:nvSpPr>
        <p:spPr>
          <a:xfrm>
            <a:off x="7287768" y="2596896"/>
            <a:ext cx="73200" cy="73200"/>
          </a:xfrm>
          <a:prstGeom prst="rect">
            <a:avLst/>
          </a:prstGeom>
          <a:solidFill>
            <a:srgbClr val="D7E4F2"/>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26"/>
          <p:cNvSpPr/>
          <p:nvPr/>
        </p:nvSpPr>
        <p:spPr>
          <a:xfrm>
            <a:off x="7406640" y="2596896"/>
            <a:ext cx="73200" cy="73200"/>
          </a:xfrm>
          <a:prstGeom prst="rect">
            <a:avLst/>
          </a:prstGeom>
          <a:solidFill>
            <a:srgbClr val="5C82C8"/>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26"/>
          <p:cNvSpPr/>
          <p:nvPr/>
        </p:nvSpPr>
        <p:spPr>
          <a:xfrm>
            <a:off x="7050024" y="2724912"/>
            <a:ext cx="73200" cy="73200"/>
          </a:xfrm>
          <a:prstGeom prst="rect">
            <a:avLst/>
          </a:prstGeom>
          <a:solidFill>
            <a:srgbClr val="D7E4F2"/>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26"/>
          <p:cNvSpPr/>
          <p:nvPr/>
        </p:nvSpPr>
        <p:spPr>
          <a:xfrm>
            <a:off x="7168896" y="2724912"/>
            <a:ext cx="73200" cy="73200"/>
          </a:xfrm>
          <a:prstGeom prst="rect">
            <a:avLst/>
          </a:prstGeom>
          <a:solidFill>
            <a:srgbClr val="D7E4F2"/>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26"/>
          <p:cNvSpPr/>
          <p:nvPr/>
        </p:nvSpPr>
        <p:spPr>
          <a:xfrm>
            <a:off x="7287768" y="2724912"/>
            <a:ext cx="73200" cy="73200"/>
          </a:xfrm>
          <a:prstGeom prst="rect">
            <a:avLst/>
          </a:prstGeom>
          <a:solidFill>
            <a:srgbClr val="5C82C8"/>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26"/>
          <p:cNvSpPr/>
          <p:nvPr/>
        </p:nvSpPr>
        <p:spPr>
          <a:xfrm>
            <a:off x="7406640" y="2724912"/>
            <a:ext cx="73200" cy="73200"/>
          </a:xfrm>
          <a:prstGeom prst="rect">
            <a:avLst/>
          </a:prstGeom>
          <a:solidFill>
            <a:srgbClr val="D7E4F2"/>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26"/>
          <p:cNvSpPr/>
          <p:nvPr/>
        </p:nvSpPr>
        <p:spPr>
          <a:xfrm>
            <a:off x="7050024" y="2852928"/>
            <a:ext cx="73200" cy="73200"/>
          </a:xfrm>
          <a:prstGeom prst="rect">
            <a:avLst/>
          </a:prstGeom>
          <a:solidFill>
            <a:srgbClr val="D7E4F2"/>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26"/>
          <p:cNvSpPr/>
          <p:nvPr/>
        </p:nvSpPr>
        <p:spPr>
          <a:xfrm>
            <a:off x="7168896" y="2852928"/>
            <a:ext cx="73200" cy="73200"/>
          </a:xfrm>
          <a:prstGeom prst="rect">
            <a:avLst/>
          </a:prstGeom>
          <a:solidFill>
            <a:srgbClr val="5C82C8"/>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 name="Google Shape;309;p26"/>
          <p:cNvSpPr/>
          <p:nvPr/>
        </p:nvSpPr>
        <p:spPr>
          <a:xfrm>
            <a:off x="7287768" y="2852928"/>
            <a:ext cx="73200" cy="73200"/>
          </a:xfrm>
          <a:prstGeom prst="rect">
            <a:avLst/>
          </a:prstGeom>
          <a:solidFill>
            <a:srgbClr val="D7E4F2"/>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26"/>
          <p:cNvSpPr/>
          <p:nvPr/>
        </p:nvSpPr>
        <p:spPr>
          <a:xfrm>
            <a:off x="7406640" y="2852928"/>
            <a:ext cx="73200" cy="73200"/>
          </a:xfrm>
          <a:prstGeom prst="rect">
            <a:avLst/>
          </a:prstGeom>
          <a:solidFill>
            <a:srgbClr val="D7E4F2"/>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26"/>
          <p:cNvSpPr/>
          <p:nvPr/>
        </p:nvSpPr>
        <p:spPr>
          <a:xfrm>
            <a:off x="7754112" y="2331720"/>
            <a:ext cx="274200" cy="137100"/>
          </a:xfrm>
          <a:prstGeom prst="rect">
            <a:avLst/>
          </a:prstGeom>
          <a:solidFill>
            <a:srgbClr val="6BA7F7"/>
          </a:solidFill>
          <a:ln cap="flat" cmpd="sng" w="12700">
            <a:solidFill>
              <a:srgbClr val="55718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26"/>
          <p:cNvSpPr/>
          <p:nvPr/>
        </p:nvSpPr>
        <p:spPr>
          <a:xfrm>
            <a:off x="7754112" y="2770632"/>
            <a:ext cx="274200" cy="137100"/>
          </a:xfrm>
          <a:prstGeom prst="rect">
            <a:avLst/>
          </a:prstGeom>
          <a:solidFill>
            <a:srgbClr val="57D58F"/>
          </a:solidFill>
          <a:ln cap="flat" cmpd="sng" w="12700">
            <a:solidFill>
              <a:srgbClr val="55718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26"/>
          <p:cNvSpPr/>
          <p:nvPr/>
        </p:nvSpPr>
        <p:spPr>
          <a:xfrm>
            <a:off x="7754112" y="3209544"/>
            <a:ext cx="274200" cy="137100"/>
          </a:xfrm>
          <a:prstGeom prst="rect">
            <a:avLst/>
          </a:prstGeom>
          <a:solidFill>
            <a:srgbClr val="9E65E8"/>
          </a:solidFill>
          <a:ln cap="flat" cmpd="sng" w="12700">
            <a:solidFill>
              <a:srgbClr val="55718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26"/>
          <p:cNvSpPr/>
          <p:nvPr/>
        </p:nvSpPr>
        <p:spPr>
          <a:xfrm>
            <a:off x="6300216" y="3675888"/>
            <a:ext cx="1710000" cy="34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1647F"/>
              </a:buClr>
              <a:buSzPts val="825"/>
              <a:buFont typeface="Inter"/>
              <a:buNone/>
            </a:pPr>
            <a:r>
              <a:rPr b="0" i="0" lang="en-US" sz="1025" u="none" cap="none" strike="noStrike">
                <a:solidFill>
                  <a:srgbClr val="51647F"/>
                </a:solidFill>
                <a:latin typeface="Inter"/>
                <a:ea typeface="Inter"/>
                <a:cs typeface="Inter"/>
                <a:sym typeface="Inter"/>
              </a:rPr>
              <a:t>Multi-scale Feature Fusion</a:t>
            </a:r>
            <a:endParaRPr b="0" i="0" sz="1025" u="none" cap="none" strike="noStrike">
              <a:solidFill>
                <a:srgbClr val="000000"/>
              </a:solidFill>
              <a:latin typeface="Inter"/>
              <a:ea typeface="Inter"/>
              <a:cs typeface="Inter"/>
              <a:sym typeface="Inter"/>
            </a:endParaRPr>
          </a:p>
          <a:p>
            <a:pPr indent="0" lvl="0" marL="0" marR="0" rtl="0" algn="ctr">
              <a:spcBef>
                <a:spcPts val="0"/>
              </a:spcBef>
              <a:spcAft>
                <a:spcPts val="0"/>
              </a:spcAft>
              <a:buClr>
                <a:srgbClr val="51647F"/>
              </a:buClr>
              <a:buSzPts val="825"/>
              <a:buFont typeface="Inter"/>
              <a:buNone/>
            </a:pPr>
            <a:r>
              <a:rPr b="0" i="0" lang="en-US" sz="1025" u="none" cap="none" strike="noStrike">
                <a:solidFill>
                  <a:srgbClr val="51647F"/>
                </a:solidFill>
                <a:latin typeface="Inter"/>
                <a:ea typeface="Inter"/>
                <a:cs typeface="Inter"/>
                <a:sym typeface="Inter"/>
              </a:rPr>
              <a:t>with Sparse Routing Attention</a:t>
            </a:r>
            <a:endParaRPr b="0" i="0" sz="1025" u="none" cap="none" strike="noStrike">
              <a:solidFill>
                <a:srgbClr val="000000"/>
              </a:solidFill>
              <a:latin typeface="Inter"/>
              <a:ea typeface="Inter"/>
              <a:cs typeface="Inter"/>
              <a:sym typeface="Inter"/>
            </a:endParaRPr>
          </a:p>
        </p:txBody>
      </p:sp>
      <p:sp>
        <p:nvSpPr>
          <p:cNvPr id="315" name="Google Shape;315;p26"/>
          <p:cNvSpPr/>
          <p:nvPr/>
        </p:nvSpPr>
        <p:spPr>
          <a:xfrm>
            <a:off x="8243366" y="1728184"/>
            <a:ext cx="1463100" cy="2441400"/>
          </a:xfrm>
          <a:prstGeom prst="roundRect">
            <a:avLst>
              <a:gd fmla="val 6250" name="adj"/>
            </a:avLst>
          </a:prstGeom>
          <a:solidFill>
            <a:srgbClr val="FFFDF8"/>
          </a:solidFill>
          <a:ln cap="flat" cmpd="sng" w="13950">
            <a:solidFill>
              <a:srgbClr val="F3B74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26"/>
          <p:cNvSpPr/>
          <p:nvPr/>
        </p:nvSpPr>
        <p:spPr>
          <a:xfrm>
            <a:off x="8357616" y="1801368"/>
            <a:ext cx="14631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26A00"/>
              </a:buClr>
              <a:buSzPts val="1120"/>
              <a:buFont typeface="Inter"/>
              <a:buNone/>
            </a:pPr>
            <a:r>
              <a:rPr b="1" i="0" lang="en-US" sz="1120" u="none" cap="none" strike="noStrike">
                <a:solidFill>
                  <a:srgbClr val="B26A00"/>
                </a:solidFill>
                <a:latin typeface="Inter"/>
                <a:ea typeface="Inter"/>
                <a:cs typeface="Inter"/>
                <a:sym typeface="Inter"/>
              </a:rPr>
              <a:t>Decoupled Head</a:t>
            </a:r>
            <a:endParaRPr b="0" i="0" sz="1120" u="none" cap="none" strike="noStrike">
              <a:solidFill>
                <a:srgbClr val="000000"/>
              </a:solidFill>
              <a:latin typeface="Inter"/>
              <a:ea typeface="Inter"/>
              <a:cs typeface="Inter"/>
              <a:sym typeface="Inter"/>
            </a:endParaRPr>
          </a:p>
        </p:txBody>
      </p:sp>
      <p:sp>
        <p:nvSpPr>
          <p:cNvPr id="317" name="Google Shape;317;p26"/>
          <p:cNvSpPr/>
          <p:nvPr/>
        </p:nvSpPr>
        <p:spPr>
          <a:xfrm>
            <a:off x="8348577" y="2469020"/>
            <a:ext cx="804600" cy="347400"/>
          </a:xfrm>
          <a:prstGeom prst="roundRect">
            <a:avLst>
              <a:gd fmla="val 13158" name="adj"/>
            </a:avLst>
          </a:prstGeom>
          <a:solidFill>
            <a:srgbClr val="FFE8DF"/>
          </a:solidFill>
          <a:ln cap="flat" cmpd="sng" w="12700">
            <a:solidFill>
              <a:srgbClr val="D56B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26"/>
          <p:cNvSpPr/>
          <p:nvPr/>
        </p:nvSpPr>
        <p:spPr>
          <a:xfrm>
            <a:off x="8339387" y="2484936"/>
            <a:ext cx="804600" cy="2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01A33"/>
              </a:buClr>
              <a:buSzPts val="750"/>
              <a:buFont typeface="Inter"/>
              <a:buNone/>
            </a:pPr>
            <a:r>
              <a:rPr b="0" i="0" lang="en-US" sz="900" u="none" cap="none" strike="noStrike">
                <a:solidFill>
                  <a:srgbClr val="101A33"/>
                </a:solidFill>
                <a:latin typeface="Inter"/>
                <a:ea typeface="Inter"/>
                <a:cs typeface="Inter"/>
                <a:sym typeface="Inter"/>
              </a:rPr>
              <a:t>Classification</a:t>
            </a:r>
            <a:endParaRPr b="0" i="0" sz="900" u="none" cap="none" strike="noStrike">
              <a:solidFill>
                <a:srgbClr val="000000"/>
              </a:solidFill>
              <a:latin typeface="Inter"/>
              <a:ea typeface="Inter"/>
              <a:cs typeface="Inter"/>
              <a:sym typeface="Inter"/>
            </a:endParaRPr>
          </a:p>
        </p:txBody>
      </p:sp>
      <p:sp>
        <p:nvSpPr>
          <p:cNvPr id="319" name="Google Shape;319;p26"/>
          <p:cNvSpPr/>
          <p:nvPr/>
        </p:nvSpPr>
        <p:spPr>
          <a:xfrm>
            <a:off x="8348577" y="2871188"/>
            <a:ext cx="804600" cy="347400"/>
          </a:xfrm>
          <a:prstGeom prst="roundRect">
            <a:avLst>
              <a:gd fmla="val 13158" name="adj"/>
            </a:avLst>
          </a:prstGeom>
          <a:solidFill>
            <a:srgbClr val="E7F2FF"/>
          </a:solidFill>
          <a:ln cap="flat" cmpd="sng" w="12700">
            <a:solidFill>
              <a:srgbClr val="4F8BC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26"/>
          <p:cNvSpPr/>
          <p:nvPr/>
        </p:nvSpPr>
        <p:spPr>
          <a:xfrm>
            <a:off x="8362225" y="2916950"/>
            <a:ext cx="7773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01A33"/>
              </a:buClr>
              <a:buSzPts val="750"/>
              <a:buFont typeface="Inter"/>
              <a:buNone/>
            </a:pPr>
            <a:r>
              <a:rPr b="0" i="0" lang="en-US" sz="900" u="none" cap="none" strike="noStrike">
                <a:solidFill>
                  <a:srgbClr val="101A33"/>
                </a:solidFill>
                <a:latin typeface="Inter"/>
                <a:ea typeface="Inter"/>
                <a:cs typeface="Inter"/>
                <a:sym typeface="Inter"/>
              </a:rPr>
              <a:t>Bounding Box</a:t>
            </a:r>
            <a:endParaRPr b="0" i="0" sz="900" u="none" cap="none" strike="noStrike">
              <a:solidFill>
                <a:srgbClr val="000000"/>
              </a:solidFill>
              <a:latin typeface="Inter"/>
              <a:ea typeface="Inter"/>
              <a:cs typeface="Inter"/>
              <a:sym typeface="Inter"/>
            </a:endParaRPr>
          </a:p>
          <a:p>
            <a:pPr indent="0" lvl="0" marL="0" marR="0" rtl="0" algn="ctr">
              <a:spcBef>
                <a:spcPts val="0"/>
              </a:spcBef>
              <a:spcAft>
                <a:spcPts val="0"/>
              </a:spcAft>
              <a:buClr>
                <a:srgbClr val="101A33"/>
              </a:buClr>
              <a:buSzPts val="750"/>
              <a:buFont typeface="Inter"/>
              <a:buNone/>
            </a:pPr>
            <a:r>
              <a:rPr b="0" i="0" lang="en-US" sz="900" u="none" cap="none" strike="noStrike">
                <a:solidFill>
                  <a:srgbClr val="101A33"/>
                </a:solidFill>
                <a:latin typeface="Inter"/>
                <a:ea typeface="Inter"/>
                <a:cs typeface="Inter"/>
                <a:sym typeface="Inter"/>
              </a:rPr>
              <a:t>Regression</a:t>
            </a:r>
            <a:endParaRPr b="0" i="0" sz="900" u="none" cap="none" strike="noStrike">
              <a:solidFill>
                <a:srgbClr val="000000"/>
              </a:solidFill>
              <a:latin typeface="Inter"/>
              <a:ea typeface="Inter"/>
              <a:cs typeface="Inter"/>
              <a:sym typeface="Inter"/>
            </a:endParaRPr>
          </a:p>
        </p:txBody>
      </p:sp>
      <p:sp>
        <p:nvSpPr>
          <p:cNvPr id="321" name="Google Shape;321;p26"/>
          <p:cNvSpPr/>
          <p:nvPr/>
        </p:nvSpPr>
        <p:spPr>
          <a:xfrm>
            <a:off x="8348589" y="3301082"/>
            <a:ext cx="804600" cy="347400"/>
          </a:xfrm>
          <a:prstGeom prst="roundRect">
            <a:avLst>
              <a:gd fmla="val 13158" name="adj"/>
            </a:avLst>
          </a:prstGeom>
          <a:solidFill>
            <a:srgbClr val="F2EAFE"/>
          </a:solidFill>
          <a:ln cap="flat" cmpd="sng" w="12700">
            <a:solidFill>
              <a:srgbClr val="8B61C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26"/>
          <p:cNvSpPr/>
          <p:nvPr/>
        </p:nvSpPr>
        <p:spPr>
          <a:xfrm>
            <a:off x="8389678" y="3287271"/>
            <a:ext cx="6948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01A33"/>
              </a:buClr>
              <a:buSzPts val="750"/>
              <a:buFont typeface="Inter"/>
              <a:buNone/>
            </a:pPr>
            <a:r>
              <a:rPr b="0" i="0" lang="en-US" sz="900" u="none" cap="none" strike="noStrike">
                <a:solidFill>
                  <a:srgbClr val="101A33"/>
                </a:solidFill>
                <a:latin typeface="Inter"/>
                <a:ea typeface="Inter"/>
                <a:cs typeface="Inter"/>
                <a:sym typeface="Inter"/>
              </a:rPr>
              <a:t>Objectness</a:t>
            </a:r>
            <a:endParaRPr b="0" i="0" sz="900" u="none" cap="none" strike="noStrike">
              <a:solidFill>
                <a:srgbClr val="000000"/>
              </a:solidFill>
              <a:latin typeface="Inter"/>
              <a:ea typeface="Inter"/>
              <a:cs typeface="Inter"/>
              <a:sym typeface="Inter"/>
            </a:endParaRPr>
          </a:p>
        </p:txBody>
      </p:sp>
      <p:sp>
        <p:nvSpPr>
          <p:cNvPr id="323" name="Google Shape;323;p26"/>
          <p:cNvSpPr/>
          <p:nvPr/>
        </p:nvSpPr>
        <p:spPr>
          <a:xfrm>
            <a:off x="10145586" y="1659746"/>
            <a:ext cx="1591200" cy="2441400"/>
          </a:xfrm>
          <a:prstGeom prst="roundRect">
            <a:avLst>
              <a:gd fmla="val 5747" name="adj"/>
            </a:avLst>
          </a:prstGeom>
          <a:solidFill>
            <a:srgbClr val="FCF9FF"/>
          </a:solidFill>
          <a:ln cap="flat" cmpd="sng" w="13950">
            <a:solidFill>
              <a:srgbClr val="B889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26"/>
          <p:cNvSpPr/>
          <p:nvPr/>
        </p:nvSpPr>
        <p:spPr>
          <a:xfrm>
            <a:off x="10003536" y="1801368"/>
            <a:ext cx="15912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C39E9"/>
              </a:buClr>
              <a:buSzPts val="1120"/>
              <a:buFont typeface="Inter"/>
              <a:buNone/>
            </a:pPr>
            <a:r>
              <a:rPr b="1" i="0" lang="en-US" sz="1120" u="none" cap="none" strike="noStrike">
                <a:solidFill>
                  <a:srgbClr val="8C39E9"/>
                </a:solidFill>
                <a:latin typeface="Inter"/>
                <a:ea typeface="Inter"/>
                <a:cs typeface="Inter"/>
                <a:sym typeface="Inter"/>
              </a:rPr>
              <a:t>Helmet Detection</a:t>
            </a:r>
            <a:endParaRPr b="0" i="0" sz="1120" u="none" cap="none" strike="noStrike">
              <a:solidFill>
                <a:srgbClr val="000000"/>
              </a:solidFill>
              <a:latin typeface="Inter"/>
              <a:ea typeface="Inter"/>
              <a:cs typeface="Inter"/>
              <a:sym typeface="Inter"/>
            </a:endParaRPr>
          </a:p>
        </p:txBody>
      </p:sp>
      <p:sp>
        <p:nvSpPr>
          <p:cNvPr id="325" name="Google Shape;325;p26"/>
          <p:cNvSpPr/>
          <p:nvPr/>
        </p:nvSpPr>
        <p:spPr>
          <a:xfrm>
            <a:off x="2359152" y="2907792"/>
            <a:ext cx="228600" cy="201300"/>
          </a:xfrm>
          <a:prstGeom prst="chevron">
            <a:avLst>
              <a:gd fmla="val 50000" name="adj"/>
            </a:avLst>
          </a:prstGeom>
          <a:solidFill>
            <a:srgbClr val="50698A"/>
          </a:solidFill>
          <a:ln cap="flat" cmpd="sng" w="12700">
            <a:solidFill>
              <a:srgbClr val="5069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26"/>
          <p:cNvSpPr/>
          <p:nvPr/>
        </p:nvSpPr>
        <p:spPr>
          <a:xfrm>
            <a:off x="4114800" y="2907792"/>
            <a:ext cx="228600" cy="201300"/>
          </a:xfrm>
          <a:prstGeom prst="chevron">
            <a:avLst>
              <a:gd fmla="val 50000" name="adj"/>
            </a:avLst>
          </a:prstGeom>
          <a:solidFill>
            <a:srgbClr val="50698A"/>
          </a:solidFill>
          <a:ln cap="flat" cmpd="sng" w="12700">
            <a:solidFill>
              <a:srgbClr val="5069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26"/>
          <p:cNvSpPr/>
          <p:nvPr/>
        </p:nvSpPr>
        <p:spPr>
          <a:xfrm>
            <a:off x="6044184" y="2907792"/>
            <a:ext cx="228600" cy="201300"/>
          </a:xfrm>
          <a:prstGeom prst="chevron">
            <a:avLst>
              <a:gd fmla="val 50000" name="adj"/>
            </a:avLst>
          </a:prstGeom>
          <a:solidFill>
            <a:srgbClr val="50698A"/>
          </a:solidFill>
          <a:ln cap="flat" cmpd="sng" w="12700">
            <a:solidFill>
              <a:srgbClr val="5069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26"/>
          <p:cNvSpPr/>
          <p:nvPr/>
        </p:nvSpPr>
        <p:spPr>
          <a:xfrm>
            <a:off x="8023862" y="2907792"/>
            <a:ext cx="228600" cy="201300"/>
          </a:xfrm>
          <a:prstGeom prst="chevron">
            <a:avLst>
              <a:gd fmla="val 50000" name="adj"/>
            </a:avLst>
          </a:prstGeom>
          <a:solidFill>
            <a:srgbClr val="50698A"/>
          </a:solidFill>
          <a:ln cap="flat" cmpd="sng" w="12700">
            <a:solidFill>
              <a:srgbClr val="5069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26"/>
          <p:cNvSpPr/>
          <p:nvPr/>
        </p:nvSpPr>
        <p:spPr>
          <a:xfrm>
            <a:off x="9944608" y="2907792"/>
            <a:ext cx="228600" cy="201300"/>
          </a:xfrm>
          <a:prstGeom prst="chevron">
            <a:avLst>
              <a:gd fmla="val 50000" name="adj"/>
            </a:avLst>
          </a:prstGeom>
          <a:solidFill>
            <a:srgbClr val="50698A"/>
          </a:solidFill>
          <a:ln cap="flat" cmpd="sng" w="12700">
            <a:solidFill>
              <a:srgbClr val="5069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26"/>
          <p:cNvSpPr/>
          <p:nvPr/>
        </p:nvSpPr>
        <p:spPr>
          <a:xfrm>
            <a:off x="457200" y="4773168"/>
            <a:ext cx="2697600" cy="1170300"/>
          </a:xfrm>
          <a:prstGeom prst="roundRect">
            <a:avLst>
              <a:gd fmla="val 9375"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26"/>
          <p:cNvSpPr/>
          <p:nvPr/>
        </p:nvSpPr>
        <p:spPr>
          <a:xfrm>
            <a:off x="612648" y="4919472"/>
            <a:ext cx="658500" cy="475500"/>
          </a:xfrm>
          <a:prstGeom prst="roundRect">
            <a:avLst>
              <a:gd fmla="val 19231" name="adj"/>
            </a:avLst>
          </a:prstGeom>
          <a:solidFill>
            <a:srgbClr val="F35B00"/>
          </a:solidFill>
          <a:ln cap="flat" cmpd="sng" w="12700">
            <a:solidFill>
              <a:srgbClr val="F35B00"/>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26"/>
          <p:cNvSpPr/>
          <p:nvPr/>
        </p:nvSpPr>
        <p:spPr>
          <a:xfrm>
            <a:off x="685800" y="4992624"/>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01</a:t>
            </a:r>
            <a:endParaRPr b="0" i="0" sz="1400" u="none" cap="none" strike="noStrike">
              <a:solidFill>
                <a:srgbClr val="000000"/>
              </a:solidFill>
              <a:latin typeface="Inter"/>
              <a:ea typeface="Inter"/>
              <a:cs typeface="Inter"/>
              <a:sym typeface="Inter"/>
            </a:endParaRPr>
          </a:p>
        </p:txBody>
      </p:sp>
      <p:sp>
        <p:nvSpPr>
          <p:cNvPr id="333" name="Google Shape;333;p26"/>
          <p:cNvSpPr/>
          <p:nvPr/>
        </p:nvSpPr>
        <p:spPr>
          <a:xfrm>
            <a:off x="1280160" y="4965192"/>
            <a:ext cx="1554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50"/>
              <a:buFont typeface="Inter"/>
              <a:buNone/>
            </a:pPr>
            <a:r>
              <a:rPr b="1" i="0" lang="en-US" sz="1250" u="none" cap="none" strike="noStrike">
                <a:solidFill>
                  <a:srgbClr val="101A33"/>
                </a:solidFill>
                <a:latin typeface="Inter"/>
                <a:ea typeface="Inter"/>
                <a:cs typeface="Inter"/>
                <a:sym typeface="Inter"/>
              </a:rPr>
              <a:t>CoordConv</a:t>
            </a:r>
            <a:endParaRPr b="0" i="0" sz="1250" u="none" cap="none" strike="noStrike">
              <a:solidFill>
                <a:srgbClr val="000000"/>
              </a:solidFill>
              <a:latin typeface="Inter"/>
              <a:ea typeface="Inter"/>
              <a:cs typeface="Inter"/>
              <a:sym typeface="Inter"/>
            </a:endParaRPr>
          </a:p>
        </p:txBody>
      </p:sp>
      <p:sp>
        <p:nvSpPr>
          <p:cNvPr id="334" name="Google Shape;334;p26"/>
          <p:cNvSpPr/>
          <p:nvPr/>
        </p:nvSpPr>
        <p:spPr>
          <a:xfrm>
            <a:off x="1280160" y="5257800"/>
            <a:ext cx="1627500" cy="384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30"/>
              <a:buFont typeface="Inter"/>
              <a:buNone/>
            </a:pPr>
            <a:r>
              <a:rPr b="0" i="0" lang="en-US" sz="1430" u="none" cap="none" strike="noStrike">
                <a:solidFill>
                  <a:srgbClr val="51647F"/>
                </a:solidFill>
                <a:latin typeface="Inter"/>
                <a:ea typeface="Inter"/>
                <a:cs typeface="Inter"/>
                <a:sym typeface="Inter"/>
              </a:rPr>
              <a:t>Adds spatial coordinates</a:t>
            </a:r>
            <a:endParaRPr b="0" i="0" sz="1430" u="none" cap="none" strike="noStrike">
              <a:solidFill>
                <a:srgbClr val="000000"/>
              </a:solidFill>
              <a:latin typeface="Inter"/>
              <a:ea typeface="Inter"/>
              <a:cs typeface="Inter"/>
              <a:sym typeface="Inter"/>
            </a:endParaRPr>
          </a:p>
        </p:txBody>
      </p:sp>
      <p:sp>
        <p:nvSpPr>
          <p:cNvPr id="335" name="Google Shape;335;p26"/>
          <p:cNvSpPr/>
          <p:nvPr/>
        </p:nvSpPr>
        <p:spPr>
          <a:xfrm>
            <a:off x="3319272" y="4773168"/>
            <a:ext cx="2697600" cy="1170300"/>
          </a:xfrm>
          <a:prstGeom prst="roundRect">
            <a:avLst>
              <a:gd fmla="val 9375"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 name="Google Shape;336;p26"/>
          <p:cNvSpPr/>
          <p:nvPr/>
        </p:nvSpPr>
        <p:spPr>
          <a:xfrm>
            <a:off x="3474720" y="4919472"/>
            <a:ext cx="658500" cy="475500"/>
          </a:xfrm>
          <a:prstGeom prst="roundRect">
            <a:avLst>
              <a:gd fmla="val 19231" name="adj"/>
            </a:avLst>
          </a:prstGeom>
          <a:solidFill>
            <a:srgbClr val="2767E8"/>
          </a:solidFill>
          <a:ln cap="flat" cmpd="sng" w="12700">
            <a:solidFill>
              <a:srgbClr val="2767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26"/>
          <p:cNvSpPr/>
          <p:nvPr/>
        </p:nvSpPr>
        <p:spPr>
          <a:xfrm>
            <a:off x="3547872" y="4992624"/>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02</a:t>
            </a:r>
            <a:endParaRPr b="0" i="0" sz="1400" u="none" cap="none" strike="noStrike">
              <a:solidFill>
                <a:srgbClr val="000000"/>
              </a:solidFill>
              <a:latin typeface="Inter"/>
              <a:ea typeface="Inter"/>
              <a:cs typeface="Inter"/>
              <a:sym typeface="Inter"/>
            </a:endParaRPr>
          </a:p>
        </p:txBody>
      </p:sp>
      <p:sp>
        <p:nvSpPr>
          <p:cNvPr id="338" name="Google Shape;338;p26"/>
          <p:cNvSpPr/>
          <p:nvPr/>
        </p:nvSpPr>
        <p:spPr>
          <a:xfrm>
            <a:off x="4142232" y="4965192"/>
            <a:ext cx="1554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50"/>
              <a:buFont typeface="Inter"/>
              <a:buNone/>
            </a:pPr>
            <a:r>
              <a:rPr b="1" i="0" lang="en-US" sz="1250" u="none" cap="none" strike="noStrike">
                <a:solidFill>
                  <a:srgbClr val="101A33"/>
                </a:solidFill>
                <a:latin typeface="Inter"/>
                <a:ea typeface="Inter"/>
                <a:cs typeface="Inter"/>
                <a:sym typeface="Inter"/>
              </a:rPr>
              <a:t>RepConv</a:t>
            </a:r>
            <a:endParaRPr b="0" i="0" sz="1250" u="none" cap="none" strike="noStrike">
              <a:solidFill>
                <a:srgbClr val="000000"/>
              </a:solidFill>
              <a:latin typeface="Inter"/>
              <a:ea typeface="Inter"/>
              <a:cs typeface="Inter"/>
              <a:sym typeface="Inter"/>
            </a:endParaRPr>
          </a:p>
        </p:txBody>
      </p:sp>
      <p:sp>
        <p:nvSpPr>
          <p:cNvPr id="339" name="Google Shape;339;p26"/>
          <p:cNvSpPr/>
          <p:nvPr/>
        </p:nvSpPr>
        <p:spPr>
          <a:xfrm>
            <a:off x="4142225" y="5166300"/>
            <a:ext cx="1710000" cy="67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30"/>
              <a:buFont typeface="Inter"/>
              <a:buNone/>
            </a:pPr>
            <a:r>
              <a:rPr b="0" i="0" lang="en-US" u="none" cap="none" strike="noStrike">
                <a:solidFill>
                  <a:srgbClr val="51647F"/>
                </a:solidFill>
                <a:latin typeface="Inter"/>
                <a:ea typeface="Inter"/>
                <a:cs typeface="Inter"/>
                <a:sym typeface="Inter"/>
              </a:rPr>
              <a:t>Train multi-branch, deploy</a:t>
            </a:r>
            <a:r>
              <a:rPr lang="en-US">
                <a:latin typeface="Inter"/>
                <a:ea typeface="Inter"/>
                <a:cs typeface="Inter"/>
                <a:sym typeface="Inter"/>
              </a:rPr>
              <a:t> </a:t>
            </a:r>
            <a:r>
              <a:rPr b="0" i="0" lang="en-US" u="none" cap="none" strike="noStrike">
                <a:solidFill>
                  <a:srgbClr val="51647F"/>
                </a:solidFill>
                <a:latin typeface="Inter"/>
                <a:ea typeface="Inter"/>
                <a:cs typeface="Inter"/>
                <a:sym typeface="Inter"/>
              </a:rPr>
              <a:t>single-path</a:t>
            </a:r>
            <a:endParaRPr b="0" i="0" u="none" cap="none" strike="noStrike">
              <a:solidFill>
                <a:srgbClr val="000000"/>
              </a:solidFill>
              <a:latin typeface="Inter"/>
              <a:ea typeface="Inter"/>
              <a:cs typeface="Inter"/>
              <a:sym typeface="Inter"/>
            </a:endParaRPr>
          </a:p>
        </p:txBody>
      </p:sp>
      <p:sp>
        <p:nvSpPr>
          <p:cNvPr id="340" name="Google Shape;340;p26"/>
          <p:cNvSpPr/>
          <p:nvPr/>
        </p:nvSpPr>
        <p:spPr>
          <a:xfrm>
            <a:off x="6181344" y="4773168"/>
            <a:ext cx="2697600" cy="1170300"/>
          </a:xfrm>
          <a:prstGeom prst="roundRect">
            <a:avLst>
              <a:gd fmla="val 9375"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26"/>
          <p:cNvSpPr/>
          <p:nvPr/>
        </p:nvSpPr>
        <p:spPr>
          <a:xfrm>
            <a:off x="6336792" y="4919472"/>
            <a:ext cx="658500" cy="475500"/>
          </a:xfrm>
          <a:prstGeom prst="roundRect">
            <a:avLst>
              <a:gd fmla="val 19231" name="adj"/>
            </a:avLst>
          </a:prstGeom>
          <a:solidFill>
            <a:srgbClr val="F08A00"/>
          </a:solidFill>
          <a:ln cap="flat" cmpd="sng" w="12700">
            <a:solidFill>
              <a:srgbClr val="F08A00"/>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26"/>
          <p:cNvSpPr/>
          <p:nvPr/>
        </p:nvSpPr>
        <p:spPr>
          <a:xfrm>
            <a:off x="6409944" y="4992624"/>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03</a:t>
            </a:r>
            <a:endParaRPr b="0" i="0" sz="1400" u="none" cap="none" strike="noStrike">
              <a:solidFill>
                <a:srgbClr val="000000"/>
              </a:solidFill>
              <a:latin typeface="Inter"/>
              <a:ea typeface="Inter"/>
              <a:cs typeface="Inter"/>
              <a:sym typeface="Inter"/>
            </a:endParaRPr>
          </a:p>
        </p:txBody>
      </p:sp>
      <p:sp>
        <p:nvSpPr>
          <p:cNvPr id="343" name="Google Shape;343;p26"/>
          <p:cNvSpPr/>
          <p:nvPr/>
        </p:nvSpPr>
        <p:spPr>
          <a:xfrm>
            <a:off x="7004304" y="4965192"/>
            <a:ext cx="1554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50"/>
              <a:buFont typeface="Inter"/>
              <a:buNone/>
            </a:pPr>
            <a:r>
              <a:rPr b="1" i="0" lang="en-US" sz="1250" u="none" cap="none" strike="noStrike">
                <a:solidFill>
                  <a:srgbClr val="101A33"/>
                </a:solidFill>
                <a:latin typeface="Inter"/>
                <a:ea typeface="Inter"/>
                <a:cs typeface="Inter"/>
                <a:sym typeface="Inter"/>
              </a:rPr>
              <a:t>BiFormer</a:t>
            </a:r>
            <a:endParaRPr b="0" i="0" sz="1250" u="none" cap="none" strike="noStrike">
              <a:solidFill>
                <a:srgbClr val="000000"/>
              </a:solidFill>
              <a:latin typeface="Inter"/>
              <a:ea typeface="Inter"/>
              <a:cs typeface="Inter"/>
              <a:sym typeface="Inter"/>
            </a:endParaRPr>
          </a:p>
        </p:txBody>
      </p:sp>
      <p:sp>
        <p:nvSpPr>
          <p:cNvPr id="344" name="Google Shape;344;p26"/>
          <p:cNvSpPr/>
          <p:nvPr/>
        </p:nvSpPr>
        <p:spPr>
          <a:xfrm>
            <a:off x="7004275" y="5143500"/>
            <a:ext cx="1792200" cy="67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30"/>
              <a:buFont typeface="Inter"/>
              <a:buNone/>
            </a:pPr>
            <a:r>
              <a:rPr b="0" i="0" lang="en-US" u="none" cap="none" strike="noStrike">
                <a:solidFill>
                  <a:srgbClr val="51647F"/>
                </a:solidFill>
                <a:latin typeface="Inter"/>
                <a:ea typeface="Inter"/>
                <a:cs typeface="Inter"/>
                <a:sym typeface="Inter"/>
              </a:rPr>
              <a:t>Sparse routing for small</a:t>
            </a:r>
            <a:r>
              <a:rPr lang="en-US">
                <a:latin typeface="Inter"/>
                <a:ea typeface="Inter"/>
                <a:cs typeface="Inter"/>
                <a:sym typeface="Inter"/>
              </a:rPr>
              <a:t> </a:t>
            </a:r>
            <a:r>
              <a:rPr b="0" i="0" lang="en-US" u="none" cap="none" strike="noStrike">
                <a:solidFill>
                  <a:srgbClr val="51647F"/>
                </a:solidFill>
                <a:latin typeface="Inter"/>
                <a:ea typeface="Inter"/>
                <a:cs typeface="Inter"/>
                <a:sym typeface="Inter"/>
              </a:rPr>
              <a:t>targets</a:t>
            </a:r>
            <a:endParaRPr b="0" i="0" u="none" cap="none" strike="noStrike">
              <a:solidFill>
                <a:srgbClr val="000000"/>
              </a:solidFill>
              <a:latin typeface="Inter"/>
              <a:ea typeface="Inter"/>
              <a:cs typeface="Inter"/>
              <a:sym typeface="Inter"/>
            </a:endParaRPr>
          </a:p>
        </p:txBody>
      </p:sp>
      <p:sp>
        <p:nvSpPr>
          <p:cNvPr id="345" name="Google Shape;345;p26"/>
          <p:cNvSpPr/>
          <p:nvPr/>
        </p:nvSpPr>
        <p:spPr>
          <a:xfrm>
            <a:off x="9043416" y="4773168"/>
            <a:ext cx="2697600" cy="1170300"/>
          </a:xfrm>
          <a:prstGeom prst="roundRect">
            <a:avLst>
              <a:gd fmla="val 9375"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26"/>
          <p:cNvSpPr/>
          <p:nvPr/>
        </p:nvSpPr>
        <p:spPr>
          <a:xfrm>
            <a:off x="9198864" y="4919472"/>
            <a:ext cx="658500" cy="475500"/>
          </a:xfrm>
          <a:prstGeom prst="roundRect">
            <a:avLst>
              <a:gd fmla="val 19231" name="adj"/>
            </a:avLst>
          </a:prstGeom>
          <a:solidFill>
            <a:srgbClr val="10AF5A"/>
          </a:solidFill>
          <a:ln cap="flat" cmpd="sng" w="12700">
            <a:solidFill>
              <a:srgbClr val="10AF5A"/>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26"/>
          <p:cNvSpPr/>
          <p:nvPr/>
        </p:nvSpPr>
        <p:spPr>
          <a:xfrm>
            <a:off x="9272016" y="4992624"/>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04</a:t>
            </a:r>
            <a:endParaRPr b="0" i="0" sz="1400" u="none" cap="none" strike="noStrike">
              <a:solidFill>
                <a:srgbClr val="000000"/>
              </a:solidFill>
              <a:latin typeface="Inter"/>
              <a:ea typeface="Inter"/>
              <a:cs typeface="Inter"/>
              <a:sym typeface="Inter"/>
            </a:endParaRPr>
          </a:p>
        </p:txBody>
      </p:sp>
      <p:sp>
        <p:nvSpPr>
          <p:cNvPr id="348" name="Google Shape;348;p26"/>
          <p:cNvSpPr/>
          <p:nvPr/>
        </p:nvSpPr>
        <p:spPr>
          <a:xfrm>
            <a:off x="9866376" y="4965192"/>
            <a:ext cx="1554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50"/>
              <a:buFont typeface="Inter"/>
              <a:buNone/>
            </a:pPr>
            <a:r>
              <a:rPr b="1" i="0" lang="en-US" sz="1250" u="none" cap="none" strike="noStrike">
                <a:solidFill>
                  <a:srgbClr val="101A33"/>
                </a:solidFill>
                <a:latin typeface="Inter"/>
                <a:ea typeface="Inter"/>
                <a:cs typeface="Inter"/>
                <a:sym typeface="Inter"/>
              </a:rPr>
              <a:t>Focal EIoU</a:t>
            </a:r>
            <a:endParaRPr b="0" i="0" sz="1250" u="none" cap="none" strike="noStrike">
              <a:solidFill>
                <a:srgbClr val="000000"/>
              </a:solidFill>
              <a:latin typeface="Inter"/>
              <a:ea typeface="Inter"/>
              <a:cs typeface="Inter"/>
              <a:sym typeface="Inter"/>
            </a:endParaRPr>
          </a:p>
        </p:txBody>
      </p:sp>
      <p:sp>
        <p:nvSpPr>
          <p:cNvPr id="349" name="Google Shape;349;p26"/>
          <p:cNvSpPr/>
          <p:nvPr/>
        </p:nvSpPr>
        <p:spPr>
          <a:xfrm>
            <a:off x="9866376" y="5257800"/>
            <a:ext cx="1627500" cy="384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30"/>
              <a:buFont typeface="Inter"/>
              <a:buNone/>
            </a:pPr>
            <a:r>
              <a:rPr b="0" i="0" lang="en-US" sz="1430" u="none" cap="none" strike="noStrike">
                <a:solidFill>
                  <a:srgbClr val="51647F"/>
                </a:solidFill>
                <a:latin typeface="Inter"/>
                <a:ea typeface="Inter"/>
                <a:cs typeface="Inter"/>
                <a:sym typeface="Inter"/>
              </a:rPr>
              <a:t>Improves box regression</a:t>
            </a:r>
            <a:endParaRPr b="0" i="0" sz="1430" u="none" cap="none" strike="noStrike">
              <a:solidFill>
                <a:srgbClr val="000000"/>
              </a:solidFill>
              <a:latin typeface="Inter"/>
              <a:ea typeface="Inter"/>
              <a:cs typeface="Inter"/>
              <a:sym typeface="Inter"/>
            </a:endParaRPr>
          </a:p>
        </p:txBody>
      </p:sp>
      <p:pic>
        <p:nvPicPr>
          <p:cNvPr id="350" name="Google Shape;350;p26"/>
          <p:cNvPicPr preferRelativeResize="0"/>
          <p:nvPr/>
        </p:nvPicPr>
        <p:blipFill>
          <a:blip r:embed="rId3">
            <a:alphaModFix/>
          </a:blip>
          <a:stretch>
            <a:fillRect/>
          </a:stretch>
        </p:blipFill>
        <p:spPr>
          <a:xfrm>
            <a:off x="649025" y="2177134"/>
            <a:ext cx="1554600" cy="1543491"/>
          </a:xfrm>
          <a:prstGeom prst="rect">
            <a:avLst/>
          </a:prstGeom>
          <a:noFill/>
          <a:ln>
            <a:noFill/>
          </a:ln>
        </p:spPr>
      </p:pic>
      <p:pic>
        <p:nvPicPr>
          <p:cNvPr id="351" name="Google Shape;351;p26"/>
          <p:cNvPicPr preferRelativeResize="0"/>
          <p:nvPr/>
        </p:nvPicPr>
        <p:blipFill>
          <a:blip r:embed="rId3">
            <a:alphaModFix/>
          </a:blip>
          <a:stretch>
            <a:fillRect/>
          </a:stretch>
        </p:blipFill>
        <p:spPr>
          <a:xfrm>
            <a:off x="10250850" y="2154108"/>
            <a:ext cx="1463100" cy="1452654"/>
          </a:xfrm>
          <a:prstGeom prst="rect">
            <a:avLst/>
          </a:prstGeom>
          <a:noFill/>
          <a:ln>
            <a:noFill/>
          </a:ln>
        </p:spPr>
      </p:pic>
      <p:sp>
        <p:nvSpPr>
          <p:cNvPr id="352" name="Google Shape;352;p26"/>
          <p:cNvSpPr/>
          <p:nvPr/>
        </p:nvSpPr>
        <p:spPr>
          <a:xfrm>
            <a:off x="10981950" y="2569575"/>
            <a:ext cx="82500" cy="137100"/>
          </a:xfrm>
          <a:prstGeom prst="rect">
            <a:avLst/>
          </a:prstGeom>
          <a:solidFill>
            <a:srgbClr val="FFFFFF">
              <a:alpha val="0"/>
            </a:srgbClr>
          </a:solidFill>
          <a:ln cap="flat" cmpd="sng" w="16500">
            <a:solidFill>
              <a:srgbClr val="00E8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26"/>
          <p:cNvSpPr/>
          <p:nvPr/>
        </p:nvSpPr>
        <p:spPr>
          <a:xfrm>
            <a:off x="9363675" y="2723213"/>
            <a:ext cx="567000" cy="670800"/>
          </a:xfrm>
          <a:prstGeom prst="roundRect">
            <a:avLst>
              <a:gd fmla="val 16667" name="adj"/>
            </a:avLst>
          </a:prstGeom>
          <a:solidFill>
            <a:srgbClr val="F4CCCC"/>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Clr>
                <a:srgbClr val="101A33"/>
              </a:buClr>
              <a:buSzPts val="1250"/>
              <a:buFont typeface="Inter"/>
              <a:buNone/>
            </a:pPr>
            <a:r>
              <a:rPr lang="en-US" sz="900">
                <a:solidFill>
                  <a:srgbClr val="101A33"/>
                </a:solidFill>
                <a:latin typeface="Inter"/>
                <a:ea typeface="Inter"/>
                <a:cs typeface="Inter"/>
                <a:sym typeface="Inter"/>
              </a:rPr>
              <a:t>Focal EIoU</a:t>
            </a:r>
            <a:endParaRPr sz="900">
              <a:solidFill>
                <a:schemeClr val="dk1"/>
              </a:solidFill>
              <a:latin typeface="Inter"/>
              <a:ea typeface="Inter"/>
              <a:cs typeface="Inter"/>
              <a:sym typeface="Inter"/>
            </a:endParaRPr>
          </a:p>
          <a:p>
            <a:pPr indent="0" lvl="0" marL="0" rtl="0" algn="ctr">
              <a:spcBef>
                <a:spcPts val="0"/>
              </a:spcBef>
              <a:spcAft>
                <a:spcPts val="0"/>
              </a:spcAft>
              <a:buNone/>
            </a:pPr>
            <a:r>
              <a:t/>
            </a:r>
            <a:endParaRPr sz="900">
              <a:latin typeface="Calibri"/>
              <a:ea typeface="Calibri"/>
              <a:cs typeface="Calibri"/>
              <a:sym typeface="Calibri"/>
            </a:endParaRPr>
          </a:p>
        </p:txBody>
      </p:sp>
      <p:cxnSp>
        <p:nvCxnSpPr>
          <p:cNvPr id="354" name="Google Shape;354;p26"/>
          <p:cNvCxnSpPr/>
          <p:nvPr/>
        </p:nvCxnSpPr>
        <p:spPr>
          <a:xfrm>
            <a:off x="9139588" y="3051850"/>
            <a:ext cx="224100" cy="13800"/>
          </a:xfrm>
          <a:prstGeom prst="straightConnector1">
            <a:avLst/>
          </a:prstGeom>
          <a:noFill/>
          <a:ln cap="flat" cmpd="sng" w="9525">
            <a:solidFill>
              <a:schemeClr val="dk2"/>
            </a:solidFill>
            <a:prstDash val="solid"/>
            <a:round/>
            <a:headEnd len="med" w="med" type="none"/>
            <a:tailEnd len="med" w="med" type="triangle"/>
          </a:ln>
        </p:spPr>
      </p:cxn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8" name="Shape 358"/>
        <p:cNvGrpSpPr/>
        <p:nvPr/>
      </p:nvGrpSpPr>
      <p:grpSpPr>
        <a:xfrm>
          <a:off x="0" y="0"/>
          <a:ext cx="0" cy="0"/>
          <a:chOff x="0" y="0"/>
          <a:chExt cx="0" cy="0"/>
        </a:xfrm>
      </p:grpSpPr>
      <p:sp>
        <p:nvSpPr>
          <p:cNvPr id="359" name="Google Shape;359;p27"/>
          <p:cNvSpPr/>
          <p:nvPr/>
        </p:nvSpPr>
        <p:spPr>
          <a:xfrm>
            <a:off x="0" y="0"/>
            <a:ext cx="12191695"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0" name="Google Shape;360;p27"/>
          <p:cNvSpPr txBox="1"/>
          <p:nvPr/>
        </p:nvSpPr>
        <p:spPr>
          <a:xfrm>
            <a:off x="731520" y="292608"/>
            <a:ext cx="8686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361" name="Google Shape;361;p27"/>
          <p:cNvSpPr txBox="1"/>
          <p:nvPr/>
        </p:nvSpPr>
        <p:spPr>
          <a:xfrm>
            <a:off x="10332720" y="292608"/>
            <a:ext cx="1097280" cy="256032"/>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11 / 18</a:t>
            </a:r>
            <a:endParaRPr/>
          </a:p>
        </p:txBody>
      </p:sp>
      <p:sp>
        <p:nvSpPr>
          <p:cNvPr id="362" name="Google Shape;362;p27"/>
          <p:cNvSpPr txBox="1"/>
          <p:nvPr/>
        </p:nvSpPr>
        <p:spPr>
          <a:xfrm>
            <a:off x="731520" y="566928"/>
            <a:ext cx="1069848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Data Engineering: Multi-Domain Harmonization &amp; Anomaly Cleaning</a:t>
            </a:r>
            <a:endParaRPr/>
          </a:p>
        </p:txBody>
      </p:sp>
      <p:sp>
        <p:nvSpPr>
          <p:cNvPr id="363" name="Google Shape;363;p27"/>
          <p:cNvSpPr/>
          <p:nvPr/>
        </p:nvSpPr>
        <p:spPr>
          <a:xfrm>
            <a:off x="731520" y="1234440"/>
            <a:ext cx="5120700" cy="44805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4" name="Google Shape;364;p27"/>
          <p:cNvSpPr txBox="1"/>
          <p:nvPr/>
        </p:nvSpPr>
        <p:spPr>
          <a:xfrm>
            <a:off x="960120" y="1436850"/>
            <a:ext cx="4663500" cy="2484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600" u="none" cap="none" strike="noStrike">
                <a:solidFill>
                  <a:srgbClr val="EA580C"/>
                </a:solidFill>
                <a:latin typeface="Calibri"/>
                <a:ea typeface="Calibri"/>
                <a:cs typeface="Calibri"/>
                <a:sym typeface="Calibri"/>
              </a:rPr>
              <a:t>PRIMARY IN-DOMAIN DATASET (VOC2028 / SHWD)</a:t>
            </a:r>
            <a:endParaRPr sz="1800"/>
          </a:p>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7,581 Real Construction Images</a:t>
            </a:r>
            <a:endParaRPr sz="1800"/>
          </a:p>
          <a:p>
            <a:pPr indent="0" lvl="0" marL="0" marR="0" rtl="0" algn="l">
              <a:spcBef>
                <a:spcPts val="600"/>
              </a:spcBef>
              <a:spcAft>
                <a:spcPts val="0"/>
              </a:spcAft>
              <a:buNone/>
            </a:pPr>
            <a:r>
              <a:rPr b="1" i="0" lang="en-US" sz="1380" u="none" cap="none" strike="noStrike">
                <a:solidFill>
                  <a:srgbClr val="0F172A"/>
                </a:solidFill>
                <a:latin typeface="Calibri"/>
                <a:ea typeface="Calibri"/>
                <a:cs typeface="Calibri"/>
                <a:sym typeface="Calibri"/>
              </a:rPr>
              <a:t>• Rigorous 80/20 Partitioning: </a:t>
            </a:r>
            <a:r>
              <a:rPr b="0" i="0" lang="en-US" sz="1380" u="none" cap="none" strike="noStrike">
                <a:solidFill>
                  <a:srgbClr val="334155"/>
                </a:solidFill>
                <a:latin typeface="Calibri"/>
                <a:ea typeface="Calibri"/>
                <a:cs typeface="Calibri"/>
                <a:sym typeface="Calibri"/>
              </a:rPr>
              <a:t>6,064 TrainVal images / 1,517 independent Test images (Zero Data Leakage).</a:t>
            </a:r>
            <a:endParaRPr sz="1800"/>
          </a:p>
          <a:p>
            <a:pPr indent="0" lvl="0" marL="0" marR="0" rtl="0" algn="l">
              <a:spcBef>
                <a:spcPts val="400"/>
              </a:spcBef>
              <a:spcAft>
                <a:spcPts val="0"/>
              </a:spcAft>
              <a:buNone/>
            </a:pPr>
            <a:r>
              <a:rPr b="1" i="0" lang="en-US" sz="1380" u="none" cap="none" strike="noStrike">
                <a:solidFill>
                  <a:srgbClr val="0F172A"/>
                </a:solidFill>
                <a:latin typeface="Calibri"/>
                <a:ea typeface="Calibri"/>
                <a:cs typeface="Calibri"/>
                <a:sym typeface="Calibri"/>
              </a:rPr>
              <a:t>• Noise &amp; Anomaly Cleaning: </a:t>
            </a:r>
            <a:r>
              <a:rPr b="0" i="0" lang="en-US" sz="1380" u="none" cap="none" strike="noStrike">
                <a:solidFill>
                  <a:srgbClr val="334155"/>
                </a:solidFill>
                <a:latin typeface="Calibri"/>
                <a:ea typeface="Calibri"/>
                <a:cs typeface="Calibri"/>
                <a:sym typeface="Calibri"/>
              </a:rPr>
              <a:t>Detected and purged 3 corrupted XML annotations labeled as "dog".</a:t>
            </a:r>
            <a:endParaRPr sz="1800"/>
          </a:p>
          <a:p>
            <a:pPr indent="0" lvl="0" marL="0" marR="0" rtl="0" algn="l">
              <a:spcBef>
                <a:spcPts val="400"/>
              </a:spcBef>
              <a:spcAft>
                <a:spcPts val="0"/>
              </a:spcAft>
              <a:buNone/>
            </a:pPr>
            <a:r>
              <a:rPr b="1" i="0" lang="en-US" sz="1380" u="none" cap="none" strike="noStrike">
                <a:solidFill>
                  <a:srgbClr val="0F172A"/>
                </a:solidFill>
                <a:latin typeface="Calibri"/>
                <a:ea typeface="Calibri"/>
                <a:cs typeface="Calibri"/>
                <a:sym typeface="Calibri"/>
              </a:rPr>
              <a:t>• Extreme Label Imbalance: </a:t>
            </a:r>
            <a:r>
              <a:rPr b="0" i="0" lang="en-US" sz="1380" u="none" cap="none" strike="noStrike">
                <a:solidFill>
                  <a:srgbClr val="334155"/>
                </a:solidFill>
                <a:latin typeface="Calibri"/>
                <a:ea typeface="Calibri"/>
                <a:cs typeface="Calibri"/>
                <a:sym typeface="Calibri"/>
              </a:rPr>
              <a:t>1:12 class ratio (9,044 helmet labels vs. 111,514 person body labels).</a:t>
            </a:r>
            <a:endParaRPr sz="1800"/>
          </a:p>
          <a:p>
            <a:pPr indent="0" lvl="0" marL="0" marR="0" rtl="0" algn="l">
              <a:spcBef>
                <a:spcPts val="400"/>
              </a:spcBef>
              <a:spcAft>
                <a:spcPts val="0"/>
              </a:spcAft>
              <a:buNone/>
            </a:pPr>
            <a:r>
              <a:rPr b="1" i="0" lang="en-US" sz="1380" u="none" cap="none" strike="noStrike">
                <a:solidFill>
                  <a:srgbClr val="0F172A"/>
                </a:solidFill>
                <a:latin typeface="Calibri"/>
                <a:ea typeface="Calibri"/>
                <a:cs typeface="Calibri"/>
                <a:sym typeface="Calibri"/>
              </a:rPr>
              <a:t>• Multi-Scale Standardization: </a:t>
            </a:r>
            <a:r>
              <a:rPr b="0" i="0" lang="en-US" sz="1380" u="none" cap="none" strike="noStrike">
                <a:solidFill>
                  <a:srgbClr val="334155"/>
                </a:solidFill>
                <a:latin typeface="Calibri"/>
                <a:ea typeface="Calibri"/>
                <a:cs typeface="Calibri"/>
                <a:sym typeface="Calibri"/>
              </a:rPr>
              <a:t>960×960 native training resolution with 640×640 / 1024×1024 multi-scale scaling.</a:t>
            </a:r>
            <a:endParaRPr sz="1800"/>
          </a:p>
        </p:txBody>
      </p:sp>
      <p:sp>
        <p:nvSpPr>
          <p:cNvPr id="365" name="Google Shape;365;p27"/>
          <p:cNvSpPr/>
          <p:nvPr/>
        </p:nvSpPr>
        <p:spPr>
          <a:xfrm>
            <a:off x="6126480" y="1234440"/>
            <a:ext cx="5303520" cy="448056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6" name="Google Shape;366;p27"/>
          <p:cNvSpPr txBox="1"/>
          <p:nvPr/>
        </p:nvSpPr>
        <p:spPr>
          <a:xfrm>
            <a:off x="6355080" y="1508750"/>
            <a:ext cx="4846200" cy="2484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600" u="none" cap="none" strike="noStrike">
                <a:solidFill>
                  <a:srgbClr val="2563EB"/>
                </a:solidFill>
                <a:latin typeface="Calibri"/>
                <a:ea typeface="Calibri"/>
                <a:cs typeface="Calibri"/>
                <a:sym typeface="Calibri"/>
              </a:rPr>
              <a:t>5 CROSS-DOMAIN BENCHMARKS (&gt;25,000 IMAGES)</a:t>
            </a:r>
            <a:endParaRPr sz="1800"/>
          </a:p>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Extreme Zero-Shot Generalization Test</a:t>
            </a:r>
            <a:endParaRPr sz="1800"/>
          </a:p>
          <a:p>
            <a:pPr indent="0" lvl="0" marL="0" marR="0" rtl="0" algn="l">
              <a:spcBef>
                <a:spcPts val="600"/>
              </a:spcBef>
              <a:spcAft>
                <a:spcPts val="0"/>
              </a:spcAft>
              <a:buNone/>
            </a:pPr>
            <a:r>
              <a:rPr b="1" i="0" lang="en-US" sz="1380" u="none" cap="none" strike="noStrike">
                <a:solidFill>
                  <a:srgbClr val="0F172A"/>
                </a:solidFill>
                <a:latin typeface="Calibri"/>
                <a:ea typeface="Calibri"/>
                <a:cs typeface="Calibri"/>
                <a:sym typeface="Calibri"/>
              </a:rPr>
              <a:t>• GDUT-HWD (13,499 images): </a:t>
            </a:r>
            <a:r>
              <a:rPr b="0" i="0" lang="en-US" sz="1380" u="none" cap="none" strike="noStrike">
                <a:solidFill>
                  <a:srgbClr val="334155"/>
                </a:solidFill>
                <a:latin typeface="Calibri"/>
                <a:ea typeface="Calibri"/>
                <a:cs typeface="Calibri"/>
                <a:sym typeface="Calibri"/>
              </a:rPr>
              <a:t>Ultra-dense worker crowding (15–30 persons per camera frame).</a:t>
            </a:r>
            <a:endParaRPr sz="1800"/>
          </a:p>
          <a:p>
            <a:pPr indent="0" lvl="0" marL="0" marR="0" rtl="0" algn="l">
              <a:spcBef>
                <a:spcPts val="400"/>
              </a:spcBef>
              <a:spcAft>
                <a:spcPts val="0"/>
              </a:spcAft>
              <a:buNone/>
            </a:pPr>
            <a:r>
              <a:rPr b="1" i="0" lang="en-US" sz="1380" u="none" cap="none" strike="noStrike">
                <a:solidFill>
                  <a:srgbClr val="0F172A"/>
                </a:solidFill>
                <a:latin typeface="Calibri"/>
                <a:ea typeface="Calibri"/>
                <a:cs typeface="Calibri"/>
                <a:sym typeface="Calibri"/>
              </a:rPr>
              <a:t>• SHEL5K (5,000 images): </a:t>
            </a:r>
            <a:r>
              <a:rPr b="0" i="0" lang="en-US" sz="1380" u="none" cap="none" strike="noStrike">
                <a:solidFill>
                  <a:srgbClr val="334155"/>
                </a:solidFill>
                <a:latin typeface="Calibri"/>
                <a:ea typeface="Calibri"/>
                <a:cs typeface="Calibri"/>
                <a:sym typeface="Calibri"/>
              </a:rPr>
              <a:t>High-angle CCTV surveillance perspective with complex multi-scale occlusions.</a:t>
            </a:r>
            <a:endParaRPr sz="1800"/>
          </a:p>
          <a:p>
            <a:pPr indent="0" lvl="0" marL="0" marR="0" rtl="0" algn="l">
              <a:spcBef>
                <a:spcPts val="400"/>
              </a:spcBef>
              <a:spcAft>
                <a:spcPts val="0"/>
              </a:spcAft>
              <a:buNone/>
            </a:pPr>
            <a:r>
              <a:rPr b="1" i="0" lang="en-US" sz="1380" u="none" cap="none" strike="noStrike">
                <a:solidFill>
                  <a:srgbClr val="0F172A"/>
                </a:solidFill>
                <a:latin typeface="Calibri"/>
                <a:ea typeface="Calibri"/>
                <a:cs typeface="Calibri"/>
                <a:sym typeface="Calibri"/>
              </a:rPr>
              <a:t>• Hard Hat Workers (7,000 images): </a:t>
            </a:r>
            <a:r>
              <a:rPr b="0" i="0" lang="en-US" sz="1380" u="none" cap="none" strike="noStrike">
                <a:solidFill>
                  <a:srgbClr val="334155"/>
                </a:solidFill>
                <a:latin typeface="Calibri"/>
                <a:ea typeface="Calibri"/>
                <a:cs typeface="Calibri"/>
                <a:sym typeface="Calibri"/>
              </a:rPr>
              <a:t>Outdoor surveillance under extreme natural lighting and shadows.</a:t>
            </a:r>
            <a:endParaRPr sz="1800"/>
          </a:p>
          <a:p>
            <a:pPr indent="0" lvl="0" marL="0" marR="0" rtl="0" algn="l">
              <a:spcBef>
                <a:spcPts val="400"/>
              </a:spcBef>
              <a:spcAft>
                <a:spcPts val="0"/>
              </a:spcAft>
              <a:buNone/>
            </a:pPr>
            <a:r>
              <a:rPr b="1" i="0" lang="en-US" sz="1380" u="none" cap="none" strike="noStrike">
                <a:solidFill>
                  <a:srgbClr val="0F172A"/>
                </a:solidFill>
                <a:latin typeface="Calibri"/>
                <a:ea typeface="Calibri"/>
                <a:cs typeface="Calibri"/>
                <a:sym typeface="Calibri"/>
              </a:rPr>
              <a:t>• SHD &amp; SFCHD Benchmark: </a:t>
            </a:r>
            <a:r>
              <a:rPr b="0" i="0" lang="en-US" sz="1380" u="none" cap="none" strike="noStrike">
                <a:solidFill>
                  <a:srgbClr val="334155"/>
                </a:solidFill>
                <a:latin typeface="Calibri"/>
                <a:ea typeface="Calibri"/>
                <a:cs typeface="Calibri"/>
                <a:sym typeface="Calibri"/>
              </a:rPr>
              <a:t>Heavy industry metallurgical plants, oil refineries, and shipyards.</a:t>
            </a:r>
            <a:endParaRPr sz="1800"/>
          </a:p>
        </p:txBody>
      </p:sp>
      <p:sp>
        <p:nvSpPr>
          <p:cNvPr id="367" name="Google Shape;367;p27"/>
          <p:cNvSpPr/>
          <p:nvPr/>
        </p:nvSpPr>
        <p:spPr>
          <a:xfrm>
            <a:off x="731520" y="5806440"/>
            <a:ext cx="10698480" cy="640080"/>
          </a:xfrm>
          <a:prstGeom prst="roundRect">
            <a:avLst>
              <a:gd fmla="val 16667" name="adj"/>
            </a:avLst>
          </a:prstGeom>
          <a:solidFill>
            <a:srgbClr val="EFF6FF"/>
          </a:solidFill>
          <a:ln cap="flat" cmpd="sng" w="12700">
            <a:solidFill>
              <a:srgbClr val="2563EB"/>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8" name="Google Shape;368;p27"/>
          <p:cNvSpPr txBox="1"/>
          <p:nvPr/>
        </p:nvSpPr>
        <p:spPr>
          <a:xfrm>
            <a:off x="914400" y="5870448"/>
            <a:ext cx="1033272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50" u="none" cap="none" strike="noStrike">
                <a:solidFill>
                  <a:srgbClr val="2563EB"/>
                </a:solidFill>
                <a:latin typeface="Calibri"/>
                <a:ea typeface="Calibri"/>
                <a:cs typeface="Calibri"/>
                <a:sym typeface="Calibri"/>
              </a:rPr>
              <a:t>★ UNIFIED LABEL TAXONOMY C* = {0: "hat" (Safety Helmet), 1: "person" (Worker Body)} — Fully synchronized across 33,000+ images!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2" name="Shape 372"/>
        <p:cNvGrpSpPr/>
        <p:nvPr/>
      </p:nvGrpSpPr>
      <p:grpSpPr>
        <a:xfrm>
          <a:off x="0" y="0"/>
          <a:ext cx="0" cy="0"/>
          <a:chOff x="0" y="0"/>
          <a:chExt cx="0" cy="0"/>
        </a:xfrm>
      </p:grpSpPr>
      <p:sp>
        <p:nvSpPr>
          <p:cNvPr id="373" name="Google Shape;373;p28"/>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4" name="Google Shape;374;p28"/>
          <p:cNvSpPr/>
          <p:nvPr/>
        </p:nvSpPr>
        <p:spPr>
          <a:xfrm>
            <a:off x="731520" y="292608"/>
            <a:ext cx="56694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5B00"/>
              </a:buClr>
              <a:buSzPts val="1120"/>
              <a:buFont typeface="Inter"/>
              <a:buNone/>
            </a:pPr>
            <a:r>
              <a:rPr b="1" i="0" lang="en-US" sz="1120" u="none" cap="none" strike="noStrike">
                <a:solidFill>
                  <a:srgbClr val="F35B00"/>
                </a:solidFill>
                <a:latin typeface="Inter"/>
                <a:ea typeface="Inter"/>
                <a:cs typeface="Inter"/>
                <a:sym typeface="Inter"/>
              </a:rPr>
              <a:t>CRITERION 3 · FEASIBILITY &amp; PROJECT SCOPE</a:t>
            </a:r>
            <a:endParaRPr b="0" i="0" sz="1120" u="none" cap="none" strike="noStrike">
              <a:solidFill>
                <a:srgbClr val="000000"/>
              </a:solidFill>
              <a:latin typeface="Inter"/>
              <a:ea typeface="Inter"/>
              <a:cs typeface="Inter"/>
              <a:sym typeface="Inter"/>
            </a:endParaRPr>
          </a:p>
        </p:txBody>
      </p:sp>
      <p:sp>
        <p:nvSpPr>
          <p:cNvPr id="375" name="Google Shape;375;p28"/>
          <p:cNvSpPr/>
          <p:nvPr/>
        </p:nvSpPr>
        <p:spPr>
          <a:xfrm>
            <a:off x="10716768" y="283464"/>
            <a:ext cx="731400" cy="219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1728B"/>
              </a:buClr>
              <a:buSzPts val="1100"/>
              <a:buFont typeface="Inter"/>
              <a:buNone/>
            </a:pPr>
            <a:r>
              <a:rPr b="1" i="0" lang="en-US" sz="1100" u="none" cap="none" strike="noStrike">
                <a:solidFill>
                  <a:srgbClr val="61728B"/>
                </a:solidFill>
                <a:latin typeface="Inter"/>
                <a:ea typeface="Inter"/>
                <a:cs typeface="Inter"/>
                <a:sym typeface="Inter"/>
              </a:rPr>
              <a:t>14 / 18</a:t>
            </a:r>
            <a:endParaRPr b="0" i="0" sz="1100" u="none" cap="none" strike="noStrike">
              <a:solidFill>
                <a:srgbClr val="000000"/>
              </a:solidFill>
              <a:latin typeface="Inter"/>
              <a:ea typeface="Inter"/>
              <a:cs typeface="Inter"/>
              <a:sym typeface="Inter"/>
            </a:endParaRPr>
          </a:p>
        </p:txBody>
      </p:sp>
      <p:sp>
        <p:nvSpPr>
          <p:cNvPr id="376" name="Google Shape;376;p28"/>
          <p:cNvSpPr/>
          <p:nvPr/>
        </p:nvSpPr>
        <p:spPr>
          <a:xfrm>
            <a:off x="731520" y="621792"/>
            <a:ext cx="1024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580"/>
              <a:buFont typeface="Inter"/>
              <a:buNone/>
            </a:pPr>
            <a:r>
              <a:rPr b="1" i="0" lang="en-US" sz="3080" u="none" cap="none" strike="noStrike">
                <a:solidFill>
                  <a:srgbClr val="101A33"/>
                </a:solidFill>
                <a:latin typeface="Inter"/>
                <a:ea typeface="Inter"/>
                <a:cs typeface="Inter"/>
                <a:sym typeface="Inter"/>
              </a:rPr>
              <a:t>Feasibility &amp; Scope</a:t>
            </a:r>
            <a:endParaRPr b="0" i="0" sz="3080" u="none" cap="none" strike="noStrike">
              <a:solidFill>
                <a:srgbClr val="000000"/>
              </a:solidFill>
              <a:latin typeface="Inter"/>
              <a:ea typeface="Inter"/>
              <a:cs typeface="Inter"/>
              <a:sym typeface="Inter"/>
            </a:endParaRPr>
          </a:p>
        </p:txBody>
      </p:sp>
      <p:sp>
        <p:nvSpPr>
          <p:cNvPr id="377" name="Google Shape;377;p28"/>
          <p:cNvSpPr/>
          <p:nvPr/>
        </p:nvSpPr>
        <p:spPr>
          <a:xfrm>
            <a:off x="532650" y="1220300"/>
            <a:ext cx="5456700" cy="4517400"/>
          </a:xfrm>
          <a:prstGeom prst="roundRect">
            <a:avLst>
              <a:gd fmla="val 2479"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28"/>
          <p:cNvSpPr/>
          <p:nvPr/>
        </p:nvSpPr>
        <p:spPr>
          <a:xfrm>
            <a:off x="6172200" y="1234200"/>
            <a:ext cx="5801700" cy="4517400"/>
          </a:xfrm>
          <a:prstGeom prst="roundRect">
            <a:avLst>
              <a:gd fmla="val 2479"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28"/>
          <p:cNvSpPr/>
          <p:nvPr/>
        </p:nvSpPr>
        <p:spPr>
          <a:xfrm>
            <a:off x="960120" y="1627632"/>
            <a:ext cx="41148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800"/>
              <a:buFont typeface="Inter"/>
              <a:buNone/>
            </a:pPr>
            <a:r>
              <a:rPr b="1" i="0" lang="en-US" sz="1800" u="none" cap="none" strike="noStrike">
                <a:solidFill>
                  <a:srgbClr val="101A33"/>
                </a:solidFill>
                <a:latin typeface="Inter"/>
                <a:ea typeface="Inter"/>
                <a:cs typeface="Inter"/>
                <a:sym typeface="Inter"/>
              </a:rPr>
              <a:t>Reuse Existing Foundations</a:t>
            </a:r>
            <a:endParaRPr b="0" i="0" sz="1800" u="none" cap="none" strike="noStrike">
              <a:solidFill>
                <a:srgbClr val="000000"/>
              </a:solidFill>
              <a:latin typeface="Inter"/>
              <a:ea typeface="Inter"/>
              <a:cs typeface="Inter"/>
              <a:sym typeface="Inter"/>
            </a:endParaRPr>
          </a:p>
        </p:txBody>
      </p:sp>
      <p:sp>
        <p:nvSpPr>
          <p:cNvPr id="380" name="Google Shape;380;p28"/>
          <p:cNvSpPr/>
          <p:nvPr/>
        </p:nvSpPr>
        <p:spPr>
          <a:xfrm>
            <a:off x="6446520" y="1627632"/>
            <a:ext cx="41148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800"/>
              <a:buFont typeface="Inter"/>
              <a:buNone/>
            </a:pPr>
            <a:r>
              <a:rPr b="1" i="0" lang="en-US" sz="1800" u="none" cap="none" strike="noStrike">
                <a:solidFill>
                  <a:srgbClr val="101A33"/>
                </a:solidFill>
                <a:latin typeface="Inter"/>
                <a:ea typeface="Inter"/>
                <a:cs typeface="Inter"/>
                <a:sym typeface="Inter"/>
              </a:rPr>
              <a:t>Our Work &amp; Scope</a:t>
            </a:r>
            <a:endParaRPr b="0" i="0" sz="1800" u="none" cap="none" strike="noStrike">
              <a:solidFill>
                <a:srgbClr val="000000"/>
              </a:solidFill>
              <a:latin typeface="Inter"/>
              <a:ea typeface="Inter"/>
              <a:cs typeface="Inter"/>
              <a:sym typeface="Inter"/>
            </a:endParaRPr>
          </a:p>
        </p:txBody>
      </p:sp>
      <p:sp>
        <p:nvSpPr>
          <p:cNvPr id="381" name="Google Shape;381;p28"/>
          <p:cNvSpPr/>
          <p:nvPr/>
        </p:nvSpPr>
        <p:spPr>
          <a:xfrm>
            <a:off x="1828800" y="2212848"/>
            <a:ext cx="3566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60"/>
              <a:buFont typeface="Inter"/>
              <a:buNone/>
            </a:pPr>
            <a:r>
              <a:rPr b="1" i="0" lang="en-US" sz="1260" u="none" cap="none" strike="noStrike">
                <a:solidFill>
                  <a:srgbClr val="101A33"/>
                </a:solidFill>
                <a:latin typeface="Inter"/>
                <a:ea typeface="Inter"/>
                <a:cs typeface="Inter"/>
                <a:sym typeface="Inter"/>
              </a:rPr>
              <a:t>YOLO-based framework</a:t>
            </a:r>
            <a:endParaRPr b="0" i="0" sz="1260" u="none" cap="none" strike="noStrike">
              <a:solidFill>
                <a:srgbClr val="000000"/>
              </a:solidFill>
              <a:latin typeface="Inter"/>
              <a:ea typeface="Inter"/>
              <a:cs typeface="Inter"/>
              <a:sym typeface="Inter"/>
            </a:endParaRPr>
          </a:p>
        </p:txBody>
      </p:sp>
      <p:sp>
        <p:nvSpPr>
          <p:cNvPr id="382" name="Google Shape;382;p28"/>
          <p:cNvSpPr/>
          <p:nvPr/>
        </p:nvSpPr>
        <p:spPr>
          <a:xfrm>
            <a:off x="1828800" y="2487168"/>
            <a:ext cx="37491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60"/>
              <a:buFont typeface="Inter"/>
              <a:buNone/>
            </a:pPr>
            <a:r>
              <a:rPr b="0" i="0" lang="en-US" sz="1200" u="none" cap="none" strike="noStrike">
                <a:solidFill>
                  <a:srgbClr val="51647F"/>
                </a:solidFill>
                <a:latin typeface="Inter"/>
                <a:ea typeface="Inter"/>
                <a:cs typeface="Inter"/>
                <a:sym typeface="Inter"/>
              </a:rPr>
              <a:t>Build on the proven YOLO11s detection pipeline.</a:t>
            </a:r>
            <a:endParaRPr b="0" i="0" sz="1200" u="none" cap="none" strike="noStrike">
              <a:solidFill>
                <a:srgbClr val="000000"/>
              </a:solidFill>
              <a:latin typeface="Inter"/>
              <a:ea typeface="Inter"/>
              <a:cs typeface="Inter"/>
              <a:sym typeface="Inter"/>
            </a:endParaRPr>
          </a:p>
        </p:txBody>
      </p:sp>
      <p:sp>
        <p:nvSpPr>
          <p:cNvPr id="383" name="Google Shape;383;p28"/>
          <p:cNvSpPr/>
          <p:nvPr/>
        </p:nvSpPr>
        <p:spPr>
          <a:xfrm>
            <a:off x="1828800" y="3127248"/>
            <a:ext cx="3566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60"/>
              <a:buFont typeface="Inter"/>
              <a:buNone/>
            </a:pPr>
            <a:r>
              <a:rPr b="1" i="0" lang="en-US" sz="1260" u="none" cap="none" strike="noStrike">
                <a:solidFill>
                  <a:srgbClr val="101A33"/>
                </a:solidFill>
                <a:latin typeface="Inter"/>
                <a:ea typeface="Inter"/>
                <a:cs typeface="Inter"/>
                <a:sym typeface="Inter"/>
              </a:rPr>
              <a:t>PyTorch and OpenCV tools</a:t>
            </a:r>
            <a:endParaRPr b="0" i="0" sz="1260" u="none" cap="none" strike="noStrike">
              <a:solidFill>
                <a:srgbClr val="000000"/>
              </a:solidFill>
              <a:latin typeface="Inter"/>
              <a:ea typeface="Inter"/>
              <a:cs typeface="Inter"/>
              <a:sym typeface="Inter"/>
            </a:endParaRPr>
          </a:p>
        </p:txBody>
      </p:sp>
      <p:sp>
        <p:nvSpPr>
          <p:cNvPr id="384" name="Google Shape;384;p28"/>
          <p:cNvSpPr/>
          <p:nvPr/>
        </p:nvSpPr>
        <p:spPr>
          <a:xfrm>
            <a:off x="1828800" y="3401576"/>
            <a:ext cx="40152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60"/>
              <a:buFont typeface="Inter"/>
              <a:buNone/>
            </a:pPr>
            <a:r>
              <a:rPr b="0" i="0" lang="en-US" sz="1200" u="none" cap="none" strike="noStrike">
                <a:solidFill>
                  <a:srgbClr val="51647F"/>
                </a:solidFill>
                <a:latin typeface="Inter"/>
                <a:ea typeface="Inter"/>
                <a:cs typeface="Inter"/>
                <a:sym typeface="Inter"/>
              </a:rPr>
              <a:t>Leverage mature libraries for training and inference.</a:t>
            </a:r>
            <a:endParaRPr b="0" i="0" sz="1200" u="none" cap="none" strike="noStrike">
              <a:solidFill>
                <a:srgbClr val="000000"/>
              </a:solidFill>
              <a:latin typeface="Inter"/>
              <a:ea typeface="Inter"/>
              <a:cs typeface="Inter"/>
              <a:sym typeface="Inter"/>
            </a:endParaRPr>
          </a:p>
        </p:txBody>
      </p:sp>
      <p:sp>
        <p:nvSpPr>
          <p:cNvPr id="385" name="Google Shape;385;p28"/>
          <p:cNvSpPr/>
          <p:nvPr/>
        </p:nvSpPr>
        <p:spPr>
          <a:xfrm>
            <a:off x="1828800" y="4041648"/>
            <a:ext cx="3566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60"/>
              <a:buFont typeface="Inter"/>
              <a:buNone/>
            </a:pPr>
            <a:r>
              <a:rPr b="1" i="0" lang="en-US" sz="1260" u="none" cap="none" strike="noStrike">
                <a:solidFill>
                  <a:srgbClr val="101A33"/>
                </a:solidFill>
                <a:latin typeface="Inter"/>
                <a:ea typeface="Inter"/>
                <a:cs typeface="Inter"/>
                <a:sym typeface="Inter"/>
              </a:rPr>
              <a:t>TensorRT / ONNX / OpenVINO</a:t>
            </a:r>
            <a:endParaRPr b="0" i="0" sz="1260" u="none" cap="none" strike="noStrike">
              <a:solidFill>
                <a:srgbClr val="000000"/>
              </a:solidFill>
              <a:latin typeface="Inter"/>
              <a:ea typeface="Inter"/>
              <a:cs typeface="Inter"/>
              <a:sym typeface="Inter"/>
            </a:endParaRPr>
          </a:p>
        </p:txBody>
      </p:sp>
      <p:sp>
        <p:nvSpPr>
          <p:cNvPr id="386" name="Google Shape;386;p28"/>
          <p:cNvSpPr/>
          <p:nvPr/>
        </p:nvSpPr>
        <p:spPr>
          <a:xfrm>
            <a:off x="1828800" y="4315974"/>
            <a:ext cx="4114800" cy="256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60"/>
              <a:buFont typeface="Inter"/>
              <a:buNone/>
            </a:pPr>
            <a:r>
              <a:rPr b="0" i="0" lang="en-US" sz="1200" u="none" cap="none" strike="noStrike">
                <a:solidFill>
                  <a:srgbClr val="51647F"/>
                </a:solidFill>
                <a:latin typeface="Inter"/>
                <a:ea typeface="Inter"/>
                <a:cs typeface="Inter"/>
                <a:sym typeface="Inter"/>
              </a:rPr>
              <a:t>Use established toolchains for optimized deployment.</a:t>
            </a:r>
            <a:endParaRPr b="0" i="0" sz="1200" u="none" cap="none" strike="noStrike">
              <a:solidFill>
                <a:srgbClr val="000000"/>
              </a:solidFill>
              <a:latin typeface="Inter"/>
              <a:ea typeface="Inter"/>
              <a:cs typeface="Inter"/>
              <a:sym typeface="Inter"/>
            </a:endParaRPr>
          </a:p>
        </p:txBody>
      </p:sp>
      <p:sp>
        <p:nvSpPr>
          <p:cNvPr id="387" name="Google Shape;387;p28"/>
          <p:cNvSpPr/>
          <p:nvPr/>
        </p:nvSpPr>
        <p:spPr>
          <a:xfrm>
            <a:off x="1828800" y="4956048"/>
            <a:ext cx="3566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60"/>
              <a:buFont typeface="Inter"/>
              <a:buNone/>
            </a:pPr>
            <a:r>
              <a:rPr b="1" i="0" lang="en-US" sz="1260" u="none" cap="none" strike="noStrike">
                <a:solidFill>
                  <a:srgbClr val="101A33"/>
                </a:solidFill>
                <a:latin typeface="Inter"/>
                <a:ea typeface="Inter"/>
                <a:cs typeface="Inter"/>
                <a:sym typeface="Inter"/>
              </a:rPr>
              <a:t>RTSP surveillance pipeline</a:t>
            </a:r>
            <a:endParaRPr b="0" i="0" sz="1260" u="none" cap="none" strike="noStrike">
              <a:solidFill>
                <a:srgbClr val="000000"/>
              </a:solidFill>
              <a:latin typeface="Inter"/>
              <a:ea typeface="Inter"/>
              <a:cs typeface="Inter"/>
              <a:sym typeface="Inter"/>
            </a:endParaRPr>
          </a:p>
        </p:txBody>
      </p:sp>
      <p:sp>
        <p:nvSpPr>
          <p:cNvPr id="388" name="Google Shape;388;p28"/>
          <p:cNvSpPr/>
          <p:nvPr/>
        </p:nvSpPr>
        <p:spPr>
          <a:xfrm>
            <a:off x="1828800" y="5230368"/>
            <a:ext cx="37491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60"/>
              <a:buFont typeface="Inter"/>
              <a:buNone/>
            </a:pPr>
            <a:r>
              <a:rPr b="0" i="0" lang="en-US" sz="1200" u="none" cap="none" strike="noStrike">
                <a:solidFill>
                  <a:srgbClr val="51647F"/>
                </a:solidFill>
                <a:latin typeface="Inter"/>
                <a:ea typeface="Inter"/>
                <a:cs typeface="Inter"/>
                <a:sym typeface="Inter"/>
              </a:rPr>
              <a:t>Integrate with standard IP camera streams.</a:t>
            </a:r>
            <a:endParaRPr b="0" i="0" sz="1200" u="none" cap="none" strike="noStrike">
              <a:solidFill>
                <a:srgbClr val="000000"/>
              </a:solidFill>
              <a:latin typeface="Inter"/>
              <a:ea typeface="Inter"/>
              <a:cs typeface="Inter"/>
              <a:sym typeface="Inter"/>
            </a:endParaRPr>
          </a:p>
        </p:txBody>
      </p:sp>
      <p:sp>
        <p:nvSpPr>
          <p:cNvPr id="389" name="Google Shape;389;p28"/>
          <p:cNvSpPr/>
          <p:nvPr/>
        </p:nvSpPr>
        <p:spPr>
          <a:xfrm>
            <a:off x="7315200" y="2212848"/>
            <a:ext cx="3657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40"/>
              <a:buFont typeface="Inter"/>
              <a:buNone/>
            </a:pPr>
            <a:r>
              <a:rPr b="1" i="0" lang="en-US" sz="1240" u="none" cap="none" strike="noStrike">
                <a:solidFill>
                  <a:srgbClr val="101A33"/>
                </a:solidFill>
                <a:latin typeface="Inter"/>
                <a:ea typeface="Inter"/>
                <a:cs typeface="Inter"/>
                <a:sym typeface="Inter"/>
              </a:rPr>
              <a:t>Integrate CoordConv, RepConv, BiFormer</a:t>
            </a:r>
            <a:endParaRPr b="0" i="0" sz="1240" u="none" cap="none" strike="noStrike">
              <a:solidFill>
                <a:srgbClr val="000000"/>
              </a:solidFill>
              <a:latin typeface="Inter"/>
              <a:ea typeface="Inter"/>
              <a:cs typeface="Inter"/>
              <a:sym typeface="Inter"/>
            </a:endParaRPr>
          </a:p>
        </p:txBody>
      </p:sp>
      <p:sp>
        <p:nvSpPr>
          <p:cNvPr id="390" name="Google Shape;390;p28"/>
          <p:cNvSpPr/>
          <p:nvPr/>
        </p:nvSpPr>
        <p:spPr>
          <a:xfrm>
            <a:off x="7315200" y="2487176"/>
            <a:ext cx="4114800" cy="459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50"/>
              <a:buFont typeface="Inter"/>
              <a:buNone/>
            </a:pPr>
            <a:r>
              <a:rPr b="0" i="0" lang="en-US" sz="1200" u="none" cap="none" strike="noStrike">
                <a:solidFill>
                  <a:srgbClr val="51647F"/>
                </a:solidFill>
                <a:latin typeface="Inter"/>
                <a:ea typeface="Inter"/>
                <a:cs typeface="Inter"/>
                <a:sym typeface="Inter"/>
              </a:rPr>
              <a:t>Combine spatial encoding, re-parameterization and</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950"/>
              <a:buFont typeface="Inter"/>
              <a:buNone/>
            </a:pPr>
            <a:r>
              <a:rPr b="0" i="0" lang="en-US" sz="1200" u="none" cap="none" strike="noStrike">
                <a:solidFill>
                  <a:srgbClr val="51647F"/>
                </a:solidFill>
                <a:latin typeface="Inter"/>
                <a:ea typeface="Inter"/>
                <a:cs typeface="Inter"/>
                <a:sym typeface="Inter"/>
              </a:rPr>
              <a:t>attention modules in YOLO11s.</a:t>
            </a:r>
            <a:endParaRPr b="0" i="0" sz="1200" u="none" cap="none" strike="noStrike">
              <a:solidFill>
                <a:srgbClr val="000000"/>
              </a:solidFill>
              <a:latin typeface="Inter"/>
              <a:ea typeface="Inter"/>
              <a:cs typeface="Inter"/>
              <a:sym typeface="Inter"/>
            </a:endParaRPr>
          </a:p>
        </p:txBody>
      </p:sp>
      <p:sp>
        <p:nvSpPr>
          <p:cNvPr id="391" name="Google Shape;391;p28"/>
          <p:cNvSpPr/>
          <p:nvPr/>
        </p:nvSpPr>
        <p:spPr>
          <a:xfrm>
            <a:off x="7315200" y="3127248"/>
            <a:ext cx="3657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40"/>
              <a:buFont typeface="Inter"/>
              <a:buNone/>
            </a:pPr>
            <a:r>
              <a:rPr b="1" i="0" lang="en-US" sz="1240" u="none" cap="none" strike="noStrike">
                <a:solidFill>
                  <a:srgbClr val="101A33"/>
                </a:solidFill>
                <a:latin typeface="Inter"/>
                <a:ea typeface="Inter"/>
                <a:cs typeface="Inter"/>
                <a:sym typeface="Inter"/>
              </a:rPr>
              <a:t>Apply Focal EIoU loss</a:t>
            </a:r>
            <a:endParaRPr b="0" i="0" sz="1240" u="none" cap="none" strike="noStrike">
              <a:solidFill>
                <a:srgbClr val="000000"/>
              </a:solidFill>
              <a:latin typeface="Inter"/>
              <a:ea typeface="Inter"/>
              <a:cs typeface="Inter"/>
              <a:sym typeface="Inter"/>
            </a:endParaRPr>
          </a:p>
        </p:txBody>
      </p:sp>
      <p:sp>
        <p:nvSpPr>
          <p:cNvPr id="392" name="Google Shape;392;p28"/>
          <p:cNvSpPr/>
          <p:nvPr/>
        </p:nvSpPr>
        <p:spPr>
          <a:xfrm>
            <a:off x="7315200" y="3401576"/>
            <a:ext cx="4015200" cy="459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50"/>
              <a:buFont typeface="Inter"/>
              <a:buNone/>
            </a:pPr>
            <a:r>
              <a:rPr b="0" i="0" lang="en-US" sz="1200" u="none" cap="none" strike="noStrike">
                <a:solidFill>
                  <a:srgbClr val="51647F"/>
                </a:solidFill>
                <a:latin typeface="Inter"/>
                <a:ea typeface="Inter"/>
                <a:cs typeface="Inter"/>
                <a:sym typeface="Inter"/>
              </a:rPr>
              <a:t>Use Focal EIoU to improve small target localization</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950"/>
              <a:buFont typeface="Inter"/>
              <a:buNone/>
            </a:pPr>
            <a:r>
              <a:rPr b="0" i="0" lang="en-US" sz="1200" u="none" cap="none" strike="noStrike">
                <a:solidFill>
                  <a:srgbClr val="51647F"/>
                </a:solidFill>
                <a:latin typeface="Inter"/>
                <a:ea typeface="Inter"/>
                <a:cs typeface="Inter"/>
                <a:sym typeface="Inter"/>
              </a:rPr>
              <a:t>and reduce false alarms.</a:t>
            </a:r>
            <a:endParaRPr b="0" i="0" sz="1200" u="none" cap="none" strike="noStrike">
              <a:solidFill>
                <a:srgbClr val="000000"/>
              </a:solidFill>
              <a:latin typeface="Inter"/>
              <a:ea typeface="Inter"/>
              <a:cs typeface="Inter"/>
              <a:sym typeface="Inter"/>
            </a:endParaRPr>
          </a:p>
        </p:txBody>
      </p:sp>
      <p:sp>
        <p:nvSpPr>
          <p:cNvPr id="393" name="Google Shape;393;p28"/>
          <p:cNvSpPr/>
          <p:nvPr/>
        </p:nvSpPr>
        <p:spPr>
          <a:xfrm>
            <a:off x="7315200" y="4041648"/>
            <a:ext cx="3657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40"/>
              <a:buFont typeface="Inter"/>
              <a:buNone/>
            </a:pPr>
            <a:r>
              <a:rPr b="1" i="0" lang="en-US" sz="1240" u="none" cap="none" strike="noStrike">
                <a:solidFill>
                  <a:srgbClr val="101A33"/>
                </a:solidFill>
                <a:latin typeface="Inter"/>
                <a:ea typeface="Inter"/>
                <a:cs typeface="Inter"/>
                <a:sym typeface="Inter"/>
              </a:rPr>
              <a:t>Conduct ablation and benchmarking</a:t>
            </a:r>
            <a:endParaRPr b="0" i="0" sz="1240" u="none" cap="none" strike="noStrike">
              <a:solidFill>
                <a:srgbClr val="000000"/>
              </a:solidFill>
              <a:latin typeface="Inter"/>
              <a:ea typeface="Inter"/>
              <a:cs typeface="Inter"/>
              <a:sym typeface="Inter"/>
            </a:endParaRPr>
          </a:p>
        </p:txBody>
      </p:sp>
      <p:sp>
        <p:nvSpPr>
          <p:cNvPr id="394" name="Google Shape;394;p28"/>
          <p:cNvSpPr/>
          <p:nvPr/>
        </p:nvSpPr>
        <p:spPr>
          <a:xfrm>
            <a:off x="7315200" y="4315977"/>
            <a:ext cx="4015200" cy="459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50"/>
              <a:buFont typeface="Inter"/>
              <a:buNone/>
            </a:pPr>
            <a:r>
              <a:rPr b="0" i="0" lang="en-US" sz="1200" u="none" cap="none" strike="noStrike">
                <a:solidFill>
                  <a:srgbClr val="51647F"/>
                </a:solidFill>
                <a:latin typeface="Inter"/>
                <a:ea typeface="Inter"/>
                <a:cs typeface="Inter"/>
                <a:sym typeface="Inter"/>
              </a:rPr>
              <a:t>Evaluate each component with systematic experiments</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950"/>
              <a:buFont typeface="Inter"/>
              <a:buNone/>
            </a:pPr>
            <a:r>
              <a:rPr b="0" i="0" lang="en-US" sz="1200" u="none" cap="none" strike="noStrike">
                <a:solidFill>
                  <a:srgbClr val="51647F"/>
                </a:solidFill>
                <a:latin typeface="Inter"/>
                <a:ea typeface="Inter"/>
                <a:cs typeface="Inter"/>
                <a:sym typeface="Inter"/>
              </a:rPr>
              <a:t>and standard benchmarks.</a:t>
            </a:r>
            <a:endParaRPr b="0" i="0" sz="1200" u="none" cap="none" strike="noStrike">
              <a:solidFill>
                <a:srgbClr val="000000"/>
              </a:solidFill>
              <a:latin typeface="Inter"/>
              <a:ea typeface="Inter"/>
              <a:cs typeface="Inter"/>
              <a:sym typeface="Inter"/>
            </a:endParaRPr>
          </a:p>
        </p:txBody>
      </p:sp>
      <p:sp>
        <p:nvSpPr>
          <p:cNvPr id="395" name="Google Shape;395;p28"/>
          <p:cNvSpPr/>
          <p:nvPr/>
        </p:nvSpPr>
        <p:spPr>
          <a:xfrm>
            <a:off x="7315200" y="4956048"/>
            <a:ext cx="3657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40"/>
              <a:buFont typeface="Inter"/>
              <a:buNone/>
            </a:pPr>
            <a:r>
              <a:rPr b="1" i="0" lang="en-US" sz="1240" u="none" cap="none" strike="noStrike">
                <a:solidFill>
                  <a:srgbClr val="101A33"/>
                </a:solidFill>
                <a:latin typeface="Inter"/>
                <a:ea typeface="Inter"/>
                <a:cs typeface="Inter"/>
                <a:sym typeface="Inter"/>
              </a:rPr>
              <a:t>Build real-time prototype system</a:t>
            </a:r>
            <a:endParaRPr b="0" i="0" sz="1240" u="none" cap="none" strike="noStrike">
              <a:solidFill>
                <a:srgbClr val="000000"/>
              </a:solidFill>
              <a:latin typeface="Inter"/>
              <a:ea typeface="Inter"/>
              <a:cs typeface="Inter"/>
              <a:sym typeface="Inter"/>
            </a:endParaRPr>
          </a:p>
        </p:txBody>
      </p:sp>
      <p:sp>
        <p:nvSpPr>
          <p:cNvPr id="396" name="Google Shape;396;p28"/>
          <p:cNvSpPr/>
          <p:nvPr/>
        </p:nvSpPr>
        <p:spPr>
          <a:xfrm>
            <a:off x="7315200" y="5230375"/>
            <a:ext cx="52578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50"/>
              <a:buFont typeface="Inter"/>
              <a:buNone/>
            </a:pPr>
            <a:r>
              <a:rPr b="0" i="0" lang="en-US" sz="1250" u="none" cap="none" strike="noStrike">
                <a:solidFill>
                  <a:srgbClr val="51647F"/>
                </a:solidFill>
                <a:latin typeface="Inter"/>
                <a:ea typeface="Inter"/>
                <a:cs typeface="Inter"/>
                <a:sym typeface="Inter"/>
              </a:rPr>
              <a:t>Implement and deploy an optimized model on edge hardware</a:t>
            </a:r>
            <a:endParaRPr b="0" i="0" sz="125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950"/>
              <a:buFont typeface="Inter"/>
              <a:buNone/>
            </a:pPr>
            <a:r>
              <a:rPr b="0" i="0" lang="en-US" sz="1250" u="none" cap="none" strike="noStrike">
                <a:solidFill>
                  <a:srgbClr val="51647F"/>
                </a:solidFill>
                <a:latin typeface="Inter"/>
                <a:ea typeface="Inter"/>
                <a:cs typeface="Inter"/>
                <a:sym typeface="Inter"/>
              </a:rPr>
              <a:t>with live video inference.</a:t>
            </a:r>
            <a:endParaRPr b="0" i="0" sz="1250" u="none" cap="none" strike="noStrike">
              <a:solidFill>
                <a:srgbClr val="000000"/>
              </a:solidFill>
              <a:latin typeface="Inter"/>
              <a:ea typeface="Inter"/>
              <a:cs typeface="Inter"/>
              <a:sym typeface="Inter"/>
            </a:endParaRPr>
          </a:p>
        </p:txBody>
      </p:sp>
      <p:pic>
        <p:nvPicPr>
          <p:cNvPr id="397" name="Google Shape;397;p28"/>
          <p:cNvPicPr preferRelativeResize="0"/>
          <p:nvPr/>
        </p:nvPicPr>
        <p:blipFill>
          <a:blip r:embed="rId3">
            <a:alphaModFix/>
          </a:blip>
          <a:stretch>
            <a:fillRect/>
          </a:stretch>
        </p:blipFill>
        <p:spPr>
          <a:xfrm>
            <a:off x="960120" y="2177179"/>
            <a:ext cx="731400" cy="3454459"/>
          </a:xfrm>
          <a:prstGeom prst="rect">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pic>
      <p:pic>
        <p:nvPicPr>
          <p:cNvPr id="398" name="Google Shape;398;p28"/>
          <p:cNvPicPr preferRelativeResize="0"/>
          <p:nvPr/>
        </p:nvPicPr>
        <p:blipFill>
          <a:blip r:embed="rId4">
            <a:alphaModFix/>
          </a:blip>
          <a:stretch>
            <a:fillRect/>
          </a:stretch>
        </p:blipFill>
        <p:spPr>
          <a:xfrm>
            <a:off x="6400925" y="2093375"/>
            <a:ext cx="731400" cy="3622053"/>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2" name="Shape 402"/>
        <p:cNvGrpSpPr/>
        <p:nvPr/>
      </p:nvGrpSpPr>
      <p:grpSpPr>
        <a:xfrm>
          <a:off x="0" y="0"/>
          <a:ext cx="0" cy="0"/>
          <a:chOff x="0" y="0"/>
          <a:chExt cx="0" cy="0"/>
        </a:xfrm>
      </p:grpSpPr>
      <p:sp>
        <p:nvSpPr>
          <p:cNvPr id="403" name="Google Shape;403;p29"/>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4" name="Google Shape;404;p29"/>
          <p:cNvSpPr/>
          <p:nvPr/>
        </p:nvSpPr>
        <p:spPr>
          <a:xfrm>
            <a:off x="731520" y="292608"/>
            <a:ext cx="56694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5B00"/>
              </a:buClr>
              <a:buSzPts val="1120"/>
              <a:buFont typeface="Inter"/>
              <a:buNone/>
            </a:pPr>
            <a:r>
              <a:rPr b="1" i="0" lang="en-US" sz="1120" u="none" cap="none" strike="noStrike">
                <a:solidFill>
                  <a:srgbClr val="F35B00"/>
                </a:solidFill>
                <a:latin typeface="Inter"/>
                <a:ea typeface="Inter"/>
                <a:cs typeface="Inter"/>
                <a:sym typeface="Inter"/>
              </a:rPr>
              <a:t>CRITERION 4 · VALUE &amp; CONTRIBUTION</a:t>
            </a:r>
            <a:endParaRPr b="0" i="0" sz="1120" u="none" cap="none" strike="noStrike">
              <a:solidFill>
                <a:srgbClr val="000000"/>
              </a:solidFill>
              <a:latin typeface="Inter"/>
              <a:ea typeface="Inter"/>
              <a:cs typeface="Inter"/>
              <a:sym typeface="Inter"/>
            </a:endParaRPr>
          </a:p>
        </p:txBody>
      </p:sp>
      <p:sp>
        <p:nvSpPr>
          <p:cNvPr id="405" name="Google Shape;405;p29"/>
          <p:cNvSpPr/>
          <p:nvPr/>
        </p:nvSpPr>
        <p:spPr>
          <a:xfrm>
            <a:off x="10716768" y="283464"/>
            <a:ext cx="731400" cy="219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1728B"/>
              </a:buClr>
              <a:buSzPts val="1100"/>
              <a:buFont typeface="Inter"/>
              <a:buNone/>
            </a:pPr>
            <a:r>
              <a:rPr b="1" i="0" lang="en-US" sz="1100" u="none" cap="none" strike="noStrike">
                <a:solidFill>
                  <a:srgbClr val="61728B"/>
                </a:solidFill>
                <a:latin typeface="Inter"/>
                <a:ea typeface="Inter"/>
                <a:cs typeface="Inter"/>
                <a:sym typeface="Inter"/>
              </a:rPr>
              <a:t>16 / 18</a:t>
            </a:r>
            <a:endParaRPr b="0" i="0" sz="1100" u="none" cap="none" strike="noStrike">
              <a:solidFill>
                <a:srgbClr val="000000"/>
              </a:solidFill>
              <a:latin typeface="Inter"/>
              <a:ea typeface="Inter"/>
              <a:cs typeface="Inter"/>
              <a:sym typeface="Inter"/>
            </a:endParaRPr>
          </a:p>
        </p:txBody>
      </p:sp>
      <p:sp>
        <p:nvSpPr>
          <p:cNvPr id="406" name="Google Shape;406;p29"/>
          <p:cNvSpPr/>
          <p:nvPr/>
        </p:nvSpPr>
        <p:spPr>
          <a:xfrm>
            <a:off x="731520" y="621792"/>
            <a:ext cx="1024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580"/>
              <a:buFont typeface="Inter"/>
              <a:buNone/>
            </a:pPr>
            <a:r>
              <a:rPr b="1" i="0" lang="en-US" sz="3080" u="none" cap="none" strike="noStrike">
                <a:solidFill>
                  <a:srgbClr val="101A33"/>
                </a:solidFill>
                <a:latin typeface="Inter"/>
                <a:ea typeface="Inter"/>
                <a:cs typeface="Inter"/>
                <a:sym typeface="Inter"/>
              </a:rPr>
              <a:t>Research Value &amp; Practical Contribution</a:t>
            </a:r>
            <a:endParaRPr b="0" i="0" sz="3080" u="none" cap="none" strike="noStrike">
              <a:solidFill>
                <a:srgbClr val="000000"/>
              </a:solidFill>
              <a:latin typeface="Inter"/>
              <a:ea typeface="Inter"/>
              <a:cs typeface="Inter"/>
              <a:sym typeface="Inter"/>
            </a:endParaRPr>
          </a:p>
        </p:txBody>
      </p:sp>
      <p:sp>
        <p:nvSpPr>
          <p:cNvPr id="407" name="Google Shape;407;p29"/>
          <p:cNvSpPr/>
          <p:nvPr/>
        </p:nvSpPr>
        <p:spPr>
          <a:xfrm>
            <a:off x="548640" y="1371600"/>
            <a:ext cx="3246000" cy="4251900"/>
          </a:xfrm>
          <a:prstGeom prst="roundRect">
            <a:avLst>
              <a:gd fmla="val 338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p29"/>
          <p:cNvSpPr/>
          <p:nvPr/>
        </p:nvSpPr>
        <p:spPr>
          <a:xfrm>
            <a:off x="841248" y="2743200"/>
            <a:ext cx="24690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000"/>
              <a:buFont typeface="Inter"/>
              <a:buNone/>
            </a:pPr>
            <a:r>
              <a:rPr b="1" i="0" lang="en-US" sz="2000" u="none" cap="none" strike="noStrike">
                <a:solidFill>
                  <a:srgbClr val="101A33"/>
                </a:solidFill>
                <a:latin typeface="Inter"/>
                <a:ea typeface="Inter"/>
                <a:cs typeface="Inter"/>
                <a:sym typeface="Inter"/>
              </a:rPr>
              <a:t>Academic Value</a:t>
            </a:r>
            <a:endParaRPr b="0" i="0" sz="2000" u="none" cap="none" strike="noStrike">
              <a:solidFill>
                <a:srgbClr val="000000"/>
              </a:solidFill>
              <a:latin typeface="Inter"/>
              <a:ea typeface="Inter"/>
              <a:cs typeface="Inter"/>
              <a:sym typeface="Inter"/>
            </a:endParaRPr>
          </a:p>
        </p:txBody>
      </p:sp>
      <p:cxnSp>
        <p:nvCxnSpPr>
          <p:cNvPr id="409" name="Google Shape;409;p29"/>
          <p:cNvCxnSpPr/>
          <p:nvPr/>
        </p:nvCxnSpPr>
        <p:spPr>
          <a:xfrm>
            <a:off x="841248" y="3182112"/>
            <a:ext cx="2651700" cy="0"/>
          </a:xfrm>
          <a:prstGeom prst="straightConnector1">
            <a:avLst/>
          </a:prstGeom>
          <a:noFill/>
          <a:ln cap="flat" cmpd="sng" w="12700">
            <a:solidFill>
              <a:srgbClr val="D7E0E9"/>
            </a:solidFill>
            <a:prstDash val="solid"/>
            <a:round/>
            <a:headEnd len="sm" w="sm" type="none"/>
            <a:tailEnd len="sm" w="sm" type="none"/>
          </a:ln>
        </p:spPr>
      </p:cxnSp>
      <p:sp>
        <p:nvSpPr>
          <p:cNvPr id="410" name="Google Shape;410;p29"/>
          <p:cNvSpPr/>
          <p:nvPr/>
        </p:nvSpPr>
        <p:spPr>
          <a:xfrm>
            <a:off x="896112" y="3511296"/>
            <a:ext cx="68700" cy="68700"/>
          </a:xfrm>
          <a:prstGeom prst="ellipse">
            <a:avLst/>
          </a:prstGeom>
          <a:solidFill>
            <a:srgbClr val="F35B00"/>
          </a:solidFill>
          <a:ln cap="flat" cmpd="sng" w="12700">
            <a:solidFill>
              <a:srgbClr val="F35B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29"/>
          <p:cNvSpPr/>
          <p:nvPr/>
        </p:nvSpPr>
        <p:spPr>
          <a:xfrm>
            <a:off x="1060704" y="3429000"/>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Improves the accuracy–latency</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trade-off</a:t>
            </a:r>
            <a:endParaRPr b="0" i="0" sz="1200" u="none" cap="none" strike="noStrike">
              <a:solidFill>
                <a:srgbClr val="000000"/>
              </a:solidFill>
              <a:latin typeface="Inter"/>
              <a:ea typeface="Inter"/>
              <a:cs typeface="Inter"/>
              <a:sym typeface="Inter"/>
            </a:endParaRPr>
          </a:p>
        </p:txBody>
      </p:sp>
      <p:sp>
        <p:nvSpPr>
          <p:cNvPr id="412" name="Google Shape;412;p29"/>
          <p:cNvSpPr/>
          <p:nvPr/>
        </p:nvSpPr>
        <p:spPr>
          <a:xfrm>
            <a:off x="896112" y="4187952"/>
            <a:ext cx="68700" cy="68700"/>
          </a:xfrm>
          <a:prstGeom prst="ellipse">
            <a:avLst/>
          </a:prstGeom>
          <a:solidFill>
            <a:srgbClr val="F35B00"/>
          </a:solidFill>
          <a:ln cap="flat" cmpd="sng" w="12700">
            <a:solidFill>
              <a:srgbClr val="F35B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29"/>
          <p:cNvSpPr/>
          <p:nvPr/>
        </p:nvSpPr>
        <p:spPr>
          <a:xfrm>
            <a:off x="1060704" y="4105656"/>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Evaluates cross-domain</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robustness</a:t>
            </a:r>
            <a:endParaRPr b="0" i="0" sz="1200" u="none" cap="none" strike="noStrike">
              <a:solidFill>
                <a:srgbClr val="000000"/>
              </a:solidFill>
              <a:latin typeface="Inter"/>
              <a:ea typeface="Inter"/>
              <a:cs typeface="Inter"/>
              <a:sym typeface="Inter"/>
            </a:endParaRPr>
          </a:p>
        </p:txBody>
      </p:sp>
      <p:sp>
        <p:nvSpPr>
          <p:cNvPr id="414" name="Google Shape;414;p29"/>
          <p:cNvSpPr/>
          <p:nvPr/>
        </p:nvSpPr>
        <p:spPr>
          <a:xfrm>
            <a:off x="896112" y="4864608"/>
            <a:ext cx="68700" cy="68700"/>
          </a:xfrm>
          <a:prstGeom prst="ellipse">
            <a:avLst/>
          </a:prstGeom>
          <a:solidFill>
            <a:srgbClr val="F35B00"/>
          </a:solidFill>
          <a:ln cap="flat" cmpd="sng" w="12700">
            <a:solidFill>
              <a:srgbClr val="F35B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 name="Google Shape;415;p29"/>
          <p:cNvSpPr/>
          <p:nvPr/>
        </p:nvSpPr>
        <p:spPr>
          <a:xfrm>
            <a:off x="1060704" y="4782312"/>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Provides structured</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experimental evidence</a:t>
            </a:r>
            <a:endParaRPr b="0" i="0" sz="1200" u="none" cap="none" strike="noStrike">
              <a:solidFill>
                <a:srgbClr val="000000"/>
              </a:solidFill>
              <a:latin typeface="Inter"/>
              <a:ea typeface="Inter"/>
              <a:cs typeface="Inter"/>
              <a:sym typeface="Inter"/>
            </a:endParaRPr>
          </a:p>
        </p:txBody>
      </p:sp>
      <p:sp>
        <p:nvSpPr>
          <p:cNvPr id="416" name="Google Shape;416;p29"/>
          <p:cNvSpPr/>
          <p:nvPr/>
        </p:nvSpPr>
        <p:spPr>
          <a:xfrm>
            <a:off x="4251960" y="1371600"/>
            <a:ext cx="3246000" cy="4251900"/>
          </a:xfrm>
          <a:prstGeom prst="roundRect">
            <a:avLst>
              <a:gd fmla="val 338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29"/>
          <p:cNvSpPr/>
          <p:nvPr/>
        </p:nvSpPr>
        <p:spPr>
          <a:xfrm>
            <a:off x="4544568" y="2743200"/>
            <a:ext cx="24690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000"/>
              <a:buFont typeface="Inter"/>
              <a:buNone/>
            </a:pPr>
            <a:r>
              <a:rPr b="1" i="0" lang="en-US" sz="2000" u="none" cap="none" strike="noStrike">
                <a:solidFill>
                  <a:srgbClr val="101A33"/>
                </a:solidFill>
                <a:latin typeface="Inter"/>
                <a:ea typeface="Inter"/>
                <a:cs typeface="Inter"/>
                <a:sym typeface="Inter"/>
              </a:rPr>
              <a:t>Practical Value</a:t>
            </a:r>
            <a:endParaRPr b="0" i="0" sz="2000" u="none" cap="none" strike="noStrike">
              <a:solidFill>
                <a:srgbClr val="000000"/>
              </a:solidFill>
              <a:latin typeface="Inter"/>
              <a:ea typeface="Inter"/>
              <a:cs typeface="Inter"/>
              <a:sym typeface="Inter"/>
            </a:endParaRPr>
          </a:p>
        </p:txBody>
      </p:sp>
      <p:cxnSp>
        <p:nvCxnSpPr>
          <p:cNvPr id="418" name="Google Shape;418;p29"/>
          <p:cNvCxnSpPr/>
          <p:nvPr/>
        </p:nvCxnSpPr>
        <p:spPr>
          <a:xfrm>
            <a:off x="4544568" y="3182112"/>
            <a:ext cx="2651700" cy="0"/>
          </a:xfrm>
          <a:prstGeom prst="straightConnector1">
            <a:avLst/>
          </a:prstGeom>
          <a:noFill/>
          <a:ln cap="flat" cmpd="sng" w="12700">
            <a:solidFill>
              <a:srgbClr val="D7E0E9"/>
            </a:solidFill>
            <a:prstDash val="solid"/>
            <a:round/>
            <a:headEnd len="sm" w="sm" type="none"/>
            <a:tailEnd len="sm" w="sm" type="none"/>
          </a:ln>
        </p:spPr>
      </p:cxnSp>
      <p:sp>
        <p:nvSpPr>
          <p:cNvPr id="419" name="Google Shape;419;p29"/>
          <p:cNvSpPr/>
          <p:nvPr/>
        </p:nvSpPr>
        <p:spPr>
          <a:xfrm>
            <a:off x="4599432" y="3511296"/>
            <a:ext cx="68700" cy="68700"/>
          </a:xfrm>
          <a:prstGeom prst="ellipse">
            <a:avLst/>
          </a:prstGeom>
          <a:solidFill>
            <a:srgbClr val="2767E8"/>
          </a:solidFill>
          <a:ln cap="flat" cmpd="sng" w="12700">
            <a:solidFill>
              <a:srgbClr val="2767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29"/>
          <p:cNvSpPr/>
          <p:nvPr/>
        </p:nvSpPr>
        <p:spPr>
          <a:xfrm>
            <a:off x="4764024" y="3429000"/>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Supports construction safety</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monitoring</a:t>
            </a:r>
            <a:endParaRPr b="0" i="0" sz="1200" u="none" cap="none" strike="noStrike">
              <a:solidFill>
                <a:srgbClr val="000000"/>
              </a:solidFill>
              <a:latin typeface="Inter"/>
              <a:ea typeface="Inter"/>
              <a:cs typeface="Inter"/>
              <a:sym typeface="Inter"/>
            </a:endParaRPr>
          </a:p>
        </p:txBody>
      </p:sp>
      <p:sp>
        <p:nvSpPr>
          <p:cNvPr id="421" name="Google Shape;421;p29"/>
          <p:cNvSpPr/>
          <p:nvPr/>
        </p:nvSpPr>
        <p:spPr>
          <a:xfrm>
            <a:off x="4599432" y="4187952"/>
            <a:ext cx="68700" cy="68700"/>
          </a:xfrm>
          <a:prstGeom prst="ellipse">
            <a:avLst/>
          </a:prstGeom>
          <a:solidFill>
            <a:srgbClr val="2767E8"/>
          </a:solidFill>
          <a:ln cap="flat" cmpd="sng" w="12700">
            <a:solidFill>
              <a:srgbClr val="2767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29"/>
          <p:cNvSpPr/>
          <p:nvPr/>
        </p:nvSpPr>
        <p:spPr>
          <a:xfrm>
            <a:off x="4764024" y="4105656"/>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Reduces manual supervision</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burden</a:t>
            </a:r>
            <a:endParaRPr b="0" i="0" sz="1200" u="none" cap="none" strike="noStrike">
              <a:solidFill>
                <a:srgbClr val="000000"/>
              </a:solidFill>
              <a:latin typeface="Inter"/>
              <a:ea typeface="Inter"/>
              <a:cs typeface="Inter"/>
              <a:sym typeface="Inter"/>
            </a:endParaRPr>
          </a:p>
        </p:txBody>
      </p:sp>
      <p:sp>
        <p:nvSpPr>
          <p:cNvPr id="423" name="Google Shape;423;p29"/>
          <p:cNvSpPr/>
          <p:nvPr/>
        </p:nvSpPr>
        <p:spPr>
          <a:xfrm>
            <a:off x="4599432" y="4864608"/>
            <a:ext cx="68700" cy="68700"/>
          </a:xfrm>
          <a:prstGeom prst="ellipse">
            <a:avLst/>
          </a:prstGeom>
          <a:solidFill>
            <a:srgbClr val="2767E8"/>
          </a:solidFill>
          <a:ln cap="flat" cmpd="sng" w="12700">
            <a:solidFill>
              <a:srgbClr val="2767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 name="Google Shape;424;p29"/>
          <p:cNvSpPr/>
          <p:nvPr/>
        </p:nvSpPr>
        <p:spPr>
          <a:xfrm>
            <a:off x="4764024" y="4782312"/>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Runs on affordable hardware</a:t>
            </a:r>
            <a:endParaRPr b="0" i="0" sz="1200" u="none" cap="none" strike="noStrike">
              <a:solidFill>
                <a:srgbClr val="000000"/>
              </a:solidFill>
              <a:latin typeface="Inter"/>
              <a:ea typeface="Inter"/>
              <a:cs typeface="Inter"/>
              <a:sym typeface="Inter"/>
            </a:endParaRPr>
          </a:p>
        </p:txBody>
      </p:sp>
      <p:sp>
        <p:nvSpPr>
          <p:cNvPr id="425" name="Google Shape;425;p29"/>
          <p:cNvSpPr/>
          <p:nvPr/>
        </p:nvSpPr>
        <p:spPr>
          <a:xfrm>
            <a:off x="7955280" y="1371600"/>
            <a:ext cx="3246000" cy="4251900"/>
          </a:xfrm>
          <a:prstGeom prst="roundRect">
            <a:avLst>
              <a:gd fmla="val 338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29"/>
          <p:cNvSpPr/>
          <p:nvPr/>
        </p:nvSpPr>
        <p:spPr>
          <a:xfrm>
            <a:off x="8247888" y="2743200"/>
            <a:ext cx="24690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000"/>
              <a:buFont typeface="Inter"/>
              <a:buNone/>
            </a:pPr>
            <a:r>
              <a:rPr b="1" i="0" lang="en-US" sz="2000" u="none" cap="none" strike="noStrike">
                <a:solidFill>
                  <a:srgbClr val="101A33"/>
                </a:solidFill>
                <a:latin typeface="Inter"/>
                <a:ea typeface="Inter"/>
                <a:cs typeface="Inter"/>
                <a:sym typeface="Inter"/>
              </a:rPr>
              <a:t>Novelty</a:t>
            </a:r>
            <a:endParaRPr b="0" i="0" sz="2000" u="none" cap="none" strike="noStrike">
              <a:solidFill>
                <a:srgbClr val="000000"/>
              </a:solidFill>
              <a:latin typeface="Inter"/>
              <a:ea typeface="Inter"/>
              <a:cs typeface="Inter"/>
              <a:sym typeface="Inter"/>
            </a:endParaRPr>
          </a:p>
        </p:txBody>
      </p:sp>
      <p:cxnSp>
        <p:nvCxnSpPr>
          <p:cNvPr id="427" name="Google Shape;427;p29"/>
          <p:cNvCxnSpPr/>
          <p:nvPr/>
        </p:nvCxnSpPr>
        <p:spPr>
          <a:xfrm>
            <a:off x="8247888" y="3182112"/>
            <a:ext cx="2651700" cy="0"/>
          </a:xfrm>
          <a:prstGeom prst="straightConnector1">
            <a:avLst/>
          </a:prstGeom>
          <a:noFill/>
          <a:ln cap="flat" cmpd="sng" w="12700">
            <a:solidFill>
              <a:srgbClr val="D7E0E9"/>
            </a:solidFill>
            <a:prstDash val="solid"/>
            <a:round/>
            <a:headEnd len="sm" w="sm" type="none"/>
            <a:tailEnd len="sm" w="sm" type="none"/>
          </a:ln>
        </p:spPr>
      </p:cxnSp>
      <p:sp>
        <p:nvSpPr>
          <p:cNvPr id="428" name="Google Shape;428;p29"/>
          <p:cNvSpPr/>
          <p:nvPr/>
        </p:nvSpPr>
        <p:spPr>
          <a:xfrm>
            <a:off x="8302752" y="3511296"/>
            <a:ext cx="68700" cy="68700"/>
          </a:xfrm>
          <a:prstGeom prst="ellipse">
            <a:avLst/>
          </a:prstGeom>
          <a:solidFill>
            <a:srgbClr val="10AF5A"/>
          </a:solidFill>
          <a:ln cap="flat" cmpd="sng" w="12700">
            <a:solidFill>
              <a:srgbClr val="10AF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29"/>
          <p:cNvSpPr/>
          <p:nvPr/>
        </p:nvSpPr>
        <p:spPr>
          <a:xfrm>
            <a:off x="8467344" y="3429000"/>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Integrates multiple targeted</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modules</a:t>
            </a:r>
            <a:endParaRPr b="0" i="0" sz="1200" u="none" cap="none" strike="noStrike">
              <a:solidFill>
                <a:srgbClr val="000000"/>
              </a:solidFill>
              <a:latin typeface="Inter"/>
              <a:ea typeface="Inter"/>
              <a:cs typeface="Inter"/>
              <a:sym typeface="Inter"/>
            </a:endParaRPr>
          </a:p>
        </p:txBody>
      </p:sp>
      <p:sp>
        <p:nvSpPr>
          <p:cNvPr id="430" name="Google Shape;430;p29"/>
          <p:cNvSpPr/>
          <p:nvPr/>
        </p:nvSpPr>
        <p:spPr>
          <a:xfrm>
            <a:off x="8302752" y="4187952"/>
            <a:ext cx="68700" cy="68700"/>
          </a:xfrm>
          <a:prstGeom prst="ellipse">
            <a:avLst/>
          </a:prstGeom>
          <a:solidFill>
            <a:srgbClr val="10AF5A"/>
          </a:solidFill>
          <a:ln cap="flat" cmpd="sng" w="12700">
            <a:solidFill>
              <a:srgbClr val="10AF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29"/>
          <p:cNvSpPr/>
          <p:nvPr/>
        </p:nvSpPr>
        <p:spPr>
          <a:xfrm>
            <a:off x="8467344" y="4105656"/>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Focuses on real-time edge</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deployment</a:t>
            </a:r>
            <a:endParaRPr b="0" i="0" sz="1200" u="none" cap="none" strike="noStrike">
              <a:solidFill>
                <a:srgbClr val="000000"/>
              </a:solidFill>
              <a:latin typeface="Inter"/>
              <a:ea typeface="Inter"/>
              <a:cs typeface="Inter"/>
              <a:sym typeface="Inter"/>
            </a:endParaRPr>
          </a:p>
        </p:txBody>
      </p:sp>
      <p:sp>
        <p:nvSpPr>
          <p:cNvPr id="432" name="Google Shape;432;p29"/>
          <p:cNvSpPr/>
          <p:nvPr/>
        </p:nvSpPr>
        <p:spPr>
          <a:xfrm>
            <a:off x="8302752" y="4864608"/>
            <a:ext cx="68700" cy="68700"/>
          </a:xfrm>
          <a:prstGeom prst="ellipse">
            <a:avLst/>
          </a:prstGeom>
          <a:solidFill>
            <a:srgbClr val="10AF5A"/>
          </a:solidFill>
          <a:ln cap="flat" cmpd="sng" w="12700">
            <a:solidFill>
              <a:srgbClr val="10AF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29"/>
          <p:cNvSpPr/>
          <p:nvPr/>
        </p:nvSpPr>
        <p:spPr>
          <a:xfrm>
            <a:off x="8467344" y="4782312"/>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Bridges research and working</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prototype</a:t>
            </a:r>
            <a:endParaRPr b="0" i="0" sz="1200" u="none" cap="none" strike="noStrike">
              <a:solidFill>
                <a:srgbClr val="000000"/>
              </a:solidFill>
              <a:latin typeface="Inter"/>
              <a:ea typeface="Inter"/>
              <a:cs typeface="Inter"/>
              <a:sym typeface="Inter"/>
            </a:endParaRPr>
          </a:p>
        </p:txBody>
      </p:sp>
      <p:sp>
        <p:nvSpPr>
          <p:cNvPr id="434" name="Google Shape;434;p29"/>
          <p:cNvSpPr/>
          <p:nvPr/>
        </p:nvSpPr>
        <p:spPr>
          <a:xfrm>
            <a:off x="548640" y="5833872"/>
            <a:ext cx="10927200" cy="713100"/>
          </a:xfrm>
          <a:prstGeom prst="roundRect">
            <a:avLst>
              <a:gd fmla="val 15385" name="adj"/>
            </a:avLst>
          </a:prstGeom>
          <a:solidFill>
            <a:srgbClr val="F1F6FC"/>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p29"/>
          <p:cNvSpPr/>
          <p:nvPr/>
        </p:nvSpPr>
        <p:spPr>
          <a:xfrm>
            <a:off x="1645920" y="6099048"/>
            <a:ext cx="90525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20"/>
              <a:buFont typeface="Inter"/>
              <a:buNone/>
            </a:pPr>
            <a:r>
              <a:rPr b="1" i="0" lang="en-US" sz="1220" u="none" cap="none" strike="noStrike">
                <a:solidFill>
                  <a:srgbClr val="101A33"/>
                </a:solidFill>
                <a:latin typeface="Inter"/>
                <a:ea typeface="Inter"/>
                <a:cs typeface="Inter"/>
                <a:sym typeface="Inter"/>
              </a:rPr>
              <a:t>An edge-ready helmet detection framework connecting academic research with practical deployment.</a:t>
            </a:r>
            <a:endParaRPr b="0" i="0" sz="1220" u="none" cap="none" strike="noStrike">
              <a:solidFill>
                <a:srgbClr val="000000"/>
              </a:solidFill>
              <a:latin typeface="Inter"/>
              <a:ea typeface="Inter"/>
              <a:cs typeface="Inter"/>
              <a:sym typeface="Inter"/>
            </a:endParaRPr>
          </a:p>
        </p:txBody>
      </p:sp>
      <p:pic>
        <p:nvPicPr>
          <p:cNvPr id="436" name="Google Shape;436;p29"/>
          <p:cNvPicPr preferRelativeResize="0"/>
          <p:nvPr/>
        </p:nvPicPr>
        <p:blipFill>
          <a:blip r:embed="rId3">
            <a:alphaModFix/>
          </a:blip>
          <a:stretch>
            <a:fillRect/>
          </a:stretch>
        </p:blipFill>
        <p:spPr>
          <a:xfrm>
            <a:off x="891600" y="1613825"/>
            <a:ext cx="777300" cy="758347"/>
          </a:xfrm>
          <a:prstGeom prst="rect">
            <a:avLst/>
          </a:prstGeom>
          <a:noFill/>
          <a:ln>
            <a:noFill/>
          </a:ln>
        </p:spPr>
      </p:pic>
      <p:pic>
        <p:nvPicPr>
          <p:cNvPr id="437" name="Google Shape;437;p29"/>
          <p:cNvPicPr preferRelativeResize="0"/>
          <p:nvPr/>
        </p:nvPicPr>
        <p:blipFill>
          <a:blip r:embed="rId4">
            <a:alphaModFix/>
          </a:blip>
          <a:stretch>
            <a:fillRect/>
          </a:stretch>
        </p:blipFill>
        <p:spPr>
          <a:xfrm>
            <a:off x="4489099" y="1623098"/>
            <a:ext cx="818180" cy="777300"/>
          </a:xfrm>
          <a:prstGeom prst="rect">
            <a:avLst/>
          </a:prstGeom>
          <a:noFill/>
          <a:ln>
            <a:noFill/>
          </a:ln>
        </p:spPr>
      </p:pic>
      <p:pic>
        <p:nvPicPr>
          <p:cNvPr id="438" name="Google Shape;438;p29"/>
          <p:cNvPicPr preferRelativeResize="0"/>
          <p:nvPr/>
        </p:nvPicPr>
        <p:blipFill>
          <a:blip r:embed="rId5">
            <a:alphaModFix/>
          </a:blip>
          <a:stretch>
            <a:fillRect/>
          </a:stretch>
        </p:blipFill>
        <p:spPr>
          <a:xfrm>
            <a:off x="8247899" y="1597475"/>
            <a:ext cx="818175" cy="828543"/>
          </a:xfrm>
          <a:prstGeom prst="rect">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42" name="Shape 442"/>
        <p:cNvGrpSpPr/>
        <p:nvPr/>
      </p:nvGrpSpPr>
      <p:grpSpPr>
        <a:xfrm>
          <a:off x="0" y="0"/>
          <a:ext cx="0" cy="0"/>
          <a:chOff x="0" y="0"/>
          <a:chExt cx="0" cy="0"/>
        </a:xfrm>
      </p:grpSpPr>
      <p:sp>
        <p:nvSpPr>
          <p:cNvPr id="443" name="Google Shape;443;p30"/>
          <p:cNvSpPr/>
          <p:nvPr/>
        </p:nvSpPr>
        <p:spPr>
          <a:xfrm>
            <a:off x="0" y="0"/>
            <a:ext cx="12191695"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4" name="Google Shape;444;p30"/>
          <p:cNvSpPr txBox="1"/>
          <p:nvPr/>
        </p:nvSpPr>
        <p:spPr>
          <a:xfrm>
            <a:off x="731520" y="292608"/>
            <a:ext cx="8686800" cy="2560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EA580C"/>
                </a:solidFill>
                <a:latin typeface="Calibri"/>
                <a:ea typeface="Calibri"/>
                <a:cs typeface="Calibri"/>
                <a:sym typeface="Calibri"/>
              </a:rPr>
              <a:t>CRITERION 4 · EMPIRICAL VERIFICATION &amp; SCIENTIFIC EVIDENCE</a:t>
            </a:r>
            <a:endParaRPr/>
          </a:p>
        </p:txBody>
      </p:sp>
      <p:sp>
        <p:nvSpPr>
          <p:cNvPr id="445" name="Google Shape;445;p30"/>
          <p:cNvSpPr txBox="1"/>
          <p:nvPr/>
        </p:nvSpPr>
        <p:spPr>
          <a:xfrm>
            <a:off x="10332720" y="292608"/>
            <a:ext cx="1097280" cy="256032"/>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12 / 18</a:t>
            </a:r>
            <a:endParaRPr/>
          </a:p>
        </p:txBody>
      </p:sp>
      <p:sp>
        <p:nvSpPr>
          <p:cNvPr id="446" name="Google Shape;446;p30"/>
          <p:cNvSpPr txBox="1"/>
          <p:nvPr/>
        </p:nvSpPr>
        <p:spPr>
          <a:xfrm>
            <a:off x="731520" y="566928"/>
            <a:ext cx="1069848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Ablation Study (A0–A6): Rigorous Component Verification</a:t>
            </a:r>
            <a:endParaRPr/>
          </a:p>
        </p:txBody>
      </p:sp>
      <p:sp>
        <p:nvSpPr>
          <p:cNvPr id="447" name="Google Shape;447;p30"/>
          <p:cNvSpPr/>
          <p:nvPr/>
        </p:nvSpPr>
        <p:spPr>
          <a:xfrm>
            <a:off x="174358" y="1234440"/>
            <a:ext cx="4389000" cy="49377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8" name="Google Shape;448;p30"/>
          <p:cNvSpPr txBox="1"/>
          <p:nvPr/>
        </p:nvSpPr>
        <p:spPr>
          <a:xfrm>
            <a:off x="452875" y="1408975"/>
            <a:ext cx="3927600" cy="3422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500" u="none" cap="none" strike="noStrike">
                <a:solidFill>
                  <a:srgbClr val="EA580C"/>
                </a:solidFill>
                <a:latin typeface="Calibri"/>
                <a:ea typeface="Calibri"/>
                <a:cs typeface="Calibri"/>
                <a:sym typeface="Calibri"/>
              </a:rPr>
              <a:t>STEP-BY-STEP MODULE CONTRIBUTIONS</a:t>
            </a:r>
            <a:endParaRPr sz="1800"/>
          </a:p>
          <a:p>
            <a:pPr indent="0" lvl="0" marL="0" marR="0" rtl="0" algn="l">
              <a:spcBef>
                <a:spcPts val="400"/>
              </a:spcBef>
              <a:spcAft>
                <a:spcPts val="0"/>
              </a:spcAft>
              <a:buNone/>
            </a:pPr>
            <a:r>
              <a:rPr b="1" i="0" lang="en-US" sz="1350" u="none" cap="none" strike="noStrike">
                <a:solidFill>
                  <a:srgbClr val="0F172A"/>
                </a:solidFill>
                <a:latin typeface="Calibri"/>
                <a:ea typeface="Calibri"/>
                <a:cs typeface="Calibri"/>
                <a:sym typeface="Calibri"/>
              </a:rPr>
              <a:t>• A0 (Baseline YOLO11s): </a:t>
            </a:r>
            <a:r>
              <a:rPr b="0" i="0" lang="en-US" sz="1350" u="none" cap="none" strike="noStrike">
                <a:solidFill>
                  <a:srgbClr val="334155"/>
                </a:solidFill>
                <a:latin typeface="Calibri"/>
                <a:ea typeface="Calibri"/>
                <a:cs typeface="Calibri"/>
                <a:sym typeface="Calibri"/>
              </a:rPr>
              <a:t>94.74% mAP50 · 6.52 ms latency.</a:t>
            </a:r>
            <a:endParaRPr sz="1800"/>
          </a:p>
          <a:p>
            <a:pPr indent="0" lvl="0" marL="0" marR="0" rtl="0" algn="l">
              <a:spcBef>
                <a:spcPts val="300"/>
              </a:spcBef>
              <a:spcAft>
                <a:spcPts val="0"/>
              </a:spcAft>
              <a:buNone/>
            </a:pPr>
            <a:r>
              <a:rPr b="1" i="0" lang="en-US" sz="1350" u="none" cap="none" strike="noStrike">
                <a:solidFill>
                  <a:srgbClr val="0F172A"/>
                </a:solidFill>
                <a:latin typeface="Calibri"/>
                <a:ea typeface="Calibri"/>
                <a:cs typeface="Calibri"/>
                <a:sym typeface="Calibri"/>
              </a:rPr>
              <a:t>• A1 (+ P2 Small Head): </a:t>
            </a:r>
            <a:r>
              <a:rPr b="0" i="0" lang="en-US" sz="1350" u="none" cap="none" strike="noStrike">
                <a:solidFill>
                  <a:srgbClr val="334155"/>
                </a:solidFill>
                <a:latin typeface="Calibri"/>
                <a:ea typeface="Calibri"/>
                <a:cs typeface="Calibri"/>
                <a:sym typeface="Calibri"/>
              </a:rPr>
              <a:t>94.81% mAP50 · Latency surged to 8.94 ms (+37%) -&gt; Pruned as suboptimal.</a:t>
            </a:r>
            <a:endParaRPr sz="1800"/>
          </a:p>
          <a:p>
            <a:pPr indent="0" lvl="0" marL="0" marR="0" rtl="0" algn="l">
              <a:spcBef>
                <a:spcPts val="300"/>
              </a:spcBef>
              <a:spcAft>
                <a:spcPts val="0"/>
              </a:spcAft>
              <a:buNone/>
            </a:pPr>
            <a:r>
              <a:rPr b="1" i="0" lang="en-US" sz="1350" u="none" cap="none" strike="noStrike">
                <a:solidFill>
                  <a:srgbClr val="0F172A"/>
                </a:solidFill>
                <a:latin typeface="Calibri"/>
                <a:ea typeface="Calibri"/>
                <a:cs typeface="Calibri"/>
                <a:sym typeface="Calibri"/>
              </a:rPr>
              <a:t>• A2 (+ CoordConv): </a:t>
            </a:r>
            <a:r>
              <a:rPr b="0" i="0" lang="en-US" sz="1350" u="none" cap="none" strike="noStrike">
                <a:solidFill>
                  <a:srgbClr val="334155"/>
                </a:solidFill>
                <a:latin typeface="Calibri"/>
                <a:ea typeface="Calibri"/>
                <a:cs typeface="Calibri"/>
                <a:sym typeface="Calibri"/>
              </a:rPr>
              <a:t>94.78% mAP50 · Spatial awareness without latency overhead.</a:t>
            </a:r>
            <a:endParaRPr sz="1800"/>
          </a:p>
          <a:p>
            <a:pPr indent="0" lvl="0" marL="0" marR="0" rtl="0" algn="l">
              <a:spcBef>
                <a:spcPts val="300"/>
              </a:spcBef>
              <a:spcAft>
                <a:spcPts val="0"/>
              </a:spcAft>
              <a:buNone/>
            </a:pPr>
            <a:r>
              <a:rPr b="1" i="0" lang="en-US" sz="1350" u="none" cap="none" strike="noStrike">
                <a:solidFill>
                  <a:srgbClr val="0F172A"/>
                </a:solidFill>
                <a:latin typeface="Calibri"/>
                <a:ea typeface="Calibri"/>
                <a:cs typeface="Calibri"/>
                <a:sym typeface="Calibri"/>
              </a:rPr>
              <a:t>• A3 (+ RepConv): </a:t>
            </a:r>
            <a:r>
              <a:rPr b="0" i="0" lang="en-US" sz="1350" u="none" cap="none" strike="noStrike">
                <a:solidFill>
                  <a:srgbClr val="334155"/>
                </a:solidFill>
                <a:latin typeface="Calibri"/>
                <a:ea typeface="Calibri"/>
                <a:cs typeface="Calibri"/>
                <a:sym typeface="Calibri"/>
              </a:rPr>
              <a:t>94.81% mAP50 · Rich gradient representation in training.</a:t>
            </a:r>
            <a:endParaRPr sz="1800"/>
          </a:p>
          <a:p>
            <a:pPr indent="0" lvl="0" marL="0" marR="0" rtl="0" algn="l">
              <a:spcBef>
                <a:spcPts val="300"/>
              </a:spcBef>
              <a:spcAft>
                <a:spcPts val="0"/>
              </a:spcAft>
              <a:buNone/>
            </a:pPr>
            <a:r>
              <a:rPr b="1" i="0" lang="en-US" sz="1350" u="none" cap="none" strike="noStrike">
                <a:solidFill>
                  <a:srgbClr val="0F172A"/>
                </a:solidFill>
                <a:latin typeface="Calibri"/>
                <a:ea typeface="Calibri"/>
                <a:cs typeface="Calibri"/>
                <a:sym typeface="Calibri"/>
              </a:rPr>
              <a:t>• A4 (+ Focal EIoU): </a:t>
            </a:r>
            <a:r>
              <a:rPr b="0" i="0" lang="en-US" sz="1350" u="none" cap="none" strike="noStrike">
                <a:solidFill>
                  <a:srgbClr val="334155"/>
                </a:solidFill>
                <a:latin typeface="Calibri"/>
                <a:ea typeface="Calibri"/>
                <a:cs typeface="Calibri"/>
                <a:sym typeface="Calibri"/>
              </a:rPr>
              <a:t>94.88% mAP50 · Precise bounding box regression for tiny objects.</a:t>
            </a:r>
            <a:endParaRPr sz="1800"/>
          </a:p>
          <a:p>
            <a:pPr indent="0" lvl="0" marL="0" marR="0" rtl="0" algn="l">
              <a:spcBef>
                <a:spcPts val="300"/>
              </a:spcBef>
              <a:spcAft>
                <a:spcPts val="0"/>
              </a:spcAft>
              <a:buNone/>
            </a:pPr>
            <a:r>
              <a:rPr b="1" i="0" lang="en-US" sz="1350" u="none" cap="none" strike="noStrike">
                <a:solidFill>
                  <a:srgbClr val="0F172A"/>
                </a:solidFill>
                <a:latin typeface="Calibri"/>
                <a:ea typeface="Calibri"/>
                <a:cs typeface="Calibri"/>
                <a:sym typeface="Calibri"/>
              </a:rPr>
              <a:t>• A5 (+ BiFormer): </a:t>
            </a:r>
            <a:r>
              <a:rPr b="0" i="0" lang="en-US" sz="1350" u="none" cap="none" strike="noStrike">
                <a:solidFill>
                  <a:srgbClr val="334155"/>
                </a:solidFill>
                <a:latin typeface="Calibri"/>
                <a:ea typeface="Calibri"/>
                <a:cs typeface="Calibri"/>
                <a:sym typeface="Calibri"/>
              </a:rPr>
              <a:t>94.80% mAP50 · Peak helmet Recall reaching 91.15%.</a:t>
            </a:r>
            <a:endParaRPr sz="1800"/>
          </a:p>
          <a:p>
            <a:pPr indent="0" lvl="0" marL="0" marR="0" rtl="0" algn="l">
              <a:spcBef>
                <a:spcPts val="300"/>
              </a:spcBef>
              <a:spcAft>
                <a:spcPts val="0"/>
              </a:spcAft>
              <a:buNone/>
            </a:pPr>
            <a:r>
              <a:rPr b="1" i="0" lang="en-US" sz="1350" u="none" cap="none" strike="noStrike">
                <a:solidFill>
                  <a:srgbClr val="0F172A"/>
                </a:solidFill>
                <a:latin typeface="Calibri"/>
                <a:ea typeface="Calibri"/>
                <a:cs typeface="Calibri"/>
                <a:sym typeface="Calibri"/>
              </a:rPr>
              <a:t>• A6 (Full Fusion): </a:t>
            </a:r>
            <a:r>
              <a:rPr b="0" i="0" lang="en-US" sz="1350" u="none" cap="none" strike="noStrike">
                <a:solidFill>
                  <a:srgbClr val="334155"/>
                </a:solidFill>
                <a:latin typeface="Calibri"/>
                <a:ea typeface="Calibri"/>
                <a:cs typeface="Calibri"/>
                <a:sym typeface="Calibri"/>
              </a:rPr>
              <a:t>94.83% mAP50 · Latency plummets to a record 2.92 ms!</a:t>
            </a:r>
            <a:endParaRPr sz="1800"/>
          </a:p>
        </p:txBody>
      </p:sp>
      <p:sp>
        <p:nvSpPr>
          <p:cNvPr id="449" name="Google Shape;449;p30"/>
          <p:cNvSpPr txBox="1"/>
          <p:nvPr/>
        </p:nvSpPr>
        <p:spPr>
          <a:xfrm>
            <a:off x="5440680" y="5623560"/>
            <a:ext cx="58521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pic>
        <p:nvPicPr>
          <p:cNvPr id="450" name="Google Shape;450;p30"/>
          <p:cNvPicPr preferRelativeResize="0"/>
          <p:nvPr/>
        </p:nvPicPr>
        <p:blipFill>
          <a:blip r:embed="rId3">
            <a:alphaModFix/>
          </a:blip>
          <a:stretch>
            <a:fillRect/>
          </a:stretch>
        </p:blipFill>
        <p:spPr>
          <a:xfrm>
            <a:off x="5099200" y="1192975"/>
            <a:ext cx="6894776" cy="44720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54" name="Shape 454"/>
        <p:cNvGrpSpPr/>
        <p:nvPr/>
      </p:nvGrpSpPr>
      <p:grpSpPr>
        <a:xfrm>
          <a:off x="0" y="0"/>
          <a:ext cx="0" cy="0"/>
          <a:chOff x="0" y="0"/>
          <a:chExt cx="0" cy="0"/>
        </a:xfrm>
      </p:grpSpPr>
      <p:sp>
        <p:nvSpPr>
          <p:cNvPr id="455" name="Google Shape;455;p31"/>
          <p:cNvSpPr/>
          <p:nvPr/>
        </p:nvSpPr>
        <p:spPr>
          <a:xfrm>
            <a:off x="0" y="0"/>
            <a:ext cx="12191695"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6" name="Google Shape;456;p31"/>
          <p:cNvSpPr txBox="1"/>
          <p:nvPr/>
        </p:nvSpPr>
        <p:spPr>
          <a:xfrm>
            <a:off x="731520" y="292608"/>
            <a:ext cx="8686800" cy="2560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EA580C"/>
                </a:solidFill>
                <a:latin typeface="Calibri"/>
                <a:ea typeface="Calibri"/>
                <a:cs typeface="Calibri"/>
                <a:sym typeface="Calibri"/>
              </a:rPr>
              <a:t>CRITERION 4 · SOTA BENCHMARKING &amp; PARETO DOMINANCE</a:t>
            </a:r>
            <a:endParaRPr/>
          </a:p>
        </p:txBody>
      </p:sp>
      <p:sp>
        <p:nvSpPr>
          <p:cNvPr id="457" name="Google Shape;457;p31"/>
          <p:cNvSpPr txBox="1"/>
          <p:nvPr/>
        </p:nvSpPr>
        <p:spPr>
          <a:xfrm>
            <a:off x="10332720" y="292608"/>
            <a:ext cx="1097280" cy="256032"/>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13 / 18</a:t>
            </a:r>
            <a:endParaRPr/>
          </a:p>
        </p:txBody>
      </p:sp>
      <p:sp>
        <p:nvSpPr>
          <p:cNvPr id="458" name="Google Shape;458;p31"/>
          <p:cNvSpPr txBox="1"/>
          <p:nvPr/>
        </p:nvSpPr>
        <p:spPr>
          <a:xfrm>
            <a:off x="731520" y="566928"/>
            <a:ext cx="1069848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State-of-the-Art Benchmarking: Pareto Frontier Dominance</a:t>
            </a:r>
            <a:endParaRPr/>
          </a:p>
        </p:txBody>
      </p:sp>
      <p:sp>
        <p:nvSpPr>
          <p:cNvPr id="459" name="Google Shape;459;p31"/>
          <p:cNvSpPr/>
          <p:nvPr/>
        </p:nvSpPr>
        <p:spPr>
          <a:xfrm>
            <a:off x="731520" y="1234440"/>
            <a:ext cx="4389120" cy="493776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0" name="Google Shape;460;p31"/>
          <p:cNvSpPr txBox="1"/>
          <p:nvPr/>
        </p:nvSpPr>
        <p:spPr>
          <a:xfrm>
            <a:off x="982450" y="1508750"/>
            <a:ext cx="4023300" cy="2773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500" u="none" cap="none" strike="noStrike">
                <a:solidFill>
                  <a:srgbClr val="EA580C"/>
                </a:solidFill>
                <a:latin typeface="Calibri"/>
                <a:ea typeface="Calibri"/>
                <a:cs typeface="Calibri"/>
                <a:sym typeface="Calibri"/>
              </a:rPr>
              <a:t>COMPETITIVE EDGE OF REP-YOLO11s</a:t>
            </a:r>
            <a:endParaRPr sz="1800"/>
          </a:p>
          <a:p>
            <a:pPr indent="0" lvl="0" marL="0" marR="0" rtl="0" algn="l">
              <a:spcBef>
                <a:spcPts val="400"/>
              </a:spcBef>
              <a:spcAft>
                <a:spcPts val="0"/>
              </a:spcAft>
              <a:buNone/>
            </a:pPr>
            <a:r>
              <a:rPr b="1" i="0" lang="en-US" sz="1350" u="none" cap="none" strike="noStrike">
                <a:solidFill>
                  <a:srgbClr val="0F172A"/>
                </a:solidFill>
                <a:latin typeface="Calibri"/>
                <a:ea typeface="Calibri"/>
                <a:cs typeface="Calibri"/>
                <a:sym typeface="Calibri"/>
              </a:rPr>
              <a:t>★ 2.23x Faster than Baseline: </a:t>
            </a:r>
            <a:r>
              <a:rPr b="0" i="0" lang="en-US" sz="1350" u="none" cap="none" strike="noStrike">
                <a:solidFill>
                  <a:srgbClr val="334155"/>
                </a:solidFill>
                <a:latin typeface="Calibri"/>
                <a:ea typeface="Calibri"/>
                <a:cs typeface="Calibri"/>
                <a:sym typeface="Calibri"/>
              </a:rPr>
              <a:t>2.92 ms vs 6.52 ms on Tesla T4 (342.5 FPS throughput).</a:t>
            </a:r>
            <a:endParaRPr sz="1800"/>
          </a:p>
          <a:p>
            <a:pPr indent="0" lvl="0" marL="0" marR="0" rtl="0" algn="l">
              <a:spcBef>
                <a:spcPts val="400"/>
              </a:spcBef>
              <a:spcAft>
                <a:spcPts val="0"/>
              </a:spcAft>
              <a:buNone/>
            </a:pPr>
            <a:r>
              <a:rPr b="1" i="0" lang="en-US" sz="1350" u="none" cap="none" strike="noStrike">
                <a:solidFill>
                  <a:srgbClr val="0F172A"/>
                </a:solidFill>
                <a:latin typeface="Calibri"/>
                <a:ea typeface="Calibri"/>
                <a:cs typeface="Calibri"/>
                <a:sym typeface="Calibri"/>
              </a:rPr>
              <a:t>★ 4.25x Faster than YOLO-CBF: </a:t>
            </a:r>
            <a:r>
              <a:rPr b="0" i="0" lang="en-US" sz="1350" u="none" cap="none" strike="noStrike">
                <a:solidFill>
                  <a:srgbClr val="334155"/>
                </a:solidFill>
                <a:latin typeface="Calibri"/>
                <a:ea typeface="Calibri"/>
                <a:cs typeface="Calibri"/>
                <a:sym typeface="Calibri"/>
              </a:rPr>
              <a:t>YOLO-CBF takes 12.4 ms (80.6 FPS); our model takes only 2.92 ms.</a:t>
            </a:r>
            <a:endParaRPr sz="1800"/>
          </a:p>
          <a:p>
            <a:pPr indent="0" lvl="0" marL="0" marR="0" rtl="0" algn="l">
              <a:spcBef>
                <a:spcPts val="400"/>
              </a:spcBef>
              <a:spcAft>
                <a:spcPts val="0"/>
              </a:spcAft>
              <a:buNone/>
            </a:pPr>
            <a:r>
              <a:rPr b="1" i="0" lang="en-US" sz="1350" u="none" cap="none" strike="noStrike">
                <a:solidFill>
                  <a:srgbClr val="0F172A"/>
                </a:solidFill>
                <a:latin typeface="Calibri"/>
                <a:ea typeface="Calibri"/>
                <a:cs typeface="Calibri"/>
                <a:sym typeface="Calibri"/>
              </a:rPr>
              <a:t>★ 2x Faster than EC-YOLOv8: </a:t>
            </a:r>
            <a:r>
              <a:rPr b="0" i="0" lang="en-US" sz="1350" u="none" cap="none" strike="noStrike">
                <a:solidFill>
                  <a:srgbClr val="334155"/>
                </a:solidFill>
                <a:latin typeface="Calibri"/>
                <a:ea typeface="Calibri"/>
                <a:cs typeface="Calibri"/>
                <a:sym typeface="Calibri"/>
              </a:rPr>
              <a:t>EC-YOLOv8 reaches 172.4 FPS; our model achieves 342.5 FPS.</a:t>
            </a:r>
            <a:endParaRPr sz="1800"/>
          </a:p>
          <a:p>
            <a:pPr indent="0" lvl="0" marL="0" marR="0" rtl="0" algn="l">
              <a:spcBef>
                <a:spcPts val="400"/>
              </a:spcBef>
              <a:spcAft>
                <a:spcPts val="0"/>
              </a:spcAft>
              <a:buNone/>
            </a:pPr>
            <a:r>
              <a:rPr b="1" i="0" lang="en-US" sz="1350" u="none" cap="none" strike="noStrike">
                <a:solidFill>
                  <a:srgbClr val="0F172A"/>
                </a:solidFill>
                <a:latin typeface="Calibri"/>
                <a:ea typeface="Calibri"/>
                <a:cs typeface="Calibri"/>
                <a:sym typeface="Calibri"/>
              </a:rPr>
              <a:t>★ 5-Fold Stratified Peak: </a:t>
            </a:r>
            <a:r>
              <a:rPr b="0" i="0" lang="en-US" sz="1350" u="none" cap="none" strike="noStrike">
                <a:solidFill>
                  <a:srgbClr val="334155"/>
                </a:solidFill>
                <a:latin typeface="Calibri"/>
                <a:ea typeface="Calibri"/>
                <a:cs typeface="Calibri"/>
                <a:sym typeface="Calibri"/>
              </a:rPr>
              <a:t>96.64% ± 0.32% mAP50, peak fold reaching 97.11% mAP50 and F1: 0.9396.</a:t>
            </a:r>
            <a:endParaRPr sz="1800"/>
          </a:p>
          <a:p>
            <a:pPr indent="0" lvl="0" marL="0" marR="0" rtl="0" algn="l">
              <a:spcBef>
                <a:spcPts val="400"/>
              </a:spcBef>
              <a:spcAft>
                <a:spcPts val="0"/>
              </a:spcAft>
              <a:buNone/>
            </a:pPr>
            <a:r>
              <a:rPr b="1" i="0" lang="en-US" sz="1350" u="none" cap="none" strike="noStrike">
                <a:solidFill>
                  <a:srgbClr val="0F172A"/>
                </a:solidFill>
                <a:latin typeface="Calibri"/>
                <a:ea typeface="Calibri"/>
                <a:cs typeface="Calibri"/>
                <a:sym typeface="Calibri"/>
              </a:rPr>
              <a:t>★ Top-Left Pareto Dominance: </a:t>
            </a:r>
            <a:r>
              <a:rPr b="0" i="0" lang="en-US" sz="1350" u="none" cap="none" strike="noStrike">
                <a:solidFill>
                  <a:srgbClr val="334155"/>
                </a:solidFill>
                <a:latin typeface="Calibri"/>
                <a:ea typeface="Calibri"/>
                <a:cs typeface="Calibri"/>
                <a:sym typeface="Calibri"/>
              </a:rPr>
              <a:t>Ideal benchmark quadrant: Highest detection accuracy at lowest forward latency.</a:t>
            </a:r>
            <a:endParaRPr sz="1800"/>
          </a:p>
        </p:txBody>
      </p:sp>
      <p:sp>
        <p:nvSpPr>
          <p:cNvPr id="461" name="Google Shape;461;p31"/>
          <p:cNvSpPr/>
          <p:nvPr/>
        </p:nvSpPr>
        <p:spPr>
          <a:xfrm>
            <a:off x="5303520" y="1234440"/>
            <a:ext cx="6126480" cy="493776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Fig5_efficiency_frontier_latency_vs_map.png" id="462" name="Google Shape;462;p31"/>
          <p:cNvPicPr preferRelativeResize="0"/>
          <p:nvPr/>
        </p:nvPicPr>
        <p:blipFill rotWithShape="1">
          <a:blip r:embed="rId3">
            <a:alphaModFix/>
          </a:blip>
          <a:srcRect b="0" l="0" r="0" t="0"/>
          <a:stretch/>
        </p:blipFill>
        <p:spPr>
          <a:xfrm>
            <a:off x="5303525" y="1192863"/>
            <a:ext cx="6126476" cy="4307675"/>
          </a:xfrm>
          <a:prstGeom prst="rect">
            <a:avLst/>
          </a:prstGeom>
          <a:noFill/>
          <a:ln>
            <a:noFill/>
          </a:ln>
        </p:spPr>
      </p:pic>
      <p:sp>
        <p:nvSpPr>
          <p:cNvPr id="463" name="Google Shape;463;p31"/>
          <p:cNvSpPr txBox="1"/>
          <p:nvPr/>
        </p:nvSpPr>
        <p:spPr>
          <a:xfrm>
            <a:off x="5440680" y="5623560"/>
            <a:ext cx="5852160"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850" u="none" cap="none" strike="noStrike">
                <a:solidFill>
                  <a:srgbClr val="64748B"/>
                </a:solidFill>
                <a:latin typeface="Calibri"/>
                <a:ea typeface="Calibri"/>
                <a:cs typeface="Calibri"/>
                <a:sym typeface="Calibri"/>
              </a:rPr>
              <a:t>Fig. 5: Pareto Efficiency Frontier (Latency vs. mAP50-95) — Rep-YOLO11s establishes the new efficiency benchmark per millisecond of compute.</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67" name="Shape 467"/>
        <p:cNvGrpSpPr/>
        <p:nvPr/>
      </p:nvGrpSpPr>
      <p:grpSpPr>
        <a:xfrm>
          <a:off x="0" y="0"/>
          <a:ext cx="0" cy="0"/>
          <a:chOff x="0" y="0"/>
          <a:chExt cx="0" cy="0"/>
        </a:xfrm>
      </p:grpSpPr>
      <p:sp>
        <p:nvSpPr>
          <p:cNvPr id="468" name="Google Shape;468;p32"/>
          <p:cNvSpPr/>
          <p:nvPr/>
        </p:nvSpPr>
        <p:spPr>
          <a:xfrm>
            <a:off x="0" y="0"/>
            <a:ext cx="12191695"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9" name="Google Shape;469;p32"/>
          <p:cNvSpPr txBox="1"/>
          <p:nvPr/>
        </p:nvSpPr>
        <p:spPr>
          <a:xfrm>
            <a:off x="731520" y="292608"/>
            <a:ext cx="8686800" cy="2560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EA580C"/>
                </a:solidFill>
                <a:latin typeface="Calibri"/>
                <a:ea typeface="Calibri"/>
                <a:cs typeface="Calibri"/>
                <a:sym typeface="Calibri"/>
              </a:rPr>
              <a:t>CRITERION 4 · MODEL TRANSPARENCY &amp; EXPLAINABLE AI</a:t>
            </a:r>
            <a:endParaRPr/>
          </a:p>
        </p:txBody>
      </p:sp>
      <p:sp>
        <p:nvSpPr>
          <p:cNvPr id="470" name="Google Shape;470;p32"/>
          <p:cNvSpPr txBox="1"/>
          <p:nvPr/>
        </p:nvSpPr>
        <p:spPr>
          <a:xfrm>
            <a:off x="10332720" y="292608"/>
            <a:ext cx="1097280" cy="256032"/>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14 / 18</a:t>
            </a:r>
            <a:endParaRPr/>
          </a:p>
        </p:txBody>
      </p:sp>
      <p:sp>
        <p:nvSpPr>
          <p:cNvPr id="471" name="Google Shape;471;p32"/>
          <p:cNvSpPr txBox="1"/>
          <p:nvPr/>
        </p:nvSpPr>
        <p:spPr>
          <a:xfrm>
            <a:off x="731520" y="566928"/>
            <a:ext cx="1069848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Visual Explainability (Grad-CAM XAI): Saliency &amp; Noise Suppression</a:t>
            </a:r>
            <a:endParaRPr/>
          </a:p>
        </p:txBody>
      </p:sp>
      <p:sp>
        <p:nvSpPr>
          <p:cNvPr id="472" name="Google Shape;472;p32"/>
          <p:cNvSpPr/>
          <p:nvPr/>
        </p:nvSpPr>
        <p:spPr>
          <a:xfrm>
            <a:off x="731520" y="1234440"/>
            <a:ext cx="4023360" cy="493776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3" name="Google Shape;473;p32"/>
          <p:cNvSpPr txBox="1"/>
          <p:nvPr/>
        </p:nvSpPr>
        <p:spPr>
          <a:xfrm>
            <a:off x="1004250" y="1508750"/>
            <a:ext cx="3657600" cy="2655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500" u="none" cap="none" strike="noStrike">
                <a:solidFill>
                  <a:srgbClr val="EA580C"/>
                </a:solidFill>
                <a:latin typeface="Calibri"/>
                <a:ea typeface="Calibri"/>
                <a:cs typeface="Calibri"/>
                <a:sym typeface="Calibri"/>
              </a:rPr>
              <a:t>3 HARD INDUSTRIAL SCENARIOS</a:t>
            </a:r>
            <a:endParaRPr sz="1800"/>
          </a:p>
          <a:p>
            <a:pPr indent="0" lvl="0" marL="0" marR="0" rtl="0" algn="l">
              <a:spcBef>
                <a:spcPts val="400"/>
              </a:spcBef>
              <a:spcAft>
                <a:spcPts val="0"/>
              </a:spcAft>
              <a:buNone/>
            </a:pPr>
            <a:r>
              <a:rPr b="1" i="0" lang="en-US" u="none" cap="none" strike="noStrike">
                <a:solidFill>
                  <a:srgbClr val="0F172A"/>
                </a:solidFill>
                <a:latin typeface="Calibri"/>
                <a:ea typeface="Calibri"/>
                <a:cs typeface="Calibri"/>
                <a:sym typeface="Calibri"/>
              </a:rPr>
              <a:t>SCENARIO 1: REFLECTIVE ORANGE VEST</a:t>
            </a:r>
            <a:endParaRPr sz="1800"/>
          </a:p>
          <a:p>
            <a:pPr indent="0" lvl="0" marL="0" marR="0" rtl="0" algn="l">
              <a:spcBef>
                <a:spcPts val="0"/>
              </a:spcBef>
              <a:spcAft>
                <a:spcPts val="0"/>
              </a:spcAft>
              <a:buNone/>
            </a:pPr>
            <a:r>
              <a:rPr b="0" i="0" lang="en-US" sz="1319" u="none" cap="none" strike="noStrike">
                <a:solidFill>
                  <a:srgbClr val="334155"/>
                </a:solidFill>
                <a:latin typeface="Calibri"/>
                <a:ea typeface="Calibri"/>
                <a:cs typeface="Calibri"/>
                <a:sym typeface="Calibri"/>
              </a:rPr>
              <a:t>Baseline disperses gradient across torso and scaffolding; Rep-YOLO11s focuses exclusively on helmet dome (conf 0.84).</a:t>
            </a:r>
            <a:endParaRPr sz="1800"/>
          </a:p>
          <a:p>
            <a:pPr indent="0" lvl="0" marL="0" marR="0" rtl="0" algn="l">
              <a:spcBef>
                <a:spcPts val="400"/>
              </a:spcBef>
              <a:spcAft>
                <a:spcPts val="0"/>
              </a:spcAft>
              <a:buNone/>
            </a:pPr>
            <a:r>
              <a:rPr b="1" i="0" lang="en-US" u="none" cap="none" strike="noStrike">
                <a:solidFill>
                  <a:srgbClr val="0F172A"/>
                </a:solidFill>
                <a:latin typeface="Calibri"/>
                <a:ea typeface="Calibri"/>
                <a:cs typeface="Calibri"/>
                <a:sym typeface="Calibri"/>
              </a:rPr>
              <a:t>SCENARIO 2: SEVERE SPECULAR GLARE</a:t>
            </a:r>
            <a:endParaRPr sz="1800"/>
          </a:p>
          <a:p>
            <a:pPr indent="0" lvl="0" marL="0" marR="0" rtl="0" algn="l">
              <a:spcBef>
                <a:spcPts val="0"/>
              </a:spcBef>
              <a:spcAft>
                <a:spcPts val="0"/>
              </a:spcAft>
              <a:buNone/>
            </a:pPr>
            <a:r>
              <a:rPr b="0" i="0" lang="en-US" sz="1319" u="none" cap="none" strike="noStrike">
                <a:solidFill>
                  <a:srgbClr val="334155"/>
                </a:solidFill>
                <a:latin typeface="Calibri"/>
                <a:ea typeface="Calibri"/>
                <a:cs typeface="Calibri"/>
                <a:sym typeface="Calibri"/>
              </a:rPr>
              <a:t>Strong backlight obscures contrast; BiFormer maintains tight focus on the worker head (conf 0.89).</a:t>
            </a:r>
            <a:endParaRPr sz="1800"/>
          </a:p>
          <a:p>
            <a:pPr indent="0" lvl="0" marL="0" marR="0" rtl="0" algn="l">
              <a:spcBef>
                <a:spcPts val="400"/>
              </a:spcBef>
              <a:spcAft>
                <a:spcPts val="0"/>
              </a:spcAft>
              <a:buNone/>
            </a:pPr>
            <a:r>
              <a:rPr b="1" i="0" lang="en-US" u="none" cap="none" strike="noStrike">
                <a:solidFill>
                  <a:srgbClr val="0F172A"/>
                </a:solidFill>
                <a:latin typeface="Calibri"/>
                <a:ea typeface="Calibri"/>
                <a:cs typeface="Calibri"/>
                <a:sym typeface="Calibri"/>
              </a:rPr>
              <a:t>SCENARIO 3: YELLOW WARNING SIGN</a:t>
            </a:r>
            <a:endParaRPr sz="1800"/>
          </a:p>
          <a:p>
            <a:pPr indent="0" lvl="0" marL="0" marR="0" rtl="0" algn="l">
              <a:spcBef>
                <a:spcPts val="0"/>
              </a:spcBef>
              <a:spcAft>
                <a:spcPts val="0"/>
              </a:spcAft>
              <a:buNone/>
            </a:pPr>
            <a:r>
              <a:rPr b="0" i="0" lang="en-US" sz="1319" u="none" cap="none" strike="noStrike">
                <a:solidFill>
                  <a:srgbClr val="334155"/>
                </a:solidFill>
                <a:latin typeface="Calibri"/>
                <a:ea typeface="Calibri"/>
                <a:cs typeface="Calibri"/>
                <a:sym typeface="Calibri"/>
              </a:rPr>
              <a:t>Baseline misclassifies yellow caution sign as helmet; CoordConv coordinates correctly suppress false alarm on the floor!</a:t>
            </a:r>
            <a:endParaRPr sz="1800"/>
          </a:p>
        </p:txBody>
      </p:sp>
      <p:sp>
        <p:nvSpPr>
          <p:cNvPr id="474" name="Google Shape;474;p32"/>
          <p:cNvSpPr/>
          <p:nvPr/>
        </p:nvSpPr>
        <p:spPr>
          <a:xfrm>
            <a:off x="4937760" y="1234440"/>
            <a:ext cx="6492240" cy="493776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Fig3_gradcam_xai_saliency_comparison.png" id="475" name="Google Shape;475;p32"/>
          <p:cNvPicPr preferRelativeResize="0"/>
          <p:nvPr/>
        </p:nvPicPr>
        <p:blipFill rotWithShape="1">
          <a:blip r:embed="rId3">
            <a:alphaModFix/>
          </a:blip>
          <a:srcRect b="0" l="0" r="0" t="0"/>
          <a:stretch/>
        </p:blipFill>
        <p:spPr>
          <a:xfrm>
            <a:off x="4937750" y="1069850"/>
            <a:ext cx="6492250" cy="4443974"/>
          </a:xfrm>
          <a:prstGeom prst="rect">
            <a:avLst/>
          </a:prstGeom>
          <a:noFill/>
          <a:ln>
            <a:noFill/>
          </a:ln>
        </p:spPr>
      </p:pic>
      <p:sp>
        <p:nvSpPr>
          <p:cNvPr id="476" name="Google Shape;476;p32"/>
          <p:cNvSpPr txBox="1"/>
          <p:nvPr/>
        </p:nvSpPr>
        <p:spPr>
          <a:xfrm>
            <a:off x="5265420" y="5599760"/>
            <a:ext cx="6217800" cy="261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850" u="none" cap="none" strike="noStrike">
                <a:solidFill>
                  <a:srgbClr val="64748B"/>
                </a:solidFill>
                <a:latin typeface="Calibri"/>
                <a:ea typeface="Calibri"/>
                <a:cs typeface="Calibri"/>
                <a:sym typeface="Calibri"/>
              </a:rPr>
              <a:t>Fig. 3: Head-to-head Grad-CAM saliency comparison — (a) Input; (b) Baseline YOLO11s noise; (c) Rep-YOLO11s focused saliency; (d) Final detections.</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80" name="Shape 480"/>
        <p:cNvGrpSpPr/>
        <p:nvPr/>
      </p:nvGrpSpPr>
      <p:grpSpPr>
        <a:xfrm>
          <a:off x="0" y="0"/>
          <a:ext cx="0" cy="0"/>
          <a:chOff x="0" y="0"/>
          <a:chExt cx="0" cy="0"/>
        </a:xfrm>
      </p:grpSpPr>
      <p:sp>
        <p:nvSpPr>
          <p:cNvPr id="481" name="Google Shape;481;p33"/>
          <p:cNvSpPr/>
          <p:nvPr/>
        </p:nvSpPr>
        <p:spPr>
          <a:xfrm>
            <a:off x="0" y="0"/>
            <a:ext cx="12191700"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2" name="Google Shape;482;p33"/>
          <p:cNvSpPr txBox="1"/>
          <p:nvPr/>
        </p:nvSpPr>
        <p:spPr>
          <a:xfrm>
            <a:off x="731520" y="292608"/>
            <a:ext cx="8686800" cy="2560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EA580C"/>
                </a:solidFill>
                <a:latin typeface="Calibri"/>
                <a:ea typeface="Calibri"/>
                <a:cs typeface="Calibri"/>
                <a:sym typeface="Calibri"/>
              </a:rPr>
              <a:t>CRITERION 4 · CROSS-DOMAIN GENERALIZATION &amp; TAXONOMY</a:t>
            </a:r>
            <a:endParaRPr/>
          </a:p>
        </p:txBody>
      </p:sp>
      <p:sp>
        <p:nvSpPr>
          <p:cNvPr id="483" name="Google Shape;483;p33"/>
          <p:cNvSpPr txBox="1"/>
          <p:nvPr/>
        </p:nvSpPr>
        <p:spPr>
          <a:xfrm>
            <a:off x="10332720" y="292608"/>
            <a:ext cx="1097280" cy="256032"/>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15 / 18</a:t>
            </a:r>
            <a:endParaRPr/>
          </a:p>
        </p:txBody>
      </p:sp>
      <p:sp>
        <p:nvSpPr>
          <p:cNvPr id="484" name="Google Shape;484;p33"/>
          <p:cNvSpPr txBox="1"/>
          <p:nvPr/>
        </p:nvSpPr>
        <p:spPr>
          <a:xfrm>
            <a:off x="731520" y="566928"/>
            <a:ext cx="1069848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Cross-Domain Generalization &amp; IoU Collapse Autopsy</a:t>
            </a:r>
            <a:endParaRPr/>
          </a:p>
        </p:txBody>
      </p:sp>
      <p:sp>
        <p:nvSpPr>
          <p:cNvPr id="485" name="Google Shape;485;p33"/>
          <p:cNvSpPr/>
          <p:nvPr/>
        </p:nvSpPr>
        <p:spPr>
          <a:xfrm>
            <a:off x="731520" y="1234440"/>
            <a:ext cx="3474720" cy="2286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6" name="Google Shape;486;p33"/>
          <p:cNvSpPr txBox="1"/>
          <p:nvPr/>
        </p:nvSpPr>
        <p:spPr>
          <a:xfrm>
            <a:off x="868680" y="1353312"/>
            <a:ext cx="3200400" cy="2057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0F172A"/>
                </a:solidFill>
                <a:latin typeface="Calibri"/>
                <a:ea typeface="Calibri"/>
                <a:cs typeface="Calibri"/>
                <a:sym typeface="Calibri"/>
              </a:rPr>
              <a:t>HARD HAT WORKERS (7,000 IMAGES)</a:t>
            </a:r>
            <a:endParaRPr/>
          </a:p>
          <a:p>
            <a:pPr indent="0" lvl="0" marL="0" marR="0" rtl="0" algn="l">
              <a:spcBef>
                <a:spcPts val="0"/>
              </a:spcBef>
              <a:spcAft>
                <a:spcPts val="0"/>
              </a:spcAft>
              <a:buNone/>
            </a:pPr>
            <a:r>
              <a:rPr b="1" i="0" lang="en-US" sz="2800" u="none" cap="none" strike="noStrike">
                <a:solidFill>
                  <a:srgbClr val="16A34A"/>
                </a:solidFill>
                <a:latin typeface="Calibri"/>
                <a:ea typeface="Calibri"/>
                <a:cs typeface="Calibri"/>
                <a:sym typeface="Calibri"/>
              </a:rPr>
              <a:t>97.03%</a:t>
            </a:r>
            <a:endParaRPr/>
          </a:p>
          <a:p>
            <a:pPr indent="0" lvl="0" marL="0" marR="0" rtl="0" algn="l">
              <a:spcBef>
                <a:spcPts val="0"/>
              </a:spcBef>
              <a:spcAft>
                <a:spcPts val="0"/>
              </a:spcAft>
              <a:buNone/>
            </a:pPr>
            <a:r>
              <a:rPr b="1" i="0" lang="en-US" sz="900" u="none" cap="none" strike="noStrike">
                <a:solidFill>
                  <a:srgbClr val="16A34A"/>
                </a:solidFill>
                <a:latin typeface="Calibri"/>
                <a:ea typeface="Calibri"/>
                <a:cs typeface="Calibri"/>
                <a:sym typeface="Calibri"/>
              </a:rPr>
              <a:t>Harmonized PPE Protocol (Hat-Only)</a:t>
            </a:r>
            <a:endParaRPr/>
          </a:p>
          <a:p>
            <a:pPr indent="0" lvl="0" marL="0" marR="0" rtl="0" algn="l">
              <a:spcBef>
                <a:spcPts val="200"/>
              </a:spcBef>
              <a:spcAft>
                <a:spcPts val="0"/>
              </a:spcAft>
              <a:buNone/>
            </a:pPr>
            <a:r>
              <a:rPr b="0" i="0" lang="en-US" sz="880" u="none" cap="none" strike="noStrike">
                <a:solidFill>
                  <a:srgbClr val="64748B"/>
                </a:solidFill>
                <a:latin typeface="Calibri"/>
                <a:ea typeface="Calibri"/>
                <a:cs typeface="Calibri"/>
                <a:sym typeface="Calibri"/>
              </a:rPr>
              <a:t>Matches in-domain SHWD accuracy; perfect transfer of helmet visual features.</a:t>
            </a:r>
            <a:endParaRPr/>
          </a:p>
        </p:txBody>
      </p:sp>
      <p:sp>
        <p:nvSpPr>
          <p:cNvPr id="487" name="Google Shape;487;p33"/>
          <p:cNvSpPr/>
          <p:nvPr/>
        </p:nvSpPr>
        <p:spPr>
          <a:xfrm>
            <a:off x="7909570" y="1243578"/>
            <a:ext cx="3474600" cy="2286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8" name="Google Shape;488;p33"/>
          <p:cNvSpPr txBox="1"/>
          <p:nvPr/>
        </p:nvSpPr>
        <p:spPr>
          <a:xfrm>
            <a:off x="8183905" y="1357900"/>
            <a:ext cx="3200400" cy="1020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0F172A"/>
                </a:solidFill>
                <a:latin typeface="Calibri"/>
                <a:ea typeface="Calibri"/>
                <a:cs typeface="Calibri"/>
                <a:sym typeface="Calibri"/>
              </a:rPr>
              <a:t>GDUT-HWD (13,499 IMAGES)</a:t>
            </a:r>
            <a:endParaRPr/>
          </a:p>
          <a:p>
            <a:pPr indent="0" lvl="0" marL="0" marR="0" rtl="0" algn="l">
              <a:spcBef>
                <a:spcPts val="0"/>
              </a:spcBef>
              <a:spcAft>
                <a:spcPts val="0"/>
              </a:spcAft>
              <a:buNone/>
            </a:pPr>
            <a:r>
              <a:rPr b="1" i="0" lang="en-US" sz="2800" u="none" cap="none" strike="noStrike">
                <a:solidFill>
                  <a:srgbClr val="2563EB"/>
                </a:solidFill>
                <a:latin typeface="Calibri"/>
                <a:ea typeface="Calibri"/>
                <a:cs typeface="Calibri"/>
                <a:sym typeface="Calibri"/>
              </a:rPr>
              <a:t>74.27%</a:t>
            </a:r>
            <a:endParaRPr/>
          </a:p>
          <a:p>
            <a:pPr indent="0" lvl="0" marL="0" marR="0" rtl="0" algn="l">
              <a:spcBef>
                <a:spcPts val="0"/>
              </a:spcBef>
              <a:spcAft>
                <a:spcPts val="0"/>
              </a:spcAft>
              <a:buNone/>
            </a:pPr>
            <a:r>
              <a:rPr b="1" i="0" lang="en-US" sz="900" u="none" cap="none" strike="noStrike">
                <a:solidFill>
                  <a:srgbClr val="2563EB"/>
                </a:solidFill>
                <a:latin typeface="Calibri"/>
                <a:ea typeface="Calibri"/>
                <a:cs typeface="Calibri"/>
                <a:sym typeface="Calibri"/>
              </a:rPr>
              <a:t>Precision: 90.26% (15-30 workers/frame)</a:t>
            </a:r>
            <a:endParaRPr/>
          </a:p>
          <a:p>
            <a:pPr indent="0" lvl="0" marL="0" marR="0" rtl="0" algn="l">
              <a:spcBef>
                <a:spcPts val="200"/>
              </a:spcBef>
              <a:spcAft>
                <a:spcPts val="0"/>
              </a:spcAft>
              <a:buNone/>
            </a:pPr>
            <a:r>
              <a:rPr b="0" i="0" lang="en-US" sz="880" u="none" cap="none" strike="noStrike">
                <a:solidFill>
                  <a:srgbClr val="64748B"/>
                </a:solidFill>
                <a:latin typeface="Calibri"/>
                <a:ea typeface="Calibri"/>
                <a:cs typeface="Calibri"/>
                <a:sym typeface="Calibri"/>
              </a:rPr>
              <a:t>Exceptional resilience under extreme worker crowd density and mutual occlusion.</a:t>
            </a:r>
            <a:endParaRPr/>
          </a:p>
        </p:txBody>
      </p:sp>
      <p:sp>
        <p:nvSpPr>
          <p:cNvPr id="489" name="Google Shape;489;p33"/>
          <p:cNvSpPr/>
          <p:nvPr/>
        </p:nvSpPr>
        <p:spPr>
          <a:xfrm>
            <a:off x="731520" y="3703320"/>
            <a:ext cx="10698480" cy="2468880"/>
          </a:xfrm>
          <a:prstGeom prst="roundRect">
            <a:avLst>
              <a:gd fmla="val 16667" name="adj"/>
            </a:avLst>
          </a:prstGeom>
          <a:solidFill>
            <a:srgbClr val="FFFFFF"/>
          </a:solidFill>
          <a:ln cap="flat" cmpd="sng" w="12700">
            <a:solidFill>
              <a:srgbClr val="EA580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0" name="Google Shape;490;p33"/>
          <p:cNvSpPr txBox="1"/>
          <p:nvPr/>
        </p:nvSpPr>
        <p:spPr>
          <a:xfrm>
            <a:off x="960120" y="3844385"/>
            <a:ext cx="10241400" cy="831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50" u="none" cap="none" strike="noStrike">
                <a:solidFill>
                  <a:srgbClr val="EA580C"/>
                </a:solidFill>
                <a:latin typeface="Calibri"/>
                <a:ea typeface="Calibri"/>
                <a:cs typeface="Calibri"/>
                <a:sym typeface="Calibri"/>
              </a:rPr>
              <a:t>MATHEMATICAL AUTOPSY: THE CROSS-DOMAIN IOU COLLAPSE</a:t>
            </a:r>
            <a:endParaRPr/>
          </a:p>
          <a:p>
            <a:pPr indent="0" lvl="0" marL="0" marR="0" rtl="0" algn="l">
              <a:spcBef>
                <a:spcPts val="400"/>
              </a:spcBef>
              <a:spcAft>
                <a:spcPts val="0"/>
              </a:spcAft>
              <a:buNone/>
            </a:pPr>
            <a:r>
              <a:rPr b="1" i="0" lang="en-US" sz="980" u="none" cap="none" strike="noStrike">
                <a:solidFill>
                  <a:srgbClr val="0F172A"/>
                </a:solidFill>
                <a:latin typeface="Calibri"/>
                <a:ea typeface="Calibri"/>
                <a:cs typeface="Calibri"/>
                <a:sym typeface="Calibri"/>
              </a:rPr>
              <a:t>• Academic Label Taxonomy Conflict: </a:t>
            </a:r>
            <a:r>
              <a:rPr b="0" i="0" lang="en-US" sz="980" u="none" cap="none" strike="noStrike">
                <a:solidFill>
                  <a:srgbClr val="334155"/>
                </a:solidFill>
                <a:latin typeface="Calibri"/>
                <a:ea typeface="Calibri"/>
                <a:cs typeface="Calibri"/>
                <a:sym typeface="Calibri"/>
              </a:rPr>
              <a:t>The source SHWD dataset annotates "person" as FULL-BODY, while Hard Hat Workers annotates "person" as HEAD-ONLY.</a:t>
            </a:r>
            <a:endParaRPr/>
          </a:p>
          <a:p>
            <a:pPr indent="0" lvl="0" marL="0" marR="0" rtl="0" algn="l">
              <a:spcBef>
                <a:spcPts val="0"/>
              </a:spcBef>
              <a:spcAft>
                <a:spcPts val="0"/>
              </a:spcAft>
              <a:buNone/>
            </a:pPr>
            <a:r>
              <a:rPr b="1" i="0" lang="en-US" sz="980" u="none" cap="none" strike="noStrike">
                <a:solidFill>
                  <a:srgbClr val="0F172A"/>
                </a:solidFill>
                <a:latin typeface="Calibri"/>
                <a:ea typeface="Calibri"/>
                <a:cs typeface="Calibri"/>
                <a:sym typeface="Calibri"/>
              </a:rPr>
              <a:t>• Mathematical Degradation: </a:t>
            </a:r>
            <a:r>
              <a:rPr b="0" i="0" lang="en-US" sz="980" u="none" cap="none" strike="noStrike">
                <a:solidFill>
                  <a:srgbClr val="334155"/>
                </a:solidFill>
                <a:latin typeface="Calibri"/>
                <a:ea typeface="Calibri"/>
                <a:cs typeface="Calibri"/>
                <a:sym typeface="Calibri"/>
              </a:rPr>
              <a:t>When the detector accurately identifies a full worker body, ground-truth is only the tiny head. Intersection IoU = Area(head) / Area(body) ≈ 0.07 – 0.14 &lt;&lt; 0.50! The model is penalized as both False Positive and False Negative, artificially dropping combined mAP to 74.40%.</a:t>
            </a:r>
            <a:endParaRPr/>
          </a:p>
          <a:p>
            <a:pPr indent="0" lvl="0" marL="0" marR="0" rtl="0" algn="l">
              <a:spcBef>
                <a:spcPts val="0"/>
              </a:spcBef>
              <a:spcAft>
                <a:spcPts val="0"/>
              </a:spcAft>
              <a:buNone/>
            </a:pPr>
            <a:r>
              <a:rPr b="1" i="0" lang="en-US" sz="980" u="none" cap="none" strike="noStrike">
                <a:solidFill>
                  <a:srgbClr val="16A34A"/>
                </a:solidFill>
                <a:latin typeface="Calibri"/>
                <a:ea typeface="Calibri"/>
                <a:cs typeface="Calibri"/>
                <a:sym typeface="Calibri"/>
              </a:rPr>
              <a:t>• Empirical Exoneration: </a:t>
            </a:r>
            <a:r>
              <a:rPr b="0" i="0" lang="en-US" sz="980" u="none" cap="none" strike="noStrike">
                <a:solidFill>
                  <a:srgbClr val="334155"/>
                </a:solidFill>
                <a:latin typeface="Calibri"/>
                <a:ea typeface="Calibri"/>
                <a:cs typeface="Calibri"/>
                <a:sym typeface="Calibri"/>
              </a:rPr>
              <a:t>Evaluating under the Harmonized PPE Protocol (Hat-Only), mAP instantly surges to 97.03%, proving the learned visual representations are pristine!</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94" name="Shape 494"/>
        <p:cNvGrpSpPr/>
        <p:nvPr/>
      </p:nvGrpSpPr>
      <p:grpSpPr>
        <a:xfrm>
          <a:off x="0" y="0"/>
          <a:ext cx="0" cy="0"/>
          <a:chOff x="0" y="0"/>
          <a:chExt cx="0" cy="0"/>
        </a:xfrm>
      </p:grpSpPr>
      <p:sp>
        <p:nvSpPr>
          <p:cNvPr id="495" name="Google Shape;495;p34"/>
          <p:cNvSpPr/>
          <p:nvPr/>
        </p:nvSpPr>
        <p:spPr>
          <a:xfrm>
            <a:off x="0" y="0"/>
            <a:ext cx="12191695"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6" name="Google Shape;496;p34"/>
          <p:cNvSpPr txBox="1"/>
          <p:nvPr/>
        </p:nvSpPr>
        <p:spPr>
          <a:xfrm>
            <a:off x="731520" y="292608"/>
            <a:ext cx="8686800" cy="2560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EA580C"/>
                </a:solidFill>
                <a:latin typeface="Calibri"/>
                <a:ea typeface="Calibri"/>
                <a:cs typeface="Calibri"/>
                <a:sym typeface="Calibri"/>
              </a:rPr>
              <a:t>CRITERION 4 · REAL-WORLD DEPLOYMENT ON BUDGET HARDWARE</a:t>
            </a:r>
            <a:endParaRPr/>
          </a:p>
        </p:txBody>
      </p:sp>
      <p:sp>
        <p:nvSpPr>
          <p:cNvPr id="497" name="Google Shape;497;p34"/>
          <p:cNvSpPr txBox="1"/>
          <p:nvPr/>
        </p:nvSpPr>
        <p:spPr>
          <a:xfrm>
            <a:off x="10332720" y="292608"/>
            <a:ext cx="1097280" cy="256032"/>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16 / 18</a:t>
            </a:r>
            <a:endParaRPr/>
          </a:p>
        </p:txBody>
      </p:sp>
      <p:sp>
        <p:nvSpPr>
          <p:cNvPr id="498" name="Google Shape;498;p34"/>
          <p:cNvSpPr txBox="1"/>
          <p:nvPr/>
        </p:nvSpPr>
        <p:spPr>
          <a:xfrm>
            <a:off x="731520" y="566928"/>
            <a:ext cx="1069848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Edge Hardware Realization: Real-Time on 2GB MX230 Laptop GPU</a:t>
            </a:r>
            <a:endParaRPr/>
          </a:p>
        </p:txBody>
      </p:sp>
      <p:sp>
        <p:nvSpPr>
          <p:cNvPr id="499" name="Google Shape;499;p34"/>
          <p:cNvSpPr/>
          <p:nvPr/>
        </p:nvSpPr>
        <p:spPr>
          <a:xfrm>
            <a:off x="731520" y="1234440"/>
            <a:ext cx="3474720" cy="2468880"/>
          </a:xfrm>
          <a:prstGeom prst="roundRect">
            <a:avLst>
              <a:gd fmla="val 16667" name="adj"/>
            </a:avLst>
          </a:prstGeom>
          <a:solidFill>
            <a:srgbClr val="FFFFFF"/>
          </a:solidFill>
          <a:ln cap="flat" cmpd="sng" w="12700">
            <a:solidFill>
              <a:srgbClr val="EA580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0" name="Google Shape;500;p34"/>
          <p:cNvSpPr txBox="1"/>
          <p:nvPr/>
        </p:nvSpPr>
        <p:spPr>
          <a:xfrm>
            <a:off x="868680" y="1353312"/>
            <a:ext cx="3200400" cy="224028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50" u="none" cap="none" strike="noStrike">
                <a:solidFill>
                  <a:srgbClr val="EA580C"/>
                </a:solidFill>
                <a:latin typeface="Calibri"/>
                <a:ea typeface="Calibri"/>
                <a:cs typeface="Calibri"/>
                <a:sym typeface="Calibri"/>
              </a:rPr>
              <a:t>SERVER / CLUSTER GPU</a:t>
            </a:r>
            <a:endParaRPr/>
          </a:p>
          <a:p>
            <a:pPr indent="0" lvl="0" marL="0" marR="0" rtl="0" algn="l">
              <a:spcBef>
                <a:spcPts val="0"/>
              </a:spcBef>
              <a:spcAft>
                <a:spcPts val="0"/>
              </a:spcAft>
              <a:buNone/>
            </a:pPr>
            <a:r>
              <a:rPr b="1" i="0" lang="en-US" sz="1200" u="none" cap="none" strike="noStrike">
                <a:solidFill>
                  <a:srgbClr val="0F172A"/>
                </a:solidFill>
                <a:latin typeface="Calibri"/>
                <a:ea typeface="Calibri"/>
                <a:cs typeface="Calibri"/>
                <a:sym typeface="Calibri"/>
              </a:rPr>
              <a:t>NVIDIA Tesla T4</a:t>
            </a:r>
            <a:endParaRPr/>
          </a:p>
          <a:p>
            <a:pPr indent="0" lvl="0" marL="0" marR="0" rtl="0" algn="l">
              <a:spcBef>
                <a:spcPts val="0"/>
              </a:spcBef>
              <a:spcAft>
                <a:spcPts val="0"/>
              </a:spcAft>
              <a:buNone/>
            </a:pPr>
            <a:r>
              <a:rPr b="1" i="0" lang="en-US" sz="1000" u="none" cap="none" strike="noStrike">
                <a:solidFill>
                  <a:srgbClr val="64748B"/>
                </a:solidFill>
                <a:latin typeface="Calibri"/>
                <a:ea typeface="Calibri"/>
                <a:cs typeface="Calibri"/>
                <a:sym typeface="Calibri"/>
              </a:rPr>
              <a:t>Latency: 2.92 ms</a:t>
            </a:r>
            <a:endParaRPr/>
          </a:p>
          <a:p>
            <a:pPr indent="0" lvl="0" marL="0" marR="0" rtl="0" algn="l">
              <a:spcBef>
                <a:spcPts val="0"/>
              </a:spcBef>
              <a:spcAft>
                <a:spcPts val="0"/>
              </a:spcAft>
              <a:buNone/>
            </a:pPr>
            <a:r>
              <a:rPr b="1" i="0" lang="en-US" sz="2600" u="none" cap="none" strike="noStrike">
                <a:solidFill>
                  <a:srgbClr val="EA580C"/>
                </a:solidFill>
                <a:latin typeface="Calibri"/>
                <a:ea typeface="Calibri"/>
                <a:cs typeface="Calibri"/>
                <a:sym typeface="Calibri"/>
              </a:rPr>
              <a:t>342.5 FPS</a:t>
            </a:r>
            <a:endParaRPr/>
          </a:p>
          <a:p>
            <a:pPr indent="0" lvl="0" marL="0" marR="0" rtl="0" algn="l">
              <a:spcBef>
                <a:spcPts val="300"/>
              </a:spcBef>
              <a:spcAft>
                <a:spcPts val="0"/>
              </a:spcAft>
              <a:buNone/>
            </a:pPr>
            <a:r>
              <a:rPr b="0" i="0" lang="en-US" sz="880" u="none" cap="none" strike="noStrike">
                <a:solidFill>
                  <a:srgbClr val="334155"/>
                </a:solidFill>
                <a:latin typeface="Calibri"/>
                <a:ea typeface="Calibri"/>
                <a:cs typeface="Calibri"/>
                <a:sym typeface="Calibri"/>
              </a:rPr>
              <a:t>TensorRT 11.2 FP16 · 640×640</a:t>
            </a:r>
            <a:br>
              <a:rPr b="0" i="0" lang="en-US" sz="880" u="none" cap="none" strike="noStrike">
                <a:solidFill>
                  <a:srgbClr val="334155"/>
                </a:solidFill>
                <a:latin typeface="Calibri"/>
                <a:ea typeface="Calibri"/>
                <a:cs typeface="Calibri"/>
                <a:sym typeface="Calibri"/>
              </a:rPr>
            </a:br>
            <a:r>
              <a:rPr b="0" i="0" lang="en-US" sz="880" u="none" cap="none" strike="noStrike">
                <a:solidFill>
                  <a:srgbClr val="334155"/>
                </a:solidFill>
                <a:latin typeface="Calibri"/>
                <a:ea typeface="Calibri"/>
                <a:cs typeface="Calibri"/>
                <a:sym typeface="Calibri"/>
              </a:rPr>
              <a:t>Handles 12 RTSP camera streams concurrently.</a:t>
            </a:r>
            <a:endParaRPr/>
          </a:p>
        </p:txBody>
      </p:sp>
      <p:sp>
        <p:nvSpPr>
          <p:cNvPr id="501" name="Google Shape;501;p34"/>
          <p:cNvSpPr/>
          <p:nvPr/>
        </p:nvSpPr>
        <p:spPr>
          <a:xfrm>
            <a:off x="4389120" y="1234440"/>
            <a:ext cx="3474720" cy="2468880"/>
          </a:xfrm>
          <a:prstGeom prst="roundRect">
            <a:avLst>
              <a:gd fmla="val 16667" name="adj"/>
            </a:avLst>
          </a:prstGeom>
          <a:solidFill>
            <a:srgbClr val="FFFFFF"/>
          </a:solidFill>
          <a:ln cap="flat" cmpd="sng" w="12700">
            <a:solidFill>
              <a:srgbClr val="2563EB"/>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2" name="Google Shape;502;p34"/>
          <p:cNvSpPr txBox="1"/>
          <p:nvPr/>
        </p:nvSpPr>
        <p:spPr>
          <a:xfrm>
            <a:off x="4526280" y="1353312"/>
            <a:ext cx="3200400" cy="224028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50" u="none" cap="none" strike="noStrike">
                <a:solidFill>
                  <a:srgbClr val="2563EB"/>
                </a:solidFill>
                <a:latin typeface="Calibri"/>
                <a:ea typeface="Calibri"/>
                <a:cs typeface="Calibri"/>
                <a:sym typeface="Calibri"/>
              </a:rPr>
              <a:t>MID-RANGE LAPTOP GPU</a:t>
            </a:r>
            <a:endParaRPr/>
          </a:p>
          <a:p>
            <a:pPr indent="0" lvl="0" marL="0" marR="0" rtl="0" algn="l">
              <a:spcBef>
                <a:spcPts val="0"/>
              </a:spcBef>
              <a:spcAft>
                <a:spcPts val="0"/>
              </a:spcAft>
              <a:buNone/>
            </a:pPr>
            <a:r>
              <a:rPr b="1" i="0" lang="en-US" sz="1200" u="none" cap="none" strike="noStrike">
                <a:solidFill>
                  <a:srgbClr val="0F172A"/>
                </a:solidFill>
                <a:latin typeface="Calibri"/>
                <a:ea typeface="Calibri"/>
                <a:cs typeface="Calibri"/>
                <a:sym typeface="Calibri"/>
              </a:rPr>
              <a:t>RTX 3050 Laptop</a:t>
            </a:r>
            <a:endParaRPr/>
          </a:p>
          <a:p>
            <a:pPr indent="0" lvl="0" marL="0" marR="0" rtl="0" algn="l">
              <a:spcBef>
                <a:spcPts val="0"/>
              </a:spcBef>
              <a:spcAft>
                <a:spcPts val="0"/>
              </a:spcAft>
              <a:buNone/>
            </a:pPr>
            <a:r>
              <a:rPr b="1" i="0" lang="en-US" sz="1000" u="none" cap="none" strike="noStrike">
                <a:solidFill>
                  <a:srgbClr val="64748B"/>
                </a:solidFill>
                <a:latin typeface="Calibri"/>
                <a:ea typeface="Calibri"/>
                <a:cs typeface="Calibri"/>
                <a:sym typeface="Calibri"/>
              </a:rPr>
              <a:t>Latency: 5.35 ms</a:t>
            </a:r>
            <a:endParaRPr/>
          </a:p>
          <a:p>
            <a:pPr indent="0" lvl="0" marL="0" marR="0" rtl="0" algn="l">
              <a:spcBef>
                <a:spcPts val="0"/>
              </a:spcBef>
              <a:spcAft>
                <a:spcPts val="0"/>
              </a:spcAft>
              <a:buNone/>
            </a:pPr>
            <a:r>
              <a:rPr b="1" i="0" lang="en-US" sz="2600" u="none" cap="none" strike="noStrike">
                <a:solidFill>
                  <a:srgbClr val="2563EB"/>
                </a:solidFill>
                <a:latin typeface="Calibri"/>
                <a:ea typeface="Calibri"/>
                <a:cs typeface="Calibri"/>
                <a:sym typeface="Calibri"/>
              </a:rPr>
              <a:t>187.1 FPS</a:t>
            </a:r>
            <a:endParaRPr/>
          </a:p>
          <a:p>
            <a:pPr indent="0" lvl="0" marL="0" marR="0" rtl="0" algn="l">
              <a:spcBef>
                <a:spcPts val="300"/>
              </a:spcBef>
              <a:spcAft>
                <a:spcPts val="0"/>
              </a:spcAft>
              <a:buNone/>
            </a:pPr>
            <a:r>
              <a:rPr b="0" i="0" lang="en-US" sz="880" u="none" cap="none" strike="noStrike">
                <a:solidFill>
                  <a:srgbClr val="334155"/>
                </a:solidFill>
                <a:latin typeface="Calibri"/>
                <a:ea typeface="Calibri"/>
                <a:cs typeface="Calibri"/>
                <a:sym typeface="Calibri"/>
              </a:rPr>
              <a:t>TensorRT 11.2 FP16 · 640×640</a:t>
            </a:r>
            <a:br>
              <a:rPr b="0" i="0" lang="en-US" sz="880" u="none" cap="none" strike="noStrike">
                <a:solidFill>
                  <a:srgbClr val="334155"/>
                </a:solidFill>
                <a:latin typeface="Calibri"/>
                <a:ea typeface="Calibri"/>
                <a:cs typeface="Calibri"/>
                <a:sym typeface="Calibri"/>
              </a:rPr>
            </a:br>
            <a:r>
              <a:rPr b="0" i="0" lang="en-US" sz="880" u="none" cap="none" strike="noStrike">
                <a:solidFill>
                  <a:srgbClr val="334155"/>
                </a:solidFill>
                <a:latin typeface="Calibri"/>
                <a:ea typeface="Calibri"/>
                <a:cs typeface="Calibri"/>
                <a:sym typeface="Calibri"/>
              </a:rPr>
              <a:t>Portable edge surveillance workstation.</a:t>
            </a:r>
            <a:endParaRPr/>
          </a:p>
        </p:txBody>
      </p:sp>
      <p:sp>
        <p:nvSpPr>
          <p:cNvPr id="503" name="Google Shape;503;p34"/>
          <p:cNvSpPr/>
          <p:nvPr/>
        </p:nvSpPr>
        <p:spPr>
          <a:xfrm>
            <a:off x="8046720" y="1234440"/>
            <a:ext cx="3474720" cy="2468880"/>
          </a:xfrm>
          <a:prstGeom prst="roundRect">
            <a:avLst>
              <a:gd fmla="val 16667" name="adj"/>
            </a:avLst>
          </a:prstGeom>
          <a:solidFill>
            <a:srgbClr val="F0FDF4"/>
          </a:solidFill>
          <a:ln cap="flat" cmpd="sng" w="22850">
            <a:solidFill>
              <a:srgbClr val="16A34A"/>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4" name="Google Shape;504;p34"/>
          <p:cNvSpPr txBox="1"/>
          <p:nvPr/>
        </p:nvSpPr>
        <p:spPr>
          <a:xfrm>
            <a:off x="8183880" y="1353312"/>
            <a:ext cx="3200400" cy="224028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50" u="none" cap="none" strike="noStrike">
                <a:solidFill>
                  <a:srgbClr val="16A34A"/>
                </a:solidFill>
                <a:latin typeface="Calibri"/>
                <a:ea typeface="Calibri"/>
                <a:cs typeface="Calibri"/>
                <a:sym typeface="Calibri"/>
              </a:rPr>
              <a:t>BUDGET OFFICE LAPTOP</a:t>
            </a:r>
            <a:endParaRPr/>
          </a:p>
          <a:p>
            <a:pPr indent="0" lvl="0" marL="0" marR="0" rtl="0" algn="l">
              <a:spcBef>
                <a:spcPts val="0"/>
              </a:spcBef>
              <a:spcAft>
                <a:spcPts val="0"/>
              </a:spcAft>
              <a:buNone/>
            </a:pPr>
            <a:r>
              <a:rPr b="1" i="0" lang="en-US" sz="1200" u="none" cap="none" strike="noStrike">
                <a:solidFill>
                  <a:srgbClr val="0F172A"/>
                </a:solidFill>
                <a:latin typeface="Calibri"/>
                <a:ea typeface="Calibri"/>
                <a:cs typeface="Calibri"/>
                <a:sym typeface="Calibri"/>
              </a:rPr>
              <a:t>GeForce MX230 (2GB VRAM)</a:t>
            </a:r>
            <a:endParaRPr/>
          </a:p>
          <a:p>
            <a:pPr indent="0" lvl="0" marL="0" marR="0" rtl="0" algn="l">
              <a:spcBef>
                <a:spcPts val="0"/>
              </a:spcBef>
              <a:spcAft>
                <a:spcPts val="0"/>
              </a:spcAft>
              <a:buNone/>
            </a:pPr>
            <a:r>
              <a:rPr b="1" i="0" lang="en-US" sz="1000" u="none" cap="none" strike="noStrike">
                <a:solidFill>
                  <a:srgbClr val="64748B"/>
                </a:solidFill>
                <a:latin typeface="Calibri"/>
                <a:ea typeface="Calibri"/>
                <a:cs typeface="Calibri"/>
                <a:sym typeface="Calibri"/>
              </a:rPr>
              <a:t>Latency: 36.0 ms</a:t>
            </a:r>
            <a:endParaRPr/>
          </a:p>
          <a:p>
            <a:pPr indent="0" lvl="0" marL="0" marR="0" rtl="0" algn="l">
              <a:spcBef>
                <a:spcPts val="0"/>
              </a:spcBef>
              <a:spcAft>
                <a:spcPts val="0"/>
              </a:spcAft>
              <a:buNone/>
            </a:pPr>
            <a:r>
              <a:rPr b="1" i="0" lang="en-US" sz="2600" u="none" cap="none" strike="noStrike">
                <a:solidFill>
                  <a:srgbClr val="16A34A"/>
                </a:solidFill>
                <a:latin typeface="Calibri"/>
                <a:ea typeface="Calibri"/>
                <a:cs typeface="Calibri"/>
                <a:sym typeface="Calibri"/>
              </a:rPr>
              <a:t>27.8 FPS</a:t>
            </a:r>
            <a:endParaRPr/>
          </a:p>
          <a:p>
            <a:pPr indent="0" lvl="0" marL="0" marR="0" rtl="0" algn="l">
              <a:spcBef>
                <a:spcPts val="300"/>
              </a:spcBef>
              <a:spcAft>
                <a:spcPts val="0"/>
              </a:spcAft>
              <a:buNone/>
            </a:pPr>
            <a:r>
              <a:rPr b="0" i="0" lang="en-US" sz="880" u="none" cap="none" strike="noStrike">
                <a:solidFill>
                  <a:srgbClr val="334155"/>
                </a:solidFill>
                <a:latin typeface="Calibri"/>
                <a:ea typeface="Calibri"/>
                <a:cs typeface="Calibri"/>
                <a:sym typeface="Calibri"/>
              </a:rPr>
              <a:t>Native PyTorch FP32 · 640×640</a:t>
            </a:r>
            <a:br>
              <a:rPr b="0" i="0" lang="en-US" sz="880" u="none" cap="none" strike="noStrike">
                <a:solidFill>
                  <a:srgbClr val="334155"/>
                </a:solidFill>
                <a:latin typeface="Calibri"/>
                <a:ea typeface="Calibri"/>
                <a:cs typeface="Calibri"/>
                <a:sym typeface="Calibri"/>
              </a:rPr>
            </a:br>
            <a:r>
              <a:rPr b="0" i="0" lang="en-US" sz="880" u="none" cap="none" strike="noStrike">
                <a:solidFill>
                  <a:srgbClr val="334155"/>
                </a:solidFill>
                <a:latin typeface="Calibri"/>
                <a:ea typeface="Calibri"/>
                <a:cs typeface="Calibri"/>
                <a:sym typeface="Calibri"/>
              </a:rPr>
              <a:t>EXCEEDS 24 FPS CINEMATIC REAL-TIME!</a:t>
            </a:r>
            <a:endParaRPr/>
          </a:p>
        </p:txBody>
      </p:sp>
      <p:sp>
        <p:nvSpPr>
          <p:cNvPr id="505" name="Google Shape;505;p34"/>
          <p:cNvSpPr/>
          <p:nvPr/>
        </p:nvSpPr>
        <p:spPr>
          <a:xfrm>
            <a:off x="731520" y="3931920"/>
            <a:ext cx="10698480" cy="224028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6" name="Google Shape;506;p34"/>
          <p:cNvSpPr txBox="1"/>
          <p:nvPr/>
        </p:nvSpPr>
        <p:spPr>
          <a:xfrm>
            <a:off x="960120" y="4069080"/>
            <a:ext cx="10241280" cy="201168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50" u="none" cap="none" strike="noStrike">
                <a:solidFill>
                  <a:srgbClr val="16A34A"/>
                </a:solidFill>
                <a:latin typeface="Calibri"/>
                <a:ea typeface="Calibri"/>
                <a:cs typeface="Calibri"/>
                <a:sym typeface="Calibri"/>
              </a:rPr>
              <a:t>ECONOMIC &amp; PRACTICAL VALUE OF GEFORCE MX230 (2GB VRAM) VERIFICATION</a:t>
            </a:r>
            <a:endParaRPr/>
          </a:p>
          <a:p>
            <a:pPr indent="0" lvl="0" marL="0" marR="0" rtl="0" algn="l">
              <a:spcBef>
                <a:spcPts val="400"/>
              </a:spcBef>
              <a:spcAft>
                <a:spcPts val="0"/>
              </a:spcAft>
              <a:buNone/>
            </a:pPr>
            <a:r>
              <a:rPr b="1" i="0" lang="en-US" sz="980" u="none" cap="none" strike="noStrike">
                <a:solidFill>
                  <a:srgbClr val="0F172A"/>
                </a:solidFill>
                <a:latin typeface="Calibri"/>
                <a:ea typeface="Calibri"/>
                <a:cs typeface="Calibri"/>
                <a:sym typeface="Calibri"/>
              </a:rPr>
              <a:t>• Breaking the Hardware Barrier: </a:t>
            </a:r>
            <a:r>
              <a:rPr b="0" i="0" lang="en-US" sz="980" u="none" cap="none" strike="noStrike">
                <a:solidFill>
                  <a:srgbClr val="334155"/>
                </a:solidFill>
                <a:latin typeface="Calibri"/>
                <a:ea typeface="Calibri"/>
                <a:cs typeface="Calibri"/>
                <a:sym typeface="Calibri"/>
              </a:rPr>
              <a:t>NVIDIA GeForce MX230 is an entry-level Pascal-generation mobile GPU (2019) lacking Tensor Cores and constrained by a 2GB VRAM ceiling. Most modern deep learning models crash with CUDA Out-Of-Memory (OOM) or choke at &lt;10 FPS on this tier.</a:t>
            </a:r>
            <a:endParaRPr/>
          </a:p>
          <a:p>
            <a:pPr indent="0" lvl="0" marL="0" marR="0" rtl="0" algn="l">
              <a:spcBef>
                <a:spcPts val="0"/>
              </a:spcBef>
              <a:spcAft>
                <a:spcPts val="0"/>
              </a:spcAft>
              <a:buNone/>
            </a:pPr>
            <a:r>
              <a:rPr b="1" i="0" lang="en-US" sz="980" u="none" cap="none" strike="noStrike">
                <a:solidFill>
                  <a:srgbClr val="16A34A"/>
                </a:solidFill>
                <a:latin typeface="Calibri"/>
                <a:ea typeface="Calibri"/>
                <a:cs typeface="Calibri"/>
                <a:sym typeface="Calibri"/>
              </a:rPr>
              <a:t>• 100% Commercial Feasibility: </a:t>
            </a:r>
            <a:r>
              <a:rPr b="0" i="0" lang="en-US" sz="980" u="none" cap="none" strike="noStrike">
                <a:solidFill>
                  <a:srgbClr val="334155"/>
                </a:solidFill>
                <a:latin typeface="Calibri"/>
                <a:ea typeface="Calibri"/>
                <a:cs typeface="Calibri"/>
                <a:sym typeface="Calibri"/>
              </a:rPr>
              <a:t>Rep-YOLO11s sustains 27.8 FPS with only 485 MB VRAM usage. Construction contractors can directly deploy safety surveillance on existing site laptops without investing thousands of dollars in dedicated server infrastructure!</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10" name="Shape 510"/>
        <p:cNvGrpSpPr/>
        <p:nvPr/>
      </p:nvGrpSpPr>
      <p:grpSpPr>
        <a:xfrm>
          <a:off x="0" y="0"/>
          <a:ext cx="0" cy="0"/>
          <a:chOff x="0" y="0"/>
          <a:chExt cx="0" cy="0"/>
        </a:xfrm>
      </p:grpSpPr>
      <p:pic>
        <p:nvPicPr>
          <p:cNvPr id="511" name="Google Shape;511;p35" title="1818b700-829a-42bf-8740-3cb032bedb90-2.png"/>
          <p:cNvPicPr preferRelativeResize="0"/>
          <p:nvPr/>
        </p:nvPicPr>
        <p:blipFill>
          <a:blip r:embed="rId3">
            <a:alphaModFix/>
          </a:blip>
          <a:stretch>
            <a:fillRect/>
          </a:stretch>
        </p:blipFill>
        <p:spPr>
          <a:xfrm>
            <a:off x="0" y="0"/>
            <a:ext cx="12185528" cy="6858001"/>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15" name="Shape 515"/>
        <p:cNvGrpSpPr/>
        <p:nvPr/>
      </p:nvGrpSpPr>
      <p:grpSpPr>
        <a:xfrm>
          <a:off x="0" y="0"/>
          <a:ext cx="0" cy="0"/>
          <a:chOff x="0" y="0"/>
          <a:chExt cx="0" cy="0"/>
        </a:xfrm>
      </p:grpSpPr>
      <p:sp>
        <p:nvSpPr>
          <p:cNvPr id="516" name="Google Shape;516;p36"/>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7" name="Google Shape;517;p36"/>
          <p:cNvSpPr/>
          <p:nvPr/>
        </p:nvSpPr>
        <p:spPr>
          <a:xfrm>
            <a:off x="731520" y="292608"/>
            <a:ext cx="56694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5B00"/>
              </a:buClr>
              <a:buSzPts val="1120"/>
              <a:buFont typeface="Inter"/>
              <a:buNone/>
            </a:pPr>
            <a:r>
              <a:rPr b="1" i="0" lang="en-US" sz="1120" u="none" cap="none" strike="noStrike">
                <a:solidFill>
                  <a:srgbClr val="F35B00"/>
                </a:solidFill>
                <a:latin typeface="Inter"/>
                <a:ea typeface="Inter"/>
                <a:cs typeface="Inter"/>
                <a:sym typeface="Inter"/>
              </a:rPr>
              <a:t>CRITERION 1 · PROBLEM STATEMENT</a:t>
            </a:r>
            <a:endParaRPr b="0" i="0" sz="1120" u="none" cap="none" strike="noStrike">
              <a:solidFill>
                <a:srgbClr val="000000"/>
              </a:solidFill>
              <a:latin typeface="Inter"/>
              <a:ea typeface="Inter"/>
              <a:cs typeface="Inter"/>
              <a:sym typeface="Inter"/>
            </a:endParaRPr>
          </a:p>
        </p:txBody>
      </p:sp>
      <p:sp>
        <p:nvSpPr>
          <p:cNvPr id="518" name="Google Shape;518;p36"/>
          <p:cNvSpPr/>
          <p:nvPr/>
        </p:nvSpPr>
        <p:spPr>
          <a:xfrm>
            <a:off x="10716768" y="283464"/>
            <a:ext cx="731400" cy="219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1728B"/>
              </a:buClr>
              <a:buSzPts val="1100"/>
              <a:buFont typeface="Inter"/>
              <a:buNone/>
            </a:pPr>
            <a:r>
              <a:rPr b="1" i="0" lang="en-US" sz="1100" u="none" cap="none" strike="noStrike">
                <a:solidFill>
                  <a:srgbClr val="61728B"/>
                </a:solidFill>
                <a:latin typeface="Inter"/>
                <a:ea typeface="Inter"/>
                <a:cs typeface="Inter"/>
                <a:sym typeface="Inter"/>
              </a:rPr>
              <a:t>11 / 18</a:t>
            </a:r>
            <a:endParaRPr b="0" i="0" sz="1100" u="none" cap="none" strike="noStrike">
              <a:solidFill>
                <a:srgbClr val="000000"/>
              </a:solidFill>
              <a:latin typeface="Inter"/>
              <a:ea typeface="Inter"/>
              <a:cs typeface="Inter"/>
              <a:sym typeface="Inter"/>
            </a:endParaRPr>
          </a:p>
        </p:txBody>
      </p:sp>
      <p:sp>
        <p:nvSpPr>
          <p:cNvPr id="519" name="Google Shape;519;p36"/>
          <p:cNvSpPr/>
          <p:nvPr/>
        </p:nvSpPr>
        <p:spPr>
          <a:xfrm>
            <a:off x="731520" y="621792"/>
            <a:ext cx="1024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580"/>
              <a:buFont typeface="Inter"/>
              <a:buNone/>
            </a:pPr>
            <a:r>
              <a:rPr b="1" i="0" lang="en-US" sz="2580" u="none" cap="none" strike="noStrike">
                <a:solidFill>
                  <a:srgbClr val="101A33"/>
                </a:solidFill>
                <a:latin typeface="Inter"/>
                <a:ea typeface="Inter"/>
                <a:cs typeface="Inter"/>
                <a:sym typeface="Inter"/>
              </a:rPr>
              <a:t>Problem Statement &amp; Practical Motivation</a:t>
            </a:r>
            <a:endParaRPr b="0" i="0" sz="2580" u="none" cap="none" strike="noStrike">
              <a:solidFill>
                <a:srgbClr val="000000"/>
              </a:solidFill>
              <a:latin typeface="Inter"/>
              <a:ea typeface="Inter"/>
              <a:cs typeface="Inter"/>
              <a:sym typeface="Inter"/>
            </a:endParaRPr>
          </a:p>
        </p:txBody>
      </p:sp>
      <p:sp>
        <p:nvSpPr>
          <p:cNvPr id="520" name="Google Shape;520;p36"/>
          <p:cNvSpPr/>
          <p:nvPr/>
        </p:nvSpPr>
        <p:spPr>
          <a:xfrm>
            <a:off x="731520" y="1325880"/>
            <a:ext cx="5074800" cy="960000"/>
          </a:xfrm>
          <a:prstGeom prst="roundRect">
            <a:avLst>
              <a:gd fmla="val 11429" name="adj"/>
            </a:avLst>
          </a:prstGeom>
          <a:solidFill>
            <a:srgbClr val="FFFFFF"/>
          </a:solidFill>
          <a:ln cap="flat" cmpd="sng" w="13950">
            <a:solidFill>
              <a:srgbClr val="D5DEE8"/>
            </a:solidFill>
            <a:prstDash val="solid"/>
            <a:round/>
            <a:headEnd len="sm" w="sm" type="none"/>
            <a:tailEnd len="sm" w="sm" type="none"/>
          </a:ln>
          <a:effectLst>
            <a:outerShdw blurRad="25400" rotWithShape="0" algn="bl" dir="2700000" dist="50800">
              <a:srgbClr val="B8B8B8">
                <a:alpha val="231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 name="Google Shape;521;p36"/>
          <p:cNvSpPr/>
          <p:nvPr/>
        </p:nvSpPr>
        <p:spPr>
          <a:xfrm>
            <a:off x="914400" y="1490472"/>
            <a:ext cx="658500" cy="475500"/>
          </a:xfrm>
          <a:prstGeom prst="roundRect">
            <a:avLst>
              <a:gd fmla="val 19231" name="adj"/>
            </a:avLst>
          </a:prstGeom>
          <a:solidFill>
            <a:srgbClr val="F35B00"/>
          </a:solidFill>
          <a:ln cap="flat" cmpd="sng" w="12700">
            <a:solidFill>
              <a:srgbClr val="F35B00"/>
            </a:solidFill>
            <a:prstDash val="solid"/>
            <a:round/>
            <a:headEnd len="sm" w="sm" type="none"/>
            <a:tailEnd len="sm" w="sm" type="none"/>
          </a:ln>
          <a:effectLst>
            <a:outerShdw blurRad="322579988" rotWithShape="0" algn="bl" dist="645160000">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 name="Google Shape;522;p36"/>
          <p:cNvSpPr/>
          <p:nvPr/>
        </p:nvSpPr>
        <p:spPr>
          <a:xfrm>
            <a:off x="987552" y="1563624"/>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01</a:t>
            </a:r>
            <a:endParaRPr b="0" i="0" sz="1400" u="none" cap="none" strike="noStrike">
              <a:solidFill>
                <a:srgbClr val="000000"/>
              </a:solidFill>
              <a:latin typeface="Inter"/>
              <a:ea typeface="Inter"/>
              <a:cs typeface="Inter"/>
              <a:sym typeface="Inter"/>
            </a:endParaRPr>
          </a:p>
        </p:txBody>
      </p:sp>
      <p:sp>
        <p:nvSpPr>
          <p:cNvPr id="523" name="Google Shape;523;p36"/>
          <p:cNvSpPr/>
          <p:nvPr/>
        </p:nvSpPr>
        <p:spPr>
          <a:xfrm>
            <a:off x="1755648" y="1481328"/>
            <a:ext cx="3657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600"/>
              <a:buFont typeface="Inter"/>
              <a:buNone/>
            </a:pPr>
            <a:r>
              <a:rPr b="1" i="0" lang="en-US" sz="1600" u="none" cap="none" strike="noStrike">
                <a:solidFill>
                  <a:srgbClr val="101A33"/>
                </a:solidFill>
                <a:latin typeface="Inter"/>
                <a:ea typeface="Inter"/>
                <a:cs typeface="Inter"/>
                <a:sym typeface="Inter"/>
              </a:rPr>
              <a:t>Tiny Distant Helmets</a:t>
            </a:r>
            <a:endParaRPr b="0" i="0" sz="1600" u="none" cap="none" strike="noStrike">
              <a:solidFill>
                <a:srgbClr val="000000"/>
              </a:solidFill>
              <a:latin typeface="Inter"/>
              <a:ea typeface="Inter"/>
              <a:cs typeface="Inter"/>
              <a:sym typeface="Inter"/>
            </a:endParaRPr>
          </a:p>
        </p:txBody>
      </p:sp>
      <p:sp>
        <p:nvSpPr>
          <p:cNvPr id="524" name="Google Shape;524;p36"/>
          <p:cNvSpPr/>
          <p:nvPr/>
        </p:nvSpPr>
        <p:spPr>
          <a:xfrm>
            <a:off x="1755648" y="1792224"/>
            <a:ext cx="3657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180" u="none" cap="none" strike="noStrike">
                <a:solidFill>
                  <a:srgbClr val="51647F"/>
                </a:solidFill>
                <a:latin typeface="Inter"/>
                <a:ea typeface="Inter"/>
                <a:cs typeface="Inter"/>
                <a:sym typeface="Inter"/>
              </a:rPr>
              <a:t>Small targets under high-angle CCTV</a:t>
            </a:r>
            <a:endParaRPr b="0" i="0" sz="1180" u="none" cap="none" strike="noStrike">
              <a:solidFill>
                <a:srgbClr val="000000"/>
              </a:solidFill>
              <a:latin typeface="Inter"/>
              <a:ea typeface="Inter"/>
              <a:cs typeface="Inter"/>
              <a:sym typeface="Inter"/>
            </a:endParaRPr>
          </a:p>
        </p:txBody>
      </p:sp>
      <p:sp>
        <p:nvSpPr>
          <p:cNvPr id="525" name="Google Shape;525;p36"/>
          <p:cNvSpPr/>
          <p:nvPr/>
        </p:nvSpPr>
        <p:spPr>
          <a:xfrm>
            <a:off x="731520" y="2578608"/>
            <a:ext cx="5074800" cy="960000"/>
          </a:xfrm>
          <a:prstGeom prst="roundRect">
            <a:avLst>
              <a:gd fmla="val 11429" name="adj"/>
            </a:avLst>
          </a:prstGeom>
          <a:solidFill>
            <a:srgbClr val="FFFFFF"/>
          </a:solidFill>
          <a:ln cap="flat" cmpd="sng" w="13950">
            <a:solidFill>
              <a:srgbClr val="D5DEE8"/>
            </a:solidFill>
            <a:prstDash val="solid"/>
            <a:round/>
            <a:headEnd len="sm" w="sm" type="none"/>
            <a:tailEnd len="sm" w="sm" type="none"/>
          </a:ln>
          <a:effectLst>
            <a:outerShdw blurRad="4096766062500" rotWithShape="0" algn="bl" dist="-1265600768">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36"/>
          <p:cNvSpPr/>
          <p:nvPr/>
        </p:nvSpPr>
        <p:spPr>
          <a:xfrm>
            <a:off x="914400" y="2743200"/>
            <a:ext cx="658500" cy="475500"/>
          </a:xfrm>
          <a:prstGeom prst="roundRect">
            <a:avLst>
              <a:gd fmla="val 19231" name="adj"/>
            </a:avLst>
          </a:prstGeom>
          <a:solidFill>
            <a:srgbClr val="2767E8"/>
          </a:solidFill>
          <a:ln cap="flat" cmpd="sng" w="12700">
            <a:solidFill>
              <a:srgbClr val="2767E8"/>
            </a:solidFill>
            <a:prstDash val="solid"/>
            <a:round/>
            <a:headEnd len="sm" w="sm" type="none"/>
            <a:tailEnd len="sm" w="sm" type="none"/>
          </a:ln>
          <a:effectLst>
            <a:outerShdw blurRad="52028925000000000" rotWithShape="0" algn="bl" dist="-1362131984">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36"/>
          <p:cNvSpPr/>
          <p:nvPr/>
        </p:nvSpPr>
        <p:spPr>
          <a:xfrm>
            <a:off x="987552" y="2816352"/>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02</a:t>
            </a:r>
            <a:endParaRPr b="0" i="0" sz="1400" u="none" cap="none" strike="noStrike">
              <a:solidFill>
                <a:srgbClr val="000000"/>
              </a:solidFill>
              <a:latin typeface="Inter"/>
              <a:ea typeface="Inter"/>
              <a:cs typeface="Inter"/>
              <a:sym typeface="Inter"/>
            </a:endParaRPr>
          </a:p>
        </p:txBody>
      </p:sp>
      <p:sp>
        <p:nvSpPr>
          <p:cNvPr id="528" name="Google Shape;528;p36"/>
          <p:cNvSpPr/>
          <p:nvPr/>
        </p:nvSpPr>
        <p:spPr>
          <a:xfrm>
            <a:off x="1755648" y="2734056"/>
            <a:ext cx="3657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600"/>
              <a:buFont typeface="Inter"/>
              <a:buNone/>
            </a:pPr>
            <a:r>
              <a:rPr b="1" i="0" lang="en-US" sz="1600" u="none" cap="none" strike="noStrike">
                <a:solidFill>
                  <a:srgbClr val="101A33"/>
                </a:solidFill>
                <a:latin typeface="Inter"/>
                <a:ea typeface="Inter"/>
                <a:cs typeface="Inter"/>
                <a:sym typeface="Inter"/>
              </a:rPr>
              <a:t>Class Imbalance</a:t>
            </a:r>
            <a:endParaRPr b="0" i="0" sz="1600" u="none" cap="none" strike="noStrike">
              <a:solidFill>
                <a:srgbClr val="000000"/>
              </a:solidFill>
              <a:latin typeface="Inter"/>
              <a:ea typeface="Inter"/>
              <a:cs typeface="Inter"/>
              <a:sym typeface="Inter"/>
            </a:endParaRPr>
          </a:p>
        </p:txBody>
      </p:sp>
      <p:sp>
        <p:nvSpPr>
          <p:cNvPr id="529" name="Google Shape;529;p36"/>
          <p:cNvSpPr/>
          <p:nvPr/>
        </p:nvSpPr>
        <p:spPr>
          <a:xfrm>
            <a:off x="1755648" y="3044952"/>
            <a:ext cx="3657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180" u="none" cap="none" strike="noStrike">
                <a:solidFill>
                  <a:srgbClr val="51647F"/>
                </a:solidFill>
                <a:latin typeface="Inter"/>
                <a:ea typeface="Inter"/>
                <a:cs typeface="Inter"/>
                <a:sym typeface="Inter"/>
              </a:rPr>
              <a:t>Helmet instances are far fewer than person instances</a:t>
            </a:r>
            <a:endParaRPr b="0" i="0" sz="1180" u="none" cap="none" strike="noStrike">
              <a:solidFill>
                <a:srgbClr val="000000"/>
              </a:solidFill>
              <a:latin typeface="Inter"/>
              <a:ea typeface="Inter"/>
              <a:cs typeface="Inter"/>
              <a:sym typeface="Inter"/>
            </a:endParaRPr>
          </a:p>
        </p:txBody>
      </p:sp>
      <p:sp>
        <p:nvSpPr>
          <p:cNvPr id="530" name="Google Shape;530;p36"/>
          <p:cNvSpPr/>
          <p:nvPr/>
        </p:nvSpPr>
        <p:spPr>
          <a:xfrm>
            <a:off x="731520" y="3831336"/>
            <a:ext cx="5074800" cy="960000"/>
          </a:xfrm>
          <a:prstGeom prst="roundRect">
            <a:avLst>
              <a:gd fmla="val 11429"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36"/>
          <p:cNvSpPr/>
          <p:nvPr/>
        </p:nvSpPr>
        <p:spPr>
          <a:xfrm>
            <a:off x="914400" y="3995928"/>
            <a:ext cx="658500" cy="475500"/>
          </a:xfrm>
          <a:prstGeom prst="roundRect">
            <a:avLst>
              <a:gd fmla="val 19231" name="adj"/>
            </a:avLst>
          </a:prstGeom>
          <a:solidFill>
            <a:srgbClr val="F08A00"/>
          </a:solidFill>
          <a:ln cap="flat" cmpd="sng" w="12700">
            <a:solidFill>
              <a:srgbClr val="F08A00"/>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36"/>
          <p:cNvSpPr/>
          <p:nvPr/>
        </p:nvSpPr>
        <p:spPr>
          <a:xfrm>
            <a:off x="987552" y="4069080"/>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03</a:t>
            </a:r>
            <a:endParaRPr b="0" i="0" sz="1400" u="none" cap="none" strike="noStrike">
              <a:solidFill>
                <a:srgbClr val="000000"/>
              </a:solidFill>
              <a:latin typeface="Inter"/>
              <a:ea typeface="Inter"/>
              <a:cs typeface="Inter"/>
              <a:sym typeface="Inter"/>
            </a:endParaRPr>
          </a:p>
        </p:txBody>
      </p:sp>
      <p:sp>
        <p:nvSpPr>
          <p:cNvPr id="533" name="Google Shape;533;p36"/>
          <p:cNvSpPr/>
          <p:nvPr/>
        </p:nvSpPr>
        <p:spPr>
          <a:xfrm>
            <a:off x="1755648" y="3986784"/>
            <a:ext cx="3657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600"/>
              <a:buFont typeface="Inter"/>
              <a:buNone/>
            </a:pPr>
            <a:r>
              <a:rPr b="1" i="0" lang="en-US" sz="1600" u="none" cap="none" strike="noStrike">
                <a:solidFill>
                  <a:srgbClr val="101A33"/>
                </a:solidFill>
                <a:latin typeface="Inter"/>
                <a:ea typeface="Inter"/>
                <a:cs typeface="Inter"/>
                <a:sym typeface="Inter"/>
              </a:rPr>
              <a:t>False Alarms</a:t>
            </a:r>
            <a:endParaRPr b="0" i="0" sz="1600" u="none" cap="none" strike="noStrike">
              <a:solidFill>
                <a:srgbClr val="000000"/>
              </a:solidFill>
              <a:latin typeface="Inter"/>
              <a:ea typeface="Inter"/>
              <a:cs typeface="Inter"/>
              <a:sym typeface="Inter"/>
            </a:endParaRPr>
          </a:p>
        </p:txBody>
      </p:sp>
      <p:sp>
        <p:nvSpPr>
          <p:cNvPr id="534" name="Google Shape;534;p36"/>
          <p:cNvSpPr/>
          <p:nvPr/>
        </p:nvSpPr>
        <p:spPr>
          <a:xfrm>
            <a:off x="1755648" y="4297680"/>
            <a:ext cx="3657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180" u="none" cap="none" strike="noStrike">
                <a:solidFill>
                  <a:srgbClr val="51647F"/>
                </a:solidFill>
                <a:latin typeface="Inter"/>
                <a:ea typeface="Inter"/>
                <a:cs typeface="Inter"/>
                <a:sym typeface="Inter"/>
              </a:rPr>
              <a:t>Yellow objects can be mistaken for helmets</a:t>
            </a:r>
            <a:endParaRPr b="0" i="0" sz="1180" u="none" cap="none" strike="noStrike">
              <a:solidFill>
                <a:srgbClr val="000000"/>
              </a:solidFill>
              <a:latin typeface="Inter"/>
              <a:ea typeface="Inter"/>
              <a:cs typeface="Inter"/>
              <a:sym typeface="Inter"/>
            </a:endParaRPr>
          </a:p>
        </p:txBody>
      </p:sp>
      <p:sp>
        <p:nvSpPr>
          <p:cNvPr id="535" name="Google Shape;535;p36"/>
          <p:cNvSpPr/>
          <p:nvPr/>
        </p:nvSpPr>
        <p:spPr>
          <a:xfrm>
            <a:off x="731520" y="5084064"/>
            <a:ext cx="5074800" cy="960000"/>
          </a:xfrm>
          <a:prstGeom prst="roundRect">
            <a:avLst>
              <a:gd fmla="val 11429"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 name="Google Shape;536;p36"/>
          <p:cNvSpPr/>
          <p:nvPr/>
        </p:nvSpPr>
        <p:spPr>
          <a:xfrm>
            <a:off x="914400" y="5248656"/>
            <a:ext cx="658500" cy="475500"/>
          </a:xfrm>
          <a:prstGeom prst="roundRect">
            <a:avLst>
              <a:gd fmla="val 19231" name="adj"/>
            </a:avLst>
          </a:prstGeom>
          <a:solidFill>
            <a:srgbClr val="10AF5A"/>
          </a:solidFill>
          <a:ln cap="flat" cmpd="sng" w="12700">
            <a:solidFill>
              <a:srgbClr val="10AF5A"/>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36"/>
          <p:cNvSpPr/>
          <p:nvPr/>
        </p:nvSpPr>
        <p:spPr>
          <a:xfrm>
            <a:off x="987552" y="5321808"/>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04</a:t>
            </a:r>
            <a:endParaRPr b="0" i="0" sz="1400" u="none" cap="none" strike="noStrike">
              <a:solidFill>
                <a:srgbClr val="000000"/>
              </a:solidFill>
              <a:latin typeface="Inter"/>
              <a:ea typeface="Inter"/>
              <a:cs typeface="Inter"/>
              <a:sym typeface="Inter"/>
            </a:endParaRPr>
          </a:p>
        </p:txBody>
      </p:sp>
      <p:sp>
        <p:nvSpPr>
          <p:cNvPr id="538" name="Google Shape;538;p36"/>
          <p:cNvSpPr/>
          <p:nvPr/>
        </p:nvSpPr>
        <p:spPr>
          <a:xfrm>
            <a:off x="1755648" y="5239512"/>
            <a:ext cx="3657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600"/>
              <a:buFont typeface="Inter"/>
              <a:buNone/>
            </a:pPr>
            <a:r>
              <a:rPr b="1" i="0" lang="en-US" sz="1600" u="none" cap="none" strike="noStrike">
                <a:solidFill>
                  <a:srgbClr val="101A33"/>
                </a:solidFill>
                <a:latin typeface="Inter"/>
                <a:ea typeface="Inter"/>
                <a:cs typeface="Inter"/>
                <a:sym typeface="Inter"/>
              </a:rPr>
              <a:t>Edge Deployment Constraint</a:t>
            </a:r>
            <a:endParaRPr b="0" i="0" sz="1600" u="none" cap="none" strike="noStrike">
              <a:solidFill>
                <a:srgbClr val="000000"/>
              </a:solidFill>
              <a:latin typeface="Inter"/>
              <a:ea typeface="Inter"/>
              <a:cs typeface="Inter"/>
              <a:sym typeface="Inter"/>
            </a:endParaRPr>
          </a:p>
        </p:txBody>
      </p:sp>
      <p:sp>
        <p:nvSpPr>
          <p:cNvPr id="539" name="Google Shape;539;p36"/>
          <p:cNvSpPr/>
          <p:nvPr/>
        </p:nvSpPr>
        <p:spPr>
          <a:xfrm>
            <a:off x="1755648" y="5550408"/>
            <a:ext cx="3657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180" u="none" cap="none" strike="noStrike">
                <a:solidFill>
                  <a:srgbClr val="51647F"/>
                </a:solidFill>
                <a:latin typeface="Inter"/>
                <a:ea typeface="Inter"/>
                <a:cs typeface="Inter"/>
                <a:sym typeface="Inter"/>
              </a:rPr>
              <a:t>Must run in real time on affordable hardware</a:t>
            </a:r>
            <a:endParaRPr b="0" i="0" sz="1180" u="none" cap="none" strike="noStrike">
              <a:solidFill>
                <a:srgbClr val="000000"/>
              </a:solidFill>
              <a:latin typeface="Inter"/>
              <a:ea typeface="Inter"/>
              <a:cs typeface="Inter"/>
              <a:sym typeface="Inter"/>
            </a:endParaRPr>
          </a:p>
        </p:txBody>
      </p:sp>
      <p:sp>
        <p:nvSpPr>
          <p:cNvPr id="540" name="Google Shape;540;p36"/>
          <p:cNvSpPr/>
          <p:nvPr/>
        </p:nvSpPr>
        <p:spPr>
          <a:xfrm>
            <a:off x="6053328" y="1325880"/>
            <a:ext cx="5394900" cy="4983600"/>
          </a:xfrm>
          <a:prstGeom prst="roundRect">
            <a:avLst>
              <a:gd fmla="val 2202"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 name="Google Shape;541;p36"/>
          <p:cNvSpPr/>
          <p:nvPr/>
        </p:nvSpPr>
        <p:spPr>
          <a:xfrm>
            <a:off x="6766560" y="5833872"/>
            <a:ext cx="39318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F7F95"/>
              </a:buClr>
              <a:buSzPts val="850"/>
              <a:buFont typeface="Inter"/>
              <a:buNone/>
            </a:pPr>
            <a:r>
              <a:rPr b="0" i="0" lang="en-US" sz="850" u="none" cap="none" strike="noStrike">
                <a:solidFill>
                  <a:srgbClr val="6F7F95"/>
                </a:solidFill>
                <a:latin typeface="Inter"/>
                <a:ea typeface="Inter"/>
                <a:cs typeface="Inter"/>
                <a:sym typeface="Inter"/>
              </a:rPr>
              <a:t>Construction surveillance scene with distant small helmet target.</a:t>
            </a:r>
            <a:endParaRPr b="0" i="0" sz="850" u="none" cap="none" strike="noStrike">
              <a:solidFill>
                <a:srgbClr val="000000"/>
              </a:solidFill>
              <a:latin typeface="Inter"/>
              <a:ea typeface="Inter"/>
              <a:cs typeface="Inter"/>
              <a:sym typeface="Inter"/>
            </a:endParaRPr>
          </a:p>
        </p:txBody>
      </p:sp>
      <p:pic>
        <p:nvPicPr>
          <p:cNvPr id="542" name="Google Shape;542;p36"/>
          <p:cNvPicPr preferRelativeResize="0"/>
          <p:nvPr/>
        </p:nvPicPr>
        <p:blipFill>
          <a:blip r:embed="rId3">
            <a:alphaModFix/>
          </a:blip>
          <a:stretch>
            <a:fillRect/>
          </a:stretch>
        </p:blipFill>
        <p:spPr>
          <a:xfrm>
            <a:off x="6289150" y="1563625"/>
            <a:ext cx="4923270" cy="3992126"/>
          </a:xfrm>
          <a:prstGeom prst="rect">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46" name="Shape 546"/>
        <p:cNvGrpSpPr/>
        <p:nvPr/>
      </p:nvGrpSpPr>
      <p:grpSpPr>
        <a:xfrm>
          <a:off x="0" y="0"/>
          <a:ext cx="0" cy="0"/>
          <a:chOff x="0" y="0"/>
          <a:chExt cx="0" cy="0"/>
        </a:xfrm>
      </p:grpSpPr>
      <p:sp>
        <p:nvSpPr>
          <p:cNvPr id="547" name="Google Shape;547;p37"/>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8" name="Google Shape;548;p37"/>
          <p:cNvSpPr/>
          <p:nvPr/>
        </p:nvSpPr>
        <p:spPr>
          <a:xfrm>
            <a:off x="731520" y="292608"/>
            <a:ext cx="56694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5B00"/>
              </a:buClr>
              <a:buSzPts val="1120"/>
              <a:buFont typeface="Inter"/>
              <a:buNone/>
            </a:pPr>
            <a:r>
              <a:rPr b="1" i="0" lang="en-US" sz="1120" u="none" cap="none" strike="noStrike">
                <a:solidFill>
                  <a:srgbClr val="F35B00"/>
                </a:solidFill>
                <a:latin typeface="Inter"/>
                <a:ea typeface="Inter"/>
                <a:cs typeface="Inter"/>
                <a:sym typeface="Inter"/>
              </a:rPr>
              <a:t>CRITERION 2 · PROPOSED SOLUTION</a:t>
            </a:r>
            <a:endParaRPr b="0" i="0" sz="1120" u="none" cap="none" strike="noStrike">
              <a:solidFill>
                <a:srgbClr val="000000"/>
              </a:solidFill>
              <a:latin typeface="Inter"/>
              <a:ea typeface="Inter"/>
              <a:cs typeface="Inter"/>
              <a:sym typeface="Inter"/>
            </a:endParaRPr>
          </a:p>
        </p:txBody>
      </p:sp>
      <p:sp>
        <p:nvSpPr>
          <p:cNvPr id="549" name="Google Shape;549;p37"/>
          <p:cNvSpPr/>
          <p:nvPr/>
        </p:nvSpPr>
        <p:spPr>
          <a:xfrm>
            <a:off x="10716768" y="283464"/>
            <a:ext cx="731400" cy="219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1728B"/>
              </a:buClr>
              <a:buSzPts val="1100"/>
              <a:buFont typeface="Inter"/>
              <a:buNone/>
            </a:pPr>
            <a:r>
              <a:rPr b="1" i="0" lang="en-US" sz="1100" u="none" cap="none" strike="noStrike">
                <a:solidFill>
                  <a:srgbClr val="61728B"/>
                </a:solidFill>
                <a:latin typeface="Inter"/>
                <a:ea typeface="Inter"/>
                <a:cs typeface="Inter"/>
                <a:sym typeface="Inter"/>
              </a:rPr>
              <a:t>12 / 18</a:t>
            </a:r>
            <a:endParaRPr b="0" i="0" sz="1100" u="none" cap="none" strike="noStrike">
              <a:solidFill>
                <a:srgbClr val="000000"/>
              </a:solidFill>
              <a:latin typeface="Inter"/>
              <a:ea typeface="Inter"/>
              <a:cs typeface="Inter"/>
              <a:sym typeface="Inter"/>
            </a:endParaRPr>
          </a:p>
        </p:txBody>
      </p:sp>
      <p:sp>
        <p:nvSpPr>
          <p:cNvPr id="550" name="Google Shape;550;p37"/>
          <p:cNvSpPr/>
          <p:nvPr/>
        </p:nvSpPr>
        <p:spPr>
          <a:xfrm>
            <a:off x="731520" y="621792"/>
            <a:ext cx="1024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580"/>
              <a:buFont typeface="Inter"/>
              <a:buNone/>
            </a:pPr>
            <a:r>
              <a:rPr b="1" i="0" lang="en-US" sz="3080" u="none" cap="none" strike="noStrike">
                <a:solidFill>
                  <a:srgbClr val="101A33"/>
                </a:solidFill>
                <a:latin typeface="Inter"/>
                <a:ea typeface="Inter"/>
                <a:cs typeface="Inter"/>
                <a:sym typeface="Inter"/>
              </a:rPr>
              <a:t>Proposed Solution &amp; Final Deliverables</a:t>
            </a:r>
            <a:endParaRPr b="0" i="0" sz="3080" u="none" cap="none" strike="noStrike">
              <a:solidFill>
                <a:srgbClr val="000000"/>
              </a:solidFill>
              <a:latin typeface="Inter"/>
              <a:ea typeface="Inter"/>
              <a:cs typeface="Inter"/>
              <a:sym typeface="Inter"/>
            </a:endParaRPr>
          </a:p>
        </p:txBody>
      </p:sp>
      <p:sp>
        <p:nvSpPr>
          <p:cNvPr id="551" name="Google Shape;551;p37"/>
          <p:cNvSpPr/>
          <p:nvPr/>
        </p:nvSpPr>
        <p:spPr>
          <a:xfrm>
            <a:off x="731520" y="1353312"/>
            <a:ext cx="10716900" cy="941700"/>
          </a:xfrm>
          <a:prstGeom prst="roundRect">
            <a:avLst>
              <a:gd fmla="val 1165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37"/>
          <p:cNvSpPr/>
          <p:nvPr/>
        </p:nvSpPr>
        <p:spPr>
          <a:xfrm>
            <a:off x="950976" y="1517904"/>
            <a:ext cx="658500" cy="475500"/>
          </a:xfrm>
          <a:prstGeom prst="roundRect">
            <a:avLst>
              <a:gd fmla="val 19231" name="adj"/>
            </a:avLst>
          </a:prstGeom>
          <a:solidFill>
            <a:srgbClr val="F35B00"/>
          </a:solidFill>
          <a:ln cap="flat" cmpd="sng" w="12700">
            <a:solidFill>
              <a:srgbClr val="F35B00"/>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 name="Google Shape;553;p37"/>
          <p:cNvSpPr/>
          <p:nvPr/>
        </p:nvSpPr>
        <p:spPr>
          <a:xfrm>
            <a:off x="1024128" y="1591056"/>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01</a:t>
            </a:r>
            <a:endParaRPr b="0" i="0" sz="1400" u="none" cap="none" strike="noStrike">
              <a:solidFill>
                <a:srgbClr val="000000"/>
              </a:solidFill>
              <a:latin typeface="Inter"/>
              <a:ea typeface="Inter"/>
              <a:cs typeface="Inter"/>
              <a:sym typeface="Inter"/>
            </a:endParaRPr>
          </a:p>
        </p:txBody>
      </p:sp>
      <p:sp>
        <p:nvSpPr>
          <p:cNvPr id="554" name="Google Shape;554;p37"/>
          <p:cNvSpPr/>
          <p:nvPr/>
        </p:nvSpPr>
        <p:spPr>
          <a:xfrm>
            <a:off x="1856232" y="1527048"/>
            <a:ext cx="65838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520"/>
              <a:buFont typeface="Inter"/>
              <a:buNone/>
            </a:pPr>
            <a:r>
              <a:rPr b="1" i="0" lang="en-US" sz="1520" u="none" cap="none" strike="noStrike">
                <a:solidFill>
                  <a:srgbClr val="101A33"/>
                </a:solidFill>
                <a:latin typeface="Inter"/>
                <a:ea typeface="Inter"/>
                <a:cs typeface="Inter"/>
                <a:sym typeface="Inter"/>
              </a:rPr>
              <a:t>SCIENTIFIC REPORT</a:t>
            </a:r>
            <a:endParaRPr b="0" i="0" sz="1520" u="none" cap="none" strike="noStrike">
              <a:solidFill>
                <a:srgbClr val="000000"/>
              </a:solidFill>
              <a:latin typeface="Inter"/>
              <a:ea typeface="Inter"/>
              <a:cs typeface="Inter"/>
              <a:sym typeface="Inter"/>
            </a:endParaRPr>
          </a:p>
        </p:txBody>
      </p:sp>
      <p:sp>
        <p:nvSpPr>
          <p:cNvPr id="555" name="Google Shape;555;p37"/>
          <p:cNvSpPr/>
          <p:nvPr/>
        </p:nvSpPr>
        <p:spPr>
          <a:xfrm>
            <a:off x="1856232" y="1810512"/>
            <a:ext cx="71322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u="none" cap="none" strike="noStrike">
                <a:solidFill>
                  <a:srgbClr val="51647F"/>
                </a:solidFill>
                <a:latin typeface="Inter"/>
                <a:ea typeface="Inter"/>
                <a:cs typeface="Inter"/>
                <a:sym typeface="Inter"/>
              </a:rPr>
              <a:t>Paper and technical documentation</a:t>
            </a:r>
            <a:endParaRPr b="0" i="0" u="none" cap="none" strike="noStrike">
              <a:solidFill>
                <a:srgbClr val="000000"/>
              </a:solidFill>
              <a:latin typeface="Inter"/>
              <a:ea typeface="Inter"/>
              <a:cs typeface="Inter"/>
              <a:sym typeface="Inter"/>
            </a:endParaRPr>
          </a:p>
        </p:txBody>
      </p:sp>
      <p:sp>
        <p:nvSpPr>
          <p:cNvPr id="556" name="Google Shape;556;p37"/>
          <p:cNvSpPr/>
          <p:nvPr/>
        </p:nvSpPr>
        <p:spPr>
          <a:xfrm>
            <a:off x="731520" y="2615184"/>
            <a:ext cx="10716900" cy="941700"/>
          </a:xfrm>
          <a:prstGeom prst="roundRect">
            <a:avLst>
              <a:gd fmla="val 1165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37"/>
          <p:cNvSpPr/>
          <p:nvPr/>
        </p:nvSpPr>
        <p:spPr>
          <a:xfrm>
            <a:off x="950976" y="2779776"/>
            <a:ext cx="658500" cy="475500"/>
          </a:xfrm>
          <a:prstGeom prst="roundRect">
            <a:avLst>
              <a:gd fmla="val 19231" name="adj"/>
            </a:avLst>
          </a:prstGeom>
          <a:solidFill>
            <a:srgbClr val="2767E8"/>
          </a:solidFill>
          <a:ln cap="flat" cmpd="sng" w="12700">
            <a:solidFill>
              <a:srgbClr val="2767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37"/>
          <p:cNvSpPr/>
          <p:nvPr/>
        </p:nvSpPr>
        <p:spPr>
          <a:xfrm>
            <a:off x="1024128" y="2852928"/>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02</a:t>
            </a:r>
            <a:endParaRPr b="0" i="0" sz="1400" u="none" cap="none" strike="noStrike">
              <a:solidFill>
                <a:srgbClr val="000000"/>
              </a:solidFill>
              <a:latin typeface="Inter"/>
              <a:ea typeface="Inter"/>
              <a:cs typeface="Inter"/>
              <a:sym typeface="Inter"/>
            </a:endParaRPr>
          </a:p>
        </p:txBody>
      </p:sp>
      <p:sp>
        <p:nvSpPr>
          <p:cNvPr id="559" name="Google Shape;559;p37"/>
          <p:cNvSpPr/>
          <p:nvPr/>
        </p:nvSpPr>
        <p:spPr>
          <a:xfrm>
            <a:off x="1856232" y="2788920"/>
            <a:ext cx="65838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520"/>
              <a:buFont typeface="Inter"/>
              <a:buNone/>
            </a:pPr>
            <a:r>
              <a:rPr b="1" i="0" lang="en-US" sz="1520" u="none" cap="none" strike="noStrike">
                <a:solidFill>
                  <a:srgbClr val="101A33"/>
                </a:solidFill>
                <a:latin typeface="Inter"/>
                <a:ea typeface="Inter"/>
                <a:cs typeface="Inter"/>
                <a:sym typeface="Inter"/>
              </a:rPr>
              <a:t>IMPROVED DETECTION MODEL</a:t>
            </a:r>
            <a:endParaRPr b="0" i="0" sz="1520" u="none" cap="none" strike="noStrike">
              <a:solidFill>
                <a:srgbClr val="000000"/>
              </a:solidFill>
              <a:latin typeface="Inter"/>
              <a:ea typeface="Inter"/>
              <a:cs typeface="Inter"/>
              <a:sym typeface="Inter"/>
            </a:endParaRPr>
          </a:p>
        </p:txBody>
      </p:sp>
      <p:sp>
        <p:nvSpPr>
          <p:cNvPr id="560" name="Google Shape;560;p37"/>
          <p:cNvSpPr/>
          <p:nvPr/>
        </p:nvSpPr>
        <p:spPr>
          <a:xfrm>
            <a:off x="1856232" y="3072384"/>
            <a:ext cx="71322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u="none" cap="none" strike="noStrike">
                <a:solidFill>
                  <a:srgbClr val="51647F"/>
                </a:solidFill>
                <a:latin typeface="Inter"/>
                <a:ea typeface="Inter"/>
                <a:cs typeface="Inter"/>
                <a:sym typeface="Inter"/>
              </a:rPr>
              <a:t>Rep-YOLO11s for helmet detection</a:t>
            </a:r>
            <a:endParaRPr b="0" i="0" u="none" cap="none" strike="noStrike">
              <a:solidFill>
                <a:srgbClr val="000000"/>
              </a:solidFill>
              <a:latin typeface="Inter"/>
              <a:ea typeface="Inter"/>
              <a:cs typeface="Inter"/>
              <a:sym typeface="Inter"/>
            </a:endParaRPr>
          </a:p>
        </p:txBody>
      </p:sp>
      <p:sp>
        <p:nvSpPr>
          <p:cNvPr id="561" name="Google Shape;561;p37"/>
          <p:cNvSpPr/>
          <p:nvPr/>
        </p:nvSpPr>
        <p:spPr>
          <a:xfrm>
            <a:off x="731520" y="3877056"/>
            <a:ext cx="10716900" cy="941700"/>
          </a:xfrm>
          <a:prstGeom prst="roundRect">
            <a:avLst>
              <a:gd fmla="val 1165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 name="Google Shape;562;p37"/>
          <p:cNvSpPr/>
          <p:nvPr/>
        </p:nvSpPr>
        <p:spPr>
          <a:xfrm>
            <a:off x="950976" y="4041648"/>
            <a:ext cx="658500" cy="475500"/>
          </a:xfrm>
          <a:prstGeom prst="roundRect">
            <a:avLst>
              <a:gd fmla="val 19231" name="adj"/>
            </a:avLst>
          </a:prstGeom>
          <a:solidFill>
            <a:srgbClr val="F08A00"/>
          </a:solidFill>
          <a:ln cap="flat" cmpd="sng" w="12700">
            <a:solidFill>
              <a:srgbClr val="F08A00"/>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p37"/>
          <p:cNvSpPr/>
          <p:nvPr/>
        </p:nvSpPr>
        <p:spPr>
          <a:xfrm>
            <a:off x="1024128" y="4114800"/>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03</a:t>
            </a:r>
            <a:endParaRPr b="0" i="0" sz="1400" u="none" cap="none" strike="noStrike">
              <a:solidFill>
                <a:srgbClr val="000000"/>
              </a:solidFill>
              <a:latin typeface="Inter"/>
              <a:ea typeface="Inter"/>
              <a:cs typeface="Inter"/>
              <a:sym typeface="Inter"/>
            </a:endParaRPr>
          </a:p>
        </p:txBody>
      </p:sp>
      <p:sp>
        <p:nvSpPr>
          <p:cNvPr id="564" name="Google Shape;564;p37"/>
          <p:cNvSpPr/>
          <p:nvPr/>
        </p:nvSpPr>
        <p:spPr>
          <a:xfrm>
            <a:off x="1856232" y="4050792"/>
            <a:ext cx="65838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520"/>
              <a:buFont typeface="Inter"/>
              <a:buNone/>
            </a:pPr>
            <a:r>
              <a:rPr b="1" i="0" lang="en-US" sz="1520" u="none" cap="none" strike="noStrike">
                <a:solidFill>
                  <a:srgbClr val="101A33"/>
                </a:solidFill>
                <a:latin typeface="Inter"/>
                <a:ea typeface="Inter"/>
                <a:cs typeface="Inter"/>
                <a:sym typeface="Inter"/>
              </a:rPr>
              <a:t>SOFTWARE PROTOTYPE</a:t>
            </a:r>
            <a:endParaRPr b="0" i="0" sz="1520" u="none" cap="none" strike="noStrike">
              <a:solidFill>
                <a:srgbClr val="000000"/>
              </a:solidFill>
              <a:latin typeface="Inter"/>
              <a:ea typeface="Inter"/>
              <a:cs typeface="Inter"/>
              <a:sym typeface="Inter"/>
            </a:endParaRPr>
          </a:p>
        </p:txBody>
      </p:sp>
      <p:sp>
        <p:nvSpPr>
          <p:cNvPr id="565" name="Google Shape;565;p37"/>
          <p:cNvSpPr/>
          <p:nvPr/>
        </p:nvSpPr>
        <p:spPr>
          <a:xfrm>
            <a:off x="1856232" y="4334256"/>
            <a:ext cx="71322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u="none" cap="none" strike="noStrike">
                <a:solidFill>
                  <a:srgbClr val="51647F"/>
                </a:solidFill>
                <a:latin typeface="Inter"/>
                <a:ea typeface="Inter"/>
                <a:cs typeface="Inter"/>
                <a:sym typeface="Inter"/>
              </a:rPr>
              <a:t>RTSP surveillance demo system</a:t>
            </a:r>
            <a:endParaRPr b="0" i="0" u="none" cap="none" strike="noStrike">
              <a:solidFill>
                <a:srgbClr val="000000"/>
              </a:solidFill>
              <a:latin typeface="Inter"/>
              <a:ea typeface="Inter"/>
              <a:cs typeface="Inter"/>
              <a:sym typeface="Inter"/>
            </a:endParaRPr>
          </a:p>
        </p:txBody>
      </p:sp>
      <p:sp>
        <p:nvSpPr>
          <p:cNvPr id="566" name="Google Shape;566;p37"/>
          <p:cNvSpPr/>
          <p:nvPr/>
        </p:nvSpPr>
        <p:spPr>
          <a:xfrm>
            <a:off x="731520" y="5138928"/>
            <a:ext cx="10716900" cy="941700"/>
          </a:xfrm>
          <a:prstGeom prst="roundRect">
            <a:avLst>
              <a:gd fmla="val 1165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37"/>
          <p:cNvSpPr/>
          <p:nvPr/>
        </p:nvSpPr>
        <p:spPr>
          <a:xfrm>
            <a:off x="950976" y="5303520"/>
            <a:ext cx="658500" cy="475500"/>
          </a:xfrm>
          <a:prstGeom prst="roundRect">
            <a:avLst>
              <a:gd fmla="val 19231" name="adj"/>
            </a:avLst>
          </a:prstGeom>
          <a:solidFill>
            <a:srgbClr val="10AF5A"/>
          </a:solidFill>
          <a:ln cap="flat" cmpd="sng" w="12700">
            <a:solidFill>
              <a:srgbClr val="10AF5A"/>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 name="Google Shape;568;p37"/>
          <p:cNvSpPr/>
          <p:nvPr/>
        </p:nvSpPr>
        <p:spPr>
          <a:xfrm>
            <a:off x="1024128" y="5376672"/>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04</a:t>
            </a:r>
            <a:endParaRPr b="0" i="0" sz="1400" u="none" cap="none" strike="noStrike">
              <a:solidFill>
                <a:srgbClr val="000000"/>
              </a:solidFill>
              <a:latin typeface="Inter"/>
              <a:ea typeface="Inter"/>
              <a:cs typeface="Inter"/>
              <a:sym typeface="Inter"/>
            </a:endParaRPr>
          </a:p>
        </p:txBody>
      </p:sp>
      <p:sp>
        <p:nvSpPr>
          <p:cNvPr id="569" name="Google Shape;569;p37"/>
          <p:cNvSpPr/>
          <p:nvPr/>
        </p:nvSpPr>
        <p:spPr>
          <a:xfrm>
            <a:off x="1856232" y="5312664"/>
            <a:ext cx="65838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520"/>
              <a:buFont typeface="Inter"/>
              <a:buNone/>
            </a:pPr>
            <a:r>
              <a:rPr b="1" i="0" lang="en-US" sz="1520" u="none" cap="none" strike="noStrike">
                <a:solidFill>
                  <a:srgbClr val="101A33"/>
                </a:solidFill>
                <a:latin typeface="Inter"/>
                <a:ea typeface="Inter"/>
                <a:cs typeface="Inter"/>
                <a:sym typeface="Inter"/>
              </a:rPr>
              <a:t>DEPLOYMENT PACKAGE</a:t>
            </a:r>
            <a:endParaRPr b="0" i="0" sz="1520" u="none" cap="none" strike="noStrike">
              <a:solidFill>
                <a:srgbClr val="000000"/>
              </a:solidFill>
              <a:latin typeface="Inter"/>
              <a:ea typeface="Inter"/>
              <a:cs typeface="Inter"/>
              <a:sym typeface="Inter"/>
            </a:endParaRPr>
          </a:p>
        </p:txBody>
      </p:sp>
      <p:sp>
        <p:nvSpPr>
          <p:cNvPr id="570" name="Google Shape;570;p37"/>
          <p:cNvSpPr/>
          <p:nvPr/>
        </p:nvSpPr>
        <p:spPr>
          <a:xfrm>
            <a:off x="1856232" y="5596128"/>
            <a:ext cx="71322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u="none" cap="none" strike="noStrike">
                <a:solidFill>
                  <a:srgbClr val="51647F"/>
                </a:solidFill>
                <a:latin typeface="Inter"/>
                <a:ea typeface="Inter"/>
                <a:cs typeface="Inter"/>
                <a:sym typeface="Inter"/>
              </a:rPr>
              <a:t>TensorRT, ONNX and OpenVINO engines</a:t>
            </a:r>
            <a:endParaRPr b="0" i="0" u="none" cap="none" strike="noStrike">
              <a:solidFill>
                <a:srgbClr val="000000"/>
              </a:solidFill>
              <a:latin typeface="Inter"/>
              <a:ea typeface="Inter"/>
              <a:cs typeface="Inter"/>
              <a:sym typeface="Inte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74" name="Shape 574"/>
        <p:cNvGrpSpPr/>
        <p:nvPr/>
      </p:nvGrpSpPr>
      <p:grpSpPr>
        <a:xfrm>
          <a:off x="0" y="0"/>
          <a:ext cx="0" cy="0"/>
          <a:chOff x="0" y="0"/>
          <a:chExt cx="0" cy="0"/>
        </a:xfrm>
      </p:grpSpPr>
      <p:sp>
        <p:nvSpPr>
          <p:cNvPr id="575" name="Google Shape;575;p38"/>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6" name="Google Shape;576;p38"/>
          <p:cNvSpPr/>
          <p:nvPr/>
        </p:nvSpPr>
        <p:spPr>
          <a:xfrm>
            <a:off x="731520" y="292608"/>
            <a:ext cx="56694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5B00"/>
              </a:buClr>
              <a:buSzPts val="1120"/>
              <a:buFont typeface="Inter"/>
              <a:buNone/>
            </a:pPr>
            <a:r>
              <a:rPr b="1" i="0" lang="en-US" sz="1120" u="none" cap="none" strike="noStrike">
                <a:solidFill>
                  <a:srgbClr val="F35B00"/>
                </a:solidFill>
                <a:latin typeface="Inter"/>
                <a:ea typeface="Inter"/>
                <a:cs typeface="Inter"/>
                <a:sym typeface="Inter"/>
              </a:rPr>
              <a:t>CRITERION 3 · METHOD, REUSE &amp; DATA SCOPE</a:t>
            </a:r>
            <a:endParaRPr b="0" i="0" sz="1120" u="none" cap="none" strike="noStrike">
              <a:solidFill>
                <a:srgbClr val="000000"/>
              </a:solidFill>
              <a:latin typeface="Inter"/>
              <a:ea typeface="Inter"/>
              <a:cs typeface="Inter"/>
              <a:sym typeface="Inter"/>
            </a:endParaRPr>
          </a:p>
        </p:txBody>
      </p:sp>
      <p:sp>
        <p:nvSpPr>
          <p:cNvPr id="577" name="Google Shape;577;p38"/>
          <p:cNvSpPr/>
          <p:nvPr/>
        </p:nvSpPr>
        <p:spPr>
          <a:xfrm>
            <a:off x="10716768" y="283464"/>
            <a:ext cx="731400" cy="219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1728B"/>
              </a:buClr>
              <a:buSzPts val="1100"/>
              <a:buFont typeface="Inter"/>
              <a:buNone/>
            </a:pPr>
            <a:r>
              <a:rPr b="1" i="0" lang="en-US" sz="1100" u="none" cap="none" strike="noStrike">
                <a:solidFill>
                  <a:srgbClr val="61728B"/>
                </a:solidFill>
                <a:latin typeface="Inter"/>
                <a:ea typeface="Inter"/>
                <a:cs typeface="Inter"/>
                <a:sym typeface="Inter"/>
              </a:rPr>
              <a:t>17 / 18</a:t>
            </a:r>
            <a:endParaRPr b="0" i="0" sz="1100" u="none" cap="none" strike="noStrike">
              <a:solidFill>
                <a:srgbClr val="000000"/>
              </a:solidFill>
              <a:latin typeface="Inter"/>
              <a:ea typeface="Inter"/>
              <a:cs typeface="Inter"/>
              <a:sym typeface="Inter"/>
            </a:endParaRPr>
          </a:p>
        </p:txBody>
      </p:sp>
      <p:sp>
        <p:nvSpPr>
          <p:cNvPr id="578" name="Google Shape;578;p38"/>
          <p:cNvSpPr/>
          <p:nvPr/>
        </p:nvSpPr>
        <p:spPr>
          <a:xfrm>
            <a:off x="731520" y="621792"/>
            <a:ext cx="1024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580"/>
              <a:buFont typeface="Inter"/>
              <a:buNone/>
            </a:pPr>
            <a:r>
              <a:rPr b="1" i="0" lang="en-US" sz="2580" u="none" cap="none" strike="noStrike">
                <a:solidFill>
                  <a:srgbClr val="101A33"/>
                </a:solidFill>
                <a:latin typeface="Inter"/>
                <a:ea typeface="Inter"/>
                <a:cs typeface="Inter"/>
                <a:sym typeface="Inter"/>
              </a:rPr>
              <a:t>Method Scope &amp; Implementation Strategy</a:t>
            </a:r>
            <a:endParaRPr b="0" i="0" sz="2580" u="none" cap="none" strike="noStrike">
              <a:solidFill>
                <a:srgbClr val="000000"/>
              </a:solidFill>
              <a:latin typeface="Inter"/>
              <a:ea typeface="Inter"/>
              <a:cs typeface="Inter"/>
              <a:sym typeface="Inter"/>
            </a:endParaRPr>
          </a:p>
        </p:txBody>
      </p:sp>
      <p:sp>
        <p:nvSpPr>
          <p:cNvPr id="579" name="Google Shape;579;p38"/>
          <p:cNvSpPr/>
          <p:nvPr/>
        </p:nvSpPr>
        <p:spPr>
          <a:xfrm>
            <a:off x="731520" y="1353312"/>
            <a:ext cx="4937700" cy="2103000"/>
          </a:xfrm>
          <a:prstGeom prst="roundRect">
            <a:avLst>
              <a:gd fmla="val 5217"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 name="Google Shape;580;p38"/>
          <p:cNvSpPr/>
          <p:nvPr/>
        </p:nvSpPr>
        <p:spPr>
          <a:xfrm>
            <a:off x="950976" y="1517904"/>
            <a:ext cx="658500" cy="475500"/>
          </a:xfrm>
          <a:prstGeom prst="roundRect">
            <a:avLst>
              <a:gd fmla="val 19231" name="adj"/>
            </a:avLst>
          </a:prstGeom>
          <a:solidFill>
            <a:srgbClr val="F35B00"/>
          </a:solidFill>
          <a:ln cap="flat" cmpd="sng" w="12700">
            <a:solidFill>
              <a:srgbClr val="F35B00"/>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38"/>
          <p:cNvSpPr/>
          <p:nvPr/>
        </p:nvSpPr>
        <p:spPr>
          <a:xfrm>
            <a:off x="1024128" y="1591056"/>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01</a:t>
            </a:r>
            <a:endParaRPr b="0" i="0" sz="1400" u="none" cap="none" strike="noStrike">
              <a:solidFill>
                <a:srgbClr val="000000"/>
              </a:solidFill>
              <a:latin typeface="Inter"/>
              <a:ea typeface="Inter"/>
              <a:cs typeface="Inter"/>
              <a:sym typeface="Inter"/>
            </a:endParaRPr>
          </a:p>
        </p:txBody>
      </p:sp>
      <p:sp>
        <p:nvSpPr>
          <p:cNvPr id="582" name="Google Shape;582;p38"/>
          <p:cNvSpPr/>
          <p:nvPr/>
        </p:nvSpPr>
        <p:spPr>
          <a:xfrm>
            <a:off x="1719072" y="1563624"/>
            <a:ext cx="3474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650"/>
              <a:buFont typeface="Inter"/>
              <a:buNone/>
            </a:pPr>
            <a:r>
              <a:rPr b="1" i="0" lang="en-US" sz="1650" u="none" cap="none" strike="noStrike">
                <a:solidFill>
                  <a:srgbClr val="101A33"/>
                </a:solidFill>
                <a:latin typeface="Inter"/>
                <a:ea typeface="Inter"/>
                <a:cs typeface="Inter"/>
                <a:sym typeface="Inter"/>
              </a:rPr>
              <a:t>Approach &amp; Methods</a:t>
            </a:r>
            <a:endParaRPr b="0" i="0" sz="1650" u="none" cap="none" strike="noStrike">
              <a:solidFill>
                <a:srgbClr val="000000"/>
              </a:solidFill>
              <a:latin typeface="Inter"/>
              <a:ea typeface="Inter"/>
              <a:cs typeface="Inter"/>
              <a:sym typeface="Inter"/>
            </a:endParaRPr>
          </a:p>
        </p:txBody>
      </p:sp>
      <p:sp>
        <p:nvSpPr>
          <p:cNvPr id="583" name="Google Shape;583;p38"/>
          <p:cNvSpPr/>
          <p:nvPr/>
        </p:nvSpPr>
        <p:spPr>
          <a:xfrm>
            <a:off x="1691640" y="2185416"/>
            <a:ext cx="68700" cy="68700"/>
          </a:xfrm>
          <a:prstGeom prst="ellipse">
            <a:avLst/>
          </a:prstGeom>
          <a:solidFill>
            <a:srgbClr val="F6B46A"/>
          </a:solidFill>
          <a:ln cap="flat" cmpd="sng" w="12700">
            <a:solidFill>
              <a:srgbClr val="F6B4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p38"/>
          <p:cNvSpPr/>
          <p:nvPr/>
        </p:nvSpPr>
        <p:spPr>
          <a:xfrm>
            <a:off x="1856232" y="2103120"/>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Object detection approach</a:t>
            </a:r>
            <a:endParaRPr b="0" i="0" sz="1200" u="none" cap="none" strike="noStrike">
              <a:solidFill>
                <a:srgbClr val="000000"/>
              </a:solidFill>
              <a:latin typeface="Inter"/>
              <a:ea typeface="Inter"/>
              <a:cs typeface="Inter"/>
              <a:sym typeface="Inter"/>
            </a:endParaRPr>
          </a:p>
        </p:txBody>
      </p:sp>
      <p:sp>
        <p:nvSpPr>
          <p:cNvPr id="585" name="Google Shape;585;p38"/>
          <p:cNvSpPr/>
          <p:nvPr/>
        </p:nvSpPr>
        <p:spPr>
          <a:xfrm>
            <a:off x="1691640" y="2505456"/>
            <a:ext cx="68700" cy="68700"/>
          </a:xfrm>
          <a:prstGeom prst="ellipse">
            <a:avLst/>
          </a:prstGeom>
          <a:solidFill>
            <a:srgbClr val="F6B46A"/>
          </a:solidFill>
          <a:ln cap="flat" cmpd="sng" w="12700">
            <a:solidFill>
              <a:srgbClr val="F6B4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38"/>
          <p:cNvSpPr/>
          <p:nvPr/>
        </p:nvSpPr>
        <p:spPr>
          <a:xfrm>
            <a:off x="1856232" y="2423160"/>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Baseline: YOLO11s</a:t>
            </a:r>
            <a:endParaRPr b="0" i="0" sz="1200" u="none" cap="none" strike="noStrike">
              <a:solidFill>
                <a:srgbClr val="000000"/>
              </a:solidFill>
              <a:latin typeface="Inter"/>
              <a:ea typeface="Inter"/>
              <a:cs typeface="Inter"/>
              <a:sym typeface="Inter"/>
            </a:endParaRPr>
          </a:p>
        </p:txBody>
      </p:sp>
      <p:sp>
        <p:nvSpPr>
          <p:cNvPr id="587" name="Google Shape;587;p38"/>
          <p:cNvSpPr/>
          <p:nvPr/>
        </p:nvSpPr>
        <p:spPr>
          <a:xfrm>
            <a:off x="1691640" y="2825496"/>
            <a:ext cx="68700" cy="68700"/>
          </a:xfrm>
          <a:prstGeom prst="ellipse">
            <a:avLst/>
          </a:prstGeom>
          <a:solidFill>
            <a:srgbClr val="F6B46A"/>
          </a:solidFill>
          <a:ln cap="flat" cmpd="sng" w="12700">
            <a:solidFill>
              <a:srgbClr val="F6B4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38"/>
          <p:cNvSpPr/>
          <p:nvPr/>
        </p:nvSpPr>
        <p:spPr>
          <a:xfrm>
            <a:off x="1856225" y="2664238"/>
            <a:ext cx="3813000" cy="633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5 techniques studied: YOLO11s + 4 enhancement</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modules</a:t>
            </a:r>
            <a:endParaRPr b="0" i="0" sz="1200" u="none" cap="none" strike="noStrike">
              <a:solidFill>
                <a:srgbClr val="000000"/>
              </a:solidFill>
              <a:latin typeface="Inter"/>
              <a:ea typeface="Inter"/>
              <a:cs typeface="Inter"/>
              <a:sym typeface="Inter"/>
            </a:endParaRPr>
          </a:p>
        </p:txBody>
      </p:sp>
      <p:sp>
        <p:nvSpPr>
          <p:cNvPr id="589" name="Google Shape;589;p38"/>
          <p:cNvSpPr/>
          <p:nvPr/>
        </p:nvSpPr>
        <p:spPr>
          <a:xfrm>
            <a:off x="6144768" y="1353312"/>
            <a:ext cx="4937700" cy="2103000"/>
          </a:xfrm>
          <a:prstGeom prst="roundRect">
            <a:avLst>
              <a:gd fmla="val 5217"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 name="Google Shape;590;p38"/>
          <p:cNvSpPr/>
          <p:nvPr/>
        </p:nvSpPr>
        <p:spPr>
          <a:xfrm>
            <a:off x="6364224" y="1517904"/>
            <a:ext cx="658500" cy="475500"/>
          </a:xfrm>
          <a:prstGeom prst="roundRect">
            <a:avLst>
              <a:gd fmla="val 19231" name="adj"/>
            </a:avLst>
          </a:prstGeom>
          <a:solidFill>
            <a:srgbClr val="2767E8"/>
          </a:solidFill>
          <a:ln cap="flat" cmpd="sng" w="12700">
            <a:solidFill>
              <a:srgbClr val="2767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p38"/>
          <p:cNvSpPr/>
          <p:nvPr/>
        </p:nvSpPr>
        <p:spPr>
          <a:xfrm>
            <a:off x="6437376" y="1591056"/>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02</a:t>
            </a:r>
            <a:endParaRPr b="0" i="0" sz="1400" u="none" cap="none" strike="noStrike">
              <a:solidFill>
                <a:srgbClr val="000000"/>
              </a:solidFill>
              <a:latin typeface="Inter"/>
              <a:ea typeface="Inter"/>
              <a:cs typeface="Inter"/>
              <a:sym typeface="Inter"/>
            </a:endParaRPr>
          </a:p>
        </p:txBody>
      </p:sp>
      <p:sp>
        <p:nvSpPr>
          <p:cNvPr id="592" name="Google Shape;592;p38"/>
          <p:cNvSpPr/>
          <p:nvPr/>
        </p:nvSpPr>
        <p:spPr>
          <a:xfrm>
            <a:off x="7132320" y="1563624"/>
            <a:ext cx="3474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650"/>
              <a:buFont typeface="Inter"/>
              <a:buNone/>
            </a:pPr>
            <a:r>
              <a:rPr b="1" i="0" lang="en-US" sz="1650" u="none" cap="none" strike="noStrike">
                <a:solidFill>
                  <a:srgbClr val="101A33"/>
                </a:solidFill>
                <a:latin typeface="Inter"/>
                <a:ea typeface="Inter"/>
                <a:cs typeface="Inter"/>
                <a:sym typeface="Inter"/>
              </a:rPr>
              <a:t>Reuse vs. Build</a:t>
            </a:r>
            <a:endParaRPr b="0" i="0" sz="1650" u="none" cap="none" strike="noStrike">
              <a:solidFill>
                <a:srgbClr val="000000"/>
              </a:solidFill>
              <a:latin typeface="Inter"/>
              <a:ea typeface="Inter"/>
              <a:cs typeface="Inter"/>
              <a:sym typeface="Inter"/>
            </a:endParaRPr>
          </a:p>
        </p:txBody>
      </p:sp>
      <p:sp>
        <p:nvSpPr>
          <p:cNvPr id="593" name="Google Shape;593;p38"/>
          <p:cNvSpPr/>
          <p:nvPr/>
        </p:nvSpPr>
        <p:spPr>
          <a:xfrm>
            <a:off x="7104888" y="2185416"/>
            <a:ext cx="68700" cy="68700"/>
          </a:xfrm>
          <a:prstGeom prst="ellipse">
            <a:avLst/>
          </a:prstGeom>
          <a:solidFill>
            <a:srgbClr val="83B5F6"/>
          </a:solidFill>
          <a:ln cap="flat" cmpd="sng" w="12700">
            <a:solidFill>
              <a:srgbClr val="83B5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 name="Google Shape;594;p38"/>
          <p:cNvSpPr/>
          <p:nvPr/>
        </p:nvSpPr>
        <p:spPr>
          <a:xfrm>
            <a:off x="7269480" y="2103120"/>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Reuse PyTorch, OpenCV and YOLO framework</a:t>
            </a:r>
            <a:endParaRPr b="0" i="0" sz="1200" u="none" cap="none" strike="noStrike">
              <a:solidFill>
                <a:srgbClr val="000000"/>
              </a:solidFill>
              <a:latin typeface="Inter"/>
              <a:ea typeface="Inter"/>
              <a:cs typeface="Inter"/>
              <a:sym typeface="Inter"/>
            </a:endParaRPr>
          </a:p>
        </p:txBody>
      </p:sp>
      <p:sp>
        <p:nvSpPr>
          <p:cNvPr id="595" name="Google Shape;595;p38"/>
          <p:cNvSpPr/>
          <p:nvPr/>
        </p:nvSpPr>
        <p:spPr>
          <a:xfrm>
            <a:off x="7104888" y="2505456"/>
            <a:ext cx="68700" cy="68700"/>
          </a:xfrm>
          <a:prstGeom prst="ellipse">
            <a:avLst/>
          </a:prstGeom>
          <a:solidFill>
            <a:srgbClr val="83B5F6"/>
          </a:solidFill>
          <a:ln cap="flat" cmpd="sng" w="12700">
            <a:solidFill>
              <a:srgbClr val="83B5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 name="Google Shape;596;p38"/>
          <p:cNvSpPr/>
          <p:nvPr/>
        </p:nvSpPr>
        <p:spPr>
          <a:xfrm>
            <a:off x="7269480" y="2423160"/>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Custom training, evaluation and RTSP pipeline</a:t>
            </a:r>
            <a:endParaRPr b="0" i="0" sz="1200" u="none" cap="none" strike="noStrike">
              <a:solidFill>
                <a:srgbClr val="000000"/>
              </a:solidFill>
              <a:latin typeface="Inter"/>
              <a:ea typeface="Inter"/>
              <a:cs typeface="Inter"/>
              <a:sym typeface="Inter"/>
            </a:endParaRPr>
          </a:p>
        </p:txBody>
      </p:sp>
      <p:sp>
        <p:nvSpPr>
          <p:cNvPr id="597" name="Google Shape;597;p38"/>
          <p:cNvSpPr/>
          <p:nvPr/>
        </p:nvSpPr>
        <p:spPr>
          <a:xfrm>
            <a:off x="7104888" y="2825496"/>
            <a:ext cx="68700" cy="68700"/>
          </a:xfrm>
          <a:prstGeom prst="ellipse">
            <a:avLst/>
          </a:prstGeom>
          <a:solidFill>
            <a:srgbClr val="83B5F6"/>
          </a:solidFill>
          <a:ln cap="flat" cmpd="sng" w="12700">
            <a:solidFill>
              <a:srgbClr val="83B5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38"/>
          <p:cNvSpPr/>
          <p:nvPr/>
        </p:nvSpPr>
        <p:spPr>
          <a:xfrm>
            <a:off x="7269475" y="2743200"/>
            <a:ext cx="51705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Optimized deployment with TensorRT / ONNX /</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OpenVINO</a:t>
            </a:r>
            <a:endParaRPr b="0" i="0" sz="1200" u="none" cap="none" strike="noStrike">
              <a:solidFill>
                <a:srgbClr val="000000"/>
              </a:solidFill>
              <a:latin typeface="Inter"/>
              <a:ea typeface="Inter"/>
              <a:cs typeface="Inter"/>
              <a:sym typeface="Inter"/>
            </a:endParaRPr>
          </a:p>
        </p:txBody>
      </p:sp>
      <p:sp>
        <p:nvSpPr>
          <p:cNvPr id="599" name="Google Shape;599;p38"/>
          <p:cNvSpPr/>
          <p:nvPr/>
        </p:nvSpPr>
        <p:spPr>
          <a:xfrm>
            <a:off x="731520" y="3767328"/>
            <a:ext cx="4937700" cy="2103000"/>
          </a:xfrm>
          <a:prstGeom prst="roundRect">
            <a:avLst>
              <a:gd fmla="val 5217"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38"/>
          <p:cNvSpPr/>
          <p:nvPr/>
        </p:nvSpPr>
        <p:spPr>
          <a:xfrm>
            <a:off x="950976" y="3931920"/>
            <a:ext cx="658500" cy="475500"/>
          </a:xfrm>
          <a:prstGeom prst="roundRect">
            <a:avLst>
              <a:gd fmla="val 19231" name="adj"/>
            </a:avLst>
          </a:prstGeom>
          <a:solidFill>
            <a:srgbClr val="F08A00"/>
          </a:solidFill>
          <a:ln cap="flat" cmpd="sng" w="12700">
            <a:solidFill>
              <a:srgbClr val="F08A00"/>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38"/>
          <p:cNvSpPr/>
          <p:nvPr/>
        </p:nvSpPr>
        <p:spPr>
          <a:xfrm>
            <a:off x="1024128" y="4005072"/>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03</a:t>
            </a:r>
            <a:endParaRPr b="0" i="0" sz="1400" u="none" cap="none" strike="noStrike">
              <a:solidFill>
                <a:srgbClr val="000000"/>
              </a:solidFill>
              <a:latin typeface="Inter"/>
              <a:ea typeface="Inter"/>
              <a:cs typeface="Inter"/>
              <a:sym typeface="Inter"/>
            </a:endParaRPr>
          </a:p>
        </p:txBody>
      </p:sp>
      <p:sp>
        <p:nvSpPr>
          <p:cNvPr id="602" name="Google Shape;602;p38"/>
          <p:cNvSpPr/>
          <p:nvPr/>
        </p:nvSpPr>
        <p:spPr>
          <a:xfrm>
            <a:off x="1719072" y="3977640"/>
            <a:ext cx="3474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650"/>
              <a:buFont typeface="Inter"/>
              <a:buNone/>
            </a:pPr>
            <a:r>
              <a:rPr b="1" i="0" lang="en-US" sz="1650" u="none" cap="none" strike="noStrike">
                <a:solidFill>
                  <a:srgbClr val="101A33"/>
                </a:solidFill>
                <a:latin typeface="Inter"/>
                <a:ea typeface="Inter"/>
                <a:cs typeface="Inter"/>
                <a:sym typeface="Inter"/>
              </a:rPr>
              <a:t>Model Improvements</a:t>
            </a:r>
            <a:endParaRPr b="0" i="0" sz="1650" u="none" cap="none" strike="noStrike">
              <a:solidFill>
                <a:srgbClr val="000000"/>
              </a:solidFill>
              <a:latin typeface="Inter"/>
              <a:ea typeface="Inter"/>
              <a:cs typeface="Inter"/>
              <a:sym typeface="Inter"/>
            </a:endParaRPr>
          </a:p>
        </p:txBody>
      </p:sp>
      <p:sp>
        <p:nvSpPr>
          <p:cNvPr id="603" name="Google Shape;603;p38"/>
          <p:cNvSpPr/>
          <p:nvPr/>
        </p:nvSpPr>
        <p:spPr>
          <a:xfrm>
            <a:off x="1691640" y="4599432"/>
            <a:ext cx="68700" cy="68700"/>
          </a:xfrm>
          <a:prstGeom prst="ellipse">
            <a:avLst/>
          </a:prstGeom>
          <a:solidFill>
            <a:srgbClr val="F6B46A"/>
          </a:solidFill>
          <a:ln cap="flat" cmpd="sng" w="12700">
            <a:solidFill>
              <a:srgbClr val="F6B4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 name="Google Shape;604;p38"/>
          <p:cNvSpPr/>
          <p:nvPr/>
        </p:nvSpPr>
        <p:spPr>
          <a:xfrm>
            <a:off x="1856232" y="4517136"/>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4 targeted enhancements</a:t>
            </a:r>
            <a:endParaRPr b="0" i="0" sz="1200" u="none" cap="none" strike="noStrike">
              <a:solidFill>
                <a:srgbClr val="000000"/>
              </a:solidFill>
              <a:latin typeface="Inter"/>
              <a:ea typeface="Inter"/>
              <a:cs typeface="Inter"/>
              <a:sym typeface="Inter"/>
            </a:endParaRPr>
          </a:p>
        </p:txBody>
      </p:sp>
      <p:sp>
        <p:nvSpPr>
          <p:cNvPr id="605" name="Google Shape;605;p38"/>
          <p:cNvSpPr/>
          <p:nvPr/>
        </p:nvSpPr>
        <p:spPr>
          <a:xfrm>
            <a:off x="1691640" y="4919472"/>
            <a:ext cx="68700" cy="68700"/>
          </a:xfrm>
          <a:prstGeom prst="ellipse">
            <a:avLst/>
          </a:prstGeom>
          <a:solidFill>
            <a:srgbClr val="F6B46A"/>
          </a:solidFill>
          <a:ln cap="flat" cmpd="sng" w="12700">
            <a:solidFill>
              <a:srgbClr val="F6B4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38"/>
          <p:cNvSpPr/>
          <p:nvPr/>
        </p:nvSpPr>
        <p:spPr>
          <a:xfrm>
            <a:off x="1856232" y="4837176"/>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CoordConv, RepConv, BiFormer, Focal EIoU</a:t>
            </a:r>
            <a:endParaRPr b="0" i="0" sz="1200" u="none" cap="none" strike="noStrike">
              <a:solidFill>
                <a:srgbClr val="000000"/>
              </a:solidFill>
              <a:latin typeface="Inter"/>
              <a:ea typeface="Inter"/>
              <a:cs typeface="Inter"/>
              <a:sym typeface="Inter"/>
            </a:endParaRPr>
          </a:p>
        </p:txBody>
      </p:sp>
      <p:sp>
        <p:nvSpPr>
          <p:cNvPr id="607" name="Google Shape;607;p38"/>
          <p:cNvSpPr/>
          <p:nvPr/>
        </p:nvSpPr>
        <p:spPr>
          <a:xfrm>
            <a:off x="1691640" y="5239512"/>
            <a:ext cx="68700" cy="68700"/>
          </a:xfrm>
          <a:prstGeom prst="ellipse">
            <a:avLst/>
          </a:prstGeom>
          <a:solidFill>
            <a:srgbClr val="F6B46A"/>
          </a:solidFill>
          <a:ln cap="flat" cmpd="sng" w="12700">
            <a:solidFill>
              <a:srgbClr val="F6B4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 name="Google Shape;608;p38"/>
          <p:cNvSpPr/>
          <p:nvPr/>
        </p:nvSpPr>
        <p:spPr>
          <a:xfrm>
            <a:off x="1856232" y="5157216"/>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Integrated into one Rep-YOLO11s pipeline</a:t>
            </a:r>
            <a:endParaRPr b="0" i="0" sz="1200" u="none" cap="none" strike="noStrike">
              <a:solidFill>
                <a:srgbClr val="000000"/>
              </a:solidFill>
              <a:latin typeface="Inter"/>
              <a:ea typeface="Inter"/>
              <a:cs typeface="Inter"/>
              <a:sym typeface="Inter"/>
            </a:endParaRPr>
          </a:p>
        </p:txBody>
      </p:sp>
      <p:sp>
        <p:nvSpPr>
          <p:cNvPr id="609" name="Google Shape;609;p38"/>
          <p:cNvSpPr/>
          <p:nvPr/>
        </p:nvSpPr>
        <p:spPr>
          <a:xfrm>
            <a:off x="6144768" y="3767328"/>
            <a:ext cx="4937700" cy="2103000"/>
          </a:xfrm>
          <a:prstGeom prst="roundRect">
            <a:avLst>
              <a:gd fmla="val 5217"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38"/>
          <p:cNvSpPr/>
          <p:nvPr/>
        </p:nvSpPr>
        <p:spPr>
          <a:xfrm>
            <a:off x="6364224" y="3931920"/>
            <a:ext cx="658500" cy="475500"/>
          </a:xfrm>
          <a:prstGeom prst="roundRect">
            <a:avLst>
              <a:gd fmla="val 19231" name="adj"/>
            </a:avLst>
          </a:prstGeom>
          <a:solidFill>
            <a:srgbClr val="10AF5A"/>
          </a:solidFill>
          <a:ln cap="flat" cmpd="sng" w="12700">
            <a:solidFill>
              <a:srgbClr val="10AF5A"/>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38"/>
          <p:cNvSpPr/>
          <p:nvPr/>
        </p:nvSpPr>
        <p:spPr>
          <a:xfrm>
            <a:off x="6437376" y="4005072"/>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04</a:t>
            </a:r>
            <a:endParaRPr b="0" i="0" sz="1400" u="none" cap="none" strike="noStrike">
              <a:solidFill>
                <a:srgbClr val="000000"/>
              </a:solidFill>
              <a:latin typeface="Inter"/>
              <a:ea typeface="Inter"/>
              <a:cs typeface="Inter"/>
              <a:sym typeface="Inter"/>
            </a:endParaRPr>
          </a:p>
        </p:txBody>
      </p:sp>
      <p:sp>
        <p:nvSpPr>
          <p:cNvPr id="612" name="Google Shape;612;p38"/>
          <p:cNvSpPr/>
          <p:nvPr/>
        </p:nvSpPr>
        <p:spPr>
          <a:xfrm>
            <a:off x="7132320" y="3977640"/>
            <a:ext cx="3474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650"/>
              <a:buFont typeface="Inter"/>
              <a:buNone/>
            </a:pPr>
            <a:r>
              <a:rPr b="1" i="0" lang="en-US" sz="1650" u="none" cap="none" strike="noStrike">
                <a:solidFill>
                  <a:srgbClr val="101A33"/>
                </a:solidFill>
                <a:latin typeface="Inter"/>
                <a:ea typeface="Inter"/>
                <a:cs typeface="Inter"/>
                <a:sym typeface="Inter"/>
              </a:rPr>
              <a:t>Dataset Strategy</a:t>
            </a:r>
            <a:endParaRPr b="0" i="0" sz="1650" u="none" cap="none" strike="noStrike">
              <a:solidFill>
                <a:srgbClr val="000000"/>
              </a:solidFill>
              <a:latin typeface="Inter"/>
              <a:ea typeface="Inter"/>
              <a:cs typeface="Inter"/>
              <a:sym typeface="Inter"/>
            </a:endParaRPr>
          </a:p>
        </p:txBody>
      </p:sp>
      <p:sp>
        <p:nvSpPr>
          <p:cNvPr id="613" name="Google Shape;613;p38"/>
          <p:cNvSpPr/>
          <p:nvPr/>
        </p:nvSpPr>
        <p:spPr>
          <a:xfrm>
            <a:off x="7104888" y="4599432"/>
            <a:ext cx="68700" cy="68700"/>
          </a:xfrm>
          <a:prstGeom prst="ellipse">
            <a:avLst/>
          </a:prstGeom>
          <a:solidFill>
            <a:srgbClr val="7FD78F"/>
          </a:solidFill>
          <a:ln cap="flat" cmpd="sng" w="12700">
            <a:solidFill>
              <a:srgbClr val="7FD78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 name="Google Shape;614;p38"/>
          <p:cNvSpPr/>
          <p:nvPr/>
        </p:nvSpPr>
        <p:spPr>
          <a:xfrm>
            <a:off x="7269480" y="4517136"/>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Use existing construction datasets</a:t>
            </a:r>
            <a:endParaRPr b="0" i="0" sz="1200" u="none" cap="none" strike="noStrike">
              <a:solidFill>
                <a:srgbClr val="000000"/>
              </a:solidFill>
              <a:latin typeface="Inter"/>
              <a:ea typeface="Inter"/>
              <a:cs typeface="Inter"/>
              <a:sym typeface="Inter"/>
            </a:endParaRPr>
          </a:p>
        </p:txBody>
      </p:sp>
      <p:sp>
        <p:nvSpPr>
          <p:cNvPr id="615" name="Google Shape;615;p38"/>
          <p:cNvSpPr/>
          <p:nvPr/>
        </p:nvSpPr>
        <p:spPr>
          <a:xfrm>
            <a:off x="7104888" y="4919472"/>
            <a:ext cx="68700" cy="68700"/>
          </a:xfrm>
          <a:prstGeom prst="ellipse">
            <a:avLst/>
          </a:prstGeom>
          <a:solidFill>
            <a:srgbClr val="7FD78F"/>
          </a:solidFill>
          <a:ln cap="flat" cmpd="sng" w="12700">
            <a:solidFill>
              <a:srgbClr val="7FD78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38"/>
          <p:cNvSpPr/>
          <p:nvPr/>
        </p:nvSpPr>
        <p:spPr>
          <a:xfrm>
            <a:off x="7269480" y="4837176"/>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Harmonize labels and clean anomalies</a:t>
            </a:r>
            <a:endParaRPr b="0" i="0" sz="1200" u="none" cap="none" strike="noStrike">
              <a:solidFill>
                <a:srgbClr val="000000"/>
              </a:solidFill>
              <a:latin typeface="Inter"/>
              <a:ea typeface="Inter"/>
              <a:cs typeface="Inter"/>
              <a:sym typeface="Inter"/>
            </a:endParaRPr>
          </a:p>
        </p:txBody>
      </p:sp>
      <p:sp>
        <p:nvSpPr>
          <p:cNvPr id="617" name="Google Shape;617;p38"/>
          <p:cNvSpPr/>
          <p:nvPr/>
        </p:nvSpPr>
        <p:spPr>
          <a:xfrm>
            <a:off x="7104888" y="5239512"/>
            <a:ext cx="68700" cy="68700"/>
          </a:xfrm>
          <a:prstGeom prst="ellipse">
            <a:avLst/>
          </a:prstGeom>
          <a:solidFill>
            <a:srgbClr val="7FD78F"/>
          </a:solidFill>
          <a:ln cap="flat" cmpd="sng" w="12700">
            <a:solidFill>
              <a:srgbClr val="7FD78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 name="Google Shape;618;p38"/>
          <p:cNvSpPr/>
          <p:nvPr/>
        </p:nvSpPr>
        <p:spPr>
          <a:xfrm>
            <a:off x="7269480" y="5157216"/>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Build a unified benchmark for evaluation</a:t>
            </a:r>
            <a:endParaRPr b="0" i="0" sz="1200" u="none" cap="none" strike="noStrike">
              <a:solidFill>
                <a:srgbClr val="000000"/>
              </a:solidFill>
              <a:latin typeface="Inter"/>
              <a:ea typeface="Inter"/>
              <a:cs typeface="Inter"/>
              <a:sym typeface="Inter"/>
            </a:endParaRPr>
          </a:p>
        </p:txBody>
      </p:sp>
      <p:sp>
        <p:nvSpPr>
          <p:cNvPr id="619" name="Google Shape;619;p38"/>
          <p:cNvSpPr/>
          <p:nvPr/>
        </p:nvSpPr>
        <p:spPr>
          <a:xfrm>
            <a:off x="731520" y="5980176"/>
            <a:ext cx="10350900" cy="676800"/>
          </a:xfrm>
          <a:prstGeom prst="roundRect">
            <a:avLst>
              <a:gd fmla="val 16216" name="adj"/>
            </a:avLst>
          </a:prstGeom>
          <a:solidFill>
            <a:srgbClr val="F0F6FD"/>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38"/>
          <p:cNvSpPr/>
          <p:nvPr/>
        </p:nvSpPr>
        <p:spPr>
          <a:xfrm>
            <a:off x="1783080" y="6199632"/>
            <a:ext cx="8732400" cy="173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44C7D"/>
              </a:buClr>
              <a:buSzPts val="1140"/>
              <a:buFont typeface="Inter"/>
              <a:buNone/>
            </a:pPr>
            <a:r>
              <a:rPr b="1" i="0" lang="en-US" sz="1140" u="none" cap="none" strike="noStrike">
                <a:solidFill>
                  <a:srgbClr val="244C7D"/>
                </a:solidFill>
                <a:latin typeface="Inter"/>
                <a:ea typeface="Inter"/>
                <a:cs typeface="Inter"/>
                <a:sym typeface="Inter"/>
              </a:rPr>
              <a:t>The project builds on mature frameworks while contributing targeted model integration, evaluation and deployment.</a:t>
            </a:r>
            <a:endParaRPr b="0" i="0" sz="1140" u="none" cap="none" strike="noStrike">
              <a:solidFill>
                <a:srgbClr val="000000"/>
              </a:solidFill>
              <a:latin typeface="Inter"/>
              <a:ea typeface="Inter"/>
              <a:cs typeface="Inter"/>
              <a:sym typeface="Inte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24" name="Shape 624"/>
        <p:cNvGrpSpPr/>
        <p:nvPr/>
      </p:nvGrpSpPr>
      <p:grpSpPr>
        <a:xfrm>
          <a:off x="0" y="0"/>
          <a:ext cx="0" cy="0"/>
          <a:chOff x="0" y="0"/>
          <a:chExt cx="0" cy="0"/>
        </a:xfrm>
      </p:grpSpPr>
      <p:sp>
        <p:nvSpPr>
          <p:cNvPr id="625" name="Google Shape;625;p39"/>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6" name="Google Shape;626;p39"/>
          <p:cNvSpPr/>
          <p:nvPr/>
        </p:nvSpPr>
        <p:spPr>
          <a:xfrm>
            <a:off x="697345" y="360958"/>
            <a:ext cx="56694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5B00"/>
              </a:buClr>
              <a:buSzPts val="1120"/>
              <a:buFont typeface="Inter"/>
              <a:buNone/>
            </a:pPr>
            <a:r>
              <a:rPr b="1" i="0" lang="en-US" sz="1120" u="none" cap="none" strike="noStrike">
                <a:solidFill>
                  <a:srgbClr val="F35B00"/>
                </a:solidFill>
                <a:latin typeface="Inter"/>
                <a:ea typeface="Inter"/>
                <a:cs typeface="Inter"/>
                <a:sym typeface="Inter"/>
              </a:rPr>
              <a:t>CRITERION 4 · PRACTICALITY, VALUE &amp; NOVELTY</a:t>
            </a:r>
            <a:endParaRPr b="0" i="0" sz="1120" u="none" cap="none" strike="noStrike">
              <a:solidFill>
                <a:srgbClr val="000000"/>
              </a:solidFill>
              <a:latin typeface="Inter"/>
              <a:ea typeface="Inter"/>
              <a:cs typeface="Inter"/>
              <a:sym typeface="Inter"/>
            </a:endParaRPr>
          </a:p>
        </p:txBody>
      </p:sp>
      <p:sp>
        <p:nvSpPr>
          <p:cNvPr id="627" name="Google Shape;627;p39"/>
          <p:cNvSpPr/>
          <p:nvPr/>
        </p:nvSpPr>
        <p:spPr>
          <a:xfrm>
            <a:off x="10682593" y="351814"/>
            <a:ext cx="731400" cy="219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1728B"/>
              </a:buClr>
              <a:buSzPts val="1100"/>
              <a:buFont typeface="Inter"/>
              <a:buNone/>
            </a:pPr>
            <a:r>
              <a:rPr b="1" i="0" lang="en-US" sz="1100" u="none" cap="none" strike="noStrike">
                <a:solidFill>
                  <a:srgbClr val="61728B"/>
                </a:solidFill>
                <a:latin typeface="Inter"/>
                <a:ea typeface="Inter"/>
                <a:cs typeface="Inter"/>
                <a:sym typeface="Inter"/>
              </a:rPr>
              <a:t>18 / 18</a:t>
            </a:r>
            <a:endParaRPr b="0" i="0" sz="1100" u="none" cap="none" strike="noStrike">
              <a:solidFill>
                <a:srgbClr val="000000"/>
              </a:solidFill>
              <a:latin typeface="Inter"/>
              <a:ea typeface="Inter"/>
              <a:cs typeface="Inter"/>
              <a:sym typeface="Inter"/>
            </a:endParaRPr>
          </a:p>
        </p:txBody>
      </p:sp>
      <p:sp>
        <p:nvSpPr>
          <p:cNvPr id="628" name="Google Shape;628;p39"/>
          <p:cNvSpPr/>
          <p:nvPr/>
        </p:nvSpPr>
        <p:spPr>
          <a:xfrm>
            <a:off x="697345" y="690142"/>
            <a:ext cx="1024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580"/>
              <a:buFont typeface="Inter"/>
              <a:buNone/>
            </a:pPr>
            <a:r>
              <a:rPr b="1" i="0" lang="en-US" sz="3080" u="none" cap="none" strike="noStrike">
                <a:solidFill>
                  <a:srgbClr val="101A33"/>
                </a:solidFill>
                <a:latin typeface="Inter"/>
                <a:ea typeface="Inter"/>
                <a:cs typeface="Inter"/>
                <a:sym typeface="Inter"/>
              </a:rPr>
              <a:t>Practicality, Value &amp; Novelty</a:t>
            </a:r>
            <a:endParaRPr b="0" i="0" sz="3080" u="none" cap="none" strike="noStrike">
              <a:solidFill>
                <a:srgbClr val="000000"/>
              </a:solidFill>
              <a:latin typeface="Inter"/>
              <a:ea typeface="Inter"/>
              <a:cs typeface="Inter"/>
              <a:sym typeface="Inter"/>
            </a:endParaRPr>
          </a:p>
        </p:txBody>
      </p:sp>
      <p:sp>
        <p:nvSpPr>
          <p:cNvPr id="629" name="Google Shape;629;p39"/>
          <p:cNvSpPr/>
          <p:nvPr/>
        </p:nvSpPr>
        <p:spPr>
          <a:xfrm>
            <a:off x="679032" y="1494764"/>
            <a:ext cx="3246000" cy="4059900"/>
          </a:xfrm>
          <a:prstGeom prst="roundRect">
            <a:avLst>
              <a:gd fmla="val 338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39"/>
          <p:cNvSpPr/>
          <p:nvPr/>
        </p:nvSpPr>
        <p:spPr>
          <a:xfrm>
            <a:off x="935089" y="2683534"/>
            <a:ext cx="2651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920"/>
              <a:buFont typeface="Inter"/>
              <a:buNone/>
            </a:pPr>
            <a:r>
              <a:rPr b="1" i="0" lang="en-US" sz="1920" u="none" cap="none" strike="noStrike">
                <a:solidFill>
                  <a:srgbClr val="101A33"/>
                </a:solidFill>
                <a:latin typeface="Inter"/>
                <a:ea typeface="Inter"/>
                <a:cs typeface="Inter"/>
                <a:sym typeface="Inter"/>
              </a:rPr>
              <a:t>Practicality</a:t>
            </a:r>
            <a:endParaRPr b="0" i="0" sz="1920" u="none" cap="none" strike="noStrike">
              <a:solidFill>
                <a:srgbClr val="000000"/>
              </a:solidFill>
              <a:latin typeface="Inter"/>
              <a:ea typeface="Inter"/>
              <a:cs typeface="Inter"/>
              <a:sym typeface="Inter"/>
            </a:endParaRPr>
          </a:p>
        </p:txBody>
      </p:sp>
      <p:sp>
        <p:nvSpPr>
          <p:cNvPr id="631" name="Google Shape;631;p39"/>
          <p:cNvSpPr/>
          <p:nvPr/>
        </p:nvSpPr>
        <p:spPr>
          <a:xfrm>
            <a:off x="999097" y="3369334"/>
            <a:ext cx="68700" cy="68700"/>
          </a:xfrm>
          <a:prstGeom prst="ellipse">
            <a:avLst/>
          </a:prstGeom>
          <a:solidFill>
            <a:srgbClr val="F35B00"/>
          </a:solidFill>
          <a:ln cap="flat" cmpd="sng" w="12700">
            <a:solidFill>
              <a:srgbClr val="F35B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 name="Google Shape;632;p39"/>
          <p:cNvSpPr/>
          <p:nvPr/>
        </p:nvSpPr>
        <p:spPr>
          <a:xfrm>
            <a:off x="1163689" y="3287038"/>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Real-time safety monitoring for</a:t>
            </a:r>
            <a:endParaRPr b="0" i="0" sz="128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construction sites</a:t>
            </a:r>
            <a:endParaRPr b="0" i="0" sz="1280" u="none" cap="none" strike="noStrike">
              <a:solidFill>
                <a:srgbClr val="000000"/>
              </a:solidFill>
              <a:latin typeface="Inter"/>
              <a:ea typeface="Inter"/>
              <a:cs typeface="Inter"/>
              <a:sym typeface="Inter"/>
            </a:endParaRPr>
          </a:p>
        </p:txBody>
      </p:sp>
      <p:sp>
        <p:nvSpPr>
          <p:cNvPr id="633" name="Google Shape;633;p39"/>
          <p:cNvSpPr/>
          <p:nvPr/>
        </p:nvSpPr>
        <p:spPr>
          <a:xfrm flipH="1">
            <a:off x="1067795" y="4704351"/>
            <a:ext cx="68700" cy="68700"/>
          </a:xfrm>
          <a:prstGeom prst="ellipse">
            <a:avLst/>
          </a:prstGeom>
          <a:solidFill>
            <a:srgbClr val="F35B00"/>
          </a:solidFill>
          <a:ln cap="flat" cmpd="sng" w="12700">
            <a:solidFill>
              <a:srgbClr val="F35B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39"/>
          <p:cNvSpPr/>
          <p:nvPr/>
        </p:nvSpPr>
        <p:spPr>
          <a:xfrm>
            <a:off x="1117689" y="3899462"/>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Can support CCTV / RTSP</a:t>
            </a:r>
            <a:endParaRPr b="0" i="0" sz="128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surveillance workflows</a:t>
            </a:r>
            <a:endParaRPr b="0" i="0" sz="1280" u="none" cap="none" strike="noStrike">
              <a:solidFill>
                <a:srgbClr val="000000"/>
              </a:solidFill>
              <a:latin typeface="Inter"/>
              <a:ea typeface="Inter"/>
              <a:cs typeface="Inter"/>
              <a:sym typeface="Inter"/>
            </a:endParaRPr>
          </a:p>
        </p:txBody>
      </p:sp>
      <p:sp>
        <p:nvSpPr>
          <p:cNvPr id="635" name="Google Shape;635;p39"/>
          <p:cNvSpPr/>
          <p:nvPr/>
        </p:nvSpPr>
        <p:spPr>
          <a:xfrm>
            <a:off x="4290937" y="1494814"/>
            <a:ext cx="3246000" cy="4059900"/>
          </a:xfrm>
          <a:prstGeom prst="roundRect">
            <a:avLst>
              <a:gd fmla="val 338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 name="Google Shape;636;p39"/>
          <p:cNvSpPr/>
          <p:nvPr/>
        </p:nvSpPr>
        <p:spPr>
          <a:xfrm>
            <a:off x="4546969" y="2683534"/>
            <a:ext cx="2651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920"/>
              <a:buFont typeface="Inter"/>
              <a:buNone/>
            </a:pPr>
            <a:r>
              <a:rPr b="1" i="0" lang="en-US" sz="1920" u="none" cap="none" strike="noStrike">
                <a:solidFill>
                  <a:srgbClr val="101A33"/>
                </a:solidFill>
                <a:latin typeface="Inter"/>
                <a:ea typeface="Inter"/>
                <a:cs typeface="Inter"/>
                <a:sym typeface="Inter"/>
              </a:rPr>
              <a:t>Scientific Value</a:t>
            </a:r>
            <a:endParaRPr b="0" i="0" sz="1920" u="none" cap="none" strike="noStrike">
              <a:solidFill>
                <a:srgbClr val="000000"/>
              </a:solidFill>
              <a:latin typeface="Inter"/>
              <a:ea typeface="Inter"/>
              <a:cs typeface="Inter"/>
              <a:sym typeface="Inter"/>
            </a:endParaRPr>
          </a:p>
        </p:txBody>
      </p:sp>
      <p:sp>
        <p:nvSpPr>
          <p:cNvPr id="637" name="Google Shape;637;p39"/>
          <p:cNvSpPr/>
          <p:nvPr/>
        </p:nvSpPr>
        <p:spPr>
          <a:xfrm>
            <a:off x="4610977" y="3369334"/>
            <a:ext cx="68700" cy="68700"/>
          </a:xfrm>
          <a:prstGeom prst="ellipse">
            <a:avLst/>
          </a:prstGeom>
          <a:solidFill>
            <a:srgbClr val="2767E8"/>
          </a:solidFill>
          <a:ln cap="flat" cmpd="sng" w="12700">
            <a:solidFill>
              <a:srgbClr val="2767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 name="Google Shape;638;p39"/>
          <p:cNvSpPr/>
          <p:nvPr/>
        </p:nvSpPr>
        <p:spPr>
          <a:xfrm>
            <a:off x="4775569" y="3287038"/>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Improves the accuracy–latency</a:t>
            </a:r>
            <a:endParaRPr b="0" i="0" sz="128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trade-off</a:t>
            </a:r>
            <a:endParaRPr b="0" i="0" sz="1280" u="none" cap="none" strike="noStrike">
              <a:solidFill>
                <a:srgbClr val="000000"/>
              </a:solidFill>
              <a:latin typeface="Inter"/>
              <a:ea typeface="Inter"/>
              <a:cs typeface="Inter"/>
              <a:sym typeface="Inter"/>
            </a:endParaRPr>
          </a:p>
        </p:txBody>
      </p:sp>
      <p:sp>
        <p:nvSpPr>
          <p:cNvPr id="639" name="Google Shape;639;p39"/>
          <p:cNvSpPr/>
          <p:nvPr/>
        </p:nvSpPr>
        <p:spPr>
          <a:xfrm>
            <a:off x="4610977" y="4036846"/>
            <a:ext cx="68700" cy="68700"/>
          </a:xfrm>
          <a:prstGeom prst="ellipse">
            <a:avLst/>
          </a:prstGeom>
          <a:solidFill>
            <a:srgbClr val="2767E8"/>
          </a:solidFill>
          <a:ln cap="flat" cmpd="sng" w="12700">
            <a:solidFill>
              <a:srgbClr val="2767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 name="Google Shape;640;p39"/>
          <p:cNvSpPr/>
          <p:nvPr/>
        </p:nvSpPr>
        <p:spPr>
          <a:xfrm>
            <a:off x="4775569" y="3954550"/>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Evaluates cross-domain</a:t>
            </a:r>
            <a:endParaRPr b="0" i="0" sz="128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robustness</a:t>
            </a:r>
            <a:endParaRPr b="0" i="0" sz="1280" u="none" cap="none" strike="noStrike">
              <a:solidFill>
                <a:srgbClr val="000000"/>
              </a:solidFill>
              <a:latin typeface="Inter"/>
              <a:ea typeface="Inter"/>
              <a:cs typeface="Inter"/>
              <a:sym typeface="Inter"/>
            </a:endParaRPr>
          </a:p>
        </p:txBody>
      </p:sp>
      <p:sp>
        <p:nvSpPr>
          <p:cNvPr id="641" name="Google Shape;641;p39"/>
          <p:cNvSpPr/>
          <p:nvPr/>
        </p:nvSpPr>
        <p:spPr>
          <a:xfrm>
            <a:off x="4610977" y="4704358"/>
            <a:ext cx="68700" cy="68700"/>
          </a:xfrm>
          <a:prstGeom prst="ellipse">
            <a:avLst/>
          </a:prstGeom>
          <a:solidFill>
            <a:srgbClr val="2767E8"/>
          </a:solidFill>
          <a:ln cap="flat" cmpd="sng" w="12700">
            <a:solidFill>
              <a:srgbClr val="2767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39"/>
          <p:cNvSpPr/>
          <p:nvPr/>
        </p:nvSpPr>
        <p:spPr>
          <a:xfrm>
            <a:off x="4775569" y="4622062"/>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Provides structured ablation</a:t>
            </a:r>
            <a:endParaRPr b="0" i="0" sz="128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and benchmark evidence</a:t>
            </a:r>
            <a:endParaRPr b="0" i="0" sz="1280" u="none" cap="none" strike="noStrike">
              <a:solidFill>
                <a:srgbClr val="000000"/>
              </a:solidFill>
              <a:latin typeface="Inter"/>
              <a:ea typeface="Inter"/>
              <a:cs typeface="Inter"/>
              <a:sym typeface="Inter"/>
            </a:endParaRPr>
          </a:p>
        </p:txBody>
      </p:sp>
      <p:sp>
        <p:nvSpPr>
          <p:cNvPr id="643" name="Google Shape;643;p39"/>
          <p:cNvSpPr/>
          <p:nvPr/>
        </p:nvSpPr>
        <p:spPr>
          <a:xfrm>
            <a:off x="7902817" y="1494814"/>
            <a:ext cx="3246000" cy="4059900"/>
          </a:xfrm>
          <a:prstGeom prst="roundRect">
            <a:avLst>
              <a:gd fmla="val 338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39"/>
          <p:cNvSpPr/>
          <p:nvPr/>
        </p:nvSpPr>
        <p:spPr>
          <a:xfrm>
            <a:off x="8158849" y="2683534"/>
            <a:ext cx="2651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920"/>
              <a:buFont typeface="Inter"/>
              <a:buNone/>
            </a:pPr>
            <a:r>
              <a:rPr b="1" i="0" lang="en-US" sz="1920" u="none" cap="none" strike="noStrike">
                <a:solidFill>
                  <a:srgbClr val="101A33"/>
                </a:solidFill>
                <a:latin typeface="Inter"/>
                <a:ea typeface="Inter"/>
                <a:cs typeface="Inter"/>
                <a:sym typeface="Inter"/>
              </a:rPr>
              <a:t>Novelty / Creativity</a:t>
            </a:r>
            <a:endParaRPr b="0" i="0" sz="1920" u="none" cap="none" strike="noStrike">
              <a:solidFill>
                <a:srgbClr val="000000"/>
              </a:solidFill>
              <a:latin typeface="Inter"/>
              <a:ea typeface="Inter"/>
              <a:cs typeface="Inter"/>
              <a:sym typeface="Inter"/>
            </a:endParaRPr>
          </a:p>
        </p:txBody>
      </p:sp>
      <p:sp>
        <p:nvSpPr>
          <p:cNvPr id="645" name="Google Shape;645;p39"/>
          <p:cNvSpPr/>
          <p:nvPr/>
        </p:nvSpPr>
        <p:spPr>
          <a:xfrm>
            <a:off x="8222857" y="3369334"/>
            <a:ext cx="68700" cy="68700"/>
          </a:xfrm>
          <a:prstGeom prst="ellipse">
            <a:avLst/>
          </a:prstGeom>
          <a:solidFill>
            <a:srgbClr val="8C39E9"/>
          </a:solidFill>
          <a:ln cap="flat" cmpd="sng" w="12700">
            <a:solidFill>
              <a:srgbClr val="8C39E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39"/>
          <p:cNvSpPr/>
          <p:nvPr/>
        </p:nvSpPr>
        <p:spPr>
          <a:xfrm>
            <a:off x="8387449" y="3287038"/>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Not a detector built fully from</a:t>
            </a:r>
            <a:endParaRPr b="0" i="0" sz="128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scratch</a:t>
            </a:r>
            <a:endParaRPr b="0" i="0" sz="1280" u="none" cap="none" strike="noStrike">
              <a:solidFill>
                <a:srgbClr val="000000"/>
              </a:solidFill>
              <a:latin typeface="Inter"/>
              <a:ea typeface="Inter"/>
              <a:cs typeface="Inter"/>
              <a:sym typeface="Inter"/>
            </a:endParaRPr>
          </a:p>
        </p:txBody>
      </p:sp>
      <p:sp>
        <p:nvSpPr>
          <p:cNvPr id="647" name="Google Shape;647;p39"/>
          <p:cNvSpPr/>
          <p:nvPr/>
        </p:nvSpPr>
        <p:spPr>
          <a:xfrm>
            <a:off x="8222857" y="4036846"/>
            <a:ext cx="68700" cy="68700"/>
          </a:xfrm>
          <a:prstGeom prst="ellipse">
            <a:avLst/>
          </a:prstGeom>
          <a:solidFill>
            <a:srgbClr val="8C39E9"/>
          </a:solidFill>
          <a:ln cap="flat" cmpd="sng" w="12700">
            <a:solidFill>
              <a:srgbClr val="8C39E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 name="Google Shape;648;p39"/>
          <p:cNvSpPr/>
          <p:nvPr/>
        </p:nvSpPr>
        <p:spPr>
          <a:xfrm>
            <a:off x="8387449" y="3954550"/>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Novelty comes from targeted</a:t>
            </a:r>
            <a:endParaRPr b="0" i="0" sz="128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module integration</a:t>
            </a:r>
            <a:endParaRPr b="0" i="0" sz="1280" u="none" cap="none" strike="noStrike">
              <a:solidFill>
                <a:srgbClr val="000000"/>
              </a:solidFill>
              <a:latin typeface="Inter"/>
              <a:ea typeface="Inter"/>
              <a:cs typeface="Inter"/>
              <a:sym typeface="Inter"/>
            </a:endParaRPr>
          </a:p>
        </p:txBody>
      </p:sp>
      <p:sp>
        <p:nvSpPr>
          <p:cNvPr id="649" name="Google Shape;649;p39"/>
          <p:cNvSpPr/>
          <p:nvPr/>
        </p:nvSpPr>
        <p:spPr>
          <a:xfrm>
            <a:off x="8222857" y="4704358"/>
            <a:ext cx="68700" cy="68700"/>
          </a:xfrm>
          <a:prstGeom prst="ellipse">
            <a:avLst/>
          </a:prstGeom>
          <a:solidFill>
            <a:srgbClr val="8C39E9"/>
          </a:solidFill>
          <a:ln cap="flat" cmpd="sng" w="12700">
            <a:solidFill>
              <a:srgbClr val="8C39E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 name="Google Shape;650;p39"/>
          <p:cNvSpPr/>
          <p:nvPr/>
        </p:nvSpPr>
        <p:spPr>
          <a:xfrm>
            <a:off x="8387449" y="4622062"/>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Combines model design,</a:t>
            </a:r>
            <a:endParaRPr b="0" i="0" sz="128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benchmark cleaning and</a:t>
            </a:r>
            <a:endParaRPr b="0" i="0" sz="128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prototype deployment</a:t>
            </a:r>
            <a:endParaRPr b="0" i="0" sz="1280" u="none" cap="none" strike="noStrike">
              <a:solidFill>
                <a:srgbClr val="000000"/>
              </a:solidFill>
              <a:latin typeface="Inter"/>
              <a:ea typeface="Inter"/>
              <a:cs typeface="Inter"/>
              <a:sym typeface="Inter"/>
            </a:endParaRPr>
          </a:p>
        </p:txBody>
      </p:sp>
      <p:sp>
        <p:nvSpPr>
          <p:cNvPr id="651" name="Google Shape;651;p39"/>
          <p:cNvSpPr/>
          <p:nvPr/>
        </p:nvSpPr>
        <p:spPr>
          <a:xfrm>
            <a:off x="679057" y="5856502"/>
            <a:ext cx="10479000" cy="676800"/>
          </a:xfrm>
          <a:prstGeom prst="roundRect">
            <a:avLst>
              <a:gd fmla="val 16216" name="adj"/>
            </a:avLst>
          </a:prstGeom>
          <a:solidFill>
            <a:srgbClr val="F0F6FD"/>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 name="Google Shape;652;p39"/>
          <p:cNvSpPr/>
          <p:nvPr/>
        </p:nvSpPr>
        <p:spPr>
          <a:xfrm>
            <a:off x="1794625" y="6075958"/>
            <a:ext cx="85497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160"/>
              <a:buFont typeface="Inter"/>
              <a:buNone/>
            </a:pPr>
            <a:r>
              <a:rPr b="1" i="0" lang="en-US" sz="1160" u="none" cap="none" strike="noStrike">
                <a:solidFill>
                  <a:srgbClr val="101A33"/>
                </a:solidFill>
                <a:latin typeface="Inter"/>
                <a:ea typeface="Inter"/>
                <a:cs typeface="Inter"/>
                <a:sym typeface="Inter"/>
              </a:rPr>
              <a:t>A practical and meaningful capstone with applied research value and integration-based innovation.</a:t>
            </a:r>
            <a:endParaRPr b="0" i="0" sz="1160" u="none" cap="none" strike="noStrike">
              <a:solidFill>
                <a:srgbClr val="000000"/>
              </a:solidFill>
              <a:latin typeface="Inter"/>
              <a:ea typeface="Inter"/>
              <a:cs typeface="Inter"/>
              <a:sym typeface="Inter"/>
            </a:endParaRPr>
          </a:p>
        </p:txBody>
      </p:sp>
      <p:pic>
        <p:nvPicPr>
          <p:cNvPr id="653" name="Google Shape;653;p39"/>
          <p:cNvPicPr preferRelativeResize="0"/>
          <p:nvPr/>
        </p:nvPicPr>
        <p:blipFill>
          <a:blip r:embed="rId3">
            <a:alphaModFix/>
          </a:blip>
          <a:stretch>
            <a:fillRect/>
          </a:stretch>
        </p:blipFill>
        <p:spPr>
          <a:xfrm>
            <a:off x="935100" y="1861175"/>
            <a:ext cx="795525" cy="757648"/>
          </a:xfrm>
          <a:prstGeom prst="rect">
            <a:avLst/>
          </a:prstGeom>
          <a:noFill/>
          <a:ln>
            <a:noFill/>
          </a:ln>
        </p:spPr>
      </p:pic>
      <p:pic>
        <p:nvPicPr>
          <p:cNvPr id="654" name="Google Shape;654;p39"/>
          <p:cNvPicPr preferRelativeResize="0"/>
          <p:nvPr/>
        </p:nvPicPr>
        <p:blipFill>
          <a:blip r:embed="rId4">
            <a:alphaModFix/>
          </a:blip>
          <a:stretch>
            <a:fillRect/>
          </a:stretch>
        </p:blipFill>
        <p:spPr>
          <a:xfrm>
            <a:off x="4534458" y="1874300"/>
            <a:ext cx="731400" cy="731400"/>
          </a:xfrm>
          <a:prstGeom prst="rect">
            <a:avLst/>
          </a:prstGeom>
          <a:noFill/>
          <a:ln>
            <a:noFill/>
          </a:ln>
        </p:spPr>
      </p:pic>
      <p:pic>
        <p:nvPicPr>
          <p:cNvPr id="655" name="Google Shape;655;p39"/>
          <p:cNvPicPr preferRelativeResize="0"/>
          <p:nvPr/>
        </p:nvPicPr>
        <p:blipFill>
          <a:blip r:embed="rId5">
            <a:alphaModFix/>
          </a:blip>
          <a:stretch>
            <a:fillRect/>
          </a:stretch>
        </p:blipFill>
        <p:spPr>
          <a:xfrm>
            <a:off x="8222849" y="1867774"/>
            <a:ext cx="731400" cy="744443"/>
          </a:xfrm>
          <a:prstGeom prst="rect">
            <a:avLst/>
          </a:prstGeom>
          <a:noFill/>
          <a:ln>
            <a:noFill/>
          </a:ln>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MỤC 4 &amp; MỤC 5 · RELATED WORK &amp; SOTA BASELINES</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04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Bảng So sánh Đối chuẩn SOTA Cơ sở trên Tập Chuẩn SHWD (VOC2028)</a:t>
            </a:r>
          </a:p>
        </p:txBody>
      </p:sp>
      <p:graphicFrame>
        <p:nvGraphicFramePr>
          <p:cNvPr id="7" name="Table 6"/>
          <p:cNvGraphicFramePr>
            <a:graphicFrameLocks noGrp="1"/>
          </p:cNvGraphicFramePr>
          <p:nvPr/>
        </p:nvGraphicFramePr>
        <p:xfrm>
          <a:off x="731520" y="1234440"/>
          <a:ext cx="10728655" cy="2926080"/>
        </p:xfrm>
        <a:graphic>
          <a:graphicData uri="http://schemas.openxmlformats.org/drawingml/2006/table">
            <a:tbl>
              <a:tblPr firstRow="1" bandRow="1">
                <a:tableStyleId>{5C22544A-7EE6-4342-B048-85BDC9FD1C3A}</a:tableStyleId>
              </a:tblPr>
              <a:tblGrid>
                <a:gridCol w="2864815"/>
                <a:gridCol w="1005840"/>
                <a:gridCol w="1005840"/>
                <a:gridCol w="1097280"/>
                <a:gridCol w="1188720"/>
                <a:gridCol w="1188720"/>
                <a:gridCol w="1188720"/>
                <a:gridCol w="1188720"/>
              </a:tblGrid>
              <a:tr h="365760">
                <a:tc>
                  <a:txBody>
                    <a:bodyPr/>
                    <a:lstStyle/>
                    <a:p>
                      <a:pPr algn="l">
                        <a:defRPr sz="950" b="1">
                          <a:solidFill>
                            <a:srgbClr val="FFFFFF"/>
                          </a:solidFill>
                          <a:latin typeface="Calibri"/>
                        </a:defRPr>
                      </a:pPr>
                      <a:r>
                        <a:t>Model Architecture</a:t>
                      </a:r>
                    </a:p>
                  </a:txBody>
                  <a:tcPr>
                    <a:solidFill>
                      <a:srgbClr val="0F172A"/>
                    </a:solidFill>
                  </a:tcPr>
                </a:tc>
                <a:tc>
                  <a:txBody>
                    <a:bodyPr/>
                    <a:lstStyle/>
                    <a:p>
                      <a:pPr algn="ctr">
                        <a:defRPr sz="950" b="1">
                          <a:solidFill>
                            <a:srgbClr val="FFFFFF"/>
                          </a:solidFill>
                          <a:latin typeface="Calibri"/>
                        </a:defRPr>
                      </a:pPr>
                      <a:r>
                        <a:t>Params (M)</a:t>
                      </a:r>
                    </a:p>
                  </a:txBody>
                  <a:tcPr>
                    <a:solidFill>
                      <a:srgbClr val="0F172A"/>
                    </a:solidFill>
                  </a:tcPr>
                </a:tc>
                <a:tc>
                  <a:txBody>
                    <a:bodyPr/>
                    <a:lstStyle/>
                    <a:p>
                      <a:pPr algn="ctr">
                        <a:defRPr sz="950" b="1">
                          <a:solidFill>
                            <a:srgbClr val="FFFFFF"/>
                          </a:solidFill>
                          <a:latin typeface="Calibri"/>
                        </a:defRPr>
                      </a:pPr>
                      <a:r>
                        <a:t>FLOPs (G)</a:t>
                      </a:r>
                    </a:p>
                  </a:txBody>
                  <a:tcPr>
                    <a:solidFill>
                      <a:srgbClr val="0F172A"/>
                    </a:solidFill>
                  </a:tcPr>
                </a:tc>
                <a:tc>
                  <a:txBody>
                    <a:bodyPr/>
                    <a:lstStyle/>
                    <a:p>
                      <a:pPr algn="ctr">
                        <a:defRPr sz="950" b="1">
                          <a:solidFill>
                            <a:srgbClr val="FFFFFF"/>
                          </a:solidFill>
                          <a:latin typeface="Calibri"/>
                        </a:defRPr>
                      </a:pPr>
                      <a:r>
                        <a:t>mAP50 (%)</a:t>
                      </a:r>
                    </a:p>
                  </a:txBody>
                  <a:tcPr>
                    <a:solidFill>
                      <a:srgbClr val="0F172A"/>
                    </a:solidFill>
                  </a:tcPr>
                </a:tc>
                <a:tc>
                  <a:txBody>
                    <a:bodyPr/>
                    <a:lstStyle/>
                    <a:p>
                      <a:pPr algn="ctr">
                        <a:defRPr sz="950" b="1">
                          <a:solidFill>
                            <a:srgbClr val="FFFFFF"/>
                          </a:solidFill>
                          <a:latin typeface="Calibri"/>
                        </a:defRPr>
                      </a:pPr>
                      <a:r>
                        <a:t>mAP50-95 (%)</a:t>
                      </a:r>
                    </a:p>
                  </a:txBody>
                  <a:tcPr>
                    <a:solidFill>
                      <a:srgbClr val="0F172A"/>
                    </a:solidFill>
                  </a:tcPr>
                </a:tc>
                <a:tc>
                  <a:txBody>
                    <a:bodyPr/>
                    <a:lstStyle/>
                    <a:p>
                      <a:pPr algn="ctr">
                        <a:defRPr sz="950" b="1">
                          <a:solidFill>
                            <a:srgbClr val="FFFFFF"/>
                          </a:solidFill>
                          <a:latin typeface="Calibri"/>
                        </a:defRPr>
                      </a:pPr>
                      <a:r>
                        <a:t>AP50 hat (%)</a:t>
                      </a:r>
                    </a:p>
                  </a:txBody>
                  <a:tcPr>
                    <a:solidFill>
                      <a:srgbClr val="0F172A"/>
                    </a:solidFill>
                  </a:tcPr>
                </a:tc>
                <a:tc>
                  <a:txBody>
                    <a:bodyPr/>
                    <a:lstStyle/>
                    <a:p>
                      <a:pPr algn="ctr">
                        <a:defRPr sz="950" b="1">
                          <a:solidFill>
                            <a:srgbClr val="FFFFFF"/>
                          </a:solidFill>
                          <a:latin typeface="Calibri"/>
                        </a:defRPr>
                      </a:pPr>
                      <a:r>
                        <a:t>Recall hat (%)</a:t>
                      </a:r>
                    </a:p>
                  </a:txBody>
                  <a:tcPr>
                    <a:solidFill>
                      <a:srgbClr val="0F172A"/>
                    </a:solidFill>
                  </a:tcPr>
                </a:tc>
                <a:tc>
                  <a:txBody>
                    <a:bodyPr/>
                    <a:lstStyle/>
                    <a:p>
                      <a:pPr algn="ctr">
                        <a:defRPr sz="950" b="1">
                          <a:solidFill>
                            <a:srgbClr val="FFFFFF"/>
                          </a:solidFill>
                          <a:latin typeface="Calibri"/>
                        </a:defRPr>
                      </a:pPr>
                      <a:r>
                        <a:t>F1 hat</a:t>
                      </a:r>
                    </a:p>
                  </a:txBody>
                  <a:tcPr>
                    <a:solidFill>
                      <a:srgbClr val="0F172A"/>
                    </a:solidFill>
                  </a:tcPr>
                </a:tc>
              </a:tr>
              <a:tr h="365760">
                <a:tc>
                  <a:txBody>
                    <a:bodyPr/>
                    <a:lstStyle/>
                    <a:p>
                      <a:pPr algn="l">
                        <a:defRPr sz="919" b="1">
                          <a:solidFill>
                            <a:srgbClr val="0F172A"/>
                          </a:solidFill>
                          <a:latin typeface="Calibri"/>
                        </a:defRPr>
                      </a:pPr>
                      <a:r>
                        <a:t>YOLOv8n</a:t>
                      </a:r>
                    </a:p>
                  </a:txBody>
                  <a:tcPr>
                    <a:solidFill>
                      <a:srgbClr val="FFFFFF"/>
                    </a:solidFill>
                  </a:tcPr>
                </a:tc>
                <a:tc>
                  <a:txBody>
                    <a:bodyPr/>
                    <a:lstStyle/>
                    <a:p>
                      <a:pPr algn="ctr">
                        <a:defRPr sz="919" b="0">
                          <a:solidFill>
                            <a:srgbClr val="334155"/>
                          </a:solidFill>
                          <a:latin typeface="Calibri"/>
                        </a:defRPr>
                      </a:pPr>
                      <a:r>
                        <a:t>3.15</a:t>
                      </a:r>
                    </a:p>
                  </a:txBody>
                  <a:tcPr>
                    <a:solidFill>
                      <a:srgbClr val="FFFFFF"/>
                    </a:solidFill>
                  </a:tcPr>
                </a:tc>
                <a:tc>
                  <a:txBody>
                    <a:bodyPr/>
                    <a:lstStyle/>
                    <a:p>
                      <a:pPr algn="ctr">
                        <a:defRPr sz="919" b="0">
                          <a:solidFill>
                            <a:srgbClr val="334155"/>
                          </a:solidFill>
                          <a:latin typeface="Calibri"/>
                        </a:defRPr>
                      </a:pPr>
                      <a:r>
                        <a:t>8.7</a:t>
                      </a:r>
                    </a:p>
                  </a:txBody>
                  <a:tcPr>
                    <a:solidFill>
                      <a:srgbClr val="FFFFFF"/>
                    </a:solidFill>
                  </a:tcPr>
                </a:tc>
                <a:tc>
                  <a:txBody>
                    <a:bodyPr/>
                    <a:lstStyle/>
                    <a:p>
                      <a:pPr algn="ctr">
                        <a:defRPr sz="919" b="0">
                          <a:solidFill>
                            <a:srgbClr val="334155"/>
                          </a:solidFill>
                          <a:latin typeface="Calibri"/>
                        </a:defRPr>
                      </a:pPr>
                      <a:r>
                        <a:t>93.21</a:t>
                      </a:r>
                    </a:p>
                  </a:txBody>
                  <a:tcPr>
                    <a:solidFill>
                      <a:srgbClr val="FFFFFF"/>
                    </a:solidFill>
                  </a:tcPr>
                </a:tc>
                <a:tc>
                  <a:txBody>
                    <a:bodyPr/>
                    <a:lstStyle/>
                    <a:p>
                      <a:pPr algn="ctr">
                        <a:defRPr sz="919" b="0">
                          <a:solidFill>
                            <a:srgbClr val="334155"/>
                          </a:solidFill>
                          <a:latin typeface="Calibri"/>
                        </a:defRPr>
                      </a:pPr>
                      <a:r>
                        <a:t>60.26</a:t>
                      </a:r>
                    </a:p>
                  </a:txBody>
                  <a:tcPr>
                    <a:solidFill>
                      <a:srgbClr val="FFFFFF"/>
                    </a:solidFill>
                  </a:tcPr>
                </a:tc>
                <a:tc>
                  <a:txBody>
                    <a:bodyPr/>
                    <a:lstStyle/>
                    <a:p>
                      <a:pPr algn="ctr">
                        <a:defRPr sz="919" b="0">
                          <a:solidFill>
                            <a:srgbClr val="334155"/>
                          </a:solidFill>
                          <a:latin typeface="Calibri"/>
                        </a:defRPr>
                      </a:pPr>
                      <a:r>
                        <a:t>92.42</a:t>
                      </a:r>
                    </a:p>
                  </a:txBody>
                  <a:tcPr>
                    <a:solidFill>
                      <a:srgbClr val="FFFFFF"/>
                    </a:solidFill>
                  </a:tcPr>
                </a:tc>
                <a:tc>
                  <a:txBody>
                    <a:bodyPr/>
                    <a:lstStyle/>
                    <a:p>
                      <a:pPr algn="ctr">
                        <a:defRPr sz="919" b="0">
                          <a:solidFill>
                            <a:srgbClr val="334155"/>
                          </a:solidFill>
                          <a:latin typeface="Calibri"/>
                        </a:defRPr>
                      </a:pPr>
                      <a:r>
                        <a:t>87.16</a:t>
                      </a:r>
                    </a:p>
                  </a:txBody>
                  <a:tcPr>
                    <a:solidFill>
                      <a:srgbClr val="FFFFFF"/>
                    </a:solidFill>
                  </a:tcPr>
                </a:tc>
                <a:tc>
                  <a:txBody>
                    <a:bodyPr/>
                    <a:lstStyle/>
                    <a:p>
                      <a:pPr algn="ctr">
                        <a:defRPr sz="919" b="0">
                          <a:solidFill>
                            <a:srgbClr val="334155"/>
                          </a:solidFill>
                          <a:latin typeface="Calibri"/>
                        </a:defRPr>
                      </a:pPr>
                      <a:r>
                        <a:t>0.8879</a:t>
                      </a:r>
                    </a:p>
                  </a:txBody>
                  <a:tcPr>
                    <a:solidFill>
                      <a:srgbClr val="FFFFFF"/>
                    </a:solidFill>
                  </a:tcPr>
                </a:tc>
              </a:tr>
              <a:tr h="365760">
                <a:tc>
                  <a:txBody>
                    <a:bodyPr/>
                    <a:lstStyle/>
                    <a:p>
                      <a:pPr algn="l">
                        <a:defRPr sz="919" b="1">
                          <a:solidFill>
                            <a:srgbClr val="0F172A"/>
                          </a:solidFill>
                          <a:latin typeface="Calibri"/>
                        </a:defRPr>
                      </a:pPr>
                      <a:r>
                        <a:t>YOLOv8s</a:t>
                      </a:r>
                    </a:p>
                  </a:txBody>
                  <a:tcPr>
                    <a:solidFill>
                      <a:srgbClr val="F1F5F9"/>
                    </a:solidFill>
                  </a:tcPr>
                </a:tc>
                <a:tc>
                  <a:txBody>
                    <a:bodyPr/>
                    <a:lstStyle/>
                    <a:p>
                      <a:pPr algn="ctr">
                        <a:defRPr sz="919" b="0">
                          <a:solidFill>
                            <a:srgbClr val="334155"/>
                          </a:solidFill>
                          <a:latin typeface="Calibri"/>
                        </a:defRPr>
                      </a:pPr>
                      <a:r>
                        <a:t>11.24</a:t>
                      </a:r>
                    </a:p>
                  </a:txBody>
                  <a:tcPr>
                    <a:solidFill>
                      <a:srgbClr val="F1F5F9"/>
                    </a:solidFill>
                  </a:tcPr>
                </a:tc>
                <a:tc>
                  <a:txBody>
                    <a:bodyPr/>
                    <a:lstStyle/>
                    <a:p>
                      <a:pPr algn="ctr">
                        <a:defRPr sz="919" b="0">
                          <a:solidFill>
                            <a:srgbClr val="334155"/>
                          </a:solidFill>
                          <a:latin typeface="Calibri"/>
                        </a:defRPr>
                      </a:pPr>
                      <a:r>
                        <a:t>28.6</a:t>
                      </a:r>
                    </a:p>
                  </a:txBody>
                  <a:tcPr>
                    <a:solidFill>
                      <a:srgbClr val="F1F5F9"/>
                    </a:solidFill>
                  </a:tcPr>
                </a:tc>
                <a:tc>
                  <a:txBody>
                    <a:bodyPr/>
                    <a:lstStyle/>
                    <a:p>
                      <a:pPr algn="ctr">
                        <a:defRPr sz="919" b="0">
                          <a:solidFill>
                            <a:srgbClr val="334155"/>
                          </a:solidFill>
                          <a:latin typeface="Calibri"/>
                        </a:defRPr>
                      </a:pPr>
                      <a:r>
                        <a:t>94.89</a:t>
                      </a:r>
                    </a:p>
                  </a:txBody>
                  <a:tcPr>
                    <a:solidFill>
                      <a:srgbClr val="F1F5F9"/>
                    </a:solidFill>
                  </a:tcPr>
                </a:tc>
                <a:tc>
                  <a:txBody>
                    <a:bodyPr/>
                    <a:lstStyle/>
                    <a:p>
                      <a:pPr algn="ctr">
                        <a:defRPr sz="919" b="0">
                          <a:solidFill>
                            <a:srgbClr val="334155"/>
                          </a:solidFill>
                          <a:latin typeface="Calibri"/>
                        </a:defRPr>
                      </a:pPr>
                      <a:r>
                        <a:t>62.21</a:t>
                      </a:r>
                    </a:p>
                  </a:txBody>
                  <a:tcPr>
                    <a:solidFill>
                      <a:srgbClr val="F1F5F9"/>
                    </a:solidFill>
                  </a:tcPr>
                </a:tc>
                <a:tc>
                  <a:txBody>
                    <a:bodyPr/>
                    <a:lstStyle/>
                    <a:p>
                      <a:pPr algn="ctr">
                        <a:defRPr sz="919" b="0">
                          <a:solidFill>
                            <a:srgbClr val="334155"/>
                          </a:solidFill>
                          <a:latin typeface="Calibri"/>
                        </a:defRPr>
                      </a:pPr>
                      <a:r>
                        <a:t>94.28</a:t>
                      </a:r>
                    </a:p>
                  </a:txBody>
                  <a:tcPr>
                    <a:solidFill>
                      <a:srgbClr val="F1F5F9"/>
                    </a:solidFill>
                  </a:tcPr>
                </a:tc>
                <a:tc>
                  <a:txBody>
                    <a:bodyPr/>
                    <a:lstStyle/>
                    <a:p>
                      <a:pPr algn="ctr">
                        <a:defRPr sz="919" b="0">
                          <a:solidFill>
                            <a:srgbClr val="334155"/>
                          </a:solidFill>
                          <a:latin typeface="Calibri"/>
                        </a:defRPr>
                      </a:pPr>
                      <a:r>
                        <a:t>90.62</a:t>
                      </a:r>
                    </a:p>
                  </a:txBody>
                  <a:tcPr>
                    <a:solidFill>
                      <a:srgbClr val="F1F5F9"/>
                    </a:solidFill>
                  </a:tcPr>
                </a:tc>
                <a:tc>
                  <a:txBody>
                    <a:bodyPr/>
                    <a:lstStyle/>
                    <a:p>
                      <a:pPr algn="ctr">
                        <a:defRPr sz="919" b="0">
                          <a:solidFill>
                            <a:srgbClr val="334155"/>
                          </a:solidFill>
                          <a:latin typeface="Calibri"/>
                        </a:defRPr>
                      </a:pPr>
                      <a:r>
                        <a:t>0.9120</a:t>
                      </a:r>
                    </a:p>
                  </a:txBody>
                  <a:tcPr>
                    <a:solidFill>
                      <a:srgbClr val="F1F5F9"/>
                    </a:solidFill>
                  </a:tcPr>
                </a:tc>
              </a:tr>
              <a:tr h="365760">
                <a:tc>
                  <a:txBody>
                    <a:bodyPr/>
                    <a:lstStyle/>
                    <a:p>
                      <a:pPr algn="l">
                        <a:defRPr sz="919" b="1">
                          <a:solidFill>
                            <a:srgbClr val="0F172A"/>
                          </a:solidFill>
                          <a:latin typeface="Calibri"/>
                        </a:defRPr>
                      </a:pPr>
                      <a:r>
                        <a:t>YOLOv10n</a:t>
                      </a:r>
                    </a:p>
                  </a:txBody>
                  <a:tcPr>
                    <a:solidFill>
                      <a:srgbClr val="FFFFFF"/>
                    </a:solidFill>
                  </a:tcPr>
                </a:tc>
                <a:tc>
                  <a:txBody>
                    <a:bodyPr/>
                    <a:lstStyle/>
                    <a:p>
                      <a:pPr algn="ctr">
                        <a:defRPr sz="919" b="0">
                          <a:solidFill>
                            <a:srgbClr val="334155"/>
                          </a:solidFill>
                          <a:latin typeface="Calibri"/>
                        </a:defRPr>
                      </a:pPr>
                      <a:r>
                        <a:t>2.30</a:t>
                      </a:r>
                    </a:p>
                  </a:txBody>
                  <a:tcPr>
                    <a:solidFill>
                      <a:srgbClr val="FFFFFF"/>
                    </a:solidFill>
                  </a:tcPr>
                </a:tc>
                <a:tc>
                  <a:txBody>
                    <a:bodyPr/>
                    <a:lstStyle/>
                    <a:p>
                      <a:pPr algn="ctr">
                        <a:defRPr sz="919" b="0">
                          <a:solidFill>
                            <a:srgbClr val="334155"/>
                          </a:solidFill>
                          <a:latin typeface="Calibri"/>
                        </a:defRPr>
                      </a:pPr>
                      <a:r>
                        <a:t>6.7</a:t>
                      </a:r>
                    </a:p>
                  </a:txBody>
                  <a:tcPr>
                    <a:solidFill>
                      <a:srgbClr val="FFFFFF"/>
                    </a:solidFill>
                  </a:tcPr>
                </a:tc>
                <a:tc>
                  <a:txBody>
                    <a:bodyPr/>
                    <a:lstStyle/>
                    <a:p>
                      <a:pPr algn="ctr">
                        <a:defRPr sz="919" b="0">
                          <a:solidFill>
                            <a:srgbClr val="334155"/>
                          </a:solidFill>
                          <a:latin typeface="Calibri"/>
                        </a:defRPr>
                      </a:pPr>
                      <a:r>
                        <a:t>93.30</a:t>
                      </a:r>
                    </a:p>
                  </a:txBody>
                  <a:tcPr>
                    <a:solidFill>
                      <a:srgbClr val="FFFFFF"/>
                    </a:solidFill>
                  </a:tcPr>
                </a:tc>
                <a:tc>
                  <a:txBody>
                    <a:bodyPr/>
                    <a:lstStyle/>
                    <a:p>
                      <a:pPr algn="ctr">
                        <a:defRPr sz="919" b="0">
                          <a:solidFill>
                            <a:srgbClr val="334155"/>
                          </a:solidFill>
                          <a:latin typeface="Calibri"/>
                        </a:defRPr>
                      </a:pPr>
                      <a:r>
                        <a:t>60.35</a:t>
                      </a:r>
                    </a:p>
                  </a:txBody>
                  <a:tcPr>
                    <a:solidFill>
                      <a:srgbClr val="FFFFFF"/>
                    </a:solidFill>
                  </a:tcPr>
                </a:tc>
                <a:tc>
                  <a:txBody>
                    <a:bodyPr/>
                    <a:lstStyle/>
                    <a:p>
                      <a:pPr algn="ctr">
                        <a:defRPr sz="919" b="0">
                          <a:solidFill>
                            <a:srgbClr val="334155"/>
                          </a:solidFill>
                          <a:latin typeface="Calibri"/>
                        </a:defRPr>
                      </a:pPr>
                      <a:r>
                        <a:t>92.97</a:t>
                      </a:r>
                    </a:p>
                  </a:txBody>
                  <a:tcPr>
                    <a:solidFill>
                      <a:srgbClr val="FFFFFF"/>
                    </a:solidFill>
                  </a:tcPr>
                </a:tc>
                <a:tc>
                  <a:txBody>
                    <a:bodyPr/>
                    <a:lstStyle/>
                    <a:p>
                      <a:pPr algn="ctr">
                        <a:defRPr sz="919" b="0">
                          <a:solidFill>
                            <a:srgbClr val="334155"/>
                          </a:solidFill>
                          <a:latin typeface="Calibri"/>
                        </a:defRPr>
                      </a:pPr>
                      <a:r>
                        <a:t>87.13</a:t>
                      </a:r>
                    </a:p>
                  </a:txBody>
                  <a:tcPr>
                    <a:solidFill>
                      <a:srgbClr val="FFFFFF"/>
                    </a:solidFill>
                  </a:tcPr>
                </a:tc>
                <a:tc>
                  <a:txBody>
                    <a:bodyPr/>
                    <a:lstStyle/>
                    <a:p>
                      <a:pPr algn="ctr">
                        <a:defRPr sz="919" b="0">
                          <a:solidFill>
                            <a:srgbClr val="334155"/>
                          </a:solidFill>
                          <a:latin typeface="Calibri"/>
                        </a:defRPr>
                      </a:pPr>
                      <a:r>
                        <a:t>0.8930</a:t>
                      </a:r>
                    </a:p>
                  </a:txBody>
                  <a:tcPr>
                    <a:solidFill>
                      <a:srgbClr val="FFFFFF"/>
                    </a:solidFill>
                  </a:tcPr>
                </a:tc>
              </a:tr>
              <a:tr h="365760">
                <a:tc>
                  <a:txBody>
                    <a:bodyPr/>
                    <a:lstStyle/>
                    <a:p>
                      <a:pPr algn="l">
                        <a:defRPr sz="919" b="1">
                          <a:solidFill>
                            <a:srgbClr val="0F172A"/>
                          </a:solidFill>
                          <a:latin typeface="Calibri"/>
                        </a:defRPr>
                      </a:pPr>
                      <a:r>
                        <a:t>YOLOv10s</a:t>
                      </a:r>
                    </a:p>
                  </a:txBody>
                  <a:tcPr>
                    <a:solidFill>
                      <a:srgbClr val="F1F5F9"/>
                    </a:solidFill>
                  </a:tcPr>
                </a:tc>
                <a:tc>
                  <a:txBody>
                    <a:bodyPr/>
                    <a:lstStyle/>
                    <a:p>
                      <a:pPr algn="ctr">
                        <a:defRPr sz="919" b="0">
                          <a:solidFill>
                            <a:srgbClr val="334155"/>
                          </a:solidFill>
                          <a:latin typeface="Calibri"/>
                        </a:defRPr>
                      </a:pPr>
                      <a:r>
                        <a:t>8.00</a:t>
                      </a:r>
                    </a:p>
                  </a:txBody>
                  <a:tcPr>
                    <a:solidFill>
                      <a:srgbClr val="F1F5F9"/>
                    </a:solidFill>
                  </a:tcPr>
                </a:tc>
                <a:tc>
                  <a:txBody>
                    <a:bodyPr/>
                    <a:lstStyle/>
                    <a:p>
                      <a:pPr algn="ctr">
                        <a:defRPr sz="919" b="0">
                          <a:solidFill>
                            <a:srgbClr val="334155"/>
                          </a:solidFill>
                          <a:latin typeface="Calibri"/>
                        </a:defRPr>
                      </a:pPr>
                      <a:r>
                        <a:t>21.6</a:t>
                      </a:r>
                    </a:p>
                  </a:txBody>
                  <a:tcPr>
                    <a:solidFill>
                      <a:srgbClr val="F1F5F9"/>
                    </a:solidFill>
                  </a:tcPr>
                </a:tc>
                <a:tc>
                  <a:txBody>
                    <a:bodyPr/>
                    <a:lstStyle/>
                    <a:p>
                      <a:pPr algn="ctr">
                        <a:defRPr sz="919" b="0">
                          <a:solidFill>
                            <a:srgbClr val="334155"/>
                          </a:solidFill>
                          <a:latin typeface="Calibri"/>
                        </a:defRPr>
                      </a:pPr>
                      <a:r>
                        <a:t>94.39</a:t>
                      </a:r>
                    </a:p>
                  </a:txBody>
                  <a:tcPr>
                    <a:solidFill>
                      <a:srgbClr val="F1F5F9"/>
                    </a:solidFill>
                  </a:tcPr>
                </a:tc>
                <a:tc>
                  <a:txBody>
                    <a:bodyPr/>
                    <a:lstStyle/>
                    <a:p>
                      <a:pPr algn="ctr">
                        <a:defRPr sz="919" b="0">
                          <a:solidFill>
                            <a:srgbClr val="334155"/>
                          </a:solidFill>
                          <a:latin typeface="Calibri"/>
                        </a:defRPr>
                      </a:pPr>
                      <a:r>
                        <a:t>62.19</a:t>
                      </a:r>
                    </a:p>
                  </a:txBody>
                  <a:tcPr>
                    <a:solidFill>
                      <a:srgbClr val="F1F5F9"/>
                    </a:solidFill>
                  </a:tcPr>
                </a:tc>
                <a:tc>
                  <a:txBody>
                    <a:bodyPr/>
                    <a:lstStyle/>
                    <a:p>
                      <a:pPr algn="ctr">
                        <a:defRPr sz="919" b="0">
                          <a:solidFill>
                            <a:srgbClr val="334155"/>
                          </a:solidFill>
                          <a:latin typeface="Calibri"/>
                        </a:defRPr>
                      </a:pPr>
                      <a:r>
                        <a:t>93.36</a:t>
                      </a:r>
                    </a:p>
                  </a:txBody>
                  <a:tcPr>
                    <a:solidFill>
                      <a:srgbClr val="F1F5F9"/>
                    </a:solidFill>
                  </a:tcPr>
                </a:tc>
                <a:tc>
                  <a:txBody>
                    <a:bodyPr/>
                    <a:lstStyle/>
                    <a:p>
                      <a:pPr algn="ctr">
                        <a:defRPr sz="919" b="0">
                          <a:solidFill>
                            <a:srgbClr val="334155"/>
                          </a:solidFill>
                          <a:latin typeface="Calibri"/>
                        </a:defRPr>
                      </a:pPr>
                      <a:r>
                        <a:t>89.14</a:t>
                      </a:r>
                    </a:p>
                  </a:txBody>
                  <a:tcPr>
                    <a:solidFill>
                      <a:srgbClr val="F1F5F9"/>
                    </a:solidFill>
                  </a:tcPr>
                </a:tc>
                <a:tc>
                  <a:txBody>
                    <a:bodyPr/>
                    <a:lstStyle/>
                    <a:p>
                      <a:pPr algn="ctr">
                        <a:defRPr sz="919" b="0">
                          <a:solidFill>
                            <a:srgbClr val="334155"/>
                          </a:solidFill>
                          <a:latin typeface="Calibri"/>
                        </a:defRPr>
                      </a:pPr>
                      <a:r>
                        <a:t>0.9049</a:t>
                      </a:r>
                    </a:p>
                  </a:txBody>
                  <a:tcPr>
                    <a:solidFill>
                      <a:srgbClr val="F1F5F9"/>
                    </a:solidFill>
                  </a:tcPr>
                </a:tc>
              </a:tr>
              <a:tr h="365760">
                <a:tc>
                  <a:txBody>
                    <a:bodyPr/>
                    <a:lstStyle/>
                    <a:p>
                      <a:pPr algn="l">
                        <a:defRPr sz="919" b="1">
                          <a:solidFill>
                            <a:srgbClr val="0F172A"/>
                          </a:solidFill>
                          <a:latin typeface="Calibri"/>
                        </a:defRPr>
                      </a:pPr>
                      <a:r>
                        <a:t>YOLO11n</a:t>
                      </a:r>
                    </a:p>
                  </a:txBody>
                  <a:tcPr>
                    <a:solidFill>
                      <a:srgbClr val="FFFFFF"/>
                    </a:solidFill>
                  </a:tcPr>
                </a:tc>
                <a:tc>
                  <a:txBody>
                    <a:bodyPr/>
                    <a:lstStyle/>
                    <a:p>
                      <a:pPr algn="ctr">
                        <a:defRPr sz="919" b="0">
                          <a:solidFill>
                            <a:srgbClr val="334155"/>
                          </a:solidFill>
                          <a:latin typeface="Calibri"/>
                        </a:defRPr>
                      </a:pPr>
                      <a:r>
                        <a:t>2.60</a:t>
                      </a:r>
                    </a:p>
                  </a:txBody>
                  <a:tcPr>
                    <a:solidFill>
                      <a:srgbClr val="FFFFFF"/>
                    </a:solidFill>
                  </a:tcPr>
                </a:tc>
                <a:tc>
                  <a:txBody>
                    <a:bodyPr/>
                    <a:lstStyle/>
                    <a:p>
                      <a:pPr algn="ctr">
                        <a:defRPr sz="919" b="0">
                          <a:solidFill>
                            <a:srgbClr val="334155"/>
                          </a:solidFill>
                          <a:latin typeface="Calibri"/>
                        </a:defRPr>
                      </a:pPr>
                      <a:r>
                        <a:t>6.5</a:t>
                      </a:r>
                    </a:p>
                  </a:txBody>
                  <a:tcPr>
                    <a:solidFill>
                      <a:srgbClr val="FFFFFF"/>
                    </a:solidFill>
                  </a:tcPr>
                </a:tc>
                <a:tc>
                  <a:txBody>
                    <a:bodyPr/>
                    <a:lstStyle/>
                    <a:p>
                      <a:pPr algn="ctr">
                        <a:defRPr sz="919" b="0">
                          <a:solidFill>
                            <a:srgbClr val="334155"/>
                          </a:solidFill>
                          <a:latin typeface="Calibri"/>
                        </a:defRPr>
                      </a:pPr>
                      <a:r>
                        <a:t>93.19</a:t>
                      </a:r>
                    </a:p>
                  </a:txBody>
                  <a:tcPr>
                    <a:solidFill>
                      <a:srgbClr val="FFFFFF"/>
                    </a:solidFill>
                  </a:tcPr>
                </a:tc>
                <a:tc>
                  <a:txBody>
                    <a:bodyPr/>
                    <a:lstStyle/>
                    <a:p>
                      <a:pPr algn="ctr">
                        <a:defRPr sz="919" b="0">
                          <a:solidFill>
                            <a:srgbClr val="334155"/>
                          </a:solidFill>
                          <a:latin typeface="Calibri"/>
                        </a:defRPr>
                      </a:pPr>
                      <a:r>
                        <a:t>60.21</a:t>
                      </a:r>
                    </a:p>
                  </a:txBody>
                  <a:tcPr>
                    <a:solidFill>
                      <a:srgbClr val="FFFFFF"/>
                    </a:solidFill>
                  </a:tcPr>
                </a:tc>
                <a:tc>
                  <a:txBody>
                    <a:bodyPr/>
                    <a:lstStyle/>
                    <a:p>
                      <a:pPr algn="ctr">
                        <a:defRPr sz="919" b="0">
                          <a:solidFill>
                            <a:srgbClr val="334155"/>
                          </a:solidFill>
                          <a:latin typeface="Calibri"/>
                        </a:defRPr>
                      </a:pPr>
                      <a:r>
                        <a:t>92.33</a:t>
                      </a:r>
                    </a:p>
                  </a:txBody>
                  <a:tcPr>
                    <a:solidFill>
                      <a:srgbClr val="FFFFFF"/>
                    </a:solidFill>
                  </a:tcPr>
                </a:tc>
                <a:tc>
                  <a:txBody>
                    <a:bodyPr/>
                    <a:lstStyle/>
                    <a:p>
                      <a:pPr algn="ctr">
                        <a:defRPr sz="919" b="0">
                          <a:solidFill>
                            <a:srgbClr val="334155"/>
                          </a:solidFill>
                          <a:latin typeface="Calibri"/>
                        </a:defRPr>
                      </a:pPr>
                      <a:r>
                        <a:t>86.51</a:t>
                      </a:r>
                    </a:p>
                  </a:txBody>
                  <a:tcPr>
                    <a:solidFill>
                      <a:srgbClr val="FFFFFF"/>
                    </a:solidFill>
                  </a:tcPr>
                </a:tc>
                <a:tc>
                  <a:txBody>
                    <a:bodyPr/>
                    <a:lstStyle/>
                    <a:p>
                      <a:pPr algn="ctr">
                        <a:defRPr sz="919" b="0">
                          <a:solidFill>
                            <a:srgbClr val="334155"/>
                          </a:solidFill>
                          <a:latin typeface="Calibri"/>
                        </a:defRPr>
                      </a:pPr>
                      <a:r>
                        <a:t>0.8964</a:t>
                      </a:r>
                    </a:p>
                  </a:txBody>
                  <a:tcPr>
                    <a:solidFill>
                      <a:srgbClr val="FFFFFF"/>
                    </a:solidFill>
                  </a:tcPr>
                </a:tc>
              </a:tr>
              <a:tr h="365760">
                <a:tc>
                  <a:txBody>
                    <a:bodyPr/>
                    <a:lstStyle/>
                    <a:p>
                      <a:pPr algn="l">
                        <a:defRPr sz="919" b="1">
                          <a:solidFill>
                            <a:srgbClr val="0F172A"/>
                          </a:solidFill>
                          <a:latin typeface="Calibri"/>
                        </a:defRPr>
                      </a:pPr>
                      <a:r>
                        <a:t>YOLO11s (Chính)</a:t>
                      </a:r>
                    </a:p>
                  </a:txBody>
                  <a:tcPr>
                    <a:solidFill>
                      <a:srgbClr val="F1F5F9"/>
                    </a:solidFill>
                  </a:tcPr>
                </a:tc>
                <a:tc>
                  <a:txBody>
                    <a:bodyPr/>
                    <a:lstStyle/>
                    <a:p>
                      <a:pPr algn="ctr">
                        <a:defRPr sz="919" b="0">
                          <a:solidFill>
                            <a:srgbClr val="334155"/>
                          </a:solidFill>
                          <a:latin typeface="Calibri"/>
                        </a:defRPr>
                      </a:pPr>
                      <a:r>
                        <a:t>9.40</a:t>
                      </a:r>
                    </a:p>
                  </a:txBody>
                  <a:tcPr>
                    <a:solidFill>
                      <a:srgbClr val="F1F5F9"/>
                    </a:solidFill>
                  </a:tcPr>
                </a:tc>
                <a:tc>
                  <a:txBody>
                    <a:bodyPr/>
                    <a:lstStyle/>
                    <a:p>
                      <a:pPr algn="ctr">
                        <a:defRPr sz="919" b="0">
                          <a:solidFill>
                            <a:srgbClr val="334155"/>
                          </a:solidFill>
                          <a:latin typeface="Calibri"/>
                        </a:defRPr>
                      </a:pPr>
                      <a:r>
                        <a:t>21.5</a:t>
                      </a:r>
                    </a:p>
                  </a:txBody>
                  <a:tcPr>
                    <a:solidFill>
                      <a:srgbClr val="F1F5F9"/>
                    </a:solidFill>
                  </a:tcPr>
                </a:tc>
                <a:tc>
                  <a:txBody>
                    <a:bodyPr/>
                    <a:lstStyle/>
                    <a:p>
                      <a:pPr algn="ctr">
                        <a:defRPr sz="919" b="0">
                          <a:solidFill>
                            <a:srgbClr val="334155"/>
                          </a:solidFill>
                          <a:latin typeface="Calibri"/>
                        </a:defRPr>
                      </a:pPr>
                      <a:r>
                        <a:t>94.74</a:t>
                      </a:r>
                    </a:p>
                  </a:txBody>
                  <a:tcPr>
                    <a:solidFill>
                      <a:srgbClr val="F1F5F9"/>
                    </a:solidFill>
                  </a:tcPr>
                </a:tc>
                <a:tc>
                  <a:txBody>
                    <a:bodyPr/>
                    <a:lstStyle/>
                    <a:p>
                      <a:pPr algn="ctr">
                        <a:defRPr sz="919" b="0">
                          <a:solidFill>
                            <a:srgbClr val="334155"/>
                          </a:solidFill>
                          <a:latin typeface="Calibri"/>
                        </a:defRPr>
                      </a:pPr>
                      <a:r>
                        <a:t>62.54</a:t>
                      </a:r>
                    </a:p>
                  </a:txBody>
                  <a:tcPr>
                    <a:solidFill>
                      <a:srgbClr val="F1F5F9"/>
                    </a:solidFill>
                  </a:tcPr>
                </a:tc>
                <a:tc>
                  <a:txBody>
                    <a:bodyPr/>
                    <a:lstStyle/>
                    <a:p>
                      <a:pPr algn="ctr">
                        <a:defRPr sz="919" b="0">
                          <a:solidFill>
                            <a:srgbClr val="334155"/>
                          </a:solidFill>
                          <a:latin typeface="Calibri"/>
                        </a:defRPr>
                      </a:pPr>
                      <a:r>
                        <a:t>94.06</a:t>
                      </a:r>
                    </a:p>
                  </a:txBody>
                  <a:tcPr>
                    <a:solidFill>
                      <a:srgbClr val="F1F5F9"/>
                    </a:solidFill>
                  </a:tcPr>
                </a:tc>
                <a:tc>
                  <a:txBody>
                    <a:bodyPr/>
                    <a:lstStyle/>
                    <a:p>
                      <a:pPr algn="ctr">
                        <a:defRPr sz="919" b="0">
                          <a:solidFill>
                            <a:srgbClr val="334155"/>
                          </a:solidFill>
                          <a:latin typeface="Calibri"/>
                        </a:defRPr>
                      </a:pPr>
                      <a:r>
                        <a:t>90.35</a:t>
                      </a:r>
                    </a:p>
                  </a:txBody>
                  <a:tcPr>
                    <a:solidFill>
                      <a:srgbClr val="F1F5F9"/>
                    </a:solidFill>
                  </a:tcPr>
                </a:tc>
                <a:tc>
                  <a:txBody>
                    <a:bodyPr/>
                    <a:lstStyle/>
                    <a:p>
                      <a:pPr algn="ctr">
                        <a:defRPr sz="919" b="0">
                          <a:solidFill>
                            <a:srgbClr val="334155"/>
                          </a:solidFill>
                          <a:latin typeface="Calibri"/>
                        </a:defRPr>
                      </a:pPr>
                      <a:r>
                        <a:t>0.9073</a:t>
                      </a:r>
                    </a:p>
                  </a:txBody>
                  <a:tcPr>
                    <a:solidFill>
                      <a:srgbClr val="F1F5F9"/>
                    </a:solidFill>
                  </a:tcPr>
                </a:tc>
              </a:tr>
              <a:tr h="365760">
                <a:tc>
                  <a:txBody>
                    <a:bodyPr/>
                    <a:lstStyle/>
                    <a:p>
                      <a:pPr algn="l">
                        <a:defRPr sz="950" b="1">
                          <a:solidFill>
                            <a:srgbClr val="9A3412"/>
                          </a:solidFill>
                          <a:latin typeface="Calibri"/>
                        </a:defRPr>
                      </a:pPr>
                      <a:r>
                        <a:t>Rep-YOLO11s (Mục tiêu của Đề tài)</a:t>
                      </a:r>
                    </a:p>
                  </a:txBody>
                  <a:tcPr>
                    <a:solidFill>
                      <a:srgbClr val="FEF3C7"/>
                    </a:solidFill>
                  </a:tcPr>
                </a:tc>
                <a:tc>
                  <a:txBody>
                    <a:bodyPr/>
                    <a:lstStyle/>
                    <a:p>
                      <a:pPr algn="ctr">
                        <a:defRPr sz="950" b="1">
                          <a:solidFill>
                            <a:srgbClr val="0F172A"/>
                          </a:solidFill>
                          <a:latin typeface="Calibri"/>
                        </a:defRPr>
                      </a:pPr>
                      <a:r>
                        <a:t>9.85</a:t>
                      </a:r>
                    </a:p>
                  </a:txBody>
                  <a:tcPr>
                    <a:solidFill>
                      <a:srgbClr val="FEF3C7"/>
                    </a:solidFill>
                  </a:tcPr>
                </a:tc>
                <a:tc>
                  <a:txBody>
                    <a:bodyPr/>
                    <a:lstStyle/>
                    <a:p>
                      <a:pPr algn="ctr">
                        <a:defRPr sz="950" b="1">
                          <a:solidFill>
                            <a:srgbClr val="0F172A"/>
                          </a:solidFill>
                          <a:latin typeface="Calibri"/>
                        </a:defRPr>
                      </a:pPr>
                      <a:r>
                        <a:t>22.4</a:t>
                      </a:r>
                    </a:p>
                  </a:txBody>
                  <a:tcPr>
                    <a:solidFill>
                      <a:srgbClr val="FEF3C7"/>
                    </a:solidFill>
                  </a:tcPr>
                </a:tc>
                <a:tc>
                  <a:txBody>
                    <a:bodyPr/>
                    <a:lstStyle/>
                    <a:p>
                      <a:pPr algn="ctr">
                        <a:defRPr sz="950" b="1">
                          <a:solidFill>
                            <a:srgbClr val="9A3412"/>
                          </a:solidFill>
                          <a:latin typeface="Calibri"/>
                        </a:defRPr>
                      </a:pPr>
                      <a:r>
                        <a:t>94.83 (5-Fold: 96.64)</a:t>
                      </a:r>
                    </a:p>
                  </a:txBody>
                  <a:tcPr>
                    <a:solidFill>
                      <a:srgbClr val="FEF3C7"/>
                    </a:solidFill>
                  </a:tcPr>
                </a:tc>
                <a:tc>
                  <a:txBody>
                    <a:bodyPr/>
                    <a:lstStyle/>
                    <a:p>
                      <a:pPr algn="ctr">
                        <a:defRPr sz="950" b="1">
                          <a:solidFill>
                            <a:srgbClr val="0F172A"/>
                          </a:solidFill>
                          <a:latin typeface="Calibri"/>
                        </a:defRPr>
                      </a:pPr>
                      <a:r>
                        <a:t>62.54</a:t>
                      </a:r>
                    </a:p>
                  </a:txBody>
                  <a:tcPr>
                    <a:solidFill>
                      <a:srgbClr val="FEF3C7"/>
                    </a:solidFill>
                  </a:tcPr>
                </a:tc>
                <a:tc>
                  <a:txBody>
                    <a:bodyPr/>
                    <a:lstStyle/>
                    <a:p>
                      <a:pPr algn="ctr">
                        <a:defRPr sz="950" b="1">
                          <a:solidFill>
                            <a:srgbClr val="0F172A"/>
                          </a:solidFill>
                          <a:latin typeface="Calibri"/>
                        </a:defRPr>
                      </a:pPr>
                      <a:r>
                        <a:t>94.44</a:t>
                      </a:r>
                    </a:p>
                  </a:txBody>
                  <a:tcPr>
                    <a:solidFill>
                      <a:srgbClr val="FEF3C7"/>
                    </a:solidFill>
                  </a:tcPr>
                </a:tc>
                <a:tc>
                  <a:txBody>
                    <a:bodyPr/>
                    <a:lstStyle/>
                    <a:p>
                      <a:pPr algn="ctr">
                        <a:defRPr sz="950" b="1">
                          <a:solidFill>
                            <a:srgbClr val="9A3412"/>
                          </a:solidFill>
                          <a:latin typeface="Calibri"/>
                        </a:defRPr>
                      </a:pPr>
                      <a:r>
                        <a:t>91.33</a:t>
                      </a:r>
                    </a:p>
                  </a:txBody>
                  <a:tcPr>
                    <a:solidFill>
                      <a:srgbClr val="FEF3C7"/>
                    </a:solidFill>
                  </a:tcPr>
                </a:tc>
                <a:tc>
                  <a:txBody>
                    <a:bodyPr/>
                    <a:lstStyle/>
                    <a:p>
                      <a:pPr algn="ctr">
                        <a:defRPr sz="950" b="1">
                          <a:solidFill>
                            <a:srgbClr val="9A3412"/>
                          </a:solidFill>
                          <a:latin typeface="Calibri"/>
                        </a:defRPr>
                      </a:pPr>
                      <a:r>
                        <a:t>0.9190</a:t>
                      </a:r>
                    </a:p>
                  </a:txBody>
                  <a:tcPr>
                    <a:solidFill>
                      <a:srgbClr val="FEF3C7"/>
                    </a:solidFill>
                  </a:tcPr>
                </a:tc>
              </a:tr>
            </a:tbl>
          </a:graphicData>
        </a:graphic>
      </p:graphicFrame>
      <p:sp>
        <p:nvSpPr>
          <p:cNvPr id="8" name="Rounded Rectangle 7"/>
          <p:cNvSpPr/>
          <p:nvPr/>
        </p:nvSpPr>
        <p:spPr>
          <a:xfrm>
            <a:off x="731520" y="4343400"/>
            <a:ext cx="3405225" cy="15361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9" name="Rounded Rectangle 8"/>
          <p:cNvSpPr/>
          <p:nvPr/>
        </p:nvSpPr>
        <p:spPr>
          <a:xfrm>
            <a:off x="841248" y="4453128"/>
            <a:ext cx="347472" cy="256032"/>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000" b="1">
                <a:solidFill>
                  <a:srgbClr val="FFFFFF"/>
                </a:solidFill>
                <a:latin typeface="Calibri"/>
              </a:defRPr>
            </a:pPr>
            <a:r>
              <a:t>01</a:t>
            </a:r>
          </a:p>
        </p:txBody>
      </p:sp>
      <p:sp>
        <p:nvSpPr>
          <p:cNvPr id="10" name="TextBox 9"/>
          <p:cNvSpPr txBox="1"/>
          <p:nvPr/>
        </p:nvSpPr>
        <p:spPr>
          <a:xfrm>
            <a:off x="1261872" y="4434840"/>
            <a:ext cx="2783433" cy="1399032"/>
          </a:xfrm>
          <a:prstGeom prst="rect">
            <a:avLst/>
          </a:prstGeom>
          <a:noFill/>
        </p:spPr>
        <p:txBody>
          <a:bodyPr wrap="square" lIns="0" rIns="0">
            <a:spAutoFit/>
          </a:bodyPr>
          <a:lstStyle/>
          <a:p>
            <a:pPr>
              <a:defRPr b="1" sz="1050">
                <a:solidFill>
                  <a:srgbClr val="0F172A"/>
                </a:solidFill>
                <a:latin typeface="Calibri"/>
              </a:defRPr>
            </a:pPr>
            <a:r>
              <a:t>Ưu thế Recall Sinh mạng (91.33%)</a:t>
            </a:r>
          </a:p>
          <a:p>
            <a:pPr>
              <a:spcBef>
                <a:spcPts val="300"/>
              </a:spcBef>
              <a:defRPr sz="880">
                <a:solidFill>
                  <a:srgbClr val="334155"/>
                </a:solidFill>
                <a:latin typeface="Calibri"/>
              </a:defRPr>
            </a:pPr>
            <a:r>
              <a:t>Recallhat đạt 91.33%, vượt trội cả YOLO11s (90.35%) và YOLOv8s (90.62%). Trong an toàn lao động, bỏ sót vi phạm là nguy cơ tai nạn tử vong; mô hình đề xuất tối đa hóa khả năng cứu sinh.</a:t>
            </a:r>
          </a:p>
        </p:txBody>
      </p:sp>
      <p:sp>
        <p:nvSpPr>
          <p:cNvPr id="11" name="Rounded Rectangle 10"/>
          <p:cNvSpPr/>
          <p:nvPr/>
        </p:nvSpPr>
        <p:spPr>
          <a:xfrm>
            <a:off x="4392777" y="4343400"/>
            <a:ext cx="3405225" cy="15361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2" name="Rounded Rectangle 11"/>
          <p:cNvSpPr/>
          <p:nvPr/>
        </p:nvSpPr>
        <p:spPr>
          <a:xfrm>
            <a:off x="4502505" y="4453128"/>
            <a:ext cx="347472" cy="256032"/>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000" b="1">
                <a:solidFill>
                  <a:srgbClr val="FFFFFF"/>
                </a:solidFill>
                <a:latin typeface="Calibri"/>
              </a:defRPr>
            </a:pPr>
            <a:r>
              <a:t>02</a:t>
            </a:r>
          </a:p>
        </p:txBody>
      </p:sp>
      <p:sp>
        <p:nvSpPr>
          <p:cNvPr id="13" name="TextBox 12"/>
          <p:cNvSpPr txBox="1"/>
          <p:nvPr/>
        </p:nvSpPr>
        <p:spPr>
          <a:xfrm>
            <a:off x="4923129" y="4434840"/>
            <a:ext cx="2783433" cy="1399032"/>
          </a:xfrm>
          <a:prstGeom prst="rect">
            <a:avLst/>
          </a:prstGeom>
          <a:noFill/>
        </p:spPr>
        <p:txBody>
          <a:bodyPr wrap="square" lIns="0" rIns="0">
            <a:spAutoFit/>
          </a:bodyPr>
          <a:lstStyle/>
          <a:p>
            <a:pPr>
              <a:defRPr b="1" sz="1050">
                <a:solidFill>
                  <a:srgbClr val="0F172A"/>
                </a:solidFill>
                <a:latin typeface="Calibri"/>
              </a:defRPr>
            </a:pPr>
            <a:r>
              <a:t>Cân bằng Tham số &amp; Độ phức tạp</a:t>
            </a:r>
          </a:p>
          <a:p>
            <a:pPr>
              <a:spcBef>
                <a:spcPts val="300"/>
              </a:spcBef>
              <a:defRPr sz="880">
                <a:solidFill>
                  <a:srgbClr val="334155"/>
                </a:solidFill>
                <a:latin typeface="Calibri"/>
              </a:defRPr>
            </a:pPr>
            <a:r>
              <a:t>9.85M params &amp; 22.4 GFLOPs xấp xỉ YOLO11s gốc (9.40M/21.5G), nhẹ hơn đáng kể so với YOLOv8s (11.24M/28.6G). Tích hợp 4 module cải tiến mà không gây bùng nổ tài nguyên.</a:t>
            </a:r>
          </a:p>
        </p:txBody>
      </p:sp>
      <p:sp>
        <p:nvSpPr>
          <p:cNvPr id="14" name="Rounded Rectangle 13"/>
          <p:cNvSpPr/>
          <p:nvPr/>
        </p:nvSpPr>
        <p:spPr>
          <a:xfrm>
            <a:off x="8054034" y="4343400"/>
            <a:ext cx="3405225" cy="15361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5" name="Rounded Rectangle 14"/>
          <p:cNvSpPr/>
          <p:nvPr/>
        </p:nvSpPr>
        <p:spPr>
          <a:xfrm>
            <a:off x="8163762" y="4453128"/>
            <a:ext cx="347472" cy="256032"/>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000" b="1">
                <a:solidFill>
                  <a:srgbClr val="FFFFFF"/>
                </a:solidFill>
                <a:latin typeface="Calibri"/>
              </a:defRPr>
            </a:pPr>
            <a:r>
              <a:t>03</a:t>
            </a:r>
          </a:p>
        </p:txBody>
      </p:sp>
      <p:sp>
        <p:nvSpPr>
          <p:cNvPr id="16" name="TextBox 15"/>
          <p:cNvSpPr txBox="1"/>
          <p:nvPr/>
        </p:nvSpPr>
        <p:spPr>
          <a:xfrm>
            <a:off x="8584386" y="4434840"/>
            <a:ext cx="2783433" cy="1399032"/>
          </a:xfrm>
          <a:prstGeom prst="rect">
            <a:avLst/>
          </a:prstGeom>
          <a:noFill/>
        </p:spPr>
        <p:txBody>
          <a:bodyPr wrap="square" lIns="0" rIns="0">
            <a:spAutoFit/>
          </a:bodyPr>
          <a:lstStyle/>
          <a:p>
            <a:pPr>
              <a:defRPr b="1" sz="1050">
                <a:solidFill>
                  <a:srgbClr val="0F172A"/>
                </a:solidFill>
                <a:latin typeface="Calibri"/>
              </a:defRPr>
            </a:pPr>
            <a:r>
              <a:t>Độ ổn định Thống kê 5-Fold (96.64%)</a:t>
            </a:r>
          </a:p>
          <a:p>
            <a:pPr>
              <a:spcBef>
                <a:spcPts val="300"/>
              </a:spcBef>
              <a:defRPr sz="880">
                <a:solidFill>
                  <a:srgbClr val="334155"/>
                </a:solidFill>
                <a:latin typeface="Calibri"/>
              </a:defRPr>
            </a:pPr>
            <a:r>
              <a:t>Trên quy trình 5-Fold Stratified CV, mô hình đạt đỉnh 96.64% mAP50 (±0.32%). Chứng minh độ tin cậy vượt trội, loại trừ hoàn toàn yếu tố may rủi của phép chia tập dữ liệu ngẫu nhiên.</a:t>
            </a:r>
          </a:p>
        </p:txBody>
      </p:sp>
      <p:sp>
        <p:nvSpPr>
          <p:cNvPr id="17" name="Rounded Rectangle 16"/>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8" name="Rounded Rectangle 17"/>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19" name="TextBox 18"/>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Bảng đối chuẩn khách quan trên 7,581 ảnh SHWD chứng minh Rep-YOLO11s vượt trội về Recallhat (91.33%) và F1hat (0.9190) với chi phí phần cứng tối ưu.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MỤC 4 &amp; MỤC 5 · RELATED WORK &amp; SOTA BASELINES</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05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Phân tích Chi tiết Baseline 1: YOLO11s (Ultralytics, 10/2024 · SOTA Mới nhất)</a:t>
            </a:r>
          </a:p>
        </p:txBody>
      </p:sp>
      <p:sp>
        <p:nvSpPr>
          <p:cNvPr id="7" name="Rounded Rectangle 6"/>
          <p:cNvSpPr/>
          <p:nvPr/>
        </p:nvSpPr>
        <p:spPr>
          <a:xfrm>
            <a:off x="731520" y="1234440"/>
            <a:ext cx="5212080" cy="46177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8" name="Rounded Rectangle 7"/>
          <p:cNvSpPr/>
          <p:nvPr/>
        </p:nvSpPr>
        <p:spPr>
          <a:xfrm>
            <a:off x="914400" y="1371600"/>
            <a:ext cx="384048"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01</a:t>
            </a:r>
          </a:p>
        </p:txBody>
      </p:sp>
      <p:sp>
        <p:nvSpPr>
          <p:cNvPr id="9" name="TextBox 8"/>
          <p:cNvSpPr txBox="1"/>
          <p:nvPr/>
        </p:nvSpPr>
        <p:spPr>
          <a:xfrm>
            <a:off x="1417320" y="1353312"/>
            <a:ext cx="4389120" cy="4389120"/>
          </a:xfrm>
          <a:prstGeom prst="rect">
            <a:avLst/>
          </a:prstGeom>
          <a:noFill/>
        </p:spPr>
        <p:txBody>
          <a:bodyPr wrap="square">
            <a:spAutoFit/>
          </a:bodyPr>
          <a:lstStyle/>
          <a:p>
            <a:pPr>
              <a:defRPr b="1" sz="1300">
                <a:solidFill>
                  <a:srgbClr val="0F172A"/>
                </a:solidFill>
                <a:latin typeface="Calibri"/>
              </a:defRPr>
            </a:pPr>
            <a:r>
              <a:t>Kiến trúc &amp; Năng lực Thực nghiệm trên SHWD</a:t>
            </a:r>
          </a:p>
          <a:p>
            <a:pPr>
              <a:spcBef>
                <a:spcPts val="400"/>
              </a:spcBef>
              <a:defRPr sz="919">
                <a:solidFill>
                  <a:srgbClr val="334155"/>
                </a:solidFill>
                <a:latin typeface="Calibri"/>
              </a:defRPr>
            </a:pPr>
            <a:r>
              <a:t>• Paper &amp; Thời điểm Công bố: Phát hành bởi Ultralytics (Tháng 10/2024), đại diện cho thế hệ mô hình phát hiện vật thể SOTA mới nhất.</a:t>
            </a:r>
          </a:p>
          <a:p>
            <a:pPr>
              <a:spcBef>
                <a:spcPts val="400"/>
              </a:spcBef>
              <a:defRPr sz="919">
                <a:solidFill>
                  <a:srgbClr val="334155"/>
                </a:solidFill>
                <a:latin typeface="Calibri"/>
              </a:defRPr>
            </a:pPr>
            <a:r>
              <a:t>• Cấu trúc Mạng Đặc trưng: Backbone CSPDarknet cải tiến với các khối C3k2 và khối tự chú ý không gian C2PSA; Neck PANet trích xuất đa quy mô.</a:t>
            </a:r>
          </a:p>
          <a:p>
            <a:pPr>
              <a:spcBef>
                <a:spcPts val="400"/>
              </a:spcBef>
              <a:defRPr sz="919">
                <a:solidFill>
                  <a:srgbClr val="334155"/>
                </a:solidFill>
                <a:latin typeface="Calibri"/>
              </a:defRPr>
            </a:pPr>
            <a:r>
              <a:t>• 3 Tầng Đầu ra Phát hiện: P3 (stride 8: 80x80), P4 (stride 16: 40x40), P5 (stride 32: 20x20) kết hợp Decoupled Head không neo (Anchor-free).</a:t>
            </a:r>
          </a:p>
          <a:p>
            <a:pPr>
              <a:spcBef>
                <a:spcPts val="400"/>
              </a:spcBef>
              <a:defRPr sz="919">
                <a:solidFill>
                  <a:srgbClr val="334155"/>
                </a:solidFill>
                <a:latin typeface="Calibri"/>
              </a:defRPr>
            </a:pPr>
            <a:r>
              <a:t>• Tập Dữ liệu Huấn luyện: Pretrained trên COCO và fine-tune trực tiếp trên SHWD (7,581 ảnh authentic) với phân chia 80/20 chuẩn.</a:t>
            </a:r>
          </a:p>
          <a:p>
            <a:pPr>
              <a:spcBef>
                <a:spcPts val="400"/>
              </a:spcBef>
              <a:defRPr sz="919">
                <a:solidFill>
                  <a:srgbClr val="334155"/>
                </a:solidFill>
                <a:latin typeface="Calibri"/>
              </a:defRPr>
            </a:pPr>
            <a:r>
              <a:t>• Kết quả Đối chuẩn Thực nghiệm: mAP50 = 94.74% · mAP50-95 = 62.54% · Recallhat = 90.35% · F1hat = 0.9073 (Params: 9.40M · FLOPs: 21.5G).</a:t>
            </a:r>
          </a:p>
          <a:p>
            <a:pPr>
              <a:spcBef>
                <a:spcPts val="400"/>
              </a:spcBef>
              <a:defRPr sz="919">
                <a:solidFill>
                  <a:srgbClr val="334155"/>
                </a:solidFill>
                <a:latin typeface="Calibri"/>
              </a:defRPr>
            </a:pPr>
            <a:r>
              <a:t>• Ưu điểm Nổi bật: Tối ưu hóa số lượng tham số tốt, tốc độ hội tụ nhanh, thông lượng xử lý cao trên các nền tảng GPU hiện đại.</a:t>
            </a:r>
          </a:p>
        </p:txBody>
      </p:sp>
      <p:sp>
        <p:nvSpPr>
          <p:cNvPr id="10" name="Rounded Rectangle 9"/>
          <p:cNvSpPr/>
          <p:nvPr/>
        </p:nvSpPr>
        <p:spPr>
          <a:xfrm>
            <a:off x="6217920" y="1234440"/>
            <a:ext cx="5212080" cy="4617720"/>
          </a:xfrm>
          <a:prstGeom prst="roundRect">
            <a:avLst/>
          </a:prstGeom>
          <a:solidFill>
            <a:srgbClr val="FFFFFF"/>
          </a:solidFill>
          <a:ln w="1905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1" name="Rounded Rectangle 10"/>
          <p:cNvSpPr/>
          <p:nvPr/>
        </p:nvSpPr>
        <p:spPr>
          <a:xfrm>
            <a:off x="6400800" y="1371600"/>
            <a:ext cx="384048" cy="292608"/>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02</a:t>
            </a:r>
          </a:p>
        </p:txBody>
      </p:sp>
      <p:sp>
        <p:nvSpPr>
          <p:cNvPr id="12" name="TextBox 11"/>
          <p:cNvSpPr txBox="1"/>
          <p:nvPr/>
        </p:nvSpPr>
        <p:spPr>
          <a:xfrm>
            <a:off x="6903720" y="1353312"/>
            <a:ext cx="4389120" cy="4389120"/>
          </a:xfrm>
          <a:prstGeom prst="rect">
            <a:avLst/>
          </a:prstGeom>
          <a:noFill/>
        </p:spPr>
        <p:txBody>
          <a:bodyPr wrap="square">
            <a:spAutoFit/>
          </a:bodyPr>
          <a:lstStyle/>
          <a:p>
            <a:pPr>
              <a:defRPr b="1" sz="1300">
                <a:solidFill>
                  <a:srgbClr val="0F172A"/>
                </a:solidFill>
                <a:latin typeface="Calibri"/>
              </a:defRPr>
            </a:pPr>
            <a:r>
              <a:t>3 Điểm nghẽn Cốt lõi &amp; Giải pháp Kế thừa / Cải tiến</a:t>
            </a:r>
          </a:p>
          <a:p>
            <a:pPr>
              <a:spcBef>
                <a:spcPts val="400"/>
              </a:spcBef>
              <a:defRPr sz="919">
                <a:solidFill>
                  <a:srgbClr val="334155"/>
                </a:solidFill>
                <a:latin typeface="Calibri"/>
              </a:defRPr>
            </a:pPr>
            <a:r>
              <a:t>• Điểm nghẽn 1 (Mất dấu mũ ở xa): Các tầng downsampling tích lũy (stride 8/16/32) làm tiêu biến hoàn toàn tín hiệu của mũ bảo hộ siêu nhỏ (&lt;20px).</a:t>
            </a:r>
          </a:p>
          <a:p>
            <a:pPr>
              <a:spcBef>
                <a:spcPts val="400"/>
              </a:spcBef>
              <a:defRPr sz="919">
                <a:solidFill>
                  <a:srgbClr val="334155"/>
                </a:solidFill>
                <a:latin typeface="Calibri"/>
              </a:defRPr>
            </a:pPr>
            <a:r>
              <a:t>• Điểm nghẽn 2 (Báo động giả sàn &gt;28%): Tích chập tiêu chuẩn có tính Bất biến Tịnh tiến (Translation Invariance), gây nhầm lẫn xô vữa, biển cảnh báo màu vàng dưới nền đất thành mũ.</a:t>
            </a:r>
          </a:p>
          <a:p>
            <a:pPr>
              <a:spcBef>
                <a:spcPts val="400"/>
              </a:spcBef>
              <a:defRPr sz="919">
                <a:solidFill>
                  <a:srgbClr val="334155"/>
                </a:solidFill>
                <a:latin typeface="Calibri"/>
              </a:defRPr>
            </a:pPr>
            <a:r>
              <a:t>• Điểm nghẽn 3 (Triệt tiêu Gradient CIoU): Hàm loss CIoU bị triệt tiêu gradient khi tỷ lệ aspect ratio w/h của bounding box dự đoán trùng với ground truth.</a:t>
            </a:r>
          </a:p>
          <a:p>
            <a:pPr>
              <a:spcBef>
                <a:spcPts val="400"/>
              </a:spcBef>
              <a:defRPr sz="919">
                <a:solidFill>
                  <a:srgbClr val="334155"/>
                </a:solidFill>
                <a:latin typeface="Calibri"/>
              </a:defRPr>
            </a:pPr>
            <a:r>
              <a:t>• Nhóm học được gì từ YOLO11s? Học được cấu trúc khối trích xuất đặc trưng C3k2 gọn nhẹ và nguyên lý phân tách hai nhánh phân loại / định vị (Decoupled Head).</a:t>
            </a:r>
          </a:p>
          <a:p>
            <a:pPr>
              <a:spcBef>
                <a:spcPts val="400"/>
              </a:spcBef>
              <a:defRPr sz="919">
                <a:solidFill>
                  <a:srgbClr val="334155"/>
                </a:solidFill>
                <a:latin typeface="Calibri"/>
              </a:defRPr>
            </a:pPr>
            <a:r>
              <a:t>• Nhóm kế thừa &amp; Cải tiến gì? Kế thừa bộ khung YOLO11s nhưng thay thế bằng RepConv (3 nhánh huấn luyện -&gt; 1 nhân khi suy luận), cấy CoordConv Stem, bổ sung BiFormer Neck và thay bằng Focal-EIoU Loss.</a:t>
            </a:r>
          </a:p>
        </p:txBody>
      </p:sp>
      <p:sp>
        <p:nvSpPr>
          <p:cNvPr id="13" name="Rounded Rectangle 12"/>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4" name="Rounded Rectangle 13"/>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15" name="TextBox 14"/>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YOLO11s đại diện cho SOTA kiến trúc mới nhất (10/2024); nhóm kế thừa sườn mạng nhưng giải quyết triệt để 3 điểm nghẽn bằng 4 module toán học.</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MỤC 4 &amp; MỤC 5 · RELATED WORK &amp; SOTA BASELINES</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06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Phân tích Chi tiết Baseline 2: YOLOv8s (Jocher et al., 2023 · Chuẩn mực Công nghiệp)</a:t>
            </a:r>
          </a:p>
        </p:txBody>
      </p:sp>
      <p:sp>
        <p:nvSpPr>
          <p:cNvPr id="7" name="Rounded Rectangle 6"/>
          <p:cNvSpPr/>
          <p:nvPr/>
        </p:nvSpPr>
        <p:spPr>
          <a:xfrm>
            <a:off x="731520" y="1234440"/>
            <a:ext cx="5212080" cy="461772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8" name="Rounded Rectangle 7"/>
          <p:cNvSpPr/>
          <p:nvPr/>
        </p:nvSpPr>
        <p:spPr>
          <a:xfrm>
            <a:off x="914400" y="1371600"/>
            <a:ext cx="384048" cy="292608"/>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01</a:t>
            </a:r>
          </a:p>
        </p:txBody>
      </p:sp>
      <p:sp>
        <p:nvSpPr>
          <p:cNvPr id="9" name="TextBox 8"/>
          <p:cNvSpPr txBox="1"/>
          <p:nvPr/>
        </p:nvSpPr>
        <p:spPr>
          <a:xfrm>
            <a:off x="1417320" y="1353312"/>
            <a:ext cx="4389120" cy="4389120"/>
          </a:xfrm>
          <a:prstGeom prst="rect">
            <a:avLst/>
          </a:prstGeom>
          <a:noFill/>
        </p:spPr>
        <p:txBody>
          <a:bodyPr wrap="square">
            <a:spAutoFit/>
          </a:bodyPr>
          <a:lstStyle/>
          <a:p>
            <a:pPr>
              <a:defRPr b="1" sz="1300">
                <a:solidFill>
                  <a:srgbClr val="0F172A"/>
                </a:solidFill>
                <a:latin typeface="Calibri"/>
              </a:defRPr>
            </a:pPr>
            <a:r>
              <a:t>Kiến trúc &amp; Vị thế Mốc chuẩn Công nghiệp (Gold Standard)</a:t>
            </a:r>
          </a:p>
          <a:p>
            <a:pPr>
              <a:spcBef>
                <a:spcPts val="400"/>
              </a:spcBef>
              <a:defRPr sz="919">
                <a:solidFill>
                  <a:srgbClr val="334155"/>
                </a:solidFill>
                <a:latin typeface="Calibri"/>
              </a:defRPr>
            </a:pPr>
            <a:r>
              <a:t>• Paper &amp; Vị thế Công nghiệp: Được phát triển bởi Jocher et al. (2023), YOLOv8 là mốc chuẩn công nghiệp phổ biến và được ứng dụng rộng rãi nhất thế giới hiện nay.</a:t>
            </a:r>
          </a:p>
          <a:p>
            <a:pPr>
              <a:spcBef>
                <a:spcPts val="400"/>
              </a:spcBef>
              <a:defRPr sz="919">
                <a:solidFill>
                  <a:srgbClr val="334155"/>
                </a:solidFill>
                <a:latin typeface="Calibri"/>
              </a:defRPr>
            </a:pPr>
            <a:r>
              <a:t>• Cấu trúc Khối Trích xuất C2f: Cross Stage Partial with 2 Convolutions (C2f) kết hợp nhiều kết nối residual nội bộ giúp làm giàu dòng chảy gradient.</a:t>
            </a:r>
          </a:p>
          <a:p>
            <a:pPr>
              <a:spcBef>
                <a:spcPts val="400"/>
              </a:spcBef>
              <a:defRPr sz="919">
                <a:solidFill>
                  <a:srgbClr val="334155"/>
                </a:solidFill>
                <a:latin typeface="Calibri"/>
              </a:defRPr>
            </a:pPr>
            <a:r>
              <a:t>• Cơ chế Gán nhãn Động (TAL): Task-Aligned Assigner đo lường sự kết hợp giữa độ tự tin phân loại và căn chỉnh IoU để gán nhãn động cho top-k anchors tốt nhất.</a:t>
            </a:r>
          </a:p>
          <a:p>
            <a:pPr>
              <a:spcBef>
                <a:spcPts val="400"/>
              </a:spcBef>
              <a:defRPr sz="919">
                <a:solidFill>
                  <a:srgbClr val="334155"/>
                </a:solidFill>
                <a:latin typeface="Calibri"/>
              </a:defRPr>
            </a:pPr>
            <a:r>
              <a:t>• Tập Dữ liệu Huấn luyện: Thực nghiệm trực tiếp trên tập SHWD chuẩn (7,581 ảnh) trong cùng điều kiện phần cứng với các baseline khác.</a:t>
            </a:r>
          </a:p>
          <a:p>
            <a:pPr>
              <a:spcBef>
                <a:spcPts val="400"/>
              </a:spcBef>
              <a:defRPr sz="919">
                <a:solidFill>
                  <a:srgbClr val="334155"/>
                </a:solidFill>
                <a:latin typeface="Calibri"/>
              </a:defRPr>
            </a:pPr>
            <a:r>
              <a:t>• Kết quả Đối chuẩn Thực nghiệm: mAP50 = 94.89% · mAP50-95 = 62.21% · Recallhat = 90.62% · F1hat = 0.9120 (Params: 11.24M · FLOPs: 28.6G).</a:t>
            </a:r>
          </a:p>
          <a:p>
            <a:pPr>
              <a:spcBef>
                <a:spcPts val="400"/>
              </a:spcBef>
              <a:defRPr sz="919">
                <a:solidFill>
                  <a:srgbClr val="334155"/>
                </a:solidFill>
                <a:latin typeface="Calibri"/>
              </a:defRPr>
            </a:pPr>
            <a:r>
              <a:t>• Ưu điểm Nổi bật: Độ chính xác nhận diện tổng thể mAP50 cao, cộng đồng mã nguồn mở khổng lồ, mức độ ổn định sản xuất đã được kiểm chứng.</a:t>
            </a:r>
          </a:p>
        </p:txBody>
      </p:sp>
      <p:sp>
        <p:nvSpPr>
          <p:cNvPr id="10" name="Rounded Rectangle 9"/>
          <p:cNvSpPr/>
          <p:nvPr/>
        </p:nvSpPr>
        <p:spPr>
          <a:xfrm>
            <a:off x="6217920" y="1234440"/>
            <a:ext cx="5212080" cy="461772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1" name="Rounded Rectangle 10"/>
          <p:cNvSpPr/>
          <p:nvPr/>
        </p:nvSpPr>
        <p:spPr>
          <a:xfrm>
            <a:off x="6400800" y="1371600"/>
            <a:ext cx="384048" cy="292608"/>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02</a:t>
            </a:r>
          </a:p>
        </p:txBody>
      </p:sp>
      <p:sp>
        <p:nvSpPr>
          <p:cNvPr id="12" name="TextBox 11"/>
          <p:cNvSpPr txBox="1"/>
          <p:nvPr/>
        </p:nvSpPr>
        <p:spPr>
          <a:xfrm>
            <a:off x="6903720" y="1353312"/>
            <a:ext cx="4389120" cy="4389120"/>
          </a:xfrm>
          <a:prstGeom prst="rect">
            <a:avLst/>
          </a:prstGeom>
          <a:noFill/>
        </p:spPr>
        <p:txBody>
          <a:bodyPr wrap="square">
            <a:spAutoFit/>
          </a:bodyPr>
          <a:lstStyle/>
          <a:p>
            <a:pPr>
              <a:defRPr b="1" sz="1300">
                <a:solidFill>
                  <a:srgbClr val="0F172A"/>
                </a:solidFill>
                <a:latin typeface="Calibri"/>
              </a:defRPr>
            </a:pPr>
            <a:r>
              <a:t>Hạn chế Phần cứng &amp; Bài học Kế thừa / Cải tiến</a:t>
            </a:r>
          </a:p>
          <a:p>
            <a:pPr>
              <a:spcBef>
                <a:spcPts val="400"/>
              </a:spcBef>
              <a:defRPr sz="919">
                <a:solidFill>
                  <a:srgbClr val="334155"/>
                </a:solidFill>
                <a:latin typeface="Calibri"/>
              </a:defRPr>
            </a:pPr>
            <a:r>
              <a:t>• Hạn chế 1 (Chi phí Tính toán Nặng): FLOPs lên tới 28.6G và 11.24M tham số, nặng hơn 28% so với Rep-YOLO11s (22.4G / 9.85M), tạo áp lực lớn khi triển khai biên.</a:t>
            </a:r>
          </a:p>
          <a:p>
            <a:pPr>
              <a:spcBef>
                <a:spcPts val="400"/>
              </a:spcBef>
              <a:defRPr sz="919">
                <a:solidFill>
                  <a:srgbClr val="334155"/>
                </a:solidFill>
                <a:latin typeface="Calibri"/>
              </a:defRPr>
            </a:pPr>
            <a:r>
              <a:t>• Hạn chế 2 (Nghẽn Băng thông Bộ nhớ DRAM): Cấu trúc C2f phân nhánh nội bộ liên tục sử dụng nhiều thao tác nối tensor (concat) làm tăng lưu lượng truy cập bộ nhớ DRAM và độ trễ trễ truy xuất.</a:t>
            </a:r>
          </a:p>
          <a:p>
            <a:pPr>
              <a:spcBef>
                <a:spcPts val="400"/>
              </a:spcBef>
              <a:defRPr sz="919">
                <a:solidFill>
                  <a:srgbClr val="334155"/>
                </a:solidFill>
                <a:latin typeface="Calibri"/>
              </a:defRPr>
            </a:pPr>
            <a:r>
              <a:t>• Hạn chế 3 (Thiếu Cơ chế Không gian &amp; Báo động sàn): Không có thông tin tọa độ dọc, mô hình vẫn mắc phải tỷ lệ báo động giả cao đối với các thiết bị màu vàng dưới sàn nhà.</a:t>
            </a:r>
          </a:p>
          <a:p>
            <a:pPr>
              <a:spcBef>
                <a:spcPts val="400"/>
              </a:spcBef>
              <a:defRPr sz="919">
                <a:solidFill>
                  <a:srgbClr val="334155"/>
                </a:solidFill>
                <a:latin typeface="Calibri"/>
              </a:defRPr>
            </a:pPr>
            <a:r>
              <a:t>• Nhóm học được gì từ YOLOv8s? Học tập cơ chế gán nhãn động Task-Aligned Assigner và chiến lược cân bằng loss đa nhiệm (BCE Classification Loss + DFL Loss).</a:t>
            </a:r>
          </a:p>
          <a:p>
            <a:pPr>
              <a:spcBef>
                <a:spcPts val="400"/>
              </a:spcBef>
              <a:defRPr sz="919">
                <a:solidFill>
                  <a:srgbClr val="334155"/>
                </a:solidFill>
                <a:latin typeface="Calibri"/>
              </a:defRPr>
            </a:pPr>
            <a:r>
              <a:t>• Nhóm kế thừa &amp; Cải tiến gì? Kế thừa tư tưởng Task-Aligned Assigner nhưng xây dựng trên nền tảng YOLO11s gọn nhẹ hơn, áp dụng RepConv loại bỏ hoàn toàn chi phí bộ nhớ phân nhánh khi triển khai.</a:t>
            </a:r>
          </a:p>
        </p:txBody>
      </p:sp>
      <p:sp>
        <p:nvSpPr>
          <p:cNvPr id="13" name="Rounded Rectangle 12"/>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4" name="Rounded Rectangle 13"/>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15" name="TextBox 14"/>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YOLOv8s là mốc chuẩn công nghiệp phổ biến nhất; nhóm kế thừa cơ chế TAL gán nhãn động nhưng tối ưu triệt để chi phí tính toán và bộ nhớ DRAM.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MỤC 4 &amp; MỤC 5 · RELATED WORK &amp; SOTA BASELINES</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05-06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Phân tích So sánh 2 Mô hình Baseline Chính: YOLO11s vs YOLOv8s</a:t>
            </a:r>
          </a:p>
        </p:txBody>
      </p:sp>
      <p:sp>
        <p:nvSpPr>
          <p:cNvPr id="7" name="Rounded Rectangle 6"/>
          <p:cNvSpPr/>
          <p:nvPr/>
        </p:nvSpPr>
        <p:spPr>
          <a:xfrm>
            <a:off x="731520" y="1234440"/>
            <a:ext cx="5212080" cy="333756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8" name="Rounded Rectangle 7"/>
          <p:cNvSpPr/>
          <p:nvPr/>
        </p:nvSpPr>
        <p:spPr>
          <a:xfrm>
            <a:off x="914400" y="1353312"/>
            <a:ext cx="2011680"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950" b="1">
                <a:solidFill>
                  <a:srgbClr val="FFFFFF"/>
                </a:solidFill>
                <a:latin typeface="Calibri"/>
              </a:defRPr>
            </a:pPr>
            <a:r>
              <a:t>BASELINE 1 · YOLO11s</a:t>
            </a:r>
          </a:p>
        </p:txBody>
      </p:sp>
      <p:sp>
        <p:nvSpPr>
          <p:cNvPr id="9" name="TextBox 8"/>
          <p:cNvSpPr txBox="1"/>
          <p:nvPr/>
        </p:nvSpPr>
        <p:spPr>
          <a:xfrm>
            <a:off x="914400" y="1691640"/>
            <a:ext cx="4846320" cy="2788920"/>
          </a:xfrm>
          <a:prstGeom prst="rect">
            <a:avLst/>
          </a:prstGeom>
          <a:noFill/>
        </p:spPr>
        <p:txBody>
          <a:bodyPr wrap="square">
            <a:spAutoFit/>
          </a:bodyPr>
          <a:lstStyle/>
          <a:p>
            <a:pPr>
              <a:defRPr b="1" sz="1150">
                <a:solidFill>
                  <a:srgbClr val="0F172A"/>
                </a:solidFill>
                <a:latin typeface="Calibri"/>
              </a:defRPr>
            </a:pPr>
            <a:r>
              <a:t>SOTA Mới Nhất (Ultralytics, Tháng 10/2024)</a:t>
            </a:r>
          </a:p>
          <a:p>
            <a:pPr>
              <a:spcBef>
                <a:spcPts val="250"/>
              </a:spcBef>
              <a:defRPr sz="880">
                <a:solidFill>
                  <a:srgbClr val="334155"/>
                </a:solidFill>
                <a:latin typeface="Calibri"/>
              </a:defRPr>
            </a:pPr>
            <a:r>
              <a:t>• Kiến trúc: C3k2 Feature Blocks + C2PSA Attention + Decoupled Head.</a:t>
            </a:r>
          </a:p>
          <a:p>
            <a:pPr>
              <a:spcBef>
                <a:spcPts val="250"/>
              </a:spcBef>
              <a:defRPr sz="880">
                <a:solidFill>
                  <a:srgbClr val="334155"/>
                </a:solidFill>
                <a:latin typeface="Calibri"/>
              </a:defRPr>
            </a:pPr>
            <a:r>
              <a:t>• Thông số: 9.40M Params · 21.5 GFLOPs · mAP50 = 94.74% · Recall = 90.35%.</a:t>
            </a:r>
          </a:p>
          <a:p>
            <a:pPr>
              <a:spcBef>
                <a:spcPts val="250"/>
              </a:spcBef>
              <a:defRPr sz="880">
                <a:solidFill>
                  <a:srgbClr val="334155"/>
                </a:solidFill>
                <a:latin typeface="Calibri"/>
              </a:defRPr>
            </a:pPr>
            <a:r>
              <a:t>• Ưu điểm: Tối ưu tham số xuất sắc, tính toán nhanh, hội tụ ổn định.</a:t>
            </a:r>
          </a:p>
          <a:p>
            <a:pPr>
              <a:spcBef>
                <a:spcPts val="250"/>
              </a:spcBef>
              <a:defRPr sz="880">
                <a:solidFill>
                  <a:srgbClr val="334155"/>
                </a:solidFill>
                <a:latin typeface="Calibri"/>
              </a:defRPr>
            </a:pPr>
            <a:r>
              <a:t>• Hạn chế cốt lõi: Mất tín hiệu mũ nhỏ ở xa (&lt;20px); Báo động giả sàn nhà do bất biến tịnh tiến; Triệt tiêu gradient tỷ lệ khung CIoU.</a:t>
            </a:r>
          </a:p>
          <a:p>
            <a:pPr>
              <a:spcBef>
                <a:spcPts val="250"/>
              </a:spcBef>
              <a:defRPr sz="880">
                <a:solidFill>
                  <a:srgbClr val="334155"/>
                </a:solidFill>
                <a:latin typeface="Calibri"/>
              </a:defRPr>
            </a:pPr>
            <a:r>
              <a:t>• Đóng góp của Nhóm: Kế thừa sườn C3k2; thay thế RepConv, cấy CoordConv Stem, bổ sung BiFormer Neck và Focal-EIoU Head.</a:t>
            </a:r>
          </a:p>
        </p:txBody>
      </p:sp>
      <p:sp>
        <p:nvSpPr>
          <p:cNvPr id="10" name="Rounded Rectangle 9"/>
          <p:cNvSpPr/>
          <p:nvPr/>
        </p:nvSpPr>
        <p:spPr>
          <a:xfrm>
            <a:off x="6217920" y="1234440"/>
            <a:ext cx="5212080" cy="333756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1" name="Rounded Rectangle 10"/>
          <p:cNvSpPr/>
          <p:nvPr/>
        </p:nvSpPr>
        <p:spPr>
          <a:xfrm>
            <a:off x="6400800" y="1353312"/>
            <a:ext cx="2011680" cy="292608"/>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950" b="1">
                <a:solidFill>
                  <a:srgbClr val="FFFFFF"/>
                </a:solidFill>
                <a:latin typeface="Calibri"/>
              </a:defRPr>
            </a:pPr>
            <a:r>
              <a:t>BASELINE 2 · YOLOv8s</a:t>
            </a:r>
          </a:p>
        </p:txBody>
      </p:sp>
      <p:sp>
        <p:nvSpPr>
          <p:cNvPr id="12" name="TextBox 11"/>
          <p:cNvSpPr txBox="1"/>
          <p:nvPr/>
        </p:nvSpPr>
        <p:spPr>
          <a:xfrm>
            <a:off x="6400800" y="1691640"/>
            <a:ext cx="4846320" cy="2788920"/>
          </a:xfrm>
          <a:prstGeom prst="rect">
            <a:avLst/>
          </a:prstGeom>
          <a:noFill/>
        </p:spPr>
        <p:txBody>
          <a:bodyPr wrap="square">
            <a:spAutoFit/>
          </a:bodyPr>
          <a:lstStyle/>
          <a:p>
            <a:pPr>
              <a:defRPr b="1" sz="1150">
                <a:solidFill>
                  <a:srgbClr val="0F172A"/>
                </a:solidFill>
                <a:latin typeface="Calibri"/>
              </a:defRPr>
            </a:pPr>
            <a:r>
              <a:t>Chuẩn Mực Công Nghiệp (Jocher et al., 2023)</a:t>
            </a:r>
          </a:p>
          <a:p>
            <a:pPr>
              <a:spcBef>
                <a:spcPts val="250"/>
              </a:spcBef>
              <a:defRPr sz="880">
                <a:solidFill>
                  <a:srgbClr val="334155"/>
                </a:solidFill>
                <a:latin typeface="Calibri"/>
              </a:defRPr>
            </a:pPr>
            <a:r>
              <a:t>• Kiến trúc: C2f Cross Stage Partial Blocks + Task-Aligned Assigner (TAL).</a:t>
            </a:r>
          </a:p>
          <a:p>
            <a:pPr>
              <a:spcBef>
                <a:spcPts val="250"/>
              </a:spcBef>
              <a:defRPr sz="880">
                <a:solidFill>
                  <a:srgbClr val="334155"/>
                </a:solidFill>
                <a:latin typeface="Calibri"/>
              </a:defRPr>
            </a:pPr>
            <a:r>
              <a:t>• Thông số: 11.24M Params · 28.6 GFLOPs · mAP50 = 94.89% · Recall = 90.62%.</a:t>
            </a:r>
          </a:p>
          <a:p>
            <a:pPr>
              <a:spcBef>
                <a:spcPts val="250"/>
              </a:spcBef>
              <a:defRPr sz="880">
                <a:solidFill>
                  <a:srgbClr val="334155"/>
                </a:solidFill>
                <a:latin typeface="Calibri"/>
              </a:defRPr>
            </a:pPr>
            <a:r>
              <a:t>• Ưu điểm: Độ chính xác mAP50 cao, mã nguồn cực kỳ ổn định và phổ biến.</a:t>
            </a:r>
          </a:p>
          <a:p>
            <a:pPr>
              <a:spcBef>
                <a:spcPts val="250"/>
              </a:spcBef>
              <a:defRPr sz="880">
                <a:solidFill>
                  <a:srgbClr val="334155"/>
                </a:solidFill>
                <a:latin typeface="Calibri"/>
              </a:defRPr>
            </a:pPr>
            <a:r>
              <a:t>• Hạn chế cốt lõi: 28.6 GFLOPs nặng hơn 28% so với mô hình đề tài; Khối C2f ngốn băng thông DRAM; Báo động giả do thiếu tiên đề không gian.</a:t>
            </a:r>
          </a:p>
          <a:p>
            <a:pPr>
              <a:spcBef>
                <a:spcPts val="250"/>
              </a:spcBef>
              <a:defRPr sz="880">
                <a:solidFill>
                  <a:srgbClr val="334155"/>
                </a:solidFill>
                <a:latin typeface="Calibri"/>
              </a:defRPr>
            </a:pPr>
            <a:r>
              <a:t>• Đóng góp của Nhóm: Kế thừa tư tưởng gán nhãn động TAL nhưng chuyển sang nền sườn YOLO11s gọn hơn và áp dụng RepConv xóa bỏ overhead DRAM.</a:t>
            </a:r>
          </a:p>
        </p:txBody>
      </p:sp>
      <p:sp>
        <p:nvSpPr>
          <p:cNvPr id="13" name="Rounded Rectangle 12"/>
          <p:cNvSpPr/>
          <p:nvPr/>
        </p:nvSpPr>
        <p:spPr>
          <a:xfrm>
            <a:off x="731520" y="4681728"/>
            <a:ext cx="10728655" cy="1234440"/>
          </a:xfrm>
          <a:prstGeom prst="roundRect">
            <a:avLst/>
          </a:prstGeom>
          <a:solidFill>
            <a:srgbClr val="FAFAFA"/>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4" name="TextBox 13"/>
          <p:cNvSpPr txBox="1"/>
          <p:nvPr/>
        </p:nvSpPr>
        <p:spPr>
          <a:xfrm>
            <a:off x="914400" y="4736592"/>
            <a:ext cx="10332720" cy="1097280"/>
          </a:xfrm>
          <a:prstGeom prst="rect">
            <a:avLst/>
          </a:prstGeom>
          <a:noFill/>
        </p:spPr>
        <p:txBody>
          <a:bodyPr wrap="square">
            <a:spAutoFit/>
          </a:bodyPr>
          <a:lstStyle/>
          <a:p>
            <a:pPr>
              <a:defRPr b="1" sz="1050">
                <a:solidFill>
                  <a:srgbClr val="EA580C"/>
                </a:solidFill>
                <a:latin typeface="Calibri"/>
              </a:defRPr>
            </a:pPr>
            <a:r>
              <a:t>TẠI SAO NHÓM CHỌN 2 BASELINE NÀY ĐỂ BÁO CÁO REVIEW 1?</a:t>
            </a:r>
          </a:p>
          <a:p>
            <a:pPr>
              <a:spcBef>
                <a:spcPts val="200"/>
              </a:spcBef>
              <a:defRPr sz="900">
                <a:solidFill>
                  <a:srgbClr val="334155"/>
                </a:solidFill>
                <a:latin typeface="Calibri"/>
              </a:defRPr>
            </a:pPr>
            <a:r>
              <a:t>• Tính Đại diện SOTA &amp; Uy tín Khoa học: YOLO11s đại diện cho đỉnh cao kiến trúc mới nhất (tháng 10/2024), trong khi YOLOv8s là mốc chuẩn công nghiệp phổ biến nhất thế giới (Gold Standard). Đối chuẩn đồng thời với cả hai tạo nền tảng vững chắc và khách quan tuyệt đối trước Hội đồng chấm.</a:t>
            </a:r>
          </a:p>
          <a:p>
            <a:pPr>
              <a:spcBef>
                <a:spcPts val="100"/>
              </a:spcBef>
              <a:defRPr sz="900">
                <a:solidFill>
                  <a:srgbClr val="334155"/>
                </a:solidFill>
                <a:latin typeface="Calibri"/>
              </a:defRPr>
            </a:pPr>
            <a:r>
              <a:t>• Nền tảng Minh chứng Cải tiến: Mọi cải tiến của Rep-YOLO11s đều xuất phát từ việc khắc phục chính xác các điểm nghẽn kỹ thuật được chỉ ra ở hai mô hình cơ sở này, chứng minh tính cấp thiết và giá trị khoa học thực sự của đề tài.</a:t>
            </a:r>
          </a:p>
        </p:txBody>
      </p:sp>
      <p:sp>
        <p:nvSpPr>
          <p:cNvPr id="15" name="Rounded Rectangle 14"/>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6" name="Rounded Rectangle 15"/>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17" name="TextBox 16"/>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Đối chuẩn song song SOTA mới nhất (YOLO11s) và Chuẩn công nghiệp (YOLOv8s) tạo cơ sở khoa học khách quan chứng minh tính vượt trội của đề tài.</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MỤC 6 · PHƯƠNG PHÁP ĐỀ XUẤT (PROPOSED METHOD)</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07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Kiến trúc Tổng thể Rep-YOLO11s: Tích hợp 4 Cải tiến Toán học</a:t>
            </a:r>
          </a:p>
        </p:txBody>
      </p:sp>
      <p:sp>
        <p:nvSpPr>
          <p:cNvPr id="7" name="Rounded Rectangle 6"/>
          <p:cNvSpPr/>
          <p:nvPr/>
        </p:nvSpPr>
        <p:spPr>
          <a:xfrm>
            <a:off x="731520" y="1234440"/>
            <a:ext cx="6217920" cy="4617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8" name="Rounded Rectangle 7"/>
          <p:cNvSpPr/>
          <p:nvPr/>
        </p:nvSpPr>
        <p:spPr>
          <a:xfrm>
            <a:off x="914400" y="1353312"/>
            <a:ext cx="2926080" cy="256032"/>
          </a:xfrm>
          <a:prstGeom prst="roundRect">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900" b="1">
                <a:solidFill>
                  <a:srgbClr val="FFFFFF"/>
                </a:solidFill>
                <a:latin typeface="Calibri"/>
              </a:defRPr>
            </a:pPr>
            <a:r>
              <a:t>PIPELINE KIẾN TRÚC REP-YOLO11s</a:t>
            </a:r>
          </a:p>
        </p:txBody>
      </p:sp>
      <p:sp>
        <p:nvSpPr>
          <p:cNvPr id="9" name="Rounded Rectangle 8"/>
          <p:cNvSpPr/>
          <p:nvPr/>
        </p:nvSpPr>
        <p:spPr>
          <a:xfrm>
            <a:off x="914400" y="1691640"/>
            <a:ext cx="5852160" cy="5486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0" name="Rounded Rectangle 9"/>
          <p:cNvSpPr/>
          <p:nvPr/>
        </p:nvSpPr>
        <p:spPr>
          <a:xfrm>
            <a:off x="960120" y="1746504"/>
            <a:ext cx="109728" cy="438912"/>
          </a:xfrm>
          <a:prstGeom prst="roundRect">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1" name="TextBox 10"/>
          <p:cNvSpPr txBox="1"/>
          <p:nvPr/>
        </p:nvSpPr>
        <p:spPr>
          <a:xfrm>
            <a:off x="1143000" y="1728216"/>
            <a:ext cx="5577840" cy="475488"/>
          </a:xfrm>
          <a:prstGeom prst="rect">
            <a:avLst/>
          </a:prstGeom>
          <a:noFill/>
        </p:spPr>
        <p:txBody>
          <a:bodyPr wrap="square" lIns="0" rIns="0">
            <a:spAutoFit/>
          </a:bodyPr>
          <a:lstStyle/>
          <a:p>
            <a:pPr>
              <a:defRPr b="1" sz="950">
                <a:solidFill>
                  <a:srgbClr val="475569"/>
                </a:solidFill>
                <a:latin typeface="Calibri"/>
              </a:defRPr>
            </a:pPr>
            <a:r>
              <a:t>ẢNH ĐẦU VÀO [640×640×3]</a:t>
            </a:r>
          </a:p>
          <a:p>
            <a:pPr>
              <a:spcBef>
                <a:spcPts val="100"/>
              </a:spcBef>
              <a:defRPr sz="830">
                <a:solidFill>
                  <a:srgbClr val="64748B"/>
                </a:solidFill>
                <a:latin typeface="Calibri"/>
              </a:defRPr>
            </a:pPr>
            <a:r>
              <a:t>Luồng Video Camera Giám sát Công trường Xây dựng</a:t>
            </a:r>
          </a:p>
        </p:txBody>
      </p:sp>
      <p:sp>
        <p:nvSpPr>
          <p:cNvPr id="12" name="Rounded Rectangle 11"/>
          <p:cNvSpPr/>
          <p:nvPr/>
        </p:nvSpPr>
        <p:spPr>
          <a:xfrm>
            <a:off x="914400" y="2386584"/>
            <a:ext cx="5852160" cy="548640"/>
          </a:xfrm>
          <a:prstGeom prst="roundRect">
            <a:avLst/>
          </a:prstGeom>
          <a:solidFill>
            <a:srgbClr val="FFF7ED"/>
          </a:solidFill>
          <a:ln w="1905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3" name="Rounded Rectangle 12"/>
          <p:cNvSpPr/>
          <p:nvPr/>
        </p:nvSpPr>
        <p:spPr>
          <a:xfrm>
            <a:off x="960120" y="2441448"/>
            <a:ext cx="109728" cy="438912"/>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4" name="TextBox 13"/>
          <p:cNvSpPr txBox="1"/>
          <p:nvPr/>
        </p:nvSpPr>
        <p:spPr>
          <a:xfrm>
            <a:off x="1143000" y="2423160"/>
            <a:ext cx="5577840" cy="475488"/>
          </a:xfrm>
          <a:prstGeom prst="rect">
            <a:avLst/>
          </a:prstGeom>
          <a:noFill/>
        </p:spPr>
        <p:txBody>
          <a:bodyPr wrap="square" lIns="0" rIns="0">
            <a:spAutoFit/>
          </a:bodyPr>
          <a:lstStyle/>
          <a:p>
            <a:pPr>
              <a:defRPr b="1" sz="950">
                <a:solidFill>
                  <a:srgbClr val="EA580C"/>
                </a:solidFill>
                <a:latin typeface="Calibri"/>
              </a:defRPr>
            </a:pPr>
            <a:r>
              <a:t>CẢI TIẾN 2: COORDCONV STEM</a:t>
            </a:r>
          </a:p>
          <a:p>
            <a:pPr>
              <a:spcBef>
                <a:spcPts val="100"/>
              </a:spcBef>
              <a:defRPr sz="830">
                <a:solidFill>
                  <a:srgbClr val="0F172A"/>
                </a:solidFill>
                <a:latin typeface="Calibri"/>
              </a:defRPr>
            </a:pPr>
            <a:r>
              <a:t>Cấy 2 kênh tọa độ [Cx, Cy] vào Layer 0 (5 -&gt; 64 kênh) -&gt; Khử báo động sàn</a:t>
            </a:r>
          </a:p>
        </p:txBody>
      </p:sp>
      <p:sp>
        <p:nvSpPr>
          <p:cNvPr id="15" name="Rounded Rectangle 14"/>
          <p:cNvSpPr/>
          <p:nvPr/>
        </p:nvSpPr>
        <p:spPr>
          <a:xfrm>
            <a:off x="914400" y="3081528"/>
            <a:ext cx="5852160" cy="548640"/>
          </a:xfrm>
          <a:prstGeom prst="roundRect">
            <a:avLst/>
          </a:prstGeom>
          <a:solidFill>
            <a:srgbClr val="FFF7ED"/>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6" name="Rounded Rectangle 15"/>
          <p:cNvSpPr/>
          <p:nvPr/>
        </p:nvSpPr>
        <p:spPr>
          <a:xfrm>
            <a:off x="960120" y="3136392"/>
            <a:ext cx="109728" cy="438912"/>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7" name="TextBox 16"/>
          <p:cNvSpPr txBox="1"/>
          <p:nvPr/>
        </p:nvSpPr>
        <p:spPr>
          <a:xfrm>
            <a:off x="1143000" y="3118104"/>
            <a:ext cx="5577840" cy="475488"/>
          </a:xfrm>
          <a:prstGeom prst="rect">
            <a:avLst/>
          </a:prstGeom>
          <a:noFill/>
        </p:spPr>
        <p:txBody>
          <a:bodyPr wrap="square" lIns="0" rIns="0">
            <a:spAutoFit/>
          </a:bodyPr>
          <a:lstStyle/>
          <a:p>
            <a:pPr>
              <a:defRPr b="1" sz="950">
                <a:solidFill>
                  <a:srgbClr val="2563EB"/>
                </a:solidFill>
                <a:latin typeface="Calibri"/>
              </a:defRPr>
            </a:pPr>
            <a:r>
              <a:t>CẢI TIẾN 1: REPCONV BACKBONE</a:t>
            </a:r>
          </a:p>
          <a:p>
            <a:pPr>
              <a:spcBef>
                <a:spcPts val="100"/>
              </a:spcBef>
              <a:defRPr sz="830">
                <a:solidFill>
                  <a:srgbClr val="0F172A"/>
                </a:solidFill>
                <a:latin typeface="Calibri"/>
              </a:defRPr>
            </a:pPr>
            <a:r>
              <a:t>3 nhánh huấn luyện -&gt; Gộp đại số về 1 Conv 3x3 khi triển khai (Zero Latency)</a:t>
            </a:r>
          </a:p>
        </p:txBody>
      </p:sp>
      <p:sp>
        <p:nvSpPr>
          <p:cNvPr id="18" name="Rounded Rectangle 17"/>
          <p:cNvSpPr/>
          <p:nvPr/>
        </p:nvSpPr>
        <p:spPr>
          <a:xfrm>
            <a:off x="914400" y="3776472"/>
            <a:ext cx="5852160" cy="548640"/>
          </a:xfrm>
          <a:prstGeom prst="roundRect">
            <a:avLst/>
          </a:prstGeom>
          <a:solidFill>
            <a:srgbClr val="FFF7ED"/>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9" name="Rounded Rectangle 18"/>
          <p:cNvSpPr/>
          <p:nvPr/>
        </p:nvSpPr>
        <p:spPr>
          <a:xfrm>
            <a:off x="960120" y="3831336"/>
            <a:ext cx="109728" cy="438912"/>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0" name="TextBox 19"/>
          <p:cNvSpPr txBox="1"/>
          <p:nvPr/>
        </p:nvSpPr>
        <p:spPr>
          <a:xfrm>
            <a:off x="1143000" y="3813048"/>
            <a:ext cx="5577840" cy="475488"/>
          </a:xfrm>
          <a:prstGeom prst="rect">
            <a:avLst/>
          </a:prstGeom>
          <a:noFill/>
        </p:spPr>
        <p:txBody>
          <a:bodyPr wrap="square" lIns="0" rIns="0">
            <a:spAutoFit/>
          </a:bodyPr>
          <a:lstStyle/>
          <a:p>
            <a:pPr>
              <a:defRPr b="1" sz="950">
                <a:solidFill>
                  <a:srgbClr val="7C3AED"/>
                </a:solidFill>
                <a:latin typeface="Calibri"/>
              </a:defRPr>
            </a:pPr>
            <a:r>
              <a:t>CẢI TIẾN 3: BIFORMER NECK</a:t>
            </a:r>
          </a:p>
          <a:p>
            <a:pPr>
              <a:spcBef>
                <a:spcPts val="100"/>
              </a:spcBef>
              <a:defRPr sz="830">
                <a:solidFill>
                  <a:srgbClr val="0F172A"/>
                </a:solidFill>
                <a:latin typeface="Calibri"/>
              </a:defRPr>
            </a:pPr>
            <a:r>
              <a:t>Định tuyến thưa 2 cấp độ Top-k (Complexity O(HW)) -&gt; Bắt trúng mũ nhỏ xa</a:t>
            </a:r>
          </a:p>
        </p:txBody>
      </p:sp>
      <p:sp>
        <p:nvSpPr>
          <p:cNvPr id="21" name="Rounded Rectangle 20"/>
          <p:cNvSpPr/>
          <p:nvPr/>
        </p:nvSpPr>
        <p:spPr>
          <a:xfrm>
            <a:off x="914400" y="4471416"/>
            <a:ext cx="5852160" cy="548640"/>
          </a:xfrm>
          <a:prstGeom prst="roundRect">
            <a:avLst/>
          </a:prstGeom>
          <a:solidFill>
            <a:srgbClr val="FFF7ED"/>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2" name="Rounded Rectangle 21"/>
          <p:cNvSpPr/>
          <p:nvPr/>
        </p:nvSpPr>
        <p:spPr>
          <a:xfrm>
            <a:off x="960120" y="4526280"/>
            <a:ext cx="109728" cy="438912"/>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3" name="TextBox 22"/>
          <p:cNvSpPr txBox="1"/>
          <p:nvPr/>
        </p:nvSpPr>
        <p:spPr>
          <a:xfrm>
            <a:off x="1143000" y="4507992"/>
            <a:ext cx="5577840" cy="475488"/>
          </a:xfrm>
          <a:prstGeom prst="rect">
            <a:avLst/>
          </a:prstGeom>
          <a:noFill/>
        </p:spPr>
        <p:txBody>
          <a:bodyPr wrap="square" lIns="0" rIns="0">
            <a:spAutoFit/>
          </a:bodyPr>
          <a:lstStyle/>
          <a:p>
            <a:pPr>
              <a:defRPr b="1" sz="950">
                <a:solidFill>
                  <a:srgbClr val="D97706"/>
                </a:solidFill>
                <a:latin typeface="Calibri"/>
              </a:defRPr>
            </a:pPr>
            <a:r>
              <a:t>CẢI TIẾN 4: FOCAL-EIoU HEAD</a:t>
            </a:r>
          </a:p>
          <a:p>
            <a:pPr>
              <a:spcBef>
                <a:spcPts val="100"/>
              </a:spcBef>
              <a:defRPr sz="830">
                <a:solidFill>
                  <a:srgbClr val="0F172A"/>
                </a:solidFill>
                <a:latin typeface="Calibri"/>
              </a:defRPr>
            </a:pPr>
            <a:r>
              <a:t>Phân rã kích thước độc lập + TAL gán nhãn động -&gt; Tránh suy biến gradient</a:t>
            </a:r>
          </a:p>
        </p:txBody>
      </p:sp>
      <p:sp>
        <p:nvSpPr>
          <p:cNvPr id="24" name="Rounded Rectangle 23"/>
          <p:cNvSpPr/>
          <p:nvPr/>
        </p:nvSpPr>
        <p:spPr>
          <a:xfrm>
            <a:off x="914400" y="5166360"/>
            <a:ext cx="5852160" cy="5486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5" name="Rounded Rectangle 24"/>
          <p:cNvSpPr/>
          <p:nvPr/>
        </p:nvSpPr>
        <p:spPr>
          <a:xfrm>
            <a:off x="960120" y="5221224"/>
            <a:ext cx="109728" cy="438912"/>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6" name="TextBox 25"/>
          <p:cNvSpPr txBox="1"/>
          <p:nvPr/>
        </p:nvSpPr>
        <p:spPr>
          <a:xfrm>
            <a:off x="1143000" y="5202936"/>
            <a:ext cx="5577840" cy="475488"/>
          </a:xfrm>
          <a:prstGeom prst="rect">
            <a:avLst/>
          </a:prstGeom>
          <a:noFill/>
        </p:spPr>
        <p:txBody>
          <a:bodyPr wrap="square" lIns="0" rIns="0">
            <a:spAutoFit/>
          </a:bodyPr>
          <a:lstStyle/>
          <a:p>
            <a:pPr>
              <a:defRPr b="1" sz="950">
                <a:solidFill>
                  <a:srgbClr val="16A34A"/>
                </a:solidFill>
                <a:latin typeface="Calibri"/>
              </a:defRPr>
            </a:pPr>
            <a:r>
              <a:t>KẾT QUẢ ĐẦU RA (OUTPUT)</a:t>
            </a:r>
          </a:p>
          <a:p>
            <a:pPr>
              <a:spcBef>
                <a:spcPts val="100"/>
              </a:spcBef>
              <a:defRPr sz="830">
                <a:solidFill>
                  <a:srgbClr val="64748B"/>
                </a:solidFill>
                <a:latin typeface="Calibri"/>
              </a:defRPr>
            </a:pPr>
            <a:r>
              <a:t>Khung bao mũ bảo hộ sắc nét, Recall &gt;91%, triệt tiêu báo động giả mặt sàn</a:t>
            </a:r>
          </a:p>
        </p:txBody>
      </p:sp>
      <p:sp>
        <p:nvSpPr>
          <p:cNvPr id="27" name="Rounded Rectangle 26"/>
          <p:cNvSpPr/>
          <p:nvPr/>
        </p:nvSpPr>
        <p:spPr>
          <a:xfrm>
            <a:off x="7132320" y="1234440"/>
            <a:ext cx="4327855"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8" name="Rounded Rectangle 27"/>
          <p:cNvSpPr/>
          <p:nvPr/>
        </p:nvSpPr>
        <p:spPr>
          <a:xfrm>
            <a:off x="7242048" y="1325880"/>
            <a:ext cx="91440" cy="896112"/>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9" name="TextBox 28"/>
          <p:cNvSpPr txBox="1"/>
          <p:nvPr/>
        </p:nvSpPr>
        <p:spPr>
          <a:xfrm>
            <a:off x="7388352" y="1307592"/>
            <a:ext cx="3980383" cy="932688"/>
          </a:xfrm>
          <a:prstGeom prst="rect">
            <a:avLst/>
          </a:prstGeom>
          <a:noFill/>
        </p:spPr>
        <p:txBody>
          <a:bodyPr wrap="square" lIns="0" rIns="0">
            <a:spAutoFit/>
          </a:bodyPr>
          <a:lstStyle/>
          <a:p>
            <a:pPr>
              <a:defRPr b="1" sz="980">
                <a:solidFill>
                  <a:srgbClr val="2563EB"/>
                </a:solidFill>
                <a:latin typeface="Calibri"/>
              </a:defRPr>
            </a:pPr>
            <a:r>
              <a:t>Cải tiến 1: Tái tham số hóa RepConv</a:t>
            </a:r>
          </a:p>
          <a:p>
            <a:pPr>
              <a:spcBef>
                <a:spcPts val="200"/>
              </a:spcBef>
              <a:defRPr sz="830">
                <a:solidFill>
                  <a:srgbClr val="334155"/>
                </a:solidFill>
                <a:latin typeface="Calibri"/>
              </a:defRPr>
            </a:pPr>
            <a:r>
              <a:t>Huấn luyện đa nhánh giàu biểu diễn (3x3, 1x1, Identity) -&gt; Gộp đại số khép kín về duy nhất 1 nhân Conv 3x3 khi suy luận (`switch_to_deploy`). Đạt tốc độ suy luận cực hạn với Zero Latency Overhead.</a:t>
            </a:r>
          </a:p>
        </p:txBody>
      </p:sp>
      <p:sp>
        <p:nvSpPr>
          <p:cNvPr id="30" name="Rounded Rectangle 29"/>
          <p:cNvSpPr/>
          <p:nvPr/>
        </p:nvSpPr>
        <p:spPr>
          <a:xfrm>
            <a:off x="7132320" y="2414016"/>
            <a:ext cx="4327855"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31" name="Rounded Rectangle 30"/>
          <p:cNvSpPr/>
          <p:nvPr/>
        </p:nvSpPr>
        <p:spPr>
          <a:xfrm>
            <a:off x="7242048" y="2505456"/>
            <a:ext cx="91440" cy="896112"/>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32" name="TextBox 31"/>
          <p:cNvSpPr txBox="1"/>
          <p:nvPr/>
        </p:nvSpPr>
        <p:spPr>
          <a:xfrm>
            <a:off x="7388352" y="2487168"/>
            <a:ext cx="3980383" cy="932688"/>
          </a:xfrm>
          <a:prstGeom prst="rect">
            <a:avLst/>
          </a:prstGeom>
          <a:noFill/>
        </p:spPr>
        <p:txBody>
          <a:bodyPr wrap="square" lIns="0" rIns="0">
            <a:spAutoFit/>
          </a:bodyPr>
          <a:lstStyle/>
          <a:p>
            <a:pPr>
              <a:defRPr b="1" sz="980">
                <a:solidFill>
                  <a:srgbClr val="EA580C"/>
                </a:solidFill>
                <a:latin typeface="Calibri"/>
              </a:defRPr>
            </a:pPr>
            <a:r>
              <a:t>Cải tiến 2: Mã hóa Tọa độ CoordConv</a:t>
            </a:r>
          </a:p>
          <a:p>
            <a:pPr>
              <a:spcBef>
                <a:spcPts val="200"/>
              </a:spcBef>
              <a:defRPr sz="830">
                <a:solidFill>
                  <a:srgbClr val="334155"/>
                </a:solidFill>
                <a:latin typeface="Calibri"/>
              </a:defRPr>
            </a:pPr>
            <a:r>
              <a:t>Cấy trực tiếp 2 kênh tọa độ không gian Cartesian chuẩn hóa [Cx, Cy] vào tầng Stem đầu vào. Phá vỡ tính bất biến tịnh tiến sai lầm, triệt tiêu dứt điểm báo động giả xô vàng và áo phản quang dưới sàn.</a:t>
            </a:r>
          </a:p>
        </p:txBody>
      </p:sp>
      <p:sp>
        <p:nvSpPr>
          <p:cNvPr id="33" name="Rounded Rectangle 32"/>
          <p:cNvSpPr/>
          <p:nvPr/>
        </p:nvSpPr>
        <p:spPr>
          <a:xfrm>
            <a:off x="7132320" y="3593592"/>
            <a:ext cx="4327855"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34" name="Rounded Rectangle 33"/>
          <p:cNvSpPr/>
          <p:nvPr/>
        </p:nvSpPr>
        <p:spPr>
          <a:xfrm>
            <a:off x="7242048" y="3685032"/>
            <a:ext cx="91440" cy="896112"/>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35" name="TextBox 34"/>
          <p:cNvSpPr txBox="1"/>
          <p:nvPr/>
        </p:nvSpPr>
        <p:spPr>
          <a:xfrm>
            <a:off x="7388352" y="3666744"/>
            <a:ext cx="3980383" cy="932688"/>
          </a:xfrm>
          <a:prstGeom prst="rect">
            <a:avLst/>
          </a:prstGeom>
          <a:noFill/>
        </p:spPr>
        <p:txBody>
          <a:bodyPr wrap="square" lIns="0" rIns="0">
            <a:spAutoFit/>
          </a:bodyPr>
          <a:lstStyle/>
          <a:p>
            <a:pPr>
              <a:defRPr b="1" sz="980">
                <a:solidFill>
                  <a:srgbClr val="7C3AED"/>
                </a:solidFill>
                <a:latin typeface="Calibri"/>
              </a:defRPr>
            </a:pPr>
            <a:r>
              <a:t>Cải tiến 3: Chú ý Định tuyến BiFormer</a:t>
            </a:r>
          </a:p>
          <a:p>
            <a:pPr>
              <a:spcBef>
                <a:spcPts val="200"/>
              </a:spcBef>
              <a:defRPr sz="830">
                <a:solidFill>
                  <a:srgbClr val="334155"/>
                </a:solidFill>
                <a:latin typeface="Calibri"/>
              </a:defRPr>
            </a:pPr>
            <a:r>
              <a:t>Cơ chế định tuyến thưa 2 cấp độ lọc bỏ 93.75% các vùng nền rậm rạp không liên quan, tập trung năng lực tính toán vào các vùng chỏm đầu công nhân ở xa với độ phức tạp tuyến tính O(HW).</a:t>
            </a:r>
          </a:p>
        </p:txBody>
      </p:sp>
      <p:sp>
        <p:nvSpPr>
          <p:cNvPr id="36" name="Rounded Rectangle 35"/>
          <p:cNvSpPr/>
          <p:nvPr/>
        </p:nvSpPr>
        <p:spPr>
          <a:xfrm>
            <a:off x="7132320" y="4773168"/>
            <a:ext cx="4327855"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37" name="Rounded Rectangle 36"/>
          <p:cNvSpPr/>
          <p:nvPr/>
        </p:nvSpPr>
        <p:spPr>
          <a:xfrm>
            <a:off x="7242048" y="4864608"/>
            <a:ext cx="91440" cy="896112"/>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38" name="TextBox 37"/>
          <p:cNvSpPr txBox="1"/>
          <p:nvPr/>
        </p:nvSpPr>
        <p:spPr>
          <a:xfrm>
            <a:off x="7388352" y="4846320"/>
            <a:ext cx="3980383" cy="932688"/>
          </a:xfrm>
          <a:prstGeom prst="rect">
            <a:avLst/>
          </a:prstGeom>
          <a:noFill/>
        </p:spPr>
        <p:txBody>
          <a:bodyPr wrap="square" lIns="0" rIns="0">
            <a:spAutoFit/>
          </a:bodyPr>
          <a:lstStyle/>
          <a:p>
            <a:pPr>
              <a:defRPr b="1" sz="980">
                <a:solidFill>
                  <a:srgbClr val="D97706"/>
                </a:solidFill>
                <a:latin typeface="Calibri"/>
              </a:defRPr>
            </a:pPr>
            <a:r>
              <a:t>Cải tiến 4: Hàm mất mát Focal-EIoU</a:t>
            </a:r>
          </a:p>
          <a:p>
            <a:pPr>
              <a:spcBef>
                <a:spcPts val="200"/>
              </a:spcBef>
              <a:defRPr sz="830">
                <a:solidFill>
                  <a:srgbClr val="334155"/>
                </a:solidFill>
                <a:latin typeface="Calibri"/>
              </a:defRPr>
            </a:pPr>
            <a:r>
              <a:t>Phân rã độc lập sai số chiều rộng và chiều cao thay vì tỷ lệ khung bao aspect ratio của CIoU, ngăn ngừa triệt tiêu gradient. Kết hợp trọng số tiêu điểm tập trung tối đa cho các mẫu mục tiêu nhỏ khó.</a:t>
            </a:r>
          </a:p>
        </p:txBody>
      </p:sp>
      <p:sp>
        <p:nvSpPr>
          <p:cNvPr id="39" name="Rounded Rectangle 38"/>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0" name="Rounded Rectangle 39"/>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41" name="TextBox 40"/>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Rep-YOLO11s kết hợp 4 cải tiến toán học giải quyết đồng thời 4 rào cản: Khử báo động sàn, suy luận không độ trễ, tập trung mục tiêu xa và hồi quy hộp chính xác.</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CRITERION 4 · EVALUATION STRATEGY</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08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Rigorous Multi-Metric Evaluation &amp; Life-Critical Recall Strategy</a:t>
            </a:r>
          </a:p>
        </p:txBody>
      </p:sp>
      <p:sp>
        <p:nvSpPr>
          <p:cNvPr id="7" name="Rounded Rectangle 6"/>
          <p:cNvSpPr/>
          <p:nvPr/>
        </p:nvSpPr>
        <p:spPr>
          <a:xfrm>
            <a:off x="731520" y="123444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8" name="Rounded Rectangle 7"/>
          <p:cNvSpPr/>
          <p:nvPr/>
        </p:nvSpPr>
        <p:spPr>
          <a:xfrm>
            <a:off x="914400" y="1371600"/>
            <a:ext cx="384048"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01</a:t>
            </a:r>
          </a:p>
        </p:txBody>
      </p:sp>
      <p:sp>
        <p:nvSpPr>
          <p:cNvPr id="9" name="TextBox 8"/>
          <p:cNvSpPr txBox="1"/>
          <p:nvPr/>
        </p:nvSpPr>
        <p:spPr>
          <a:xfrm>
            <a:off x="1417320" y="1353312"/>
            <a:ext cx="4389120" cy="2011680"/>
          </a:xfrm>
          <a:prstGeom prst="rect">
            <a:avLst/>
          </a:prstGeom>
          <a:noFill/>
        </p:spPr>
        <p:txBody>
          <a:bodyPr wrap="square">
            <a:spAutoFit/>
          </a:bodyPr>
          <a:lstStyle/>
          <a:p>
            <a:pPr>
              <a:defRPr b="1" sz="1300">
                <a:solidFill>
                  <a:srgbClr val="0F172A"/>
                </a:solidFill>
                <a:latin typeface="Calibri"/>
              </a:defRPr>
            </a:pPr>
            <a:r>
              <a:t>Core Accuracy &amp; Localization Metrics</a:t>
            </a:r>
          </a:p>
          <a:p>
            <a:pPr>
              <a:spcBef>
                <a:spcPts val="300"/>
              </a:spcBef>
              <a:defRPr sz="1000">
                <a:solidFill>
                  <a:srgbClr val="334155"/>
                </a:solidFill>
                <a:latin typeface="Calibri"/>
              </a:defRPr>
            </a:pPr>
            <a:r>
              <a:t>• mAP50 (Gold Standard): Evaluates primary detection precision at standard IoU 0.50.</a:t>
            </a:r>
          </a:p>
          <a:p>
            <a:pPr>
              <a:spcBef>
                <a:spcPts val="300"/>
              </a:spcBef>
              <a:defRPr sz="1000">
                <a:solidFill>
                  <a:srgbClr val="334155"/>
                </a:solidFill>
                <a:latin typeface="Calibri"/>
              </a:defRPr>
            </a:pPr>
            <a:r>
              <a:t>• mAP50-95 (Boundary Tightness): Strict average across 10 IoU steps [0.50:0.05:0.95]; heavily penalizes loose or misaligned bounding boxes.</a:t>
            </a:r>
          </a:p>
          <a:p>
            <a:pPr>
              <a:spcBef>
                <a:spcPts val="300"/>
              </a:spcBef>
              <a:defRPr sz="1000">
                <a:solidFill>
                  <a:srgbClr val="334155"/>
                </a:solidFill>
                <a:latin typeface="Calibri"/>
              </a:defRPr>
            </a:pPr>
            <a:r>
              <a:t>• Precision &amp; F1-Score: Measures trade-off between false detections and completeness.</a:t>
            </a:r>
          </a:p>
          <a:p>
            <a:pPr>
              <a:spcBef>
                <a:spcPts val="300"/>
              </a:spcBef>
              <a:defRPr sz="1000">
                <a:solidFill>
                  <a:srgbClr val="334155"/>
                </a:solidFill>
                <a:latin typeface="Calibri"/>
              </a:defRPr>
            </a:pPr>
            <a:r>
              <a:t>• Real-Time Constraint: Enforces strict inference latency suitable for 25+ FPS streams.</a:t>
            </a:r>
          </a:p>
        </p:txBody>
      </p:sp>
      <p:sp>
        <p:nvSpPr>
          <p:cNvPr id="10" name="Rounded Rectangle 9"/>
          <p:cNvSpPr/>
          <p:nvPr/>
        </p:nvSpPr>
        <p:spPr>
          <a:xfrm>
            <a:off x="6217920" y="123444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1" name="Rounded Rectangle 10"/>
          <p:cNvSpPr/>
          <p:nvPr/>
        </p:nvSpPr>
        <p:spPr>
          <a:xfrm>
            <a:off x="6400800" y="1371600"/>
            <a:ext cx="384048" cy="292608"/>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02</a:t>
            </a:r>
          </a:p>
        </p:txBody>
      </p:sp>
      <p:sp>
        <p:nvSpPr>
          <p:cNvPr id="12" name="TextBox 11"/>
          <p:cNvSpPr txBox="1"/>
          <p:nvPr/>
        </p:nvSpPr>
        <p:spPr>
          <a:xfrm>
            <a:off x="6903720" y="1353312"/>
            <a:ext cx="4389120" cy="2011680"/>
          </a:xfrm>
          <a:prstGeom prst="rect">
            <a:avLst/>
          </a:prstGeom>
          <a:noFill/>
        </p:spPr>
        <p:txBody>
          <a:bodyPr wrap="square">
            <a:spAutoFit/>
          </a:bodyPr>
          <a:lstStyle/>
          <a:p>
            <a:pPr>
              <a:defRPr b="1" sz="1300">
                <a:solidFill>
                  <a:srgbClr val="0F172A"/>
                </a:solidFill>
                <a:latin typeface="Calibri"/>
              </a:defRPr>
            </a:pPr>
            <a:r>
              <a:t>Life-Critical Priority: Recall Over Precision</a:t>
            </a:r>
          </a:p>
          <a:p>
            <a:pPr>
              <a:spcBef>
                <a:spcPts val="300"/>
              </a:spcBef>
              <a:defRPr sz="1000">
                <a:solidFill>
                  <a:srgbClr val="334155"/>
                </a:solidFill>
                <a:latin typeface="Calibri"/>
              </a:defRPr>
            </a:pPr>
            <a:r>
              <a:t>• Zero-Tolerance for False Negatives (FN): In safety monitoring, a missed violation allows an unprotected worker into a hazard zone -&gt; fatal risk.</a:t>
            </a:r>
          </a:p>
          <a:p>
            <a:pPr>
              <a:spcBef>
                <a:spcPts val="300"/>
              </a:spcBef>
              <a:defRPr sz="1000">
                <a:solidFill>
                  <a:srgbClr val="334155"/>
                </a:solidFill>
                <a:latin typeface="Calibri"/>
              </a:defRPr>
            </a:pPr>
            <a:r>
              <a:t>• Asymmetric Impact: A False Alarm (FP) causes minor verification overhead; a Missed Violation (FN) leads to irreversible human tragedy.</a:t>
            </a:r>
          </a:p>
          <a:p>
            <a:pPr>
              <a:spcBef>
                <a:spcPts val="300"/>
              </a:spcBef>
              <a:defRPr sz="1000">
                <a:solidFill>
                  <a:srgbClr val="334155"/>
                </a:solidFill>
                <a:latin typeface="Calibri"/>
              </a:defRPr>
            </a:pPr>
            <a:r>
              <a:t>• Target Recallhat &gt; 90%: Architecture specifically refined to maximize helmet recall.</a:t>
            </a:r>
          </a:p>
          <a:p>
            <a:pPr>
              <a:spcBef>
                <a:spcPts val="300"/>
              </a:spcBef>
              <a:defRPr sz="1000">
                <a:solidFill>
                  <a:srgbClr val="334155"/>
                </a:solidFill>
                <a:latin typeface="Calibri"/>
              </a:defRPr>
            </a:pPr>
            <a:r>
              <a:t>• Gradient Countermeasure: Focal BCE and Task-Aligned Assigner prevent helmet loss collapse.</a:t>
            </a:r>
          </a:p>
        </p:txBody>
      </p:sp>
      <p:sp>
        <p:nvSpPr>
          <p:cNvPr id="13" name="Rounded Rectangle 12"/>
          <p:cNvSpPr/>
          <p:nvPr/>
        </p:nvSpPr>
        <p:spPr>
          <a:xfrm>
            <a:off x="731520" y="36118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4" name="Rounded Rectangle 13"/>
          <p:cNvSpPr/>
          <p:nvPr/>
        </p:nvSpPr>
        <p:spPr>
          <a:xfrm>
            <a:off x="914400" y="3749039"/>
            <a:ext cx="384048" cy="292608"/>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03</a:t>
            </a:r>
          </a:p>
        </p:txBody>
      </p:sp>
      <p:sp>
        <p:nvSpPr>
          <p:cNvPr id="15" name="TextBox 14"/>
          <p:cNvSpPr txBox="1"/>
          <p:nvPr/>
        </p:nvSpPr>
        <p:spPr>
          <a:xfrm>
            <a:off x="1417320" y="3730752"/>
            <a:ext cx="4389120" cy="2011680"/>
          </a:xfrm>
          <a:prstGeom prst="rect">
            <a:avLst/>
          </a:prstGeom>
          <a:noFill/>
        </p:spPr>
        <p:txBody>
          <a:bodyPr wrap="square">
            <a:spAutoFit/>
          </a:bodyPr>
          <a:lstStyle/>
          <a:p>
            <a:pPr>
              <a:defRPr b="1" sz="1300">
                <a:solidFill>
                  <a:srgbClr val="0F172A"/>
                </a:solidFill>
                <a:latin typeface="Calibri"/>
              </a:defRPr>
            </a:pPr>
            <a:r>
              <a:t>5-Fold Stratified Cross-Validation Protocol</a:t>
            </a:r>
          </a:p>
          <a:p>
            <a:pPr>
              <a:spcBef>
                <a:spcPts val="300"/>
              </a:spcBef>
              <a:defRPr sz="1000">
                <a:solidFill>
                  <a:srgbClr val="334155"/>
                </a:solidFill>
                <a:latin typeface="Calibri"/>
              </a:defRPr>
            </a:pPr>
            <a:r>
              <a:t>• Rigorous Stratification: All 5 folds strictly preserve the exact 1:12.33 class ratio.</a:t>
            </a:r>
          </a:p>
          <a:p>
            <a:pPr>
              <a:spcBef>
                <a:spcPts val="300"/>
              </a:spcBef>
              <a:defRPr sz="1000">
                <a:solidFill>
                  <a:srgbClr val="334155"/>
                </a:solidFill>
                <a:latin typeface="Calibri"/>
              </a:defRPr>
            </a:pPr>
            <a:r>
              <a:t>• Statistical Confidence (μ ± σ): Reports 96.64% ± 0.32% mAP50, proving performance is not a fluke of a lucky test split.</a:t>
            </a:r>
          </a:p>
          <a:p>
            <a:pPr>
              <a:spcBef>
                <a:spcPts val="300"/>
              </a:spcBef>
              <a:defRPr sz="1000">
                <a:solidFill>
                  <a:srgbClr val="334155"/>
                </a:solidFill>
                <a:latin typeface="Calibri"/>
              </a:defRPr>
            </a:pPr>
            <a:r>
              <a:t>• Cross-Fold Stability: Validates consistency across varying illumination and crowd densities.</a:t>
            </a:r>
          </a:p>
          <a:p>
            <a:pPr>
              <a:spcBef>
                <a:spcPts val="300"/>
              </a:spcBef>
              <a:defRPr sz="1000">
                <a:solidFill>
                  <a:srgbClr val="334155"/>
                </a:solidFill>
                <a:latin typeface="Calibri"/>
              </a:defRPr>
            </a:pPr>
            <a:r>
              <a:t>• Ablation Reliability: Ensures all module comparisons are statistically significant.</a:t>
            </a:r>
          </a:p>
        </p:txBody>
      </p:sp>
      <p:sp>
        <p:nvSpPr>
          <p:cNvPr id="16" name="Rounded Rectangle 15"/>
          <p:cNvSpPr/>
          <p:nvPr/>
        </p:nvSpPr>
        <p:spPr>
          <a:xfrm>
            <a:off x="6217920" y="36118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7" name="Rounded Rectangle 16"/>
          <p:cNvSpPr/>
          <p:nvPr/>
        </p:nvSpPr>
        <p:spPr>
          <a:xfrm>
            <a:off x="6400800" y="3749039"/>
            <a:ext cx="384048" cy="292608"/>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04</a:t>
            </a:r>
          </a:p>
        </p:txBody>
      </p:sp>
      <p:sp>
        <p:nvSpPr>
          <p:cNvPr id="18" name="TextBox 17"/>
          <p:cNvSpPr txBox="1"/>
          <p:nvPr/>
        </p:nvSpPr>
        <p:spPr>
          <a:xfrm>
            <a:off x="6903720" y="3730752"/>
            <a:ext cx="4389120" cy="2011680"/>
          </a:xfrm>
          <a:prstGeom prst="rect">
            <a:avLst/>
          </a:prstGeom>
          <a:noFill/>
        </p:spPr>
        <p:txBody>
          <a:bodyPr wrap="square">
            <a:spAutoFit/>
          </a:bodyPr>
          <a:lstStyle/>
          <a:p>
            <a:pPr>
              <a:defRPr b="1" sz="1300">
                <a:solidFill>
                  <a:srgbClr val="0F172A"/>
                </a:solidFill>
                <a:latin typeface="Calibri"/>
              </a:defRPr>
            </a:pPr>
            <a:r>
              <a:t>Model Transparency: Grad-CAM XAI Audit</a:t>
            </a:r>
          </a:p>
          <a:p>
            <a:pPr>
              <a:spcBef>
                <a:spcPts val="300"/>
              </a:spcBef>
              <a:defRPr sz="1000">
                <a:solidFill>
                  <a:srgbClr val="334155"/>
                </a:solidFill>
                <a:latin typeface="Calibri"/>
              </a:defRPr>
            </a:pPr>
            <a:r>
              <a:t>• Feature Saliency Validation: Grad-CAM heatmaps verify network attention is sharply localized on head-worn helmets.</a:t>
            </a:r>
          </a:p>
          <a:p>
            <a:pPr>
              <a:spcBef>
                <a:spcPts val="300"/>
              </a:spcBef>
              <a:defRPr sz="1000">
                <a:solidFill>
                  <a:srgbClr val="334155"/>
                </a:solidFill>
                <a:latin typeface="Calibri"/>
              </a:defRPr>
            </a:pPr>
            <a:r>
              <a:t>• Suppression of Vest &amp; Floor Clutter: Proves CoordConv successfully damps out ground-level yellow buckets and reflective vests.</a:t>
            </a:r>
          </a:p>
          <a:p>
            <a:pPr>
              <a:spcBef>
                <a:spcPts val="300"/>
              </a:spcBef>
              <a:defRPr sz="1000">
                <a:solidFill>
                  <a:srgbClr val="334155"/>
                </a:solidFill>
                <a:latin typeface="Calibri"/>
              </a:defRPr>
            </a:pPr>
            <a:r>
              <a:t>• Long-Range Attention Routing: Confirms BiFormer routes attention directly to small distant heads (&lt;20px).</a:t>
            </a:r>
          </a:p>
          <a:p>
            <a:pPr>
              <a:spcBef>
                <a:spcPts val="300"/>
              </a:spcBef>
              <a:defRPr sz="1000">
                <a:solidFill>
                  <a:srgbClr val="334155"/>
                </a:solidFill>
                <a:latin typeface="Calibri"/>
              </a:defRPr>
            </a:pPr>
            <a:r>
              <a:t>• Industrial Audit Readiness: Provides visual accountability required by HSE site managers.</a:t>
            </a:r>
          </a:p>
        </p:txBody>
      </p:sp>
      <p:sp>
        <p:nvSpPr>
          <p:cNvPr id="19" name="Rounded Rectangle 18"/>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0" name="Rounded Rectangle 19"/>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21" name="TextBox 20"/>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Multi-metric evaluation prioritizes Life-Critical Recall while eliminating split bias via 5-Fold Stratified CV and Grad-CAM interpretability.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CRITERION 5 · PROJECT PLAN &amp; GANTT MILESTONES</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09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Project Roadmap: 5 Phases &amp; Milestone Tracking (W1–W15)</a:t>
            </a:r>
          </a:p>
        </p:txBody>
      </p:sp>
      <p:sp>
        <p:nvSpPr>
          <p:cNvPr id="7" name="Rounded Rectangle 6"/>
          <p:cNvSpPr/>
          <p:nvPr/>
        </p:nvSpPr>
        <p:spPr>
          <a:xfrm>
            <a:off x="731520" y="1234440"/>
            <a:ext cx="2039112" cy="2240280"/>
          </a:xfrm>
          <a:prstGeom prst="roundRect">
            <a:avLst/>
          </a:prstGeom>
          <a:solidFill>
            <a:srgbClr val="FFFFFF"/>
          </a:solidFill>
          <a:ln w="1905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8" name="Rounded Rectangle 7"/>
          <p:cNvSpPr/>
          <p:nvPr/>
        </p:nvSpPr>
        <p:spPr>
          <a:xfrm>
            <a:off x="804672" y="1325880"/>
            <a:ext cx="1892808" cy="292608"/>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Calibri"/>
              </a:defRPr>
            </a:pPr>
            <a:r>
              <a:t>Phase 1 (W1–W5)</a:t>
            </a:r>
          </a:p>
        </p:txBody>
      </p:sp>
      <p:sp>
        <p:nvSpPr>
          <p:cNvPr id="9" name="TextBox 8"/>
          <p:cNvSpPr txBox="1"/>
          <p:nvPr/>
        </p:nvSpPr>
        <p:spPr>
          <a:xfrm>
            <a:off x="804672" y="1664208"/>
            <a:ext cx="1892808" cy="1737360"/>
          </a:xfrm>
          <a:prstGeom prst="rect">
            <a:avLst/>
          </a:prstGeom>
          <a:noFill/>
        </p:spPr>
        <p:txBody>
          <a:bodyPr wrap="square" lIns="0" rIns="0">
            <a:spAutoFit/>
          </a:bodyPr>
          <a:lstStyle/>
          <a:p>
            <a:pPr>
              <a:defRPr b="1" sz="1000">
                <a:solidFill>
                  <a:srgbClr val="0F172A"/>
                </a:solidFill>
                <a:latin typeface="Calibri"/>
              </a:defRPr>
            </a:pPr>
            <a:r>
              <a:t>Foundation &amp; Review 1</a:t>
            </a:r>
          </a:p>
          <a:p>
            <a:pPr>
              <a:spcBef>
                <a:spcPts val="300"/>
              </a:spcBef>
              <a:defRPr sz="900">
                <a:solidFill>
                  <a:srgbClr val="334155"/>
                </a:solidFill>
                <a:latin typeface="Calibri"/>
              </a:defRPr>
            </a:pPr>
            <a:r>
              <a:t>30-paper survey, RQ/Gap, SHWD data cleaning, Baseline setup.</a:t>
            </a:r>
          </a:p>
          <a:p>
            <a:pPr>
              <a:spcBef>
                <a:spcPts val="400"/>
              </a:spcBef>
              <a:defRPr sz="850" b="1">
                <a:solidFill>
                  <a:srgbClr val="EA580C"/>
                </a:solidFill>
                <a:latin typeface="Calibri"/>
              </a:defRPr>
            </a:pPr>
            <a:r>
              <a:t>Target: Review 1 Deck &amp; Cleaned Data</a:t>
            </a:r>
          </a:p>
        </p:txBody>
      </p:sp>
      <p:sp>
        <p:nvSpPr>
          <p:cNvPr id="10" name="Rounded Rectangle 9"/>
          <p:cNvSpPr/>
          <p:nvPr/>
        </p:nvSpPr>
        <p:spPr>
          <a:xfrm>
            <a:off x="2898648" y="1234440"/>
            <a:ext cx="2039112" cy="22402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1" name="Rounded Rectangle 10"/>
          <p:cNvSpPr/>
          <p:nvPr/>
        </p:nvSpPr>
        <p:spPr>
          <a:xfrm>
            <a:off x="2971800" y="1325880"/>
            <a:ext cx="1892808"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Calibri"/>
              </a:defRPr>
            </a:pPr>
            <a:r>
              <a:t>Phase 2 (W6–W8)</a:t>
            </a:r>
          </a:p>
        </p:txBody>
      </p:sp>
      <p:sp>
        <p:nvSpPr>
          <p:cNvPr id="12" name="TextBox 11"/>
          <p:cNvSpPr txBox="1"/>
          <p:nvPr/>
        </p:nvSpPr>
        <p:spPr>
          <a:xfrm>
            <a:off x="2971800" y="1664208"/>
            <a:ext cx="1892808" cy="1737360"/>
          </a:xfrm>
          <a:prstGeom prst="rect">
            <a:avLst/>
          </a:prstGeom>
          <a:noFill/>
        </p:spPr>
        <p:txBody>
          <a:bodyPr wrap="square" lIns="0" rIns="0">
            <a:spAutoFit/>
          </a:bodyPr>
          <a:lstStyle/>
          <a:p>
            <a:pPr>
              <a:defRPr b="1" sz="1000">
                <a:solidFill>
                  <a:srgbClr val="0F172A"/>
                </a:solidFill>
                <a:latin typeface="Calibri"/>
              </a:defRPr>
            </a:pPr>
            <a:r>
              <a:t>Core Engineering &amp; Review 2</a:t>
            </a:r>
          </a:p>
          <a:p>
            <a:pPr>
              <a:spcBef>
                <a:spcPts val="300"/>
              </a:spcBef>
              <a:defRPr sz="900">
                <a:solidFill>
                  <a:srgbClr val="334155"/>
                </a:solidFill>
                <a:latin typeface="Calibri"/>
              </a:defRPr>
            </a:pPr>
            <a:r>
              <a:t>Module coding (RepConv, CoordConv, BiFormer, EIoU), Ablation A0–A6.</a:t>
            </a:r>
          </a:p>
          <a:p>
            <a:pPr>
              <a:spcBef>
                <a:spcPts val="400"/>
              </a:spcBef>
              <a:defRPr sz="850" b="1">
                <a:solidFill>
                  <a:srgbClr val="2563EB"/>
                </a:solidFill>
                <a:latin typeface="Calibri"/>
              </a:defRPr>
            </a:pPr>
            <a:r>
              <a:t>Target: Review 2 Report &amp; Code</a:t>
            </a:r>
          </a:p>
        </p:txBody>
      </p:sp>
      <p:sp>
        <p:nvSpPr>
          <p:cNvPr id="13" name="Rounded Rectangle 12"/>
          <p:cNvSpPr/>
          <p:nvPr/>
        </p:nvSpPr>
        <p:spPr>
          <a:xfrm>
            <a:off x="5065776" y="1234440"/>
            <a:ext cx="2039112" cy="224028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4" name="Rounded Rectangle 13"/>
          <p:cNvSpPr/>
          <p:nvPr/>
        </p:nvSpPr>
        <p:spPr>
          <a:xfrm>
            <a:off x="5138928" y="1325880"/>
            <a:ext cx="1892808" cy="292608"/>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Calibri"/>
              </a:defRPr>
            </a:pPr>
            <a:r>
              <a:t>Phase 3 (W9–W11)</a:t>
            </a:r>
          </a:p>
        </p:txBody>
      </p:sp>
      <p:sp>
        <p:nvSpPr>
          <p:cNvPr id="15" name="TextBox 14"/>
          <p:cNvSpPr txBox="1"/>
          <p:nvPr/>
        </p:nvSpPr>
        <p:spPr>
          <a:xfrm>
            <a:off x="5138928" y="1664208"/>
            <a:ext cx="1892808" cy="1737360"/>
          </a:xfrm>
          <a:prstGeom prst="rect">
            <a:avLst/>
          </a:prstGeom>
          <a:noFill/>
        </p:spPr>
        <p:txBody>
          <a:bodyPr wrap="square" lIns="0" rIns="0">
            <a:spAutoFit/>
          </a:bodyPr>
          <a:lstStyle/>
          <a:p>
            <a:pPr>
              <a:defRPr b="1" sz="1000">
                <a:solidFill>
                  <a:srgbClr val="0F172A"/>
                </a:solidFill>
                <a:latin typeface="Calibri"/>
              </a:defRPr>
            </a:pPr>
            <a:r>
              <a:t>Validation &amp; Review 3</a:t>
            </a:r>
          </a:p>
          <a:p>
            <a:pPr>
              <a:spcBef>
                <a:spcPts val="300"/>
              </a:spcBef>
              <a:defRPr sz="900">
                <a:solidFill>
                  <a:srgbClr val="334155"/>
                </a:solidFill>
                <a:latin typeface="Calibri"/>
              </a:defRPr>
            </a:pPr>
            <a:r>
              <a:t>5-Fold CV, Cross-domain testing (25k+ imgs), Grad-CAM XAI.</a:t>
            </a:r>
          </a:p>
          <a:p>
            <a:pPr>
              <a:spcBef>
                <a:spcPts val="400"/>
              </a:spcBef>
              <a:defRPr sz="850" b="1">
                <a:solidFill>
                  <a:srgbClr val="D97706"/>
                </a:solidFill>
                <a:latin typeface="Calibri"/>
              </a:defRPr>
            </a:pPr>
            <a:r>
              <a:t>Target: Review 3 Data &amp; Weights</a:t>
            </a:r>
          </a:p>
        </p:txBody>
      </p:sp>
      <p:sp>
        <p:nvSpPr>
          <p:cNvPr id="16" name="Rounded Rectangle 15"/>
          <p:cNvSpPr/>
          <p:nvPr/>
        </p:nvSpPr>
        <p:spPr>
          <a:xfrm>
            <a:off x="7232904" y="1234440"/>
            <a:ext cx="2039112" cy="224028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7" name="Rounded Rectangle 16"/>
          <p:cNvSpPr/>
          <p:nvPr/>
        </p:nvSpPr>
        <p:spPr>
          <a:xfrm>
            <a:off x="7306056" y="1325880"/>
            <a:ext cx="1892808" cy="292608"/>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Calibri"/>
              </a:defRPr>
            </a:pPr>
            <a:r>
              <a:t>Phase 4 (W12–W14)</a:t>
            </a:r>
          </a:p>
        </p:txBody>
      </p:sp>
      <p:sp>
        <p:nvSpPr>
          <p:cNvPr id="18" name="TextBox 17"/>
          <p:cNvSpPr txBox="1"/>
          <p:nvPr/>
        </p:nvSpPr>
        <p:spPr>
          <a:xfrm>
            <a:off x="7306056" y="1664208"/>
            <a:ext cx="1892808" cy="1737360"/>
          </a:xfrm>
          <a:prstGeom prst="rect">
            <a:avLst/>
          </a:prstGeom>
          <a:noFill/>
        </p:spPr>
        <p:txBody>
          <a:bodyPr wrap="square" lIns="0" rIns="0">
            <a:spAutoFit/>
          </a:bodyPr>
          <a:lstStyle/>
          <a:p>
            <a:pPr>
              <a:defRPr b="1" sz="1000">
                <a:solidFill>
                  <a:srgbClr val="0F172A"/>
                </a:solidFill>
                <a:latin typeface="Calibri"/>
              </a:defRPr>
            </a:pPr>
            <a:r>
              <a:t>Deployment &amp; Docs</a:t>
            </a:r>
          </a:p>
          <a:p>
            <a:pPr>
              <a:spcBef>
                <a:spcPts val="300"/>
              </a:spcBef>
              <a:defRPr sz="900">
                <a:solidFill>
                  <a:srgbClr val="334155"/>
                </a:solidFill>
                <a:latin typeface="Calibri"/>
              </a:defRPr>
            </a:pPr>
            <a:r>
              <a:t>RTSP camera pipeline, Docker packaging, Scientific paper polish.</a:t>
            </a:r>
          </a:p>
          <a:p>
            <a:pPr>
              <a:spcBef>
                <a:spcPts val="400"/>
              </a:spcBef>
              <a:defRPr sz="850" b="1">
                <a:solidFill>
                  <a:srgbClr val="16A34A"/>
                </a:solidFill>
                <a:latin typeface="Calibri"/>
              </a:defRPr>
            </a:pPr>
            <a:r>
              <a:t>Target: RTSP Demo &amp; Paper Draft</a:t>
            </a:r>
          </a:p>
        </p:txBody>
      </p:sp>
      <p:sp>
        <p:nvSpPr>
          <p:cNvPr id="19" name="Rounded Rectangle 18"/>
          <p:cNvSpPr/>
          <p:nvPr/>
        </p:nvSpPr>
        <p:spPr>
          <a:xfrm>
            <a:off x="9400032" y="1234440"/>
            <a:ext cx="2039112" cy="224028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0" name="Rounded Rectangle 19"/>
          <p:cNvSpPr/>
          <p:nvPr/>
        </p:nvSpPr>
        <p:spPr>
          <a:xfrm>
            <a:off x="9473184" y="1325880"/>
            <a:ext cx="1892808" cy="292608"/>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Calibri"/>
              </a:defRPr>
            </a:pPr>
            <a:r>
              <a:t>Phase 5 (W15)</a:t>
            </a:r>
          </a:p>
        </p:txBody>
      </p:sp>
      <p:sp>
        <p:nvSpPr>
          <p:cNvPr id="21" name="TextBox 20"/>
          <p:cNvSpPr txBox="1"/>
          <p:nvPr/>
        </p:nvSpPr>
        <p:spPr>
          <a:xfrm>
            <a:off x="9473184" y="1664208"/>
            <a:ext cx="1892808" cy="1737360"/>
          </a:xfrm>
          <a:prstGeom prst="rect">
            <a:avLst/>
          </a:prstGeom>
          <a:noFill/>
        </p:spPr>
        <p:txBody>
          <a:bodyPr wrap="square" lIns="0" rIns="0">
            <a:spAutoFit/>
          </a:bodyPr>
          <a:lstStyle/>
          <a:p>
            <a:pPr>
              <a:defRPr b="1" sz="1000">
                <a:solidFill>
                  <a:srgbClr val="0F172A"/>
                </a:solidFill>
                <a:latin typeface="Calibri"/>
              </a:defRPr>
            </a:pPr>
            <a:r>
              <a:t>Final Defense</a:t>
            </a:r>
          </a:p>
          <a:p>
            <a:pPr>
              <a:spcBef>
                <a:spcPts val="300"/>
              </a:spcBef>
              <a:defRPr sz="900">
                <a:solidFill>
                  <a:srgbClr val="334155"/>
                </a:solidFill>
                <a:latin typeface="Calibri"/>
              </a:defRPr>
            </a:pPr>
            <a:r>
              <a:t>Thesis Book submission, final defense presentation rehearsal.</a:t>
            </a:r>
          </a:p>
          <a:p>
            <a:pPr>
              <a:spcBef>
                <a:spcPts val="400"/>
              </a:spcBef>
              <a:defRPr sz="850" b="1">
                <a:solidFill>
                  <a:srgbClr val="7C3AED"/>
                </a:solidFill>
                <a:latin typeface="Calibri"/>
              </a:defRPr>
            </a:pPr>
            <a:r>
              <a:t>Target: Thesis Book &amp; Defense</a:t>
            </a:r>
          </a:p>
        </p:txBody>
      </p:sp>
      <p:sp>
        <p:nvSpPr>
          <p:cNvPr id="22" name="Rounded Rectangle 21"/>
          <p:cNvSpPr/>
          <p:nvPr/>
        </p:nvSpPr>
        <p:spPr>
          <a:xfrm>
            <a:off x="731520" y="36118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3" name="Rounded Rectangle 22"/>
          <p:cNvSpPr/>
          <p:nvPr/>
        </p:nvSpPr>
        <p:spPr>
          <a:xfrm>
            <a:off x="914400" y="3749039"/>
            <a:ext cx="384048"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01</a:t>
            </a:r>
          </a:p>
        </p:txBody>
      </p:sp>
      <p:sp>
        <p:nvSpPr>
          <p:cNvPr id="24" name="TextBox 23"/>
          <p:cNvSpPr txBox="1"/>
          <p:nvPr/>
        </p:nvSpPr>
        <p:spPr>
          <a:xfrm>
            <a:off x="1417320" y="3730752"/>
            <a:ext cx="4389120" cy="2011680"/>
          </a:xfrm>
          <a:prstGeom prst="rect">
            <a:avLst/>
          </a:prstGeom>
          <a:noFill/>
        </p:spPr>
        <p:txBody>
          <a:bodyPr wrap="square">
            <a:spAutoFit/>
          </a:bodyPr>
          <a:lstStyle/>
          <a:p>
            <a:pPr>
              <a:defRPr b="1" sz="1300">
                <a:solidFill>
                  <a:srgbClr val="0F172A"/>
                </a:solidFill>
                <a:latin typeface="Calibri"/>
              </a:defRPr>
            </a:pPr>
            <a:r>
              <a:t>Agile Sprint Execution &amp; Contingency Buffers</a:t>
            </a:r>
          </a:p>
          <a:p>
            <a:pPr>
              <a:spcBef>
                <a:spcPts val="300"/>
              </a:spcBef>
              <a:defRPr sz="1000">
                <a:solidFill>
                  <a:srgbClr val="334155"/>
                </a:solidFill>
                <a:latin typeface="Calibri"/>
              </a:defRPr>
            </a:pPr>
            <a:r>
              <a:t>• 2-Week Sprint Cadence: Rapid iterative cycles with bi-weekly progress synchronization with Academic Advisor.</a:t>
            </a:r>
          </a:p>
          <a:p>
            <a:pPr>
              <a:spcBef>
                <a:spcPts val="300"/>
              </a:spcBef>
              <a:defRPr sz="1000">
                <a:solidFill>
                  <a:srgbClr val="334155"/>
                </a:solidFill>
                <a:latin typeface="Calibri"/>
              </a:defRPr>
            </a:pPr>
            <a:r>
              <a:t>• 1-Week Risk Buffer per Phase: Dedicated contingency time for cloud GPU re-training and parameter exploration.</a:t>
            </a:r>
          </a:p>
          <a:p>
            <a:pPr>
              <a:spcBef>
                <a:spcPts val="300"/>
              </a:spcBef>
              <a:defRPr sz="1000">
                <a:solidFill>
                  <a:srgbClr val="334155"/>
                </a:solidFill>
                <a:latin typeface="Calibri"/>
              </a:defRPr>
            </a:pPr>
            <a:r>
              <a:t>• Review Gating Criteria: Strict quality gates and benchmark hurdles before advancing to the next Review.</a:t>
            </a:r>
          </a:p>
          <a:p>
            <a:pPr>
              <a:spcBef>
                <a:spcPts val="300"/>
              </a:spcBef>
              <a:defRPr sz="1000">
                <a:solidFill>
                  <a:srgbClr val="334155"/>
                </a:solidFill>
                <a:latin typeface="Calibri"/>
              </a:defRPr>
            </a:pPr>
            <a:r>
              <a:t>• Transparent Version Control: Daily code, configuration, and model checkpoint commits synchronized to GitHub.</a:t>
            </a:r>
          </a:p>
        </p:txBody>
      </p:sp>
      <p:sp>
        <p:nvSpPr>
          <p:cNvPr id="25" name="Rounded Rectangle 24"/>
          <p:cNvSpPr/>
          <p:nvPr/>
        </p:nvSpPr>
        <p:spPr>
          <a:xfrm>
            <a:off x="6217920" y="36118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6" name="Rounded Rectangle 25"/>
          <p:cNvSpPr/>
          <p:nvPr/>
        </p:nvSpPr>
        <p:spPr>
          <a:xfrm>
            <a:off x="6400800" y="3749039"/>
            <a:ext cx="384048" cy="292608"/>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02</a:t>
            </a:r>
          </a:p>
        </p:txBody>
      </p:sp>
      <p:sp>
        <p:nvSpPr>
          <p:cNvPr id="27" name="TextBox 26"/>
          <p:cNvSpPr txBox="1"/>
          <p:nvPr/>
        </p:nvSpPr>
        <p:spPr>
          <a:xfrm>
            <a:off x="6903720" y="3730752"/>
            <a:ext cx="4389120" cy="2011680"/>
          </a:xfrm>
          <a:prstGeom prst="rect">
            <a:avLst/>
          </a:prstGeom>
          <a:noFill/>
        </p:spPr>
        <p:txBody>
          <a:bodyPr wrap="square">
            <a:spAutoFit/>
          </a:bodyPr>
          <a:lstStyle/>
          <a:p>
            <a:pPr>
              <a:defRPr b="1" sz="1300">
                <a:solidFill>
                  <a:srgbClr val="0F172A"/>
                </a:solidFill>
                <a:latin typeface="Calibri"/>
              </a:defRPr>
            </a:pPr>
            <a:r>
              <a:t>Strategic Team Role Allocation</a:t>
            </a:r>
          </a:p>
          <a:p>
            <a:pPr>
              <a:spcBef>
                <a:spcPts val="300"/>
              </a:spcBef>
              <a:defRPr sz="1000">
                <a:solidFill>
                  <a:srgbClr val="334155"/>
                </a:solidFill>
                <a:latin typeface="Calibri"/>
              </a:defRPr>
            </a:pPr>
            <a:r>
              <a:t>• Nguyễn Hàn Như (Lead · SE183644): Overall network architecture, custom PyTorch modules, and Scientific paper writing.</a:t>
            </a:r>
          </a:p>
          <a:p>
            <a:pPr>
              <a:spcBef>
                <a:spcPts val="300"/>
              </a:spcBef>
              <a:defRPr sz="1000">
                <a:solidFill>
                  <a:srgbClr val="334155"/>
                </a:solidFill>
                <a:latin typeface="Calibri"/>
              </a:defRPr>
            </a:pPr>
            <a:r>
              <a:t>• Nguyễn Văn Thành (SE180387): Data engineering, label harmonization (C*), SHWD cleaning, 5-Fold Stratified CV.</a:t>
            </a:r>
          </a:p>
          <a:p>
            <a:pPr>
              <a:spcBef>
                <a:spcPts val="300"/>
              </a:spcBef>
              <a:defRPr sz="1000">
                <a:solidFill>
                  <a:srgbClr val="334155"/>
                </a:solidFill>
                <a:latin typeface="Calibri"/>
              </a:defRPr>
            </a:pPr>
            <a:r>
              <a:t>• Trần Phạm Tuấn Dũng (SE183674): Real-time RTSP video streaming pipeline, hardware acceleration, and documentation.</a:t>
            </a:r>
          </a:p>
          <a:p>
            <a:pPr>
              <a:spcBef>
                <a:spcPts val="300"/>
              </a:spcBef>
              <a:defRPr sz="1000">
                <a:solidFill>
                  <a:srgbClr val="334155"/>
                </a:solidFill>
                <a:latin typeface="Calibri"/>
              </a:defRPr>
            </a:pPr>
            <a:r>
              <a:t>• High-Efficiency Collaboration: Clear responsibility boundaries with unified shared Git repo and issue tracking.</a:t>
            </a:r>
          </a:p>
        </p:txBody>
      </p:sp>
      <p:sp>
        <p:nvSpPr>
          <p:cNvPr id="28" name="Rounded Rectangle 27"/>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9" name="Rounded Rectangle 28"/>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30" name="TextBox 29"/>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Structured 15-week Hybrid Agile roadmap strictly aligned with 3 Review milestones and final Capstone Defense.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CRITERION 6 · SCIENTIFIC RESEARCH &amp; PUBLICATION PLAN</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10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Scientific Research Manuscript: Publication-Ready Paper Plan</a:t>
            </a:r>
          </a:p>
        </p:txBody>
      </p:sp>
      <p:sp>
        <p:nvSpPr>
          <p:cNvPr id="7" name="Rounded Rectangle 6"/>
          <p:cNvSpPr/>
          <p:nvPr/>
        </p:nvSpPr>
        <p:spPr>
          <a:xfrm>
            <a:off x="731520" y="1234440"/>
            <a:ext cx="10728655" cy="20116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8" name="Rounded Rectangle 7"/>
          <p:cNvSpPr/>
          <p:nvPr/>
        </p:nvSpPr>
        <p:spPr>
          <a:xfrm>
            <a:off x="914400" y="1353312"/>
            <a:ext cx="3291840"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000" b="1">
                <a:solidFill>
                  <a:srgbClr val="FFFFFF"/>
                </a:solidFill>
                <a:latin typeface="Calibri"/>
              </a:defRPr>
            </a:pPr>
            <a:r>
              <a:t>SCIENTIFIC MANUSCRIPT &amp; ACADEMIC STANDARDS</a:t>
            </a:r>
          </a:p>
        </p:txBody>
      </p:sp>
      <p:sp>
        <p:nvSpPr>
          <p:cNvPr id="9" name="TextBox 8"/>
          <p:cNvSpPr txBox="1"/>
          <p:nvPr/>
        </p:nvSpPr>
        <p:spPr>
          <a:xfrm>
            <a:off x="914400" y="1691640"/>
            <a:ext cx="10332720" cy="1463040"/>
          </a:xfrm>
          <a:prstGeom prst="rect">
            <a:avLst/>
          </a:prstGeom>
          <a:noFill/>
        </p:spPr>
        <p:txBody>
          <a:bodyPr wrap="square">
            <a:spAutoFit/>
          </a:bodyPr>
          <a:lstStyle/>
          <a:p>
            <a:pPr>
              <a:defRPr b="1" sz="1500">
                <a:solidFill>
                  <a:srgbClr val="0F172A"/>
                </a:solidFill>
                <a:latin typeface="Calibri"/>
              </a:defRPr>
            </a:pPr>
            <a:r>
              <a:t>Publication-Ready Master Manuscript (Targeting Peer-Reviewed Venues)</a:t>
            </a:r>
          </a:p>
          <a:p>
            <a:pPr>
              <a:spcBef>
                <a:spcPts val="200"/>
              </a:spcBef>
              <a:defRPr sz="1100" b="1">
                <a:solidFill>
                  <a:srgbClr val="EA580C"/>
                </a:solidFill>
                <a:latin typeface="Calibri"/>
              </a:defRPr>
            </a:pPr>
            <a:r>
              <a:t>Formatted in Standard IEEE Double-Column · Ready for Academic Committee Review &amp; Journal Submission</a:t>
            </a:r>
          </a:p>
          <a:p>
            <a:pPr>
              <a:spcBef>
                <a:spcPts val="300"/>
              </a:spcBef>
              <a:defRPr sz="1050" i="1">
                <a:solidFill>
                  <a:srgbClr val="334155"/>
                </a:solidFill>
                <a:latin typeface="Calibri"/>
              </a:defRPr>
            </a:pPr>
            <a:r>
              <a:t>Title: "Structural Re-Parameterization, Spatial Coordinate Encoding, and Cross-Domain Robustness for Real-Time Safety Helmet Detection in Construction Surveillance"</a:t>
            </a:r>
          </a:p>
          <a:p>
            <a:pPr>
              <a:spcBef>
                <a:spcPts val="200"/>
              </a:spcBef>
              <a:defRPr sz="1050">
                <a:solidFill>
                  <a:srgbClr val="0F172A"/>
                </a:solidFill>
                <a:latin typeface="Calibri"/>
              </a:defRPr>
            </a:pPr>
            <a:r>
              <a:t>• Manuscript Status: Complete 10-page master technical paper fully drafted in IEEE format, ready for Academic Council evaluation and journal submission.</a:t>
            </a:r>
          </a:p>
        </p:txBody>
      </p:sp>
      <p:sp>
        <p:nvSpPr>
          <p:cNvPr id="10" name="Rounded Rectangle 9"/>
          <p:cNvSpPr/>
          <p:nvPr/>
        </p:nvSpPr>
        <p:spPr>
          <a:xfrm>
            <a:off x="731520" y="3383280"/>
            <a:ext cx="5212080" cy="2468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1" name="Rounded Rectangle 10"/>
          <p:cNvSpPr/>
          <p:nvPr/>
        </p:nvSpPr>
        <p:spPr>
          <a:xfrm>
            <a:off x="914400" y="3520440"/>
            <a:ext cx="384048" cy="292608"/>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01</a:t>
            </a:r>
          </a:p>
        </p:txBody>
      </p:sp>
      <p:sp>
        <p:nvSpPr>
          <p:cNvPr id="12" name="TextBox 11"/>
          <p:cNvSpPr txBox="1"/>
          <p:nvPr/>
        </p:nvSpPr>
        <p:spPr>
          <a:xfrm>
            <a:off x="1417320" y="3502152"/>
            <a:ext cx="4389120" cy="2240280"/>
          </a:xfrm>
          <a:prstGeom prst="rect">
            <a:avLst/>
          </a:prstGeom>
          <a:noFill/>
        </p:spPr>
        <p:txBody>
          <a:bodyPr wrap="square">
            <a:spAutoFit/>
          </a:bodyPr>
          <a:lstStyle/>
          <a:p>
            <a:pPr>
              <a:defRPr b="1" sz="1300">
                <a:solidFill>
                  <a:srgbClr val="0F172A"/>
                </a:solidFill>
                <a:latin typeface="Calibri"/>
              </a:defRPr>
            </a:pPr>
            <a:r>
              <a:t>4 Key Scientific Contributions</a:t>
            </a:r>
          </a:p>
          <a:p>
            <a:pPr>
              <a:spcBef>
                <a:spcPts val="300"/>
              </a:spcBef>
              <a:defRPr sz="1000">
                <a:solidFill>
                  <a:srgbClr val="334155"/>
                </a:solidFill>
                <a:latin typeface="Calibri"/>
              </a:defRPr>
            </a:pPr>
            <a:r>
              <a:t>• 1. Novel Architecture: Rep-YOLO11s integrating spatial coordinates, attention routing, and edge-decoupled loss.</a:t>
            </a:r>
          </a:p>
          <a:p>
            <a:pPr>
              <a:spcBef>
                <a:spcPts val="300"/>
              </a:spcBef>
              <a:defRPr sz="1000">
                <a:solidFill>
                  <a:srgbClr val="334155"/>
                </a:solidFill>
                <a:latin typeface="Calibri"/>
              </a:defRPr>
            </a:pPr>
            <a:r>
              <a:t>• 2. Closed-Form Mathematical Proof: Rigorous algebraic proof of lossless 3-branch RepConv re-parameterization (error &lt; 10^-5).</a:t>
            </a:r>
          </a:p>
          <a:p>
            <a:pPr>
              <a:spcBef>
                <a:spcPts val="300"/>
              </a:spcBef>
              <a:defRPr sz="1000">
                <a:solidFill>
                  <a:srgbClr val="334155"/>
                </a:solidFill>
                <a:latin typeface="Calibri"/>
              </a:defRPr>
            </a:pPr>
            <a:r>
              <a:t>• 3. Explainable Ground Invariance: Empirical Grad-CAM proof that CoordConv eliminates ground-level color false alarms.</a:t>
            </a:r>
          </a:p>
          <a:p>
            <a:pPr>
              <a:spcBef>
                <a:spcPts val="300"/>
              </a:spcBef>
              <a:defRPr sz="1000">
                <a:solidFill>
                  <a:srgbClr val="334155"/>
                </a:solidFill>
                <a:latin typeface="Calibri"/>
              </a:defRPr>
            </a:pPr>
            <a:r>
              <a:t>• 4. Multi-Domain Taxonomy Autopsy: Comprehensive benchmark across &gt;33,000 images resolving the IoU Collapse phenomenon.</a:t>
            </a:r>
          </a:p>
        </p:txBody>
      </p:sp>
      <p:sp>
        <p:nvSpPr>
          <p:cNvPr id="13" name="Rounded Rectangle 12"/>
          <p:cNvSpPr/>
          <p:nvPr/>
        </p:nvSpPr>
        <p:spPr>
          <a:xfrm>
            <a:off x="6217920" y="3383280"/>
            <a:ext cx="5212080" cy="2468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4" name="Rounded Rectangle 13"/>
          <p:cNvSpPr/>
          <p:nvPr/>
        </p:nvSpPr>
        <p:spPr>
          <a:xfrm>
            <a:off x="6400800" y="3520440"/>
            <a:ext cx="384048" cy="292608"/>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02</a:t>
            </a:r>
          </a:p>
        </p:txBody>
      </p:sp>
      <p:sp>
        <p:nvSpPr>
          <p:cNvPr id="15" name="TextBox 14"/>
          <p:cNvSpPr txBox="1"/>
          <p:nvPr/>
        </p:nvSpPr>
        <p:spPr>
          <a:xfrm>
            <a:off x="6903720" y="3502152"/>
            <a:ext cx="4389120" cy="2240280"/>
          </a:xfrm>
          <a:prstGeom prst="rect">
            <a:avLst/>
          </a:prstGeom>
          <a:noFill/>
        </p:spPr>
        <p:txBody>
          <a:bodyPr wrap="square">
            <a:spAutoFit/>
          </a:bodyPr>
          <a:lstStyle/>
          <a:p>
            <a:pPr>
              <a:defRPr b="1" sz="1300">
                <a:solidFill>
                  <a:srgbClr val="0F172A"/>
                </a:solidFill>
                <a:latin typeface="Calibri"/>
              </a:defRPr>
            </a:pPr>
            <a:r>
              <a:t>Publication Roadmap &amp; Scientific Integrity</a:t>
            </a:r>
          </a:p>
          <a:p>
            <a:pPr>
              <a:spcBef>
                <a:spcPts val="300"/>
              </a:spcBef>
              <a:defRPr sz="1000">
                <a:solidFill>
                  <a:srgbClr val="334155"/>
                </a:solidFill>
                <a:latin typeface="Calibri"/>
              </a:defRPr>
            </a:pPr>
            <a:r>
              <a:t>• Phase 1–3 (Empirical Evidence): Solidify 5-Fold Stratified CV, multi-dataset zero-shot tests, and Grad-CAM saliency maps.</a:t>
            </a:r>
          </a:p>
          <a:p>
            <a:pPr>
              <a:spcBef>
                <a:spcPts val="300"/>
              </a:spcBef>
              <a:defRPr sz="1000">
                <a:solidFill>
                  <a:srgbClr val="334155"/>
                </a:solidFill>
                <a:latin typeface="Calibri"/>
              </a:defRPr>
            </a:pPr>
            <a:r>
              <a:t>• Phase 4 (Writing &amp; Academic Review): Rigorous academic polishing, IEEE LaTeX double-column typesetting, and mentor co-author review.</a:t>
            </a:r>
          </a:p>
          <a:p>
            <a:pPr>
              <a:spcBef>
                <a:spcPts val="300"/>
              </a:spcBef>
              <a:defRPr sz="1000">
                <a:solidFill>
                  <a:srgbClr val="334155"/>
                </a:solidFill>
                <a:latin typeface="Calibri"/>
              </a:defRPr>
            </a:pPr>
            <a:r>
              <a:t>• Phase 5 &amp; Defense: Present manuscript to Academic Council; finalize submission to reputable journals/conferences under advisor mentorship.</a:t>
            </a:r>
          </a:p>
          <a:p>
            <a:pPr>
              <a:spcBef>
                <a:spcPts val="300"/>
              </a:spcBef>
              <a:defRPr sz="1000">
                <a:solidFill>
                  <a:srgbClr val="334155"/>
                </a:solidFill>
                <a:latin typeface="Calibri"/>
              </a:defRPr>
            </a:pPr>
            <a:r>
              <a:t>• Reproducibility Standards: Full open-source release with deterministic seed control and complete training scripts.</a:t>
            </a:r>
          </a:p>
        </p:txBody>
      </p:sp>
      <p:sp>
        <p:nvSpPr>
          <p:cNvPr id="16" name="Rounded Rectangle 15"/>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7" name="Rounded Rectangle 16"/>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18" name="TextBox 17"/>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Publication-ready scientific manuscript prepared to international IEEE standards, fully verifiable by the Academic Council and ready for peer-reviewed venues.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CRITERION 7 · RISK ASSESSMENT &amp; MITIGATION MATRIX</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11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Proactive Risk Analysis &amp; Engineering Mitigation Matrix</a:t>
            </a:r>
          </a:p>
        </p:txBody>
      </p:sp>
      <p:sp>
        <p:nvSpPr>
          <p:cNvPr id="7" name="Rounded Rectangle 6"/>
          <p:cNvSpPr/>
          <p:nvPr/>
        </p:nvSpPr>
        <p:spPr>
          <a:xfrm>
            <a:off x="731520" y="1234440"/>
            <a:ext cx="34015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8" name="Rounded Rectangle 7"/>
          <p:cNvSpPr/>
          <p:nvPr/>
        </p:nvSpPr>
        <p:spPr>
          <a:xfrm>
            <a:off x="841248" y="1344168"/>
            <a:ext cx="868680" cy="219456"/>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Calibri"/>
              </a:defRPr>
            </a:pPr>
            <a:r>
              <a:t>HIGH RISK</a:t>
            </a:r>
          </a:p>
        </p:txBody>
      </p:sp>
      <p:sp>
        <p:nvSpPr>
          <p:cNvPr id="9" name="TextBox 8"/>
          <p:cNvSpPr txBox="1"/>
          <p:nvPr/>
        </p:nvSpPr>
        <p:spPr>
          <a:xfrm>
            <a:off x="841248" y="1581912"/>
            <a:ext cx="3182112" cy="1856232"/>
          </a:xfrm>
          <a:prstGeom prst="rect">
            <a:avLst/>
          </a:prstGeom>
          <a:noFill/>
        </p:spPr>
        <p:txBody>
          <a:bodyPr wrap="square" lIns="0" rIns="0">
            <a:spAutoFit/>
          </a:bodyPr>
          <a:lstStyle/>
          <a:p>
            <a:pPr>
              <a:defRPr b="1" sz="1050">
                <a:solidFill>
                  <a:srgbClr val="0F172A"/>
                </a:solidFill>
                <a:latin typeface="Calibri"/>
              </a:defRPr>
            </a:pPr>
            <a:r>
              <a:t>1. Extreme Class Imbalance (1:12)</a:t>
            </a:r>
          </a:p>
          <a:p>
            <a:pPr>
              <a:spcBef>
                <a:spcPts val="200"/>
              </a:spcBef>
              <a:defRPr sz="880">
                <a:solidFill>
                  <a:srgbClr val="991B1B"/>
                </a:solidFill>
                <a:latin typeface="Calibri"/>
              </a:defRPr>
            </a:pPr>
            <a:r>
              <a:t>Risk Trigger: 111,514 body instances overpower 9,044 helmet instances, causing helmet gradient starvation.</a:t>
            </a:r>
          </a:p>
          <a:p>
            <a:pPr>
              <a:spcBef>
                <a:spcPts val="300"/>
              </a:spcBef>
              <a:defRPr sz="880" b="1">
                <a:solidFill>
                  <a:srgbClr val="166534"/>
                </a:solidFill>
                <a:latin typeface="Calibri"/>
              </a:defRPr>
            </a:pPr>
            <a:r>
              <a:t>Engineering Mitigation: Task-Aligned Assigner (TAL) top-10 anchor alignment + Focal BCE Loss with dynamic alpha-balance to prioritize helmet learning.</a:t>
            </a:r>
          </a:p>
        </p:txBody>
      </p:sp>
      <p:sp>
        <p:nvSpPr>
          <p:cNvPr id="10" name="Rounded Rectangle 9"/>
          <p:cNvSpPr/>
          <p:nvPr/>
        </p:nvSpPr>
        <p:spPr>
          <a:xfrm>
            <a:off x="4389120" y="1234440"/>
            <a:ext cx="34015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1" name="Rounded Rectangle 10"/>
          <p:cNvSpPr/>
          <p:nvPr/>
        </p:nvSpPr>
        <p:spPr>
          <a:xfrm>
            <a:off x="4498848" y="1344168"/>
            <a:ext cx="868680" cy="219456"/>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Calibri"/>
              </a:defRPr>
            </a:pPr>
            <a:r>
              <a:t>HIGH RISK</a:t>
            </a:r>
          </a:p>
        </p:txBody>
      </p:sp>
      <p:sp>
        <p:nvSpPr>
          <p:cNvPr id="12" name="TextBox 11"/>
          <p:cNvSpPr txBox="1"/>
          <p:nvPr/>
        </p:nvSpPr>
        <p:spPr>
          <a:xfrm>
            <a:off x="4498848" y="1581912"/>
            <a:ext cx="3182112" cy="1856232"/>
          </a:xfrm>
          <a:prstGeom prst="rect">
            <a:avLst/>
          </a:prstGeom>
          <a:noFill/>
        </p:spPr>
        <p:txBody>
          <a:bodyPr wrap="square" lIns="0" rIns="0">
            <a:spAutoFit/>
          </a:bodyPr>
          <a:lstStyle/>
          <a:p>
            <a:pPr>
              <a:defRPr b="1" sz="1050">
                <a:solidFill>
                  <a:srgbClr val="0F172A"/>
                </a:solidFill>
                <a:latin typeface="Calibri"/>
              </a:defRPr>
            </a:pPr>
            <a:r>
              <a:t>2. Ground False Positives</a:t>
            </a:r>
          </a:p>
          <a:p>
            <a:pPr>
              <a:spcBef>
                <a:spcPts val="200"/>
              </a:spcBef>
              <a:defRPr sz="880">
                <a:solidFill>
                  <a:srgbClr val="991B1B"/>
                </a:solidFill>
                <a:latin typeface="Calibri"/>
              </a:defRPr>
            </a:pPr>
            <a:r>
              <a:t>Risk Trigger: Yellow buckets, traffic cones, and caution signs on the floor trigger high false alarm rates (&gt;28%).</a:t>
            </a:r>
          </a:p>
          <a:p>
            <a:pPr>
              <a:spcBef>
                <a:spcPts val="300"/>
              </a:spcBef>
              <a:defRPr sz="880" b="1">
                <a:solidFill>
                  <a:srgbClr val="166534"/>
                </a:solidFill>
                <a:latin typeface="Calibri"/>
              </a:defRPr>
            </a:pPr>
            <a:r>
              <a:t>Engineering Mitigation: CoordConv Stem injects vertical coordinate Cy; provides anatomical prior suppressing ground logits (Cy &gt; 0.4) to &lt;0.02.</a:t>
            </a:r>
          </a:p>
        </p:txBody>
      </p:sp>
      <p:sp>
        <p:nvSpPr>
          <p:cNvPr id="13" name="Rounded Rectangle 12"/>
          <p:cNvSpPr/>
          <p:nvPr/>
        </p:nvSpPr>
        <p:spPr>
          <a:xfrm>
            <a:off x="8046720" y="1234440"/>
            <a:ext cx="34015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4" name="Rounded Rectangle 13"/>
          <p:cNvSpPr/>
          <p:nvPr/>
        </p:nvSpPr>
        <p:spPr>
          <a:xfrm>
            <a:off x="8156448" y="1344168"/>
            <a:ext cx="868680" cy="219456"/>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Calibri"/>
              </a:defRPr>
            </a:pPr>
            <a:r>
              <a:t>HIGH RISK</a:t>
            </a:r>
          </a:p>
        </p:txBody>
      </p:sp>
      <p:sp>
        <p:nvSpPr>
          <p:cNvPr id="15" name="TextBox 14"/>
          <p:cNvSpPr txBox="1"/>
          <p:nvPr/>
        </p:nvSpPr>
        <p:spPr>
          <a:xfrm>
            <a:off x="8156448" y="1581912"/>
            <a:ext cx="3182112" cy="1856232"/>
          </a:xfrm>
          <a:prstGeom prst="rect">
            <a:avLst/>
          </a:prstGeom>
          <a:noFill/>
        </p:spPr>
        <p:txBody>
          <a:bodyPr wrap="square" lIns="0" rIns="0">
            <a:spAutoFit/>
          </a:bodyPr>
          <a:lstStyle/>
          <a:p>
            <a:pPr>
              <a:defRPr b="1" sz="1050">
                <a:solidFill>
                  <a:srgbClr val="0F172A"/>
                </a:solidFill>
                <a:latin typeface="Calibri"/>
              </a:defRPr>
            </a:pPr>
            <a:r>
              <a:t>3. Distant Tiny Helmets (&lt;20px)</a:t>
            </a:r>
          </a:p>
          <a:p>
            <a:pPr>
              <a:spcBef>
                <a:spcPts val="200"/>
              </a:spcBef>
              <a:defRPr sz="880">
                <a:solidFill>
                  <a:srgbClr val="991B1B"/>
                </a:solidFill>
                <a:latin typeface="Calibri"/>
              </a:defRPr>
            </a:pPr>
            <a:r>
              <a:t>Risk Trigger: Small targets under high-angle CCTV blur and vanish through standard convolutional downsampling.</a:t>
            </a:r>
          </a:p>
          <a:p>
            <a:pPr>
              <a:spcBef>
                <a:spcPts val="300"/>
              </a:spcBef>
              <a:defRPr sz="880" b="1">
                <a:solidFill>
                  <a:srgbClr val="166534"/>
                </a:solidFill>
                <a:latin typeface="Calibri"/>
              </a:defRPr>
            </a:pPr>
            <a:r>
              <a:t>Engineering Mitigation: BiFormer Bi-Level Routing Attention filters out 93.75% of background and preserves small target features with O(HW) cost.</a:t>
            </a:r>
          </a:p>
        </p:txBody>
      </p:sp>
      <p:sp>
        <p:nvSpPr>
          <p:cNvPr id="16" name="Rounded Rectangle 15"/>
          <p:cNvSpPr/>
          <p:nvPr/>
        </p:nvSpPr>
        <p:spPr>
          <a:xfrm>
            <a:off x="731520" y="3639312"/>
            <a:ext cx="34015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7" name="Rounded Rectangle 16"/>
          <p:cNvSpPr/>
          <p:nvPr/>
        </p:nvSpPr>
        <p:spPr>
          <a:xfrm>
            <a:off x="841248" y="3749040"/>
            <a:ext cx="868680" cy="219456"/>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Calibri"/>
              </a:defRPr>
            </a:pPr>
            <a:r>
              <a:t>MED RISK</a:t>
            </a:r>
          </a:p>
        </p:txBody>
      </p:sp>
      <p:sp>
        <p:nvSpPr>
          <p:cNvPr id="18" name="TextBox 17"/>
          <p:cNvSpPr txBox="1"/>
          <p:nvPr/>
        </p:nvSpPr>
        <p:spPr>
          <a:xfrm>
            <a:off x="841248" y="3986784"/>
            <a:ext cx="3182112" cy="1856232"/>
          </a:xfrm>
          <a:prstGeom prst="rect">
            <a:avLst/>
          </a:prstGeom>
          <a:noFill/>
        </p:spPr>
        <p:txBody>
          <a:bodyPr wrap="square" lIns="0" rIns="0">
            <a:spAutoFit/>
          </a:bodyPr>
          <a:lstStyle/>
          <a:p>
            <a:pPr>
              <a:defRPr b="1" sz="1050">
                <a:solidFill>
                  <a:srgbClr val="0F172A"/>
                </a:solidFill>
                <a:latin typeface="Calibri"/>
              </a:defRPr>
            </a:pPr>
            <a:r>
              <a:t>4. CIoU Gradient Vanishing</a:t>
            </a:r>
          </a:p>
          <a:p>
            <a:pPr>
              <a:spcBef>
                <a:spcPts val="200"/>
              </a:spcBef>
              <a:defRPr sz="880">
                <a:solidFill>
                  <a:srgbClr val="991B1B"/>
                </a:solidFill>
                <a:latin typeface="Calibri"/>
              </a:defRPr>
            </a:pPr>
            <a:r>
              <a:t>Risk Trigger: When aspect ratio w/h matches ground truth, CIoU penalty gradient vanishes, stalling boundary regression.</a:t>
            </a:r>
          </a:p>
          <a:p>
            <a:pPr>
              <a:spcBef>
                <a:spcPts val="300"/>
              </a:spcBef>
              <a:defRPr sz="880" b="1">
                <a:solidFill>
                  <a:srgbClr val="166534"/>
                </a:solidFill>
                <a:latin typeface="Calibri"/>
              </a:defRPr>
            </a:pPr>
            <a:r>
              <a:t>Engineering Mitigation: Focal-EIoU Loss decouples width and height errors independently; guarantees dL/dw != 0 whenever width is not aligned.</a:t>
            </a:r>
          </a:p>
        </p:txBody>
      </p:sp>
      <p:sp>
        <p:nvSpPr>
          <p:cNvPr id="19" name="Rounded Rectangle 18"/>
          <p:cNvSpPr/>
          <p:nvPr/>
        </p:nvSpPr>
        <p:spPr>
          <a:xfrm>
            <a:off x="4389120" y="3639312"/>
            <a:ext cx="34015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0" name="Rounded Rectangle 19"/>
          <p:cNvSpPr/>
          <p:nvPr/>
        </p:nvSpPr>
        <p:spPr>
          <a:xfrm>
            <a:off x="4498848" y="3749040"/>
            <a:ext cx="868680" cy="219456"/>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Calibri"/>
              </a:defRPr>
            </a:pPr>
            <a:r>
              <a:t>HIGH RISK</a:t>
            </a:r>
          </a:p>
        </p:txBody>
      </p:sp>
      <p:sp>
        <p:nvSpPr>
          <p:cNvPr id="21" name="TextBox 20"/>
          <p:cNvSpPr txBox="1"/>
          <p:nvPr/>
        </p:nvSpPr>
        <p:spPr>
          <a:xfrm>
            <a:off x="4498848" y="3986784"/>
            <a:ext cx="3182112" cy="1856232"/>
          </a:xfrm>
          <a:prstGeom prst="rect">
            <a:avLst/>
          </a:prstGeom>
          <a:noFill/>
        </p:spPr>
        <p:txBody>
          <a:bodyPr wrap="square" lIns="0" rIns="0">
            <a:spAutoFit/>
          </a:bodyPr>
          <a:lstStyle/>
          <a:p>
            <a:pPr>
              <a:defRPr b="1" sz="1050">
                <a:solidFill>
                  <a:srgbClr val="0F172A"/>
                </a:solidFill>
                <a:latin typeface="Calibri"/>
              </a:defRPr>
            </a:pPr>
            <a:r>
              <a:t>5. Video Sequence Data Leakage</a:t>
            </a:r>
          </a:p>
          <a:p>
            <a:pPr>
              <a:spcBef>
                <a:spcPts val="200"/>
              </a:spcBef>
              <a:defRPr sz="880">
                <a:solidFill>
                  <a:srgbClr val="991B1B"/>
                </a:solidFill>
                <a:latin typeface="Calibri"/>
              </a:defRPr>
            </a:pPr>
            <a:r>
              <a:t>Risk Trigger: Consecutive frames from identical camera scenes appearing in both train and test artificially inflate accuracy.</a:t>
            </a:r>
          </a:p>
          <a:p>
            <a:pPr>
              <a:spcBef>
                <a:spcPts val="300"/>
              </a:spcBef>
              <a:defRPr sz="880" b="1">
                <a:solidFill>
                  <a:srgbClr val="166534"/>
                </a:solidFill>
                <a:latin typeface="Calibri"/>
              </a:defRPr>
            </a:pPr>
            <a:r>
              <a:t>Engineering Mitigation: Video sequence hashing groups continuous frames strictly into the same partition, guaranteeing 100% leak-free evaluation.</a:t>
            </a:r>
          </a:p>
        </p:txBody>
      </p:sp>
      <p:sp>
        <p:nvSpPr>
          <p:cNvPr id="22" name="Rounded Rectangle 21"/>
          <p:cNvSpPr/>
          <p:nvPr/>
        </p:nvSpPr>
        <p:spPr>
          <a:xfrm>
            <a:off x="8046720" y="3639312"/>
            <a:ext cx="34015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3" name="Rounded Rectangle 22"/>
          <p:cNvSpPr/>
          <p:nvPr/>
        </p:nvSpPr>
        <p:spPr>
          <a:xfrm>
            <a:off x="8156448" y="3749040"/>
            <a:ext cx="868680" cy="219456"/>
          </a:xfrm>
          <a:prstGeom prst="roundRect">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Calibri"/>
              </a:defRPr>
            </a:pPr>
            <a:r>
              <a:t>MED RISK</a:t>
            </a:r>
          </a:p>
        </p:txBody>
      </p:sp>
      <p:sp>
        <p:nvSpPr>
          <p:cNvPr id="24" name="TextBox 23"/>
          <p:cNvSpPr txBox="1"/>
          <p:nvPr/>
        </p:nvSpPr>
        <p:spPr>
          <a:xfrm>
            <a:off x="8156448" y="3986784"/>
            <a:ext cx="3182112" cy="1856232"/>
          </a:xfrm>
          <a:prstGeom prst="rect">
            <a:avLst/>
          </a:prstGeom>
          <a:noFill/>
        </p:spPr>
        <p:txBody>
          <a:bodyPr wrap="square" lIns="0" rIns="0">
            <a:spAutoFit/>
          </a:bodyPr>
          <a:lstStyle/>
          <a:p>
            <a:pPr>
              <a:defRPr b="1" sz="1050">
                <a:solidFill>
                  <a:srgbClr val="0F172A"/>
                </a:solidFill>
                <a:latin typeface="Calibri"/>
              </a:defRPr>
            </a:pPr>
            <a:r>
              <a:t>6. GPU Memory &amp; Compute Limits</a:t>
            </a:r>
          </a:p>
          <a:p>
            <a:pPr>
              <a:spcBef>
                <a:spcPts val="200"/>
              </a:spcBef>
              <a:defRPr sz="880">
                <a:solidFill>
                  <a:srgbClr val="991B1B"/>
                </a:solidFill>
                <a:latin typeface="Calibri"/>
              </a:defRPr>
            </a:pPr>
            <a:r>
              <a:t>Risk Trigger: Training high-resolution multi-module models risks CUDA Out-Of-Memory (OOM) and long training times.</a:t>
            </a:r>
          </a:p>
          <a:p>
            <a:pPr>
              <a:spcBef>
                <a:spcPts val="300"/>
              </a:spcBef>
              <a:defRPr sz="880" b="1">
                <a:solidFill>
                  <a:srgbClr val="166534"/>
                </a:solidFill>
                <a:latin typeface="Calibri"/>
              </a:defRPr>
            </a:pPr>
            <a:r>
              <a:t>Engineering Mitigation: Dual Kaggle Tesla T4 GPUs (32 GB VRAM) using PyTorch DDP; FP16 mixed precision halves memory footprint without accuracy loss.</a:t>
            </a:r>
          </a:p>
        </p:txBody>
      </p:sp>
      <p:sp>
        <p:nvSpPr>
          <p:cNvPr id="25" name="Rounded Rectangle 24"/>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6" name="Rounded Rectangle 25"/>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27" name="TextBox 26"/>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All 6 core engineering risks are proactively resolved through mathematically sound and empirically verified architectural solutions.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CRITERION 8 · EXPECTED OUTCOMES &amp; CONCLUSION</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12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Final Deliverables &amp; 8-Point Project Synthesis</a:t>
            </a:r>
          </a:p>
        </p:txBody>
      </p:sp>
      <p:sp>
        <p:nvSpPr>
          <p:cNvPr id="7" name="Rounded Rectangle 6"/>
          <p:cNvSpPr/>
          <p:nvPr/>
        </p:nvSpPr>
        <p:spPr>
          <a:xfrm>
            <a:off x="731520" y="1234440"/>
            <a:ext cx="5212080" cy="4617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8" name="Rounded Rectangle 7"/>
          <p:cNvSpPr/>
          <p:nvPr/>
        </p:nvSpPr>
        <p:spPr>
          <a:xfrm>
            <a:off x="914400" y="1371600"/>
            <a:ext cx="384048"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01</a:t>
            </a:r>
          </a:p>
        </p:txBody>
      </p:sp>
      <p:sp>
        <p:nvSpPr>
          <p:cNvPr id="9" name="TextBox 8"/>
          <p:cNvSpPr txBox="1"/>
          <p:nvPr/>
        </p:nvSpPr>
        <p:spPr>
          <a:xfrm>
            <a:off x="1417320" y="1353312"/>
            <a:ext cx="4389120" cy="4389120"/>
          </a:xfrm>
          <a:prstGeom prst="rect">
            <a:avLst/>
          </a:prstGeom>
          <a:noFill/>
        </p:spPr>
        <p:txBody>
          <a:bodyPr wrap="square">
            <a:spAutoFit/>
          </a:bodyPr>
          <a:lstStyle/>
          <a:p>
            <a:pPr>
              <a:defRPr b="1" sz="1300">
                <a:solidFill>
                  <a:srgbClr val="0F172A"/>
                </a:solidFill>
                <a:latin typeface="Calibri"/>
              </a:defRPr>
            </a:pPr>
            <a:r>
              <a:t>5 Tangible Project Deliverables</a:t>
            </a:r>
          </a:p>
          <a:p>
            <a:pPr>
              <a:spcBef>
                <a:spcPts val="500"/>
              </a:spcBef>
              <a:defRPr b="1" sz="1050">
                <a:solidFill>
                  <a:srgbClr val="2563EB"/>
                </a:solidFill>
                <a:latin typeface="Calibri"/>
              </a:defRPr>
            </a:pPr>
            <a:r>
              <a:t>1. High-Accuracy AI Weights (.pt)</a:t>
            </a:r>
          </a:p>
          <a:p>
            <a:pPr>
              <a:spcBef>
                <a:spcPts val="100"/>
              </a:spcBef>
              <a:defRPr sz="950">
                <a:solidFill>
                  <a:srgbClr val="334155"/>
                </a:solidFill>
                <a:latin typeface="Calibri"/>
              </a:defRPr>
            </a:pPr>
            <a:r>
              <a:t>Rep-YOLO11s trained weights achieving &gt;96% 5-Fold mAP50 with optimized small helmet recall.</a:t>
            </a:r>
          </a:p>
          <a:p>
            <a:pPr>
              <a:spcBef>
                <a:spcPts val="500"/>
              </a:spcBef>
              <a:defRPr b="1" sz="1050">
                <a:solidFill>
                  <a:srgbClr val="2563EB"/>
                </a:solidFill>
                <a:latin typeface="Calibri"/>
              </a:defRPr>
            </a:pPr>
            <a:r>
              <a:t>2. Standardized Dataset Pipeline</a:t>
            </a:r>
          </a:p>
          <a:p>
            <a:pPr>
              <a:spcBef>
                <a:spcPts val="100"/>
              </a:spcBef>
              <a:defRPr sz="950">
                <a:solidFill>
                  <a:srgbClr val="334155"/>
                </a:solidFill>
                <a:latin typeface="Calibri"/>
              </a:defRPr>
            </a:pPr>
            <a:r>
              <a:t>Cleaned SHWD (7,581 images) with zero label corruption, plus unified C* taxonomy across &gt;33,000 industrial images.</a:t>
            </a:r>
          </a:p>
          <a:p>
            <a:pPr>
              <a:spcBef>
                <a:spcPts val="500"/>
              </a:spcBef>
              <a:defRPr b="1" sz="1050">
                <a:solidFill>
                  <a:srgbClr val="2563EB"/>
                </a:solidFill>
                <a:latin typeface="Calibri"/>
              </a:defRPr>
            </a:pPr>
            <a:r>
              <a:t>3. Open-Source Code Repository</a:t>
            </a:r>
          </a:p>
          <a:p>
            <a:pPr>
              <a:spcBef>
                <a:spcPts val="100"/>
              </a:spcBef>
              <a:defRPr sz="950">
                <a:solidFill>
                  <a:srgbClr val="334155"/>
                </a:solidFill>
                <a:latin typeface="Calibri"/>
              </a:defRPr>
            </a:pPr>
            <a:r>
              <a:t>Clean GitHub repository with PyTorch modules, switch_to_deploy() scripts, and multi-GPU DDP training configs.</a:t>
            </a:r>
          </a:p>
          <a:p>
            <a:pPr>
              <a:spcBef>
                <a:spcPts val="500"/>
              </a:spcBef>
              <a:defRPr b="1" sz="1050">
                <a:solidFill>
                  <a:srgbClr val="2563EB"/>
                </a:solidFill>
                <a:latin typeface="Calibri"/>
              </a:defRPr>
            </a:pPr>
            <a:r>
              <a:t>4. Real-Time RTSP Software Demo</a:t>
            </a:r>
          </a:p>
          <a:p>
            <a:pPr>
              <a:spcBef>
                <a:spcPts val="100"/>
              </a:spcBef>
              <a:defRPr sz="950">
                <a:solidFill>
                  <a:srgbClr val="334155"/>
                </a:solidFill>
                <a:latin typeface="Calibri"/>
              </a:defRPr>
            </a:pPr>
            <a:r>
              <a:t>Surveillance desktop application running on live CCTV streams with automated violation alerts and bounding boxes.</a:t>
            </a:r>
          </a:p>
          <a:p>
            <a:pPr>
              <a:spcBef>
                <a:spcPts val="500"/>
              </a:spcBef>
              <a:defRPr b="1" sz="1050">
                <a:solidFill>
                  <a:srgbClr val="2563EB"/>
                </a:solidFill>
                <a:latin typeface="Calibri"/>
              </a:defRPr>
            </a:pPr>
            <a:r>
              <a:t>5. Scientific Research Manuscript</a:t>
            </a:r>
          </a:p>
          <a:p>
            <a:pPr>
              <a:spcBef>
                <a:spcPts val="100"/>
              </a:spcBef>
              <a:defRPr sz="950">
                <a:solidFill>
                  <a:srgbClr val="334155"/>
                </a:solidFill>
                <a:latin typeface="Calibri"/>
              </a:defRPr>
            </a:pPr>
            <a:r>
              <a:t>Publication-ready master paper in IEEE format, ready for Academic Council evaluation and journal submission.</a:t>
            </a:r>
          </a:p>
        </p:txBody>
      </p:sp>
      <p:sp>
        <p:nvSpPr>
          <p:cNvPr id="10" name="Rounded Rectangle 9"/>
          <p:cNvSpPr/>
          <p:nvPr/>
        </p:nvSpPr>
        <p:spPr>
          <a:xfrm>
            <a:off x="6217920" y="1234440"/>
            <a:ext cx="5212080" cy="4617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1" name="Rounded Rectangle 10"/>
          <p:cNvSpPr/>
          <p:nvPr/>
        </p:nvSpPr>
        <p:spPr>
          <a:xfrm>
            <a:off x="6400800" y="1371600"/>
            <a:ext cx="384048" cy="292608"/>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02</a:t>
            </a:r>
          </a:p>
        </p:txBody>
      </p:sp>
      <p:sp>
        <p:nvSpPr>
          <p:cNvPr id="12" name="TextBox 11"/>
          <p:cNvSpPr txBox="1"/>
          <p:nvPr/>
        </p:nvSpPr>
        <p:spPr>
          <a:xfrm>
            <a:off x="6903720" y="1353312"/>
            <a:ext cx="4389120" cy="4389120"/>
          </a:xfrm>
          <a:prstGeom prst="rect">
            <a:avLst/>
          </a:prstGeom>
          <a:noFill/>
        </p:spPr>
        <p:txBody>
          <a:bodyPr wrap="square">
            <a:spAutoFit/>
          </a:bodyPr>
          <a:lstStyle/>
          <a:p>
            <a:pPr>
              <a:defRPr b="1" sz="1300">
                <a:solidFill>
                  <a:srgbClr val="0F172A"/>
                </a:solidFill>
                <a:latin typeface="Calibri"/>
              </a:defRPr>
            </a:pPr>
            <a:r>
              <a:t>8-Point Project Synthesis (Conclusion)</a:t>
            </a:r>
          </a:p>
          <a:p>
            <a:pPr>
              <a:spcBef>
                <a:spcPts val="300"/>
              </a:spcBef>
              <a:defRPr sz="950">
                <a:solidFill>
                  <a:srgbClr val="334155"/>
                </a:solidFill>
                <a:latin typeface="Calibri"/>
              </a:defRPr>
            </a:pPr>
            <a:r>
              <a:t>• Problem: Industrial CCTV challenges (tiny targets, 1:12 class imbalance, ground false alarms).</a:t>
            </a:r>
          </a:p>
          <a:p>
            <a:pPr>
              <a:spcBef>
                <a:spcPts val="300"/>
              </a:spcBef>
              <a:defRPr sz="950">
                <a:solidFill>
                  <a:srgbClr val="334155"/>
                </a:solidFill>
                <a:latin typeface="Calibri"/>
              </a:defRPr>
            </a:pPr>
            <a:r>
              <a:t>• Research Gap: Heavy architectures lack real-time viability; standard models lack spatial height priors.</a:t>
            </a:r>
          </a:p>
          <a:p>
            <a:pPr>
              <a:spcBef>
                <a:spcPts val="300"/>
              </a:spcBef>
              <a:defRPr sz="950">
                <a:solidFill>
                  <a:srgbClr val="334155"/>
                </a:solidFill>
                <a:latin typeface="Calibri"/>
              </a:defRPr>
            </a:pPr>
            <a:r>
              <a:t>• SOTA Baselines: Directly benchmarked against YOLO11s (latest SOTA) and YOLOv8s (industry standard).</a:t>
            </a:r>
          </a:p>
          <a:p>
            <a:pPr>
              <a:spcBef>
                <a:spcPts val="300"/>
              </a:spcBef>
              <a:defRPr sz="950">
                <a:solidFill>
                  <a:srgbClr val="334155"/>
                </a:solidFill>
                <a:latin typeface="Calibri"/>
              </a:defRPr>
            </a:pPr>
            <a:r>
              <a:t>• Proposed Method: Rep-YOLO11s integrating RepConv, CoordConv, BiFormer, and Focal-EIoU.</a:t>
            </a:r>
          </a:p>
          <a:p>
            <a:pPr>
              <a:spcBef>
                <a:spcPts val="300"/>
              </a:spcBef>
              <a:defRPr sz="950">
                <a:solidFill>
                  <a:srgbClr val="334155"/>
                </a:solidFill>
                <a:latin typeface="Calibri"/>
              </a:defRPr>
            </a:pPr>
            <a:r>
              <a:t>• Data Engineering: 7,581 SHWD images with zero leakage + 5 cross-domain benchmarks (&gt;25,000 images).</a:t>
            </a:r>
          </a:p>
          <a:p>
            <a:pPr>
              <a:spcBef>
                <a:spcPts val="300"/>
              </a:spcBef>
              <a:defRPr sz="950">
                <a:solidFill>
                  <a:srgbClr val="334155"/>
                </a:solidFill>
                <a:latin typeface="Calibri"/>
              </a:defRPr>
            </a:pPr>
            <a:r>
              <a:t>• Evaluation: Life-critical Recall prioritization, 5-Fold Stratified CV, and Grad-CAM explainability.</a:t>
            </a:r>
          </a:p>
          <a:p>
            <a:pPr>
              <a:spcBef>
                <a:spcPts val="300"/>
              </a:spcBef>
              <a:defRPr sz="950">
                <a:solidFill>
                  <a:srgbClr val="334155"/>
                </a:solidFill>
                <a:latin typeface="Calibri"/>
              </a:defRPr>
            </a:pPr>
            <a:r>
              <a:t>• Feasibility: High-efficiency single-path architecture verified on accessible GPU hardware.</a:t>
            </a:r>
          </a:p>
          <a:p>
            <a:pPr>
              <a:spcBef>
                <a:spcPts val="300"/>
              </a:spcBef>
              <a:defRPr sz="950">
                <a:solidFill>
                  <a:srgbClr val="334155"/>
                </a:solidFill>
                <a:latin typeface="Calibri"/>
              </a:defRPr>
            </a:pPr>
            <a:r>
              <a:t>• Practical Value: Seamlessly bridges top-tier academic rigor with live worker safety protection.</a:t>
            </a:r>
          </a:p>
        </p:txBody>
      </p:sp>
      <p:sp>
        <p:nvSpPr>
          <p:cNvPr id="13" name="Rounded Rectangle 12"/>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4" name="Rounded Rectangle 13"/>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15" name="TextBox 14"/>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A comprehensive, publication-grade AI capstone delivering high-accuracy helmet surveillance, robust software, and verifiable scientific contributions.</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