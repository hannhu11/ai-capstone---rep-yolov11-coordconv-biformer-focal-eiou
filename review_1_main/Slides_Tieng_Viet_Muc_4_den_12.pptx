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 name="TextBox 2"/>
          <p:cNvSpPr txBox="1"/>
          <p:nvPr/>
        </p:nvSpPr>
        <p:spPr>
          <a:xfrm>
            <a:off x="731520" y="320040"/>
            <a:ext cx="8686800" cy="256032"/>
          </a:xfrm>
          <a:prstGeom prst="rect">
            <a:avLst/>
          </a:prstGeom>
          <a:noFill/>
        </p:spPr>
        <p:txBody>
          <a:bodyPr wrap="square" lIns="0" tIns="0" rIns="0" bIns="0">
            <a:spAutoFit/>
          </a:bodyPr>
          <a:lstStyle/>
          <a:p>
            <a:pPr>
              <a:defRPr sz="1000" b="1">
                <a:solidFill>
                  <a:srgbClr val="EA580C"/>
                </a:solidFill>
                <a:latin typeface="Calibri"/>
              </a:defRPr>
            </a:pPr>
            <a:r>
              <a:t>MỤC 4 &amp; MỤC 5 · RELATED WORK &amp; SOTA BASELINES</a:t>
            </a:r>
          </a:p>
        </p:txBody>
      </p:sp>
      <p:sp>
        <p:nvSpPr>
          <p:cNvPr id="4" name="TextBox 3"/>
          <p:cNvSpPr txBox="1"/>
          <p:nvPr/>
        </p:nvSpPr>
        <p:spPr>
          <a:xfrm>
            <a:off x="10058400" y="320040"/>
            <a:ext cx="1371600" cy="256032"/>
          </a:xfrm>
          <a:prstGeom prst="rect">
            <a:avLst/>
          </a:prstGeom>
          <a:noFill/>
        </p:spPr>
        <p:txBody>
          <a:bodyPr wrap="none" lIns="0" tIns="0" rIns="0" bIns="0">
            <a:spAutoFit/>
          </a:bodyPr>
          <a:lstStyle/>
          <a:p>
            <a:pPr algn="r">
              <a:defRPr sz="1100">
                <a:solidFill>
                  <a:srgbClr val="64748B"/>
                </a:solidFill>
                <a:latin typeface="Calibri"/>
              </a:defRPr>
            </a:pPr>
            <a:r>
              <a:t>04 / 18</a:t>
            </a:r>
          </a:p>
        </p:txBody>
      </p:sp>
      <p:sp>
        <p:nvSpPr>
          <p:cNvPr id="5" name="TextBox 4"/>
          <p:cNvSpPr txBox="1"/>
          <p:nvPr/>
        </p:nvSpPr>
        <p:spPr>
          <a:xfrm>
            <a:off x="731520" y="594360"/>
            <a:ext cx="10698480" cy="502920"/>
          </a:xfrm>
          <a:prstGeom prst="rect">
            <a:avLst/>
          </a:prstGeom>
          <a:noFill/>
        </p:spPr>
        <p:txBody>
          <a:bodyPr wrap="square" lIns="0" tIns="0" rIns="0" bIns="0">
            <a:spAutoFit/>
          </a:bodyPr>
          <a:lstStyle/>
          <a:p>
            <a:pPr>
              <a:defRPr sz="2000" b="1">
                <a:solidFill>
                  <a:srgbClr val="0F172A"/>
                </a:solidFill>
                <a:latin typeface="Calibri"/>
              </a:defRPr>
            </a:pPr>
            <a:r>
              <a:t>Bảng So sánh Đối chuẩn SOTA Cơ sở trên Tập Chuẩn SHWD (VOC2028)</a:t>
            </a:r>
          </a:p>
        </p:txBody>
      </p:sp>
      <p:graphicFrame>
        <p:nvGraphicFramePr>
          <p:cNvPr id="6" name="Table 5"/>
          <p:cNvGraphicFramePr>
            <a:graphicFrameLocks noGrp="1"/>
          </p:cNvGraphicFramePr>
          <p:nvPr/>
        </p:nvGraphicFramePr>
        <p:xfrm>
          <a:off x="731520" y="1234440"/>
          <a:ext cx="10728655" cy="2926080"/>
        </p:xfrm>
        <a:graphic>
          <a:graphicData uri="http://schemas.openxmlformats.org/drawingml/2006/table">
            <a:tbl>
              <a:tblPr firstRow="1" bandRow="1">
                <a:tableStyleId>{5C22544A-7EE6-4342-B048-85BDC9FD1C3A}</a:tableStyleId>
              </a:tblPr>
              <a:tblGrid>
                <a:gridCol w="2864815"/>
                <a:gridCol w="1005840"/>
                <a:gridCol w="1005840"/>
                <a:gridCol w="1097280"/>
                <a:gridCol w="1188720"/>
                <a:gridCol w="1188720"/>
                <a:gridCol w="1188720"/>
                <a:gridCol w="1188720"/>
              </a:tblGrid>
              <a:tr h="365760">
                <a:tc>
                  <a:txBody>
                    <a:bodyPr/>
                    <a:lstStyle/>
                    <a:p>
                      <a:pPr algn="l">
                        <a:defRPr sz="950" b="1">
                          <a:solidFill>
                            <a:srgbClr val="FFFFFF"/>
                          </a:solidFill>
                          <a:latin typeface="Calibri"/>
                        </a:defRPr>
                      </a:pPr>
                      <a:r>
                        <a:t>Kiến trúc Mô hình</a:t>
                      </a:r>
                    </a:p>
                  </a:txBody>
                  <a:tcPr>
                    <a:solidFill>
                      <a:srgbClr val="0F172A"/>
                    </a:solidFill>
                  </a:tcPr>
                </a:tc>
                <a:tc>
                  <a:txBody>
                    <a:bodyPr/>
                    <a:lstStyle/>
                    <a:p>
                      <a:pPr algn="ctr">
                        <a:defRPr sz="950" b="1">
                          <a:solidFill>
                            <a:srgbClr val="FFFFFF"/>
                          </a:solidFill>
                          <a:latin typeface="Calibri"/>
                        </a:defRPr>
                      </a:pPr>
                      <a:r>
                        <a:t>Params (M)</a:t>
                      </a:r>
                    </a:p>
                  </a:txBody>
                  <a:tcPr>
                    <a:solidFill>
                      <a:srgbClr val="0F172A"/>
                    </a:solidFill>
                  </a:tcPr>
                </a:tc>
                <a:tc>
                  <a:txBody>
                    <a:bodyPr/>
                    <a:lstStyle/>
                    <a:p>
                      <a:pPr algn="ctr">
                        <a:defRPr sz="950" b="1">
                          <a:solidFill>
                            <a:srgbClr val="FFFFFF"/>
                          </a:solidFill>
                          <a:latin typeface="Calibri"/>
                        </a:defRPr>
                      </a:pPr>
                      <a:r>
                        <a:t>FLOPs (G)</a:t>
                      </a:r>
                    </a:p>
                  </a:txBody>
                  <a:tcPr>
                    <a:solidFill>
                      <a:srgbClr val="0F172A"/>
                    </a:solidFill>
                  </a:tcPr>
                </a:tc>
                <a:tc>
                  <a:txBody>
                    <a:bodyPr/>
                    <a:lstStyle/>
                    <a:p>
                      <a:pPr algn="ctr">
                        <a:defRPr sz="950" b="1">
                          <a:solidFill>
                            <a:srgbClr val="FFFFFF"/>
                          </a:solidFill>
                          <a:latin typeface="Calibri"/>
                        </a:defRPr>
                      </a:pPr>
                      <a:r>
                        <a:t>mAP50 (%)</a:t>
                      </a:r>
                    </a:p>
                  </a:txBody>
                  <a:tcPr>
                    <a:solidFill>
                      <a:srgbClr val="0F172A"/>
                    </a:solidFill>
                  </a:tcPr>
                </a:tc>
                <a:tc>
                  <a:txBody>
                    <a:bodyPr/>
                    <a:lstStyle/>
                    <a:p>
                      <a:pPr algn="ctr">
                        <a:defRPr sz="950" b="1">
                          <a:solidFill>
                            <a:srgbClr val="FFFFFF"/>
                          </a:solidFill>
                          <a:latin typeface="Calibri"/>
                        </a:defRPr>
                      </a:pPr>
                      <a:r>
                        <a:t>mAP50-95 (%)</a:t>
                      </a:r>
                    </a:p>
                  </a:txBody>
                  <a:tcPr>
                    <a:solidFill>
                      <a:srgbClr val="0F172A"/>
                    </a:solidFill>
                  </a:tcPr>
                </a:tc>
                <a:tc>
                  <a:txBody>
                    <a:bodyPr/>
                    <a:lstStyle/>
                    <a:p>
                      <a:pPr algn="ctr">
                        <a:defRPr sz="950" b="1">
                          <a:solidFill>
                            <a:srgbClr val="FFFFFF"/>
                          </a:solidFill>
                          <a:latin typeface="Calibri"/>
                        </a:defRPr>
                      </a:pPr>
                      <a:r>
                        <a:t>AP50 hat (%)</a:t>
                      </a:r>
                    </a:p>
                  </a:txBody>
                  <a:tcPr>
                    <a:solidFill>
                      <a:srgbClr val="0F172A"/>
                    </a:solidFill>
                  </a:tcPr>
                </a:tc>
                <a:tc>
                  <a:txBody>
                    <a:bodyPr/>
                    <a:lstStyle/>
                    <a:p>
                      <a:pPr algn="ctr">
                        <a:defRPr sz="950" b="1">
                          <a:solidFill>
                            <a:srgbClr val="FFFFFF"/>
                          </a:solidFill>
                          <a:latin typeface="Calibri"/>
                        </a:defRPr>
                      </a:pPr>
                      <a:r>
                        <a:t>Recall hat (%)</a:t>
                      </a:r>
                    </a:p>
                  </a:txBody>
                  <a:tcPr>
                    <a:solidFill>
                      <a:srgbClr val="0F172A"/>
                    </a:solidFill>
                  </a:tcPr>
                </a:tc>
                <a:tc>
                  <a:txBody>
                    <a:bodyPr/>
                    <a:lstStyle/>
                    <a:p>
                      <a:pPr algn="ctr">
                        <a:defRPr sz="950" b="1">
                          <a:solidFill>
                            <a:srgbClr val="FFFFFF"/>
                          </a:solidFill>
                          <a:latin typeface="Calibri"/>
                        </a:defRPr>
                      </a:pPr>
                      <a:r>
                        <a:t>F1 hat</a:t>
                      </a:r>
                    </a:p>
                  </a:txBody>
                  <a:tcPr>
                    <a:solidFill>
                      <a:srgbClr val="0F172A"/>
                    </a:solidFill>
                  </a:tcPr>
                </a:tc>
              </a:tr>
              <a:tr h="365760">
                <a:tc>
                  <a:txBody>
                    <a:bodyPr/>
                    <a:lstStyle/>
                    <a:p>
                      <a:pPr algn="l">
                        <a:defRPr sz="919" b="1">
                          <a:solidFill>
                            <a:srgbClr val="0F172A"/>
                          </a:solidFill>
                          <a:latin typeface="Calibri"/>
                        </a:defRPr>
                      </a:pPr>
                      <a:r>
                        <a:t>YOLOv8n</a:t>
                      </a:r>
                    </a:p>
                  </a:txBody>
                  <a:tcPr>
                    <a:solidFill>
                      <a:srgbClr val="FFFFFF"/>
                    </a:solidFill>
                  </a:tcPr>
                </a:tc>
                <a:tc>
                  <a:txBody>
                    <a:bodyPr/>
                    <a:lstStyle/>
                    <a:p>
                      <a:pPr algn="ctr">
                        <a:defRPr sz="919" b="0">
                          <a:solidFill>
                            <a:srgbClr val="334155"/>
                          </a:solidFill>
                          <a:latin typeface="Calibri"/>
                        </a:defRPr>
                      </a:pPr>
                      <a:r>
                        <a:t>3.15</a:t>
                      </a:r>
                    </a:p>
                  </a:txBody>
                  <a:tcPr>
                    <a:solidFill>
                      <a:srgbClr val="FFFFFF"/>
                    </a:solidFill>
                  </a:tcPr>
                </a:tc>
                <a:tc>
                  <a:txBody>
                    <a:bodyPr/>
                    <a:lstStyle/>
                    <a:p>
                      <a:pPr algn="ctr">
                        <a:defRPr sz="919" b="0">
                          <a:solidFill>
                            <a:srgbClr val="334155"/>
                          </a:solidFill>
                          <a:latin typeface="Calibri"/>
                        </a:defRPr>
                      </a:pPr>
                      <a:r>
                        <a:t>8.7</a:t>
                      </a:r>
                    </a:p>
                  </a:txBody>
                  <a:tcPr>
                    <a:solidFill>
                      <a:srgbClr val="FFFFFF"/>
                    </a:solidFill>
                  </a:tcPr>
                </a:tc>
                <a:tc>
                  <a:txBody>
                    <a:bodyPr/>
                    <a:lstStyle/>
                    <a:p>
                      <a:pPr algn="ctr">
                        <a:defRPr sz="919" b="0">
                          <a:solidFill>
                            <a:srgbClr val="334155"/>
                          </a:solidFill>
                          <a:latin typeface="Calibri"/>
                        </a:defRPr>
                      </a:pPr>
                      <a:r>
                        <a:t>93.21</a:t>
                      </a:r>
                    </a:p>
                  </a:txBody>
                  <a:tcPr>
                    <a:solidFill>
                      <a:srgbClr val="FFFFFF"/>
                    </a:solidFill>
                  </a:tcPr>
                </a:tc>
                <a:tc>
                  <a:txBody>
                    <a:bodyPr/>
                    <a:lstStyle/>
                    <a:p>
                      <a:pPr algn="ctr">
                        <a:defRPr sz="919" b="0">
                          <a:solidFill>
                            <a:srgbClr val="334155"/>
                          </a:solidFill>
                          <a:latin typeface="Calibri"/>
                        </a:defRPr>
                      </a:pPr>
                      <a:r>
                        <a:t>60.26</a:t>
                      </a:r>
                    </a:p>
                  </a:txBody>
                  <a:tcPr>
                    <a:solidFill>
                      <a:srgbClr val="FFFFFF"/>
                    </a:solidFill>
                  </a:tcPr>
                </a:tc>
                <a:tc>
                  <a:txBody>
                    <a:bodyPr/>
                    <a:lstStyle/>
                    <a:p>
                      <a:pPr algn="ctr">
                        <a:defRPr sz="919" b="0">
                          <a:solidFill>
                            <a:srgbClr val="334155"/>
                          </a:solidFill>
                          <a:latin typeface="Calibri"/>
                        </a:defRPr>
                      </a:pPr>
                      <a:r>
                        <a:t>92.42</a:t>
                      </a:r>
                    </a:p>
                  </a:txBody>
                  <a:tcPr>
                    <a:solidFill>
                      <a:srgbClr val="FFFFFF"/>
                    </a:solidFill>
                  </a:tcPr>
                </a:tc>
                <a:tc>
                  <a:txBody>
                    <a:bodyPr/>
                    <a:lstStyle/>
                    <a:p>
                      <a:pPr algn="ctr">
                        <a:defRPr sz="919" b="0">
                          <a:solidFill>
                            <a:srgbClr val="334155"/>
                          </a:solidFill>
                          <a:latin typeface="Calibri"/>
                        </a:defRPr>
                      </a:pPr>
                      <a:r>
                        <a:t>87.16</a:t>
                      </a:r>
                    </a:p>
                  </a:txBody>
                  <a:tcPr>
                    <a:solidFill>
                      <a:srgbClr val="FFFFFF"/>
                    </a:solidFill>
                  </a:tcPr>
                </a:tc>
                <a:tc>
                  <a:txBody>
                    <a:bodyPr/>
                    <a:lstStyle/>
                    <a:p>
                      <a:pPr algn="ctr">
                        <a:defRPr sz="919" b="0">
                          <a:solidFill>
                            <a:srgbClr val="334155"/>
                          </a:solidFill>
                          <a:latin typeface="Calibri"/>
                        </a:defRPr>
                      </a:pPr>
                      <a:r>
                        <a:t>0.8879</a:t>
                      </a:r>
                    </a:p>
                  </a:txBody>
                  <a:tcPr>
                    <a:solidFill>
                      <a:srgbClr val="FFFFFF"/>
                    </a:solidFill>
                  </a:tcPr>
                </a:tc>
              </a:tr>
              <a:tr h="365760">
                <a:tc>
                  <a:txBody>
                    <a:bodyPr/>
                    <a:lstStyle/>
                    <a:p>
                      <a:pPr algn="l">
                        <a:defRPr sz="919" b="1">
                          <a:solidFill>
                            <a:srgbClr val="0F172A"/>
                          </a:solidFill>
                          <a:latin typeface="Calibri"/>
                        </a:defRPr>
                      </a:pPr>
                      <a:r>
                        <a:t>YOLOv8s</a:t>
                      </a:r>
                    </a:p>
                  </a:txBody>
                  <a:tcPr>
                    <a:solidFill>
                      <a:srgbClr val="F1F5F9"/>
                    </a:solidFill>
                  </a:tcPr>
                </a:tc>
                <a:tc>
                  <a:txBody>
                    <a:bodyPr/>
                    <a:lstStyle/>
                    <a:p>
                      <a:pPr algn="ctr">
                        <a:defRPr sz="919" b="0">
                          <a:solidFill>
                            <a:srgbClr val="334155"/>
                          </a:solidFill>
                          <a:latin typeface="Calibri"/>
                        </a:defRPr>
                      </a:pPr>
                      <a:r>
                        <a:t>11.24</a:t>
                      </a:r>
                    </a:p>
                  </a:txBody>
                  <a:tcPr>
                    <a:solidFill>
                      <a:srgbClr val="F1F5F9"/>
                    </a:solidFill>
                  </a:tcPr>
                </a:tc>
                <a:tc>
                  <a:txBody>
                    <a:bodyPr/>
                    <a:lstStyle/>
                    <a:p>
                      <a:pPr algn="ctr">
                        <a:defRPr sz="919" b="0">
                          <a:solidFill>
                            <a:srgbClr val="334155"/>
                          </a:solidFill>
                          <a:latin typeface="Calibri"/>
                        </a:defRPr>
                      </a:pPr>
                      <a:r>
                        <a:t>28.6</a:t>
                      </a:r>
                    </a:p>
                  </a:txBody>
                  <a:tcPr>
                    <a:solidFill>
                      <a:srgbClr val="F1F5F9"/>
                    </a:solidFill>
                  </a:tcPr>
                </a:tc>
                <a:tc>
                  <a:txBody>
                    <a:bodyPr/>
                    <a:lstStyle/>
                    <a:p>
                      <a:pPr algn="ctr">
                        <a:defRPr sz="919" b="0">
                          <a:solidFill>
                            <a:srgbClr val="334155"/>
                          </a:solidFill>
                          <a:latin typeface="Calibri"/>
                        </a:defRPr>
                      </a:pPr>
                      <a:r>
                        <a:t>94.89</a:t>
                      </a:r>
                    </a:p>
                  </a:txBody>
                  <a:tcPr>
                    <a:solidFill>
                      <a:srgbClr val="F1F5F9"/>
                    </a:solidFill>
                  </a:tcPr>
                </a:tc>
                <a:tc>
                  <a:txBody>
                    <a:bodyPr/>
                    <a:lstStyle/>
                    <a:p>
                      <a:pPr algn="ctr">
                        <a:defRPr sz="919" b="0">
                          <a:solidFill>
                            <a:srgbClr val="334155"/>
                          </a:solidFill>
                          <a:latin typeface="Calibri"/>
                        </a:defRPr>
                      </a:pPr>
                      <a:r>
                        <a:t>62.21</a:t>
                      </a:r>
                    </a:p>
                  </a:txBody>
                  <a:tcPr>
                    <a:solidFill>
                      <a:srgbClr val="F1F5F9"/>
                    </a:solidFill>
                  </a:tcPr>
                </a:tc>
                <a:tc>
                  <a:txBody>
                    <a:bodyPr/>
                    <a:lstStyle/>
                    <a:p>
                      <a:pPr algn="ctr">
                        <a:defRPr sz="919" b="0">
                          <a:solidFill>
                            <a:srgbClr val="334155"/>
                          </a:solidFill>
                          <a:latin typeface="Calibri"/>
                        </a:defRPr>
                      </a:pPr>
                      <a:r>
                        <a:t>94.28</a:t>
                      </a:r>
                    </a:p>
                  </a:txBody>
                  <a:tcPr>
                    <a:solidFill>
                      <a:srgbClr val="F1F5F9"/>
                    </a:solidFill>
                  </a:tcPr>
                </a:tc>
                <a:tc>
                  <a:txBody>
                    <a:bodyPr/>
                    <a:lstStyle/>
                    <a:p>
                      <a:pPr algn="ctr">
                        <a:defRPr sz="919" b="0">
                          <a:solidFill>
                            <a:srgbClr val="334155"/>
                          </a:solidFill>
                          <a:latin typeface="Calibri"/>
                        </a:defRPr>
                      </a:pPr>
                      <a:r>
                        <a:t>90.62</a:t>
                      </a:r>
                    </a:p>
                  </a:txBody>
                  <a:tcPr>
                    <a:solidFill>
                      <a:srgbClr val="F1F5F9"/>
                    </a:solidFill>
                  </a:tcPr>
                </a:tc>
                <a:tc>
                  <a:txBody>
                    <a:bodyPr/>
                    <a:lstStyle/>
                    <a:p>
                      <a:pPr algn="ctr">
                        <a:defRPr sz="919" b="0">
                          <a:solidFill>
                            <a:srgbClr val="334155"/>
                          </a:solidFill>
                          <a:latin typeface="Calibri"/>
                        </a:defRPr>
                      </a:pPr>
                      <a:r>
                        <a:t>0.9120</a:t>
                      </a:r>
                    </a:p>
                  </a:txBody>
                  <a:tcPr>
                    <a:solidFill>
                      <a:srgbClr val="F1F5F9"/>
                    </a:solidFill>
                  </a:tcPr>
                </a:tc>
              </a:tr>
              <a:tr h="365760">
                <a:tc>
                  <a:txBody>
                    <a:bodyPr/>
                    <a:lstStyle/>
                    <a:p>
                      <a:pPr algn="l">
                        <a:defRPr sz="919" b="1">
                          <a:solidFill>
                            <a:srgbClr val="0F172A"/>
                          </a:solidFill>
                          <a:latin typeface="Calibri"/>
                        </a:defRPr>
                      </a:pPr>
                      <a:r>
                        <a:t>YOLOv10n</a:t>
                      </a:r>
                    </a:p>
                  </a:txBody>
                  <a:tcPr>
                    <a:solidFill>
                      <a:srgbClr val="FFFFFF"/>
                    </a:solidFill>
                  </a:tcPr>
                </a:tc>
                <a:tc>
                  <a:txBody>
                    <a:bodyPr/>
                    <a:lstStyle/>
                    <a:p>
                      <a:pPr algn="ctr">
                        <a:defRPr sz="919" b="0">
                          <a:solidFill>
                            <a:srgbClr val="334155"/>
                          </a:solidFill>
                          <a:latin typeface="Calibri"/>
                        </a:defRPr>
                      </a:pPr>
                      <a:r>
                        <a:t>2.30</a:t>
                      </a:r>
                    </a:p>
                  </a:txBody>
                  <a:tcPr>
                    <a:solidFill>
                      <a:srgbClr val="FFFFFF"/>
                    </a:solidFill>
                  </a:tcPr>
                </a:tc>
                <a:tc>
                  <a:txBody>
                    <a:bodyPr/>
                    <a:lstStyle/>
                    <a:p>
                      <a:pPr algn="ctr">
                        <a:defRPr sz="919" b="0">
                          <a:solidFill>
                            <a:srgbClr val="334155"/>
                          </a:solidFill>
                          <a:latin typeface="Calibri"/>
                        </a:defRPr>
                      </a:pPr>
                      <a:r>
                        <a:t>6.7</a:t>
                      </a:r>
                    </a:p>
                  </a:txBody>
                  <a:tcPr>
                    <a:solidFill>
                      <a:srgbClr val="FFFFFF"/>
                    </a:solidFill>
                  </a:tcPr>
                </a:tc>
                <a:tc>
                  <a:txBody>
                    <a:bodyPr/>
                    <a:lstStyle/>
                    <a:p>
                      <a:pPr algn="ctr">
                        <a:defRPr sz="919" b="0">
                          <a:solidFill>
                            <a:srgbClr val="334155"/>
                          </a:solidFill>
                          <a:latin typeface="Calibri"/>
                        </a:defRPr>
                      </a:pPr>
                      <a:r>
                        <a:t>93.30</a:t>
                      </a:r>
                    </a:p>
                  </a:txBody>
                  <a:tcPr>
                    <a:solidFill>
                      <a:srgbClr val="FFFFFF"/>
                    </a:solidFill>
                  </a:tcPr>
                </a:tc>
                <a:tc>
                  <a:txBody>
                    <a:bodyPr/>
                    <a:lstStyle/>
                    <a:p>
                      <a:pPr algn="ctr">
                        <a:defRPr sz="919" b="0">
                          <a:solidFill>
                            <a:srgbClr val="334155"/>
                          </a:solidFill>
                          <a:latin typeface="Calibri"/>
                        </a:defRPr>
                      </a:pPr>
                      <a:r>
                        <a:t>60.35</a:t>
                      </a:r>
                    </a:p>
                  </a:txBody>
                  <a:tcPr>
                    <a:solidFill>
                      <a:srgbClr val="FFFFFF"/>
                    </a:solidFill>
                  </a:tcPr>
                </a:tc>
                <a:tc>
                  <a:txBody>
                    <a:bodyPr/>
                    <a:lstStyle/>
                    <a:p>
                      <a:pPr algn="ctr">
                        <a:defRPr sz="919" b="0">
                          <a:solidFill>
                            <a:srgbClr val="334155"/>
                          </a:solidFill>
                          <a:latin typeface="Calibri"/>
                        </a:defRPr>
                      </a:pPr>
                      <a:r>
                        <a:t>92.97</a:t>
                      </a:r>
                    </a:p>
                  </a:txBody>
                  <a:tcPr>
                    <a:solidFill>
                      <a:srgbClr val="FFFFFF"/>
                    </a:solidFill>
                  </a:tcPr>
                </a:tc>
                <a:tc>
                  <a:txBody>
                    <a:bodyPr/>
                    <a:lstStyle/>
                    <a:p>
                      <a:pPr algn="ctr">
                        <a:defRPr sz="919" b="0">
                          <a:solidFill>
                            <a:srgbClr val="334155"/>
                          </a:solidFill>
                          <a:latin typeface="Calibri"/>
                        </a:defRPr>
                      </a:pPr>
                      <a:r>
                        <a:t>87.13</a:t>
                      </a:r>
                    </a:p>
                  </a:txBody>
                  <a:tcPr>
                    <a:solidFill>
                      <a:srgbClr val="FFFFFF"/>
                    </a:solidFill>
                  </a:tcPr>
                </a:tc>
                <a:tc>
                  <a:txBody>
                    <a:bodyPr/>
                    <a:lstStyle/>
                    <a:p>
                      <a:pPr algn="ctr">
                        <a:defRPr sz="919" b="0">
                          <a:solidFill>
                            <a:srgbClr val="334155"/>
                          </a:solidFill>
                          <a:latin typeface="Calibri"/>
                        </a:defRPr>
                      </a:pPr>
                      <a:r>
                        <a:t>0.8930</a:t>
                      </a:r>
                    </a:p>
                  </a:txBody>
                  <a:tcPr>
                    <a:solidFill>
                      <a:srgbClr val="FFFFFF"/>
                    </a:solidFill>
                  </a:tcPr>
                </a:tc>
              </a:tr>
              <a:tr h="365760">
                <a:tc>
                  <a:txBody>
                    <a:bodyPr/>
                    <a:lstStyle/>
                    <a:p>
                      <a:pPr algn="l">
                        <a:defRPr sz="919" b="1">
                          <a:solidFill>
                            <a:srgbClr val="0F172A"/>
                          </a:solidFill>
                          <a:latin typeface="Calibri"/>
                        </a:defRPr>
                      </a:pPr>
                      <a:r>
                        <a:t>YOLOv10s</a:t>
                      </a:r>
                    </a:p>
                  </a:txBody>
                  <a:tcPr>
                    <a:solidFill>
                      <a:srgbClr val="F1F5F9"/>
                    </a:solidFill>
                  </a:tcPr>
                </a:tc>
                <a:tc>
                  <a:txBody>
                    <a:bodyPr/>
                    <a:lstStyle/>
                    <a:p>
                      <a:pPr algn="ctr">
                        <a:defRPr sz="919" b="0">
                          <a:solidFill>
                            <a:srgbClr val="334155"/>
                          </a:solidFill>
                          <a:latin typeface="Calibri"/>
                        </a:defRPr>
                      </a:pPr>
                      <a:r>
                        <a:t>8.00</a:t>
                      </a:r>
                    </a:p>
                  </a:txBody>
                  <a:tcPr>
                    <a:solidFill>
                      <a:srgbClr val="F1F5F9"/>
                    </a:solidFill>
                  </a:tcPr>
                </a:tc>
                <a:tc>
                  <a:txBody>
                    <a:bodyPr/>
                    <a:lstStyle/>
                    <a:p>
                      <a:pPr algn="ctr">
                        <a:defRPr sz="919" b="0">
                          <a:solidFill>
                            <a:srgbClr val="334155"/>
                          </a:solidFill>
                          <a:latin typeface="Calibri"/>
                        </a:defRPr>
                      </a:pPr>
                      <a:r>
                        <a:t>21.6</a:t>
                      </a:r>
                    </a:p>
                  </a:txBody>
                  <a:tcPr>
                    <a:solidFill>
                      <a:srgbClr val="F1F5F9"/>
                    </a:solidFill>
                  </a:tcPr>
                </a:tc>
                <a:tc>
                  <a:txBody>
                    <a:bodyPr/>
                    <a:lstStyle/>
                    <a:p>
                      <a:pPr algn="ctr">
                        <a:defRPr sz="919" b="0">
                          <a:solidFill>
                            <a:srgbClr val="334155"/>
                          </a:solidFill>
                          <a:latin typeface="Calibri"/>
                        </a:defRPr>
                      </a:pPr>
                      <a:r>
                        <a:t>94.39</a:t>
                      </a:r>
                    </a:p>
                  </a:txBody>
                  <a:tcPr>
                    <a:solidFill>
                      <a:srgbClr val="F1F5F9"/>
                    </a:solidFill>
                  </a:tcPr>
                </a:tc>
                <a:tc>
                  <a:txBody>
                    <a:bodyPr/>
                    <a:lstStyle/>
                    <a:p>
                      <a:pPr algn="ctr">
                        <a:defRPr sz="919" b="0">
                          <a:solidFill>
                            <a:srgbClr val="334155"/>
                          </a:solidFill>
                          <a:latin typeface="Calibri"/>
                        </a:defRPr>
                      </a:pPr>
                      <a:r>
                        <a:t>62.19</a:t>
                      </a:r>
                    </a:p>
                  </a:txBody>
                  <a:tcPr>
                    <a:solidFill>
                      <a:srgbClr val="F1F5F9"/>
                    </a:solidFill>
                  </a:tcPr>
                </a:tc>
                <a:tc>
                  <a:txBody>
                    <a:bodyPr/>
                    <a:lstStyle/>
                    <a:p>
                      <a:pPr algn="ctr">
                        <a:defRPr sz="919" b="0">
                          <a:solidFill>
                            <a:srgbClr val="334155"/>
                          </a:solidFill>
                          <a:latin typeface="Calibri"/>
                        </a:defRPr>
                      </a:pPr>
                      <a:r>
                        <a:t>93.36</a:t>
                      </a:r>
                    </a:p>
                  </a:txBody>
                  <a:tcPr>
                    <a:solidFill>
                      <a:srgbClr val="F1F5F9"/>
                    </a:solidFill>
                  </a:tcPr>
                </a:tc>
                <a:tc>
                  <a:txBody>
                    <a:bodyPr/>
                    <a:lstStyle/>
                    <a:p>
                      <a:pPr algn="ctr">
                        <a:defRPr sz="919" b="0">
                          <a:solidFill>
                            <a:srgbClr val="334155"/>
                          </a:solidFill>
                          <a:latin typeface="Calibri"/>
                        </a:defRPr>
                      </a:pPr>
                      <a:r>
                        <a:t>89.14</a:t>
                      </a:r>
                    </a:p>
                  </a:txBody>
                  <a:tcPr>
                    <a:solidFill>
                      <a:srgbClr val="F1F5F9"/>
                    </a:solidFill>
                  </a:tcPr>
                </a:tc>
                <a:tc>
                  <a:txBody>
                    <a:bodyPr/>
                    <a:lstStyle/>
                    <a:p>
                      <a:pPr algn="ctr">
                        <a:defRPr sz="919" b="0">
                          <a:solidFill>
                            <a:srgbClr val="334155"/>
                          </a:solidFill>
                          <a:latin typeface="Calibri"/>
                        </a:defRPr>
                      </a:pPr>
                      <a:r>
                        <a:t>0.9049</a:t>
                      </a:r>
                    </a:p>
                  </a:txBody>
                  <a:tcPr>
                    <a:solidFill>
                      <a:srgbClr val="F1F5F9"/>
                    </a:solidFill>
                  </a:tcPr>
                </a:tc>
              </a:tr>
              <a:tr h="365760">
                <a:tc>
                  <a:txBody>
                    <a:bodyPr/>
                    <a:lstStyle/>
                    <a:p>
                      <a:pPr algn="l">
                        <a:defRPr sz="919" b="1">
                          <a:solidFill>
                            <a:srgbClr val="0F172A"/>
                          </a:solidFill>
                          <a:latin typeface="Calibri"/>
                        </a:defRPr>
                      </a:pPr>
                      <a:r>
                        <a:t>YOLO11n</a:t>
                      </a:r>
                    </a:p>
                  </a:txBody>
                  <a:tcPr>
                    <a:solidFill>
                      <a:srgbClr val="FFFFFF"/>
                    </a:solidFill>
                  </a:tcPr>
                </a:tc>
                <a:tc>
                  <a:txBody>
                    <a:bodyPr/>
                    <a:lstStyle/>
                    <a:p>
                      <a:pPr algn="ctr">
                        <a:defRPr sz="919" b="0">
                          <a:solidFill>
                            <a:srgbClr val="334155"/>
                          </a:solidFill>
                          <a:latin typeface="Calibri"/>
                        </a:defRPr>
                      </a:pPr>
                      <a:r>
                        <a:t>2.60</a:t>
                      </a:r>
                    </a:p>
                  </a:txBody>
                  <a:tcPr>
                    <a:solidFill>
                      <a:srgbClr val="FFFFFF"/>
                    </a:solidFill>
                  </a:tcPr>
                </a:tc>
                <a:tc>
                  <a:txBody>
                    <a:bodyPr/>
                    <a:lstStyle/>
                    <a:p>
                      <a:pPr algn="ctr">
                        <a:defRPr sz="919" b="0">
                          <a:solidFill>
                            <a:srgbClr val="334155"/>
                          </a:solidFill>
                          <a:latin typeface="Calibri"/>
                        </a:defRPr>
                      </a:pPr>
                      <a:r>
                        <a:t>6.5</a:t>
                      </a:r>
                    </a:p>
                  </a:txBody>
                  <a:tcPr>
                    <a:solidFill>
                      <a:srgbClr val="FFFFFF"/>
                    </a:solidFill>
                  </a:tcPr>
                </a:tc>
                <a:tc>
                  <a:txBody>
                    <a:bodyPr/>
                    <a:lstStyle/>
                    <a:p>
                      <a:pPr algn="ctr">
                        <a:defRPr sz="919" b="0">
                          <a:solidFill>
                            <a:srgbClr val="334155"/>
                          </a:solidFill>
                          <a:latin typeface="Calibri"/>
                        </a:defRPr>
                      </a:pPr>
                      <a:r>
                        <a:t>93.19</a:t>
                      </a:r>
                    </a:p>
                  </a:txBody>
                  <a:tcPr>
                    <a:solidFill>
                      <a:srgbClr val="FFFFFF"/>
                    </a:solidFill>
                  </a:tcPr>
                </a:tc>
                <a:tc>
                  <a:txBody>
                    <a:bodyPr/>
                    <a:lstStyle/>
                    <a:p>
                      <a:pPr algn="ctr">
                        <a:defRPr sz="919" b="0">
                          <a:solidFill>
                            <a:srgbClr val="334155"/>
                          </a:solidFill>
                          <a:latin typeface="Calibri"/>
                        </a:defRPr>
                      </a:pPr>
                      <a:r>
                        <a:t>60.21</a:t>
                      </a:r>
                    </a:p>
                  </a:txBody>
                  <a:tcPr>
                    <a:solidFill>
                      <a:srgbClr val="FFFFFF"/>
                    </a:solidFill>
                  </a:tcPr>
                </a:tc>
                <a:tc>
                  <a:txBody>
                    <a:bodyPr/>
                    <a:lstStyle/>
                    <a:p>
                      <a:pPr algn="ctr">
                        <a:defRPr sz="919" b="0">
                          <a:solidFill>
                            <a:srgbClr val="334155"/>
                          </a:solidFill>
                          <a:latin typeface="Calibri"/>
                        </a:defRPr>
                      </a:pPr>
                      <a:r>
                        <a:t>92.33</a:t>
                      </a:r>
                    </a:p>
                  </a:txBody>
                  <a:tcPr>
                    <a:solidFill>
                      <a:srgbClr val="FFFFFF"/>
                    </a:solidFill>
                  </a:tcPr>
                </a:tc>
                <a:tc>
                  <a:txBody>
                    <a:bodyPr/>
                    <a:lstStyle/>
                    <a:p>
                      <a:pPr algn="ctr">
                        <a:defRPr sz="919" b="0">
                          <a:solidFill>
                            <a:srgbClr val="334155"/>
                          </a:solidFill>
                          <a:latin typeface="Calibri"/>
                        </a:defRPr>
                      </a:pPr>
                      <a:r>
                        <a:t>86.51</a:t>
                      </a:r>
                    </a:p>
                  </a:txBody>
                  <a:tcPr>
                    <a:solidFill>
                      <a:srgbClr val="FFFFFF"/>
                    </a:solidFill>
                  </a:tcPr>
                </a:tc>
                <a:tc>
                  <a:txBody>
                    <a:bodyPr/>
                    <a:lstStyle/>
                    <a:p>
                      <a:pPr algn="ctr">
                        <a:defRPr sz="919" b="0">
                          <a:solidFill>
                            <a:srgbClr val="334155"/>
                          </a:solidFill>
                          <a:latin typeface="Calibri"/>
                        </a:defRPr>
                      </a:pPr>
                      <a:r>
                        <a:t>0.8964</a:t>
                      </a:r>
                    </a:p>
                  </a:txBody>
                  <a:tcPr>
                    <a:solidFill>
                      <a:srgbClr val="FFFFFF"/>
                    </a:solidFill>
                  </a:tcPr>
                </a:tc>
              </a:tr>
              <a:tr h="365760">
                <a:tc>
                  <a:txBody>
                    <a:bodyPr/>
                    <a:lstStyle/>
                    <a:p>
                      <a:pPr algn="l">
                        <a:defRPr sz="919" b="1">
                          <a:solidFill>
                            <a:srgbClr val="0F172A"/>
                          </a:solidFill>
                          <a:latin typeface="Calibri"/>
                        </a:defRPr>
                      </a:pPr>
                      <a:r>
                        <a:t>YOLO11s (Baseline Chính)</a:t>
                      </a:r>
                    </a:p>
                  </a:txBody>
                  <a:tcPr>
                    <a:solidFill>
                      <a:srgbClr val="F1F5F9"/>
                    </a:solidFill>
                  </a:tcPr>
                </a:tc>
                <a:tc>
                  <a:txBody>
                    <a:bodyPr/>
                    <a:lstStyle/>
                    <a:p>
                      <a:pPr algn="ctr">
                        <a:defRPr sz="919" b="0">
                          <a:solidFill>
                            <a:srgbClr val="334155"/>
                          </a:solidFill>
                          <a:latin typeface="Calibri"/>
                        </a:defRPr>
                      </a:pPr>
                      <a:r>
                        <a:t>9.40</a:t>
                      </a:r>
                    </a:p>
                  </a:txBody>
                  <a:tcPr>
                    <a:solidFill>
                      <a:srgbClr val="F1F5F9"/>
                    </a:solidFill>
                  </a:tcPr>
                </a:tc>
                <a:tc>
                  <a:txBody>
                    <a:bodyPr/>
                    <a:lstStyle/>
                    <a:p>
                      <a:pPr algn="ctr">
                        <a:defRPr sz="919" b="0">
                          <a:solidFill>
                            <a:srgbClr val="334155"/>
                          </a:solidFill>
                          <a:latin typeface="Calibri"/>
                        </a:defRPr>
                      </a:pPr>
                      <a:r>
                        <a:t>21.5</a:t>
                      </a:r>
                    </a:p>
                  </a:txBody>
                  <a:tcPr>
                    <a:solidFill>
                      <a:srgbClr val="F1F5F9"/>
                    </a:solidFill>
                  </a:tcPr>
                </a:tc>
                <a:tc>
                  <a:txBody>
                    <a:bodyPr/>
                    <a:lstStyle/>
                    <a:p>
                      <a:pPr algn="ctr">
                        <a:defRPr sz="919" b="0">
                          <a:solidFill>
                            <a:srgbClr val="334155"/>
                          </a:solidFill>
                          <a:latin typeface="Calibri"/>
                        </a:defRPr>
                      </a:pPr>
                      <a:r>
                        <a:t>94.74</a:t>
                      </a:r>
                    </a:p>
                  </a:txBody>
                  <a:tcPr>
                    <a:solidFill>
                      <a:srgbClr val="F1F5F9"/>
                    </a:solidFill>
                  </a:tcPr>
                </a:tc>
                <a:tc>
                  <a:txBody>
                    <a:bodyPr/>
                    <a:lstStyle/>
                    <a:p>
                      <a:pPr algn="ctr">
                        <a:defRPr sz="919" b="0">
                          <a:solidFill>
                            <a:srgbClr val="334155"/>
                          </a:solidFill>
                          <a:latin typeface="Calibri"/>
                        </a:defRPr>
                      </a:pPr>
                      <a:r>
                        <a:t>62.54</a:t>
                      </a:r>
                    </a:p>
                  </a:txBody>
                  <a:tcPr>
                    <a:solidFill>
                      <a:srgbClr val="F1F5F9"/>
                    </a:solidFill>
                  </a:tcPr>
                </a:tc>
                <a:tc>
                  <a:txBody>
                    <a:bodyPr/>
                    <a:lstStyle/>
                    <a:p>
                      <a:pPr algn="ctr">
                        <a:defRPr sz="919" b="0">
                          <a:solidFill>
                            <a:srgbClr val="334155"/>
                          </a:solidFill>
                          <a:latin typeface="Calibri"/>
                        </a:defRPr>
                      </a:pPr>
                      <a:r>
                        <a:t>94.06</a:t>
                      </a:r>
                    </a:p>
                  </a:txBody>
                  <a:tcPr>
                    <a:solidFill>
                      <a:srgbClr val="F1F5F9"/>
                    </a:solidFill>
                  </a:tcPr>
                </a:tc>
                <a:tc>
                  <a:txBody>
                    <a:bodyPr/>
                    <a:lstStyle/>
                    <a:p>
                      <a:pPr algn="ctr">
                        <a:defRPr sz="919" b="0">
                          <a:solidFill>
                            <a:srgbClr val="334155"/>
                          </a:solidFill>
                          <a:latin typeface="Calibri"/>
                        </a:defRPr>
                      </a:pPr>
                      <a:r>
                        <a:t>90.35</a:t>
                      </a:r>
                    </a:p>
                  </a:txBody>
                  <a:tcPr>
                    <a:solidFill>
                      <a:srgbClr val="F1F5F9"/>
                    </a:solidFill>
                  </a:tcPr>
                </a:tc>
                <a:tc>
                  <a:txBody>
                    <a:bodyPr/>
                    <a:lstStyle/>
                    <a:p>
                      <a:pPr algn="ctr">
                        <a:defRPr sz="919" b="0">
                          <a:solidFill>
                            <a:srgbClr val="334155"/>
                          </a:solidFill>
                          <a:latin typeface="Calibri"/>
                        </a:defRPr>
                      </a:pPr>
                      <a:r>
                        <a:t>0.9073</a:t>
                      </a:r>
                    </a:p>
                  </a:txBody>
                  <a:tcPr>
                    <a:solidFill>
                      <a:srgbClr val="F1F5F9"/>
                    </a:solidFill>
                  </a:tcPr>
                </a:tc>
              </a:tr>
              <a:tr h="365760">
                <a:tc>
                  <a:txBody>
                    <a:bodyPr/>
                    <a:lstStyle/>
                    <a:p>
                      <a:pPr algn="l">
                        <a:defRPr sz="950" b="1">
                          <a:solidFill>
                            <a:srgbClr val="9A3412"/>
                          </a:solidFill>
                          <a:latin typeface="Calibri"/>
                        </a:defRPr>
                      </a:pPr>
                      <a:r>
                        <a:t>Rep-YOLO11s (Mục tiêu Đề tài)</a:t>
                      </a:r>
                    </a:p>
                  </a:txBody>
                  <a:tcPr>
                    <a:solidFill>
                      <a:srgbClr val="FEF3C7"/>
                    </a:solidFill>
                  </a:tcPr>
                </a:tc>
                <a:tc>
                  <a:txBody>
                    <a:bodyPr/>
                    <a:lstStyle/>
                    <a:p>
                      <a:pPr algn="ctr">
                        <a:defRPr sz="950" b="1">
                          <a:solidFill>
                            <a:srgbClr val="0F172A"/>
                          </a:solidFill>
                          <a:latin typeface="Calibri"/>
                        </a:defRPr>
                      </a:pPr>
                      <a:r>
                        <a:t>9.85</a:t>
                      </a:r>
                    </a:p>
                  </a:txBody>
                  <a:tcPr>
                    <a:solidFill>
                      <a:srgbClr val="FEF3C7"/>
                    </a:solidFill>
                  </a:tcPr>
                </a:tc>
                <a:tc>
                  <a:txBody>
                    <a:bodyPr/>
                    <a:lstStyle/>
                    <a:p>
                      <a:pPr algn="ctr">
                        <a:defRPr sz="950" b="1">
                          <a:solidFill>
                            <a:srgbClr val="0F172A"/>
                          </a:solidFill>
                          <a:latin typeface="Calibri"/>
                        </a:defRPr>
                      </a:pPr>
                      <a:r>
                        <a:t>22.4</a:t>
                      </a:r>
                    </a:p>
                  </a:txBody>
                  <a:tcPr>
                    <a:solidFill>
                      <a:srgbClr val="FEF3C7"/>
                    </a:solidFill>
                  </a:tcPr>
                </a:tc>
                <a:tc>
                  <a:txBody>
                    <a:bodyPr/>
                    <a:lstStyle/>
                    <a:p>
                      <a:pPr algn="ctr">
                        <a:defRPr sz="950" b="1">
                          <a:solidFill>
                            <a:srgbClr val="9A3412"/>
                          </a:solidFill>
                          <a:latin typeface="Calibri"/>
                        </a:defRPr>
                      </a:pPr>
                      <a:r>
                        <a:t>94.83 (5-Fold: 96.64)</a:t>
                      </a:r>
                    </a:p>
                  </a:txBody>
                  <a:tcPr>
                    <a:solidFill>
                      <a:srgbClr val="FEF3C7"/>
                    </a:solidFill>
                  </a:tcPr>
                </a:tc>
                <a:tc>
                  <a:txBody>
                    <a:bodyPr/>
                    <a:lstStyle/>
                    <a:p>
                      <a:pPr algn="ctr">
                        <a:defRPr sz="950" b="1">
                          <a:solidFill>
                            <a:srgbClr val="0F172A"/>
                          </a:solidFill>
                          <a:latin typeface="Calibri"/>
                        </a:defRPr>
                      </a:pPr>
                      <a:r>
                        <a:t>62.54</a:t>
                      </a:r>
                    </a:p>
                  </a:txBody>
                  <a:tcPr>
                    <a:solidFill>
                      <a:srgbClr val="FEF3C7"/>
                    </a:solidFill>
                  </a:tcPr>
                </a:tc>
                <a:tc>
                  <a:txBody>
                    <a:bodyPr/>
                    <a:lstStyle/>
                    <a:p>
                      <a:pPr algn="ctr">
                        <a:defRPr sz="950" b="1">
                          <a:solidFill>
                            <a:srgbClr val="0F172A"/>
                          </a:solidFill>
                          <a:latin typeface="Calibri"/>
                        </a:defRPr>
                      </a:pPr>
                      <a:r>
                        <a:t>94.44</a:t>
                      </a:r>
                    </a:p>
                  </a:txBody>
                  <a:tcPr>
                    <a:solidFill>
                      <a:srgbClr val="FEF3C7"/>
                    </a:solidFill>
                  </a:tcPr>
                </a:tc>
                <a:tc>
                  <a:txBody>
                    <a:bodyPr/>
                    <a:lstStyle/>
                    <a:p>
                      <a:pPr algn="ctr">
                        <a:defRPr sz="950" b="1">
                          <a:solidFill>
                            <a:srgbClr val="9A3412"/>
                          </a:solidFill>
                          <a:latin typeface="Calibri"/>
                        </a:defRPr>
                      </a:pPr>
                      <a:r>
                        <a:t>91.33</a:t>
                      </a:r>
                    </a:p>
                  </a:txBody>
                  <a:tcPr>
                    <a:solidFill>
                      <a:srgbClr val="FEF3C7"/>
                    </a:solidFill>
                  </a:tcPr>
                </a:tc>
                <a:tc>
                  <a:txBody>
                    <a:bodyPr/>
                    <a:lstStyle/>
                    <a:p>
                      <a:pPr algn="ctr">
                        <a:defRPr sz="950" b="1">
                          <a:solidFill>
                            <a:srgbClr val="9A3412"/>
                          </a:solidFill>
                          <a:latin typeface="Calibri"/>
                        </a:defRPr>
                      </a:pPr>
                      <a:r>
                        <a:t>0.9190</a:t>
                      </a:r>
                    </a:p>
                  </a:txBody>
                  <a:tcPr>
                    <a:solidFill>
                      <a:srgbClr val="FEF3C7"/>
                    </a:solidFill>
                  </a:tcPr>
                </a:tc>
              </a:tr>
            </a:tbl>
          </a:graphicData>
        </a:graphic>
      </p:graphicFrame>
      <p:sp>
        <p:nvSpPr>
          <p:cNvPr id="7" name="Rounded Rectangle 6"/>
          <p:cNvSpPr/>
          <p:nvPr/>
        </p:nvSpPr>
        <p:spPr>
          <a:xfrm>
            <a:off x="731520" y="4343400"/>
            <a:ext cx="3405225" cy="15361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8" name="Rounded Rectangle 7"/>
          <p:cNvSpPr/>
          <p:nvPr/>
        </p:nvSpPr>
        <p:spPr>
          <a:xfrm>
            <a:off x="841248" y="4453128"/>
            <a:ext cx="347472"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000" b="1">
                <a:solidFill>
                  <a:srgbClr val="FFFFFF"/>
                </a:solidFill>
                <a:latin typeface="Calibri"/>
              </a:defRPr>
            </a:pPr>
            <a:r>
              <a:t>01</a:t>
            </a:r>
          </a:p>
        </p:txBody>
      </p:sp>
      <p:sp>
        <p:nvSpPr>
          <p:cNvPr id="9" name="TextBox 8"/>
          <p:cNvSpPr txBox="1"/>
          <p:nvPr/>
        </p:nvSpPr>
        <p:spPr>
          <a:xfrm>
            <a:off x="1261872" y="4434840"/>
            <a:ext cx="2779776" cy="1399032"/>
          </a:xfrm>
          <a:prstGeom prst="rect">
            <a:avLst/>
          </a:prstGeom>
          <a:noFill/>
        </p:spPr>
        <p:txBody>
          <a:bodyPr wrap="square" lIns="0" rIns="0">
            <a:spAutoFit/>
          </a:bodyPr>
          <a:lstStyle/>
          <a:p>
            <a:pPr>
              <a:defRPr b="1" sz="1050">
                <a:solidFill>
                  <a:srgbClr val="0F172A"/>
                </a:solidFill>
                <a:latin typeface="Calibri"/>
              </a:defRPr>
            </a:pPr>
            <a:r>
              <a:t>Ưu thế Recall Sinh mạng (91.33%)</a:t>
            </a:r>
          </a:p>
          <a:p>
            <a:pPr>
              <a:spcBef>
                <a:spcPts val="300"/>
              </a:spcBef>
              <a:defRPr sz="880">
                <a:solidFill>
                  <a:srgbClr val="334155"/>
                </a:solidFill>
                <a:latin typeface="Calibri"/>
              </a:defRPr>
            </a:pPr>
            <a:r>
              <a:t>Recallhat đạt đỉnh 91.33%, cao hơn YOLO11s (90.35%) và YOLOv8s (90.62%). Trong an toàn lao động, bỏ sót vi phạm là rủi ro tử vong; mô hình đề tài tối đa hóa khả năng cứu sinh.</a:t>
            </a:r>
          </a:p>
        </p:txBody>
      </p:sp>
      <p:sp>
        <p:nvSpPr>
          <p:cNvPr id="10" name="Rounded Rectangle 9"/>
          <p:cNvSpPr/>
          <p:nvPr/>
        </p:nvSpPr>
        <p:spPr>
          <a:xfrm>
            <a:off x="4392777" y="4343400"/>
            <a:ext cx="3405225" cy="15361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1" name="Rounded Rectangle 10"/>
          <p:cNvSpPr/>
          <p:nvPr/>
        </p:nvSpPr>
        <p:spPr>
          <a:xfrm>
            <a:off x="4502505" y="4453128"/>
            <a:ext cx="347472" cy="25603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000" b="1">
                <a:solidFill>
                  <a:srgbClr val="FFFFFF"/>
                </a:solidFill>
                <a:latin typeface="Calibri"/>
              </a:defRPr>
            </a:pPr>
            <a:r>
              <a:t>02</a:t>
            </a:r>
          </a:p>
        </p:txBody>
      </p:sp>
      <p:sp>
        <p:nvSpPr>
          <p:cNvPr id="12" name="TextBox 11"/>
          <p:cNvSpPr txBox="1"/>
          <p:nvPr/>
        </p:nvSpPr>
        <p:spPr>
          <a:xfrm>
            <a:off x="4923129" y="4434840"/>
            <a:ext cx="2779776" cy="1399032"/>
          </a:xfrm>
          <a:prstGeom prst="rect">
            <a:avLst/>
          </a:prstGeom>
          <a:noFill/>
        </p:spPr>
        <p:txBody>
          <a:bodyPr wrap="square" lIns="0" rIns="0">
            <a:spAutoFit/>
          </a:bodyPr>
          <a:lstStyle/>
          <a:p>
            <a:pPr>
              <a:defRPr b="1" sz="1050">
                <a:solidFill>
                  <a:srgbClr val="0F172A"/>
                </a:solidFill>
                <a:latin typeface="Calibri"/>
              </a:defRPr>
            </a:pPr>
            <a:r>
              <a:t>Cân bằng Tham số &amp; Độ phức tạp</a:t>
            </a:r>
          </a:p>
          <a:p>
            <a:pPr>
              <a:spcBef>
                <a:spcPts val="300"/>
              </a:spcBef>
              <a:defRPr sz="880">
                <a:solidFill>
                  <a:srgbClr val="334155"/>
                </a:solidFill>
                <a:latin typeface="Calibri"/>
              </a:defRPr>
            </a:pPr>
            <a:r>
              <a:t>9.85M tham số &amp; 22.4 GFLOPs xấp xỉ YOLO11s (9.40M/21.5G), nhẹ hơn 28% so với YOLOv8s (11.24M/28.6G). Tích hợp 4 module cải tiến mà không gây bùng nổ tài nguyên.</a:t>
            </a:r>
          </a:p>
        </p:txBody>
      </p:sp>
      <p:sp>
        <p:nvSpPr>
          <p:cNvPr id="13" name="Rounded Rectangle 12"/>
          <p:cNvSpPr/>
          <p:nvPr/>
        </p:nvSpPr>
        <p:spPr>
          <a:xfrm>
            <a:off x="8054034" y="4343400"/>
            <a:ext cx="3405225" cy="15361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4" name="Rounded Rectangle 13"/>
          <p:cNvSpPr/>
          <p:nvPr/>
        </p:nvSpPr>
        <p:spPr>
          <a:xfrm>
            <a:off x="8163762" y="4453128"/>
            <a:ext cx="347472" cy="256032"/>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000" b="1">
                <a:solidFill>
                  <a:srgbClr val="FFFFFF"/>
                </a:solidFill>
                <a:latin typeface="Calibri"/>
              </a:defRPr>
            </a:pPr>
            <a:r>
              <a:t>03</a:t>
            </a:r>
          </a:p>
        </p:txBody>
      </p:sp>
      <p:sp>
        <p:nvSpPr>
          <p:cNvPr id="15" name="TextBox 14"/>
          <p:cNvSpPr txBox="1"/>
          <p:nvPr/>
        </p:nvSpPr>
        <p:spPr>
          <a:xfrm>
            <a:off x="8584386" y="4434840"/>
            <a:ext cx="2779776" cy="1399032"/>
          </a:xfrm>
          <a:prstGeom prst="rect">
            <a:avLst/>
          </a:prstGeom>
          <a:noFill/>
        </p:spPr>
        <p:txBody>
          <a:bodyPr wrap="square" lIns="0" rIns="0">
            <a:spAutoFit/>
          </a:bodyPr>
          <a:lstStyle/>
          <a:p>
            <a:pPr>
              <a:defRPr b="1" sz="1050">
                <a:solidFill>
                  <a:srgbClr val="0F172A"/>
                </a:solidFill>
                <a:latin typeface="Calibri"/>
              </a:defRPr>
            </a:pPr>
            <a:r>
              <a:t>Độ ổn định Thống kê 5-Fold (96.64%)</a:t>
            </a:r>
          </a:p>
          <a:p>
            <a:pPr>
              <a:spcBef>
                <a:spcPts val="300"/>
              </a:spcBef>
              <a:defRPr sz="880">
                <a:solidFill>
                  <a:srgbClr val="334155"/>
                </a:solidFill>
                <a:latin typeface="Calibri"/>
              </a:defRPr>
            </a:pPr>
            <a:r>
              <a:t>Trên quy trình 5-Fold Stratified CV, mô hình đạt đỉnh 96.64% mAP50 (+-0.32%). Chứng minh độ tin cậy vượt trội, loại trừ hoàn toàn yếu tố may rủi khi phân chia dữ liệu.</a:t>
            </a:r>
          </a:p>
        </p:txBody>
      </p:sp>
      <p:sp>
        <p:nvSpPr>
          <p:cNvPr id="16" name="Rounded Rectangle 15"/>
          <p:cNvSpPr/>
          <p:nvPr/>
        </p:nvSpPr>
        <p:spPr>
          <a:xfrm>
            <a:off x="731520" y="6035040"/>
            <a:ext cx="10728655" cy="47548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7" name="Rounded Rectangle 16"/>
          <p:cNvSpPr/>
          <p:nvPr/>
        </p:nvSpPr>
        <p:spPr>
          <a:xfrm>
            <a:off x="868680" y="6108192"/>
            <a:ext cx="1097280" cy="3200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ĐÚC KẾT</a:t>
            </a:r>
          </a:p>
        </p:txBody>
      </p:sp>
      <p:sp>
        <p:nvSpPr>
          <p:cNvPr id="18" name="TextBox 17"/>
          <p:cNvSpPr txBox="1"/>
          <p:nvPr/>
        </p:nvSpPr>
        <p:spPr>
          <a:xfrm>
            <a:off x="2057400" y="6053328"/>
            <a:ext cx="9235440" cy="438912"/>
          </a:xfrm>
          <a:prstGeom prst="rect">
            <a:avLst/>
          </a:prstGeom>
          <a:noFill/>
        </p:spPr>
        <p:txBody>
          <a:bodyPr wrap="square" lIns="0" tIns="0" rIns="0" bIns="0">
            <a:spAutoFit/>
          </a:bodyPr>
          <a:lstStyle/>
          <a:p>
            <a:pPr>
              <a:defRPr sz="1050" b="1">
                <a:solidFill>
                  <a:srgbClr val="0F172A"/>
                </a:solidFill>
                <a:latin typeface="Calibri"/>
              </a:defRPr>
            </a:pPr>
            <a:r>
              <a:t>Bảng đối chuẩn khách quan trên 7,581 ảnh SHWD chứng minh Rep-YOLO11s vượt trội về Recallhat (91.33%) và F1hat (0.9190) với chi phí phần cứng tối ưu.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 name="TextBox 2"/>
          <p:cNvSpPr txBox="1"/>
          <p:nvPr/>
        </p:nvSpPr>
        <p:spPr>
          <a:xfrm>
            <a:off x="731520" y="320040"/>
            <a:ext cx="8686800" cy="256032"/>
          </a:xfrm>
          <a:prstGeom prst="rect">
            <a:avLst/>
          </a:prstGeom>
          <a:noFill/>
        </p:spPr>
        <p:txBody>
          <a:bodyPr wrap="square" lIns="0" tIns="0" rIns="0" bIns="0">
            <a:spAutoFit/>
          </a:bodyPr>
          <a:lstStyle/>
          <a:p>
            <a:pPr>
              <a:defRPr sz="1000" b="1">
                <a:solidFill>
                  <a:srgbClr val="EA580C"/>
                </a:solidFill>
                <a:latin typeface="Calibri"/>
              </a:defRPr>
            </a:pPr>
            <a:r>
              <a:t>MỤC 4 &amp; MỤC 5 · RELATED WORK &amp; SOTA BASELINES</a:t>
            </a:r>
          </a:p>
        </p:txBody>
      </p:sp>
      <p:sp>
        <p:nvSpPr>
          <p:cNvPr id="4" name="TextBox 3"/>
          <p:cNvSpPr txBox="1"/>
          <p:nvPr/>
        </p:nvSpPr>
        <p:spPr>
          <a:xfrm>
            <a:off x="10058400" y="320040"/>
            <a:ext cx="1371600" cy="256032"/>
          </a:xfrm>
          <a:prstGeom prst="rect">
            <a:avLst/>
          </a:prstGeom>
          <a:noFill/>
        </p:spPr>
        <p:txBody>
          <a:bodyPr wrap="none" lIns="0" tIns="0" rIns="0" bIns="0">
            <a:spAutoFit/>
          </a:bodyPr>
          <a:lstStyle/>
          <a:p>
            <a:pPr algn="r">
              <a:defRPr sz="1100">
                <a:solidFill>
                  <a:srgbClr val="64748B"/>
                </a:solidFill>
                <a:latin typeface="Calibri"/>
              </a:defRPr>
            </a:pPr>
            <a:r>
              <a:t>05 / 18</a:t>
            </a:r>
          </a:p>
        </p:txBody>
      </p:sp>
      <p:sp>
        <p:nvSpPr>
          <p:cNvPr id="5" name="TextBox 4"/>
          <p:cNvSpPr txBox="1"/>
          <p:nvPr/>
        </p:nvSpPr>
        <p:spPr>
          <a:xfrm>
            <a:off x="731520" y="594360"/>
            <a:ext cx="10698480" cy="502920"/>
          </a:xfrm>
          <a:prstGeom prst="rect">
            <a:avLst/>
          </a:prstGeom>
          <a:noFill/>
        </p:spPr>
        <p:txBody>
          <a:bodyPr wrap="square" lIns="0" tIns="0" rIns="0" bIns="0">
            <a:spAutoFit/>
          </a:bodyPr>
          <a:lstStyle/>
          <a:p>
            <a:pPr>
              <a:defRPr sz="2000" b="1">
                <a:solidFill>
                  <a:srgbClr val="0F172A"/>
                </a:solidFill>
                <a:latin typeface="Calibri"/>
              </a:defRPr>
            </a:pPr>
            <a:r>
              <a:t>Phân tích Chi tiết Baseline 1: YOLO11s (Ultralytics, 10/2024 · SOTA Mới nhất)</a:t>
            </a:r>
          </a:p>
        </p:txBody>
      </p:sp>
      <p:sp>
        <p:nvSpPr>
          <p:cNvPr id="6" name="Rounded Rectangle 5"/>
          <p:cNvSpPr/>
          <p:nvPr/>
        </p:nvSpPr>
        <p:spPr>
          <a:xfrm>
            <a:off x="731520" y="1234440"/>
            <a:ext cx="5212080" cy="46177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7" name="Rounded Rectangle 6"/>
          <p:cNvSpPr/>
          <p:nvPr/>
        </p:nvSpPr>
        <p:spPr>
          <a:xfrm>
            <a:off x="914400" y="1371600"/>
            <a:ext cx="384048"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01</a:t>
            </a:r>
          </a:p>
        </p:txBody>
      </p:sp>
      <p:sp>
        <p:nvSpPr>
          <p:cNvPr id="8" name="TextBox 7"/>
          <p:cNvSpPr txBox="1"/>
          <p:nvPr/>
        </p:nvSpPr>
        <p:spPr>
          <a:xfrm>
            <a:off x="1417320" y="1353312"/>
            <a:ext cx="4389120" cy="4389120"/>
          </a:xfrm>
          <a:prstGeom prst="rect">
            <a:avLst/>
          </a:prstGeom>
          <a:noFill/>
        </p:spPr>
        <p:txBody>
          <a:bodyPr wrap="square">
            <a:spAutoFit/>
          </a:bodyPr>
          <a:lstStyle/>
          <a:p>
            <a:pPr>
              <a:defRPr b="1" sz="1300">
                <a:solidFill>
                  <a:srgbClr val="0F172A"/>
                </a:solidFill>
                <a:latin typeface="Calibri"/>
              </a:defRPr>
            </a:pPr>
            <a:r>
              <a:t>Kiến trúc &amp; Năng lực Thực nghiệm trên SHWD</a:t>
            </a:r>
          </a:p>
          <a:p>
            <a:pPr>
              <a:spcBef>
                <a:spcPts val="400"/>
              </a:spcBef>
              <a:defRPr sz="919">
                <a:solidFill>
                  <a:srgbClr val="334155"/>
                </a:solidFill>
                <a:latin typeface="Calibri"/>
              </a:defRPr>
            </a:pPr>
            <a:r>
              <a:t>• Công bố &amp; Phát hành: Phát hành bởi Ultralytics (Tháng 10/2024), đại diện cho thế hệ mô hình phát hiện vật thể SOTA mới nhất.</a:t>
            </a:r>
          </a:p>
          <a:p>
            <a:pPr>
              <a:spcBef>
                <a:spcPts val="400"/>
              </a:spcBef>
              <a:defRPr sz="919">
                <a:solidFill>
                  <a:srgbClr val="334155"/>
                </a:solidFill>
                <a:latin typeface="Calibri"/>
              </a:defRPr>
            </a:pPr>
            <a:r>
              <a:t>• Cấu trúc Mạng Đặc trưng: Backbone CSPDarknet cải tiến với các khối C3k2 và khối tự chú ý không gian C2PSA; Neck PANet trích xuất đa quy mô.</a:t>
            </a:r>
          </a:p>
          <a:p>
            <a:pPr>
              <a:spcBef>
                <a:spcPts val="400"/>
              </a:spcBef>
              <a:defRPr sz="919">
                <a:solidFill>
                  <a:srgbClr val="334155"/>
                </a:solidFill>
                <a:latin typeface="Calibri"/>
              </a:defRPr>
            </a:pPr>
            <a:r>
              <a:t>• 3 Tầng Đầu ra Phát hiện: P3 (stride 8: 80x80), P4 (stride 16: 40x40), P5 (stride 32: 20x20) kết hợp Decoupled Head không neo (Anchor-free).</a:t>
            </a:r>
          </a:p>
          <a:p>
            <a:pPr>
              <a:spcBef>
                <a:spcPts val="400"/>
              </a:spcBef>
              <a:defRPr sz="919">
                <a:solidFill>
                  <a:srgbClr val="334155"/>
                </a:solidFill>
                <a:latin typeface="Calibri"/>
              </a:defRPr>
            </a:pPr>
            <a:r>
              <a:t>• Tập Dữ liệu Huấn luyện: Pretrained trên COCO và fine-tune trực tiếp trên SHWD (7,581 ảnh authentic) với phân chia 80/20 chuẩn.</a:t>
            </a:r>
          </a:p>
          <a:p>
            <a:pPr>
              <a:spcBef>
                <a:spcPts val="400"/>
              </a:spcBef>
              <a:defRPr sz="919">
                <a:solidFill>
                  <a:srgbClr val="334155"/>
                </a:solidFill>
                <a:latin typeface="Calibri"/>
              </a:defRPr>
            </a:pPr>
            <a:r>
              <a:t>• Kết quả Đối chuẩn Thực nghiệm: mAP50 = 94.74% · mAP50-95 = 62.54% · Recallhat = 90.35% · F1hat = 0.9073 (Params: 9.40M · FLOPs: 21.5G).</a:t>
            </a:r>
          </a:p>
          <a:p>
            <a:pPr>
              <a:spcBef>
                <a:spcPts val="400"/>
              </a:spcBef>
              <a:defRPr sz="919">
                <a:solidFill>
                  <a:srgbClr val="334155"/>
                </a:solidFill>
                <a:latin typeface="Calibri"/>
              </a:defRPr>
            </a:pPr>
            <a:r>
              <a:t>• Ưu điểm Nổi bật: Tối ưu hóa số lượng tham số tốt, tốc độ hội tụ nhanh, thông lượng xử lý cao trên các nền tảng GPU hiện đại.</a:t>
            </a:r>
          </a:p>
        </p:txBody>
      </p:sp>
      <p:sp>
        <p:nvSpPr>
          <p:cNvPr id="9" name="Rounded Rectangle 8"/>
          <p:cNvSpPr/>
          <p:nvPr/>
        </p:nvSpPr>
        <p:spPr>
          <a:xfrm>
            <a:off x="6217920" y="1234440"/>
            <a:ext cx="5212080" cy="461772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0" name="Rounded Rectangle 9"/>
          <p:cNvSpPr/>
          <p:nvPr/>
        </p:nvSpPr>
        <p:spPr>
          <a:xfrm>
            <a:off x="6400800" y="1371600"/>
            <a:ext cx="384048" cy="29260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02</a:t>
            </a:r>
          </a:p>
        </p:txBody>
      </p:sp>
      <p:sp>
        <p:nvSpPr>
          <p:cNvPr id="11" name="TextBox 10"/>
          <p:cNvSpPr txBox="1"/>
          <p:nvPr/>
        </p:nvSpPr>
        <p:spPr>
          <a:xfrm>
            <a:off x="6903720" y="1353312"/>
            <a:ext cx="4389120" cy="4389120"/>
          </a:xfrm>
          <a:prstGeom prst="rect">
            <a:avLst/>
          </a:prstGeom>
          <a:noFill/>
        </p:spPr>
        <p:txBody>
          <a:bodyPr wrap="square">
            <a:spAutoFit/>
          </a:bodyPr>
          <a:lstStyle/>
          <a:p>
            <a:pPr>
              <a:defRPr b="1" sz="1300">
                <a:solidFill>
                  <a:srgbClr val="0F172A"/>
                </a:solidFill>
                <a:latin typeface="Calibri"/>
              </a:defRPr>
            </a:pPr>
            <a:r>
              <a:t>3 Điểm nghẽn Cốt lõi &amp; Bài học Kế thừa / Cải tiến</a:t>
            </a:r>
          </a:p>
          <a:p>
            <a:pPr>
              <a:spcBef>
                <a:spcPts val="400"/>
              </a:spcBef>
              <a:defRPr sz="919">
                <a:solidFill>
                  <a:srgbClr val="334155"/>
                </a:solidFill>
                <a:latin typeface="Calibri"/>
              </a:defRPr>
            </a:pPr>
            <a:r>
              <a:t>• Điểm nghẽn 1 (Mất dấu mũ ở xa): Các tầng downsampling tích lũy (stride 8/16/32) làm tiêu biến hoàn toàn tín hiệu của mũ bảo hộ siêu nhỏ (&lt;20px).</a:t>
            </a:r>
          </a:p>
          <a:p>
            <a:pPr>
              <a:spcBef>
                <a:spcPts val="400"/>
              </a:spcBef>
              <a:defRPr sz="919">
                <a:solidFill>
                  <a:srgbClr val="334155"/>
                </a:solidFill>
                <a:latin typeface="Calibri"/>
              </a:defRPr>
            </a:pPr>
            <a:r>
              <a:t>• Điểm nghẽn 2 (Báo động giả sàn &gt;28%): Tích chập tiêu chuẩn có tính Bất biến Tịnh tiến, gây nhầm lẫn xô vữa, biển cảnh báo màu vàng dưới sàn thành mũ.</a:t>
            </a:r>
          </a:p>
          <a:p>
            <a:pPr>
              <a:spcBef>
                <a:spcPts val="400"/>
              </a:spcBef>
              <a:defRPr sz="919">
                <a:solidFill>
                  <a:srgbClr val="334155"/>
                </a:solidFill>
                <a:latin typeface="Calibri"/>
              </a:defRPr>
            </a:pPr>
            <a:r>
              <a:t>• Điểm nghẽn 3 (Triệt tiêu Gradient CIoU): Hàm loss CIoU bị triệt tiêu gradient khi tỷ lệ aspect ratio w/h của bounding box dự đoán trùng với ground truth.</a:t>
            </a:r>
          </a:p>
          <a:p>
            <a:pPr>
              <a:spcBef>
                <a:spcPts val="400"/>
              </a:spcBef>
              <a:defRPr sz="919">
                <a:solidFill>
                  <a:srgbClr val="334155"/>
                </a:solidFill>
                <a:latin typeface="Calibri"/>
              </a:defRPr>
            </a:pPr>
            <a:r>
              <a:t>• Nhóm học được gì từ YOLO11s? Học được cấu trúc khối trích xuất đặc trưng C3k2 gọn nhẹ và nguyên lý phân tách hai nhánh phân loại / định vị (Decoupled Head).</a:t>
            </a:r>
          </a:p>
          <a:p>
            <a:pPr>
              <a:spcBef>
                <a:spcPts val="400"/>
              </a:spcBef>
              <a:defRPr sz="919">
                <a:solidFill>
                  <a:srgbClr val="334155"/>
                </a:solidFill>
                <a:latin typeface="Calibri"/>
              </a:defRPr>
            </a:pPr>
            <a:r>
              <a:t>• Nhóm kế thừa &amp; Cải tiến gì? Kế thừa bộ khung YOLO11s nhưng thay bằng RepConv (gộp đại số về 1 Conv 3x3), cấy CoordConv Stem, bổ sung BiFormer Neck và thay bằng Focal-EIoU.</a:t>
            </a:r>
          </a:p>
        </p:txBody>
      </p:sp>
      <p:sp>
        <p:nvSpPr>
          <p:cNvPr id="12" name="Rounded Rectangle 11"/>
          <p:cNvSpPr/>
          <p:nvPr/>
        </p:nvSpPr>
        <p:spPr>
          <a:xfrm>
            <a:off x="731520" y="6035040"/>
            <a:ext cx="10728655" cy="47548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3" name="Rounded Rectangle 12"/>
          <p:cNvSpPr/>
          <p:nvPr/>
        </p:nvSpPr>
        <p:spPr>
          <a:xfrm>
            <a:off x="868680" y="6108192"/>
            <a:ext cx="1097280" cy="3200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ĐÚC KẾT</a:t>
            </a:r>
          </a:p>
        </p:txBody>
      </p:sp>
      <p:sp>
        <p:nvSpPr>
          <p:cNvPr id="14" name="TextBox 13"/>
          <p:cNvSpPr txBox="1"/>
          <p:nvPr/>
        </p:nvSpPr>
        <p:spPr>
          <a:xfrm>
            <a:off x="2057400" y="6053328"/>
            <a:ext cx="9235440" cy="438912"/>
          </a:xfrm>
          <a:prstGeom prst="rect">
            <a:avLst/>
          </a:prstGeom>
          <a:noFill/>
        </p:spPr>
        <p:txBody>
          <a:bodyPr wrap="square" lIns="0" tIns="0" rIns="0" bIns="0">
            <a:spAutoFit/>
          </a:bodyPr>
          <a:lstStyle/>
          <a:p>
            <a:pPr>
              <a:defRPr sz="1050" b="1">
                <a:solidFill>
                  <a:srgbClr val="0F172A"/>
                </a:solidFill>
                <a:latin typeface="Calibri"/>
              </a:defRPr>
            </a:pPr>
            <a:r>
              <a:t>YOLO11s đại diện cho SOTA kiến trúc mới nhất (10/2024); nhóm kế thừa sườn mạng nhưng giải quyết triệt để 3 điểm nghẽn bằng 4 module toán học.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 name="TextBox 2"/>
          <p:cNvSpPr txBox="1"/>
          <p:nvPr/>
        </p:nvSpPr>
        <p:spPr>
          <a:xfrm>
            <a:off x="731520" y="320040"/>
            <a:ext cx="8686800" cy="256032"/>
          </a:xfrm>
          <a:prstGeom prst="rect">
            <a:avLst/>
          </a:prstGeom>
          <a:noFill/>
        </p:spPr>
        <p:txBody>
          <a:bodyPr wrap="square" lIns="0" tIns="0" rIns="0" bIns="0">
            <a:spAutoFit/>
          </a:bodyPr>
          <a:lstStyle/>
          <a:p>
            <a:pPr>
              <a:defRPr sz="1000" b="1">
                <a:solidFill>
                  <a:srgbClr val="EA580C"/>
                </a:solidFill>
                <a:latin typeface="Calibri"/>
              </a:defRPr>
            </a:pPr>
            <a:r>
              <a:t>MỤC 4 &amp; MỤC 5 · RELATED WORK &amp; SOTA BASELINES</a:t>
            </a:r>
          </a:p>
        </p:txBody>
      </p:sp>
      <p:sp>
        <p:nvSpPr>
          <p:cNvPr id="4" name="TextBox 3"/>
          <p:cNvSpPr txBox="1"/>
          <p:nvPr/>
        </p:nvSpPr>
        <p:spPr>
          <a:xfrm>
            <a:off x="10058400" y="320040"/>
            <a:ext cx="1371600" cy="256032"/>
          </a:xfrm>
          <a:prstGeom prst="rect">
            <a:avLst/>
          </a:prstGeom>
          <a:noFill/>
        </p:spPr>
        <p:txBody>
          <a:bodyPr wrap="none" lIns="0" tIns="0" rIns="0" bIns="0">
            <a:spAutoFit/>
          </a:bodyPr>
          <a:lstStyle/>
          <a:p>
            <a:pPr algn="r">
              <a:defRPr sz="1100">
                <a:solidFill>
                  <a:srgbClr val="64748B"/>
                </a:solidFill>
                <a:latin typeface="Calibri"/>
              </a:defRPr>
            </a:pPr>
            <a:r>
              <a:t>06 / 18</a:t>
            </a:r>
          </a:p>
        </p:txBody>
      </p:sp>
      <p:sp>
        <p:nvSpPr>
          <p:cNvPr id="5" name="TextBox 4"/>
          <p:cNvSpPr txBox="1"/>
          <p:nvPr/>
        </p:nvSpPr>
        <p:spPr>
          <a:xfrm>
            <a:off x="731520" y="594360"/>
            <a:ext cx="10698480" cy="502920"/>
          </a:xfrm>
          <a:prstGeom prst="rect">
            <a:avLst/>
          </a:prstGeom>
          <a:noFill/>
        </p:spPr>
        <p:txBody>
          <a:bodyPr wrap="square" lIns="0" tIns="0" rIns="0" bIns="0">
            <a:spAutoFit/>
          </a:bodyPr>
          <a:lstStyle/>
          <a:p>
            <a:pPr>
              <a:defRPr sz="2000" b="1">
                <a:solidFill>
                  <a:srgbClr val="0F172A"/>
                </a:solidFill>
                <a:latin typeface="Calibri"/>
              </a:defRPr>
            </a:pPr>
            <a:r>
              <a:t>Phân tích Chi tiết Baseline 2: YOLOv8s (Jocher et al., 2023 · Chuẩn mực Công nghiệp)</a:t>
            </a:r>
          </a:p>
        </p:txBody>
      </p:sp>
      <p:sp>
        <p:nvSpPr>
          <p:cNvPr id="6" name="Rounded Rectangle 5"/>
          <p:cNvSpPr/>
          <p:nvPr/>
        </p:nvSpPr>
        <p:spPr>
          <a:xfrm>
            <a:off x="731520" y="1234440"/>
            <a:ext cx="5212080" cy="46177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7" name="Rounded Rectangle 6"/>
          <p:cNvSpPr/>
          <p:nvPr/>
        </p:nvSpPr>
        <p:spPr>
          <a:xfrm>
            <a:off x="914400" y="1371600"/>
            <a:ext cx="384048" cy="29260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01</a:t>
            </a:r>
          </a:p>
        </p:txBody>
      </p:sp>
      <p:sp>
        <p:nvSpPr>
          <p:cNvPr id="8" name="TextBox 7"/>
          <p:cNvSpPr txBox="1"/>
          <p:nvPr/>
        </p:nvSpPr>
        <p:spPr>
          <a:xfrm>
            <a:off x="1417320" y="1353312"/>
            <a:ext cx="4389120" cy="4389120"/>
          </a:xfrm>
          <a:prstGeom prst="rect">
            <a:avLst/>
          </a:prstGeom>
          <a:noFill/>
        </p:spPr>
        <p:txBody>
          <a:bodyPr wrap="square">
            <a:spAutoFit/>
          </a:bodyPr>
          <a:lstStyle/>
          <a:p>
            <a:pPr>
              <a:defRPr b="1" sz="1300">
                <a:solidFill>
                  <a:srgbClr val="0F172A"/>
                </a:solidFill>
                <a:latin typeface="Calibri"/>
              </a:defRPr>
            </a:pPr>
            <a:r>
              <a:t>Kiến trúc &amp; Vị thế Mốc chuẩn Công nghiệp (Gold Standard)</a:t>
            </a:r>
          </a:p>
          <a:p>
            <a:pPr>
              <a:spcBef>
                <a:spcPts val="400"/>
              </a:spcBef>
              <a:defRPr sz="919">
                <a:solidFill>
                  <a:srgbClr val="334155"/>
                </a:solidFill>
                <a:latin typeface="Calibri"/>
              </a:defRPr>
            </a:pPr>
            <a:r>
              <a:t>• Vị thế Công nghiệp Toàn cầu: Được phát triển bởi Jocher et al. (2023), YOLOv8 là mốc chuẩn công nghiệp phổ biến và được ứng dụng rộng rãi nhất thế giới hiện nay.</a:t>
            </a:r>
          </a:p>
          <a:p>
            <a:pPr>
              <a:spcBef>
                <a:spcPts val="400"/>
              </a:spcBef>
              <a:defRPr sz="919">
                <a:solidFill>
                  <a:srgbClr val="334155"/>
                </a:solidFill>
                <a:latin typeface="Calibri"/>
              </a:defRPr>
            </a:pPr>
            <a:r>
              <a:t>• Cấu trúc Khối Trích xuất C2f: Cross Stage Partial with 2 Convolutions (C2f) kết hợp nhiều kết nối residual nội bộ giúp làm giàu dòng chảy gradient.</a:t>
            </a:r>
          </a:p>
          <a:p>
            <a:pPr>
              <a:spcBef>
                <a:spcPts val="400"/>
              </a:spcBef>
              <a:defRPr sz="919">
                <a:solidFill>
                  <a:srgbClr val="334155"/>
                </a:solidFill>
                <a:latin typeface="Calibri"/>
              </a:defRPr>
            </a:pPr>
            <a:r>
              <a:t>• Cơ chế Gán nhãn Động (TAL): Task-Aligned Assigner đo lường sự kết hợp giữa độ tự tin phân loại và căn chỉnh IoU để gán nhãn động cho top-k anchors tốt nhất.</a:t>
            </a:r>
          </a:p>
          <a:p>
            <a:pPr>
              <a:spcBef>
                <a:spcPts val="400"/>
              </a:spcBef>
              <a:defRPr sz="919">
                <a:solidFill>
                  <a:srgbClr val="334155"/>
                </a:solidFill>
                <a:latin typeface="Calibri"/>
              </a:defRPr>
            </a:pPr>
            <a:r>
              <a:t>• Tập Dữ liệu Huấn luyện: Thực nghiệm trực tiếp trên tập SHWD chuẩn (7,581 ảnh) trong cùng điều kiện phần cứng với các baseline khác.</a:t>
            </a:r>
          </a:p>
          <a:p>
            <a:pPr>
              <a:spcBef>
                <a:spcPts val="400"/>
              </a:spcBef>
              <a:defRPr sz="919">
                <a:solidFill>
                  <a:srgbClr val="334155"/>
                </a:solidFill>
                <a:latin typeface="Calibri"/>
              </a:defRPr>
            </a:pPr>
            <a:r>
              <a:t>• Kết quả Đối chuẩn Thực nghiệm: mAP50 = 94.89% · mAP50-95 = 62.21% · Recallhat = 90.62% · F1hat = 0.9120 (Params: 11.24M · FLOPs: 28.6G).</a:t>
            </a:r>
          </a:p>
          <a:p>
            <a:pPr>
              <a:spcBef>
                <a:spcPts val="400"/>
              </a:spcBef>
              <a:defRPr sz="919">
                <a:solidFill>
                  <a:srgbClr val="334155"/>
                </a:solidFill>
                <a:latin typeface="Calibri"/>
              </a:defRPr>
            </a:pPr>
            <a:r>
              <a:t>• Ưu điểm Nổi bật: Độ chính xác nhận diện tổng thể mAP50 cao, cộng đồng mã nguồn mở khổng lồ, mức độ ổn định sản xuất đã được kiểm chứng.</a:t>
            </a:r>
          </a:p>
        </p:txBody>
      </p:sp>
      <p:sp>
        <p:nvSpPr>
          <p:cNvPr id="9" name="Rounded Rectangle 8"/>
          <p:cNvSpPr/>
          <p:nvPr/>
        </p:nvSpPr>
        <p:spPr>
          <a:xfrm>
            <a:off x="6217920" y="1234440"/>
            <a:ext cx="5212080" cy="461772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0" name="Rounded Rectangle 9"/>
          <p:cNvSpPr/>
          <p:nvPr/>
        </p:nvSpPr>
        <p:spPr>
          <a:xfrm>
            <a:off x="6400800" y="1371600"/>
            <a:ext cx="384048" cy="29260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02</a:t>
            </a:r>
          </a:p>
        </p:txBody>
      </p:sp>
      <p:sp>
        <p:nvSpPr>
          <p:cNvPr id="11" name="TextBox 10"/>
          <p:cNvSpPr txBox="1"/>
          <p:nvPr/>
        </p:nvSpPr>
        <p:spPr>
          <a:xfrm>
            <a:off x="6903720" y="1353312"/>
            <a:ext cx="4389120" cy="4389120"/>
          </a:xfrm>
          <a:prstGeom prst="rect">
            <a:avLst/>
          </a:prstGeom>
          <a:noFill/>
        </p:spPr>
        <p:txBody>
          <a:bodyPr wrap="square">
            <a:spAutoFit/>
          </a:bodyPr>
          <a:lstStyle/>
          <a:p>
            <a:pPr>
              <a:defRPr b="1" sz="1300">
                <a:solidFill>
                  <a:srgbClr val="0F172A"/>
                </a:solidFill>
                <a:latin typeface="Calibri"/>
              </a:defRPr>
            </a:pPr>
            <a:r>
              <a:t>Hạn chế Phần cứng &amp; Bài học Kế thừa / Cải tiến</a:t>
            </a:r>
          </a:p>
          <a:p>
            <a:pPr>
              <a:spcBef>
                <a:spcPts val="400"/>
              </a:spcBef>
              <a:defRPr sz="919">
                <a:solidFill>
                  <a:srgbClr val="334155"/>
                </a:solidFill>
                <a:latin typeface="Calibri"/>
              </a:defRPr>
            </a:pPr>
            <a:r>
              <a:t>• Hạn chế 1 (Chi phí Tính toán Nặng): FLOPs lên tới 28.6G và 11.24M tham số, nặng hơn 28% so với Rep-YOLO11s (22.4G / 9.85M), tạo áp lực lớn khi triển khai biên.</a:t>
            </a:r>
          </a:p>
          <a:p>
            <a:pPr>
              <a:spcBef>
                <a:spcPts val="400"/>
              </a:spcBef>
              <a:defRPr sz="919">
                <a:solidFill>
                  <a:srgbClr val="334155"/>
                </a:solidFill>
                <a:latin typeface="Calibri"/>
              </a:defRPr>
            </a:pPr>
            <a:r>
              <a:t>• Hạn chế 2 (Nghẽn Băng thông Bộ nhớ DRAM): Cấu trúc C2f phân nhánh nội bộ liên tục sử dụng nhiều thao tác nối tensor (concat) làm tăng lưu lượng truy cập DRAM và độ trễ truy xuất.</a:t>
            </a:r>
          </a:p>
          <a:p>
            <a:pPr>
              <a:spcBef>
                <a:spcPts val="400"/>
              </a:spcBef>
              <a:defRPr sz="919">
                <a:solidFill>
                  <a:srgbClr val="334155"/>
                </a:solidFill>
                <a:latin typeface="Calibri"/>
              </a:defRPr>
            </a:pPr>
            <a:r>
              <a:t>• Hạn chế 3 (Thiếu Cơ chế Không gian): Không có thông tin tọa độ dọc, mô hình vẫn mắc phải tỷ lệ báo động giả cao đối với các thiết bị màu vàng dưới sàn nhà.</a:t>
            </a:r>
          </a:p>
          <a:p>
            <a:pPr>
              <a:spcBef>
                <a:spcPts val="400"/>
              </a:spcBef>
              <a:defRPr sz="919">
                <a:solidFill>
                  <a:srgbClr val="334155"/>
                </a:solidFill>
                <a:latin typeface="Calibri"/>
              </a:defRPr>
            </a:pPr>
            <a:r>
              <a:t>• Nhóm học được gì từ YOLOv8s? Học tập cơ chế gán nhãn động Task-Aligned Assigner và chiến lược cân bằng loss đa nhiệm (BCE Classification Loss + DFL Loss).</a:t>
            </a:r>
          </a:p>
          <a:p>
            <a:pPr>
              <a:spcBef>
                <a:spcPts val="400"/>
              </a:spcBef>
              <a:defRPr sz="919">
                <a:solidFill>
                  <a:srgbClr val="334155"/>
                </a:solidFill>
                <a:latin typeface="Calibri"/>
              </a:defRPr>
            </a:pPr>
            <a:r>
              <a:t>• Nhóm kế thừa &amp; Cải tiến gì? Kế thừa tư tưởng Task-Aligned Assigner nhưng xây dựng trên nền tảng YOLO11s gọn nhẹ hơn, áp dụng RepConv loại bỏ hoàn toàn chi phí bộ nhớ phân nhánh khi triển khai.</a:t>
            </a:r>
          </a:p>
        </p:txBody>
      </p:sp>
      <p:sp>
        <p:nvSpPr>
          <p:cNvPr id="12" name="Rounded Rectangle 11"/>
          <p:cNvSpPr/>
          <p:nvPr/>
        </p:nvSpPr>
        <p:spPr>
          <a:xfrm>
            <a:off x="731520" y="6035040"/>
            <a:ext cx="10728655" cy="47548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3" name="Rounded Rectangle 12"/>
          <p:cNvSpPr/>
          <p:nvPr/>
        </p:nvSpPr>
        <p:spPr>
          <a:xfrm>
            <a:off x="868680" y="6108192"/>
            <a:ext cx="1097280" cy="3200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ĐÚC KẾT</a:t>
            </a:r>
          </a:p>
        </p:txBody>
      </p:sp>
      <p:sp>
        <p:nvSpPr>
          <p:cNvPr id="14" name="TextBox 13"/>
          <p:cNvSpPr txBox="1"/>
          <p:nvPr/>
        </p:nvSpPr>
        <p:spPr>
          <a:xfrm>
            <a:off x="2057400" y="6053328"/>
            <a:ext cx="9235440" cy="438912"/>
          </a:xfrm>
          <a:prstGeom prst="rect">
            <a:avLst/>
          </a:prstGeom>
          <a:noFill/>
        </p:spPr>
        <p:txBody>
          <a:bodyPr wrap="square" lIns="0" tIns="0" rIns="0" bIns="0">
            <a:spAutoFit/>
          </a:bodyPr>
          <a:lstStyle/>
          <a:p>
            <a:pPr>
              <a:defRPr sz="1050" b="1">
                <a:solidFill>
                  <a:srgbClr val="0F172A"/>
                </a:solidFill>
                <a:latin typeface="Calibri"/>
              </a:defRPr>
            </a:pPr>
            <a:r>
              <a:t>YOLOv8s là mốc chuẩn công nghiệp phổ biến nhất; nhóm kế thừa cơ chế TAL gán nhãn động nhưng tối ưu triệt để chi phí tính toán và bộ nhớ DRAM.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 name="TextBox 2"/>
          <p:cNvSpPr txBox="1"/>
          <p:nvPr/>
        </p:nvSpPr>
        <p:spPr>
          <a:xfrm>
            <a:off x="731520" y="320040"/>
            <a:ext cx="8686800" cy="256032"/>
          </a:xfrm>
          <a:prstGeom prst="rect">
            <a:avLst/>
          </a:prstGeom>
          <a:noFill/>
        </p:spPr>
        <p:txBody>
          <a:bodyPr wrap="square" lIns="0" tIns="0" rIns="0" bIns="0">
            <a:spAutoFit/>
          </a:bodyPr>
          <a:lstStyle/>
          <a:p>
            <a:pPr>
              <a:defRPr sz="1000" b="1">
                <a:solidFill>
                  <a:srgbClr val="EA580C"/>
                </a:solidFill>
                <a:latin typeface="Calibri"/>
              </a:defRPr>
            </a:pPr>
            <a:r>
              <a:t>MỤC 4 &amp; MỤC 5 · RELATED WORK &amp; SOTA BASELINES</a:t>
            </a:r>
          </a:p>
        </p:txBody>
      </p:sp>
      <p:sp>
        <p:nvSpPr>
          <p:cNvPr id="4" name="TextBox 3"/>
          <p:cNvSpPr txBox="1"/>
          <p:nvPr/>
        </p:nvSpPr>
        <p:spPr>
          <a:xfrm>
            <a:off x="10058400" y="320040"/>
            <a:ext cx="1371600" cy="256032"/>
          </a:xfrm>
          <a:prstGeom prst="rect">
            <a:avLst/>
          </a:prstGeom>
          <a:noFill/>
        </p:spPr>
        <p:txBody>
          <a:bodyPr wrap="none" lIns="0" tIns="0" rIns="0" bIns="0">
            <a:spAutoFit/>
          </a:bodyPr>
          <a:lstStyle/>
          <a:p>
            <a:pPr algn="r">
              <a:defRPr sz="1100">
                <a:solidFill>
                  <a:srgbClr val="64748B"/>
                </a:solidFill>
                <a:latin typeface="Calibri"/>
              </a:defRPr>
            </a:pPr>
            <a:r>
              <a:t>05-06 / 18</a:t>
            </a:r>
          </a:p>
        </p:txBody>
      </p:sp>
      <p:sp>
        <p:nvSpPr>
          <p:cNvPr id="5" name="TextBox 4"/>
          <p:cNvSpPr txBox="1"/>
          <p:nvPr/>
        </p:nvSpPr>
        <p:spPr>
          <a:xfrm>
            <a:off x="731520" y="594360"/>
            <a:ext cx="10698480" cy="502920"/>
          </a:xfrm>
          <a:prstGeom prst="rect">
            <a:avLst/>
          </a:prstGeom>
          <a:noFill/>
        </p:spPr>
        <p:txBody>
          <a:bodyPr wrap="square" lIns="0" tIns="0" rIns="0" bIns="0">
            <a:spAutoFit/>
          </a:bodyPr>
          <a:lstStyle/>
          <a:p>
            <a:pPr>
              <a:defRPr sz="2000" b="1">
                <a:solidFill>
                  <a:srgbClr val="0F172A"/>
                </a:solidFill>
                <a:latin typeface="Calibri"/>
              </a:defRPr>
            </a:pPr>
            <a:r>
              <a:t>Phân tích So sánh 2 Mô hình Baseline Chính: YOLO11s vs YOLOv8s</a:t>
            </a:r>
          </a:p>
        </p:txBody>
      </p:sp>
      <p:sp>
        <p:nvSpPr>
          <p:cNvPr id="6" name="Rounded Rectangle 5"/>
          <p:cNvSpPr/>
          <p:nvPr/>
        </p:nvSpPr>
        <p:spPr>
          <a:xfrm>
            <a:off x="731520" y="1234440"/>
            <a:ext cx="5212080" cy="33375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7" name="Rounded Rectangle 6"/>
          <p:cNvSpPr/>
          <p:nvPr/>
        </p:nvSpPr>
        <p:spPr>
          <a:xfrm>
            <a:off x="914400" y="1353312"/>
            <a:ext cx="2011680"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950" b="1">
                <a:solidFill>
                  <a:srgbClr val="FFFFFF"/>
                </a:solidFill>
                <a:latin typeface="Calibri"/>
              </a:defRPr>
            </a:pPr>
            <a:r>
              <a:t>BASELINE 1 · YOLO11s</a:t>
            </a:r>
          </a:p>
        </p:txBody>
      </p:sp>
      <p:sp>
        <p:nvSpPr>
          <p:cNvPr id="8" name="TextBox 7"/>
          <p:cNvSpPr txBox="1"/>
          <p:nvPr/>
        </p:nvSpPr>
        <p:spPr>
          <a:xfrm>
            <a:off x="914400" y="1691640"/>
            <a:ext cx="4846320" cy="2788920"/>
          </a:xfrm>
          <a:prstGeom prst="rect">
            <a:avLst/>
          </a:prstGeom>
          <a:noFill/>
        </p:spPr>
        <p:txBody>
          <a:bodyPr wrap="square">
            <a:spAutoFit/>
          </a:bodyPr>
          <a:lstStyle/>
          <a:p>
            <a:pPr>
              <a:defRPr b="1" sz="1150">
                <a:solidFill>
                  <a:srgbClr val="0F172A"/>
                </a:solidFill>
                <a:latin typeface="Calibri"/>
              </a:defRPr>
            </a:pPr>
            <a:r>
              <a:t>SOTA Mới Nhất (Ultralytics, Tháng 10/2024)</a:t>
            </a:r>
          </a:p>
          <a:p>
            <a:pPr>
              <a:spcBef>
                <a:spcPts val="250"/>
              </a:spcBef>
              <a:defRPr sz="880">
                <a:solidFill>
                  <a:srgbClr val="334155"/>
                </a:solidFill>
                <a:latin typeface="Calibri"/>
              </a:defRPr>
            </a:pPr>
            <a:r>
              <a:t>• Kiến trúc: C3k2 Feature Blocks + C2PSA Attention + Decoupled Head.</a:t>
            </a:r>
          </a:p>
          <a:p>
            <a:pPr>
              <a:spcBef>
                <a:spcPts val="250"/>
              </a:spcBef>
              <a:defRPr sz="880">
                <a:solidFill>
                  <a:srgbClr val="334155"/>
                </a:solidFill>
                <a:latin typeface="Calibri"/>
              </a:defRPr>
            </a:pPr>
            <a:r>
              <a:t>• Thông số: 9.40M Params · 21.5 GFLOPs · mAP50 = 94.74% · Recall = 90.35%.</a:t>
            </a:r>
          </a:p>
          <a:p>
            <a:pPr>
              <a:spcBef>
                <a:spcPts val="250"/>
              </a:spcBef>
              <a:defRPr sz="880">
                <a:solidFill>
                  <a:srgbClr val="334155"/>
                </a:solidFill>
                <a:latin typeface="Calibri"/>
              </a:defRPr>
            </a:pPr>
            <a:r>
              <a:t>• Ưu điểm: Tối ưu tham số xuất sắc, tính toán nhanh, hội tụ ổn định.</a:t>
            </a:r>
          </a:p>
          <a:p>
            <a:pPr>
              <a:spcBef>
                <a:spcPts val="250"/>
              </a:spcBef>
              <a:defRPr sz="880">
                <a:solidFill>
                  <a:srgbClr val="334155"/>
                </a:solidFill>
                <a:latin typeface="Calibri"/>
              </a:defRPr>
            </a:pPr>
            <a:r>
              <a:t>• Hạn chế cốt lõi: Mất tín hiệu mũ nhỏ ở xa (&lt;20px); Báo động giả sàn nhà do bất biến tịnh tiến; Triệt tiêu gradient tỷ lệ khung CIoU.</a:t>
            </a:r>
          </a:p>
          <a:p>
            <a:pPr>
              <a:spcBef>
                <a:spcPts val="250"/>
              </a:spcBef>
              <a:defRPr sz="880">
                <a:solidFill>
                  <a:srgbClr val="334155"/>
                </a:solidFill>
                <a:latin typeface="Calibri"/>
              </a:defRPr>
            </a:pPr>
            <a:r>
              <a:t>• Đóng góp của Nhóm: Kế thừa sườn C3k2; thay thế RepConv, cấy CoordConv Stem, bổ sung BiFormer Neck và Focal-EIoU Head.</a:t>
            </a:r>
          </a:p>
        </p:txBody>
      </p:sp>
      <p:sp>
        <p:nvSpPr>
          <p:cNvPr id="9" name="Rounded Rectangle 8"/>
          <p:cNvSpPr/>
          <p:nvPr/>
        </p:nvSpPr>
        <p:spPr>
          <a:xfrm>
            <a:off x="6217920" y="1234440"/>
            <a:ext cx="5212080" cy="33375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0" name="Rounded Rectangle 9"/>
          <p:cNvSpPr/>
          <p:nvPr/>
        </p:nvSpPr>
        <p:spPr>
          <a:xfrm>
            <a:off x="6400800" y="1353312"/>
            <a:ext cx="2011680" cy="292608"/>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950" b="1">
                <a:solidFill>
                  <a:srgbClr val="FFFFFF"/>
                </a:solidFill>
                <a:latin typeface="Calibri"/>
              </a:defRPr>
            </a:pPr>
            <a:r>
              <a:t>BASELINE 2 · YOLOv8s</a:t>
            </a:r>
          </a:p>
        </p:txBody>
      </p:sp>
      <p:sp>
        <p:nvSpPr>
          <p:cNvPr id="11" name="TextBox 10"/>
          <p:cNvSpPr txBox="1"/>
          <p:nvPr/>
        </p:nvSpPr>
        <p:spPr>
          <a:xfrm>
            <a:off x="6400800" y="1691640"/>
            <a:ext cx="4846320" cy="2788920"/>
          </a:xfrm>
          <a:prstGeom prst="rect">
            <a:avLst/>
          </a:prstGeom>
          <a:noFill/>
        </p:spPr>
        <p:txBody>
          <a:bodyPr wrap="square">
            <a:spAutoFit/>
          </a:bodyPr>
          <a:lstStyle/>
          <a:p>
            <a:pPr>
              <a:defRPr b="1" sz="1150">
                <a:solidFill>
                  <a:srgbClr val="0F172A"/>
                </a:solidFill>
                <a:latin typeface="Calibri"/>
              </a:defRPr>
            </a:pPr>
            <a:r>
              <a:t>Chuẩn Mực Công Nghiệp (Jocher et al., 2023)</a:t>
            </a:r>
          </a:p>
          <a:p>
            <a:pPr>
              <a:spcBef>
                <a:spcPts val="250"/>
              </a:spcBef>
              <a:defRPr sz="880">
                <a:solidFill>
                  <a:srgbClr val="334155"/>
                </a:solidFill>
                <a:latin typeface="Calibri"/>
              </a:defRPr>
            </a:pPr>
            <a:r>
              <a:t>• Kiến trúc: C2f Cross Stage Partial Blocks + Task-Aligned Assigner (TAL).</a:t>
            </a:r>
          </a:p>
          <a:p>
            <a:pPr>
              <a:spcBef>
                <a:spcPts val="250"/>
              </a:spcBef>
              <a:defRPr sz="880">
                <a:solidFill>
                  <a:srgbClr val="334155"/>
                </a:solidFill>
                <a:latin typeface="Calibri"/>
              </a:defRPr>
            </a:pPr>
            <a:r>
              <a:t>• Thông số: 11.24M Params · 28.6 GFLOPs · mAP50 = 94.89% · Recall = 90.62%.</a:t>
            </a:r>
          </a:p>
          <a:p>
            <a:pPr>
              <a:spcBef>
                <a:spcPts val="250"/>
              </a:spcBef>
              <a:defRPr sz="880">
                <a:solidFill>
                  <a:srgbClr val="334155"/>
                </a:solidFill>
                <a:latin typeface="Calibri"/>
              </a:defRPr>
            </a:pPr>
            <a:r>
              <a:t>• Ưu điểm: Độ chính xác mAP50 cao, mã nguồn cực kỳ ổn định và phổ biến.</a:t>
            </a:r>
          </a:p>
          <a:p>
            <a:pPr>
              <a:spcBef>
                <a:spcPts val="250"/>
              </a:spcBef>
              <a:defRPr sz="880">
                <a:solidFill>
                  <a:srgbClr val="334155"/>
                </a:solidFill>
                <a:latin typeface="Calibri"/>
              </a:defRPr>
            </a:pPr>
            <a:r>
              <a:t>• Hạn chế cốt lõi: 28.6 GFLOPs nặng hơn 28% so với mô hình đề tài; Khối C2f ngốn băng thông DRAM; Báo động giả do thiếu tiên đề không gian.</a:t>
            </a:r>
          </a:p>
          <a:p>
            <a:pPr>
              <a:spcBef>
                <a:spcPts val="250"/>
              </a:spcBef>
              <a:defRPr sz="880">
                <a:solidFill>
                  <a:srgbClr val="334155"/>
                </a:solidFill>
                <a:latin typeface="Calibri"/>
              </a:defRPr>
            </a:pPr>
            <a:r>
              <a:t>• Đóng góp của Nhóm: Kế thừa tư tưởng gán nhãn động TAL nhưng chuyển sang nền sườn YOLO11s gọn hơn và áp dụng RepConv xóa bỏ overhead DRAM.</a:t>
            </a:r>
          </a:p>
        </p:txBody>
      </p:sp>
      <p:sp>
        <p:nvSpPr>
          <p:cNvPr id="12" name="Rounded Rectangle 11"/>
          <p:cNvSpPr/>
          <p:nvPr/>
        </p:nvSpPr>
        <p:spPr>
          <a:xfrm>
            <a:off x="731520" y="4681728"/>
            <a:ext cx="10728655" cy="1234440"/>
          </a:xfrm>
          <a:prstGeom prst="roundRect">
            <a:avLst/>
          </a:prstGeom>
          <a:solidFill>
            <a:srgbClr val="FAFA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3" name="TextBox 12"/>
          <p:cNvSpPr txBox="1"/>
          <p:nvPr/>
        </p:nvSpPr>
        <p:spPr>
          <a:xfrm>
            <a:off x="914400" y="4736592"/>
            <a:ext cx="10332720" cy="1097280"/>
          </a:xfrm>
          <a:prstGeom prst="rect">
            <a:avLst/>
          </a:prstGeom>
          <a:noFill/>
        </p:spPr>
        <p:txBody>
          <a:bodyPr wrap="square">
            <a:spAutoFit/>
          </a:bodyPr>
          <a:lstStyle/>
          <a:p>
            <a:pPr>
              <a:defRPr b="1" sz="1050">
                <a:solidFill>
                  <a:srgbClr val="EA580C"/>
                </a:solidFill>
                <a:latin typeface="Calibri"/>
              </a:defRPr>
            </a:pPr>
            <a:r>
              <a:t>TẠI SAO NHÓM CHỌN 2 BASELINE NÀY ĐỂ BÁO CÁO REVIEW 1?</a:t>
            </a:r>
          </a:p>
          <a:p>
            <a:pPr>
              <a:spcBef>
                <a:spcPts val="200"/>
              </a:spcBef>
              <a:defRPr sz="900">
                <a:solidFill>
                  <a:srgbClr val="334155"/>
                </a:solidFill>
                <a:latin typeface="Calibri"/>
              </a:defRPr>
            </a:pPr>
            <a:r>
              <a:t>• Tính Đại diện SOTA &amp; Uy tín Khoa học: YOLO11s đại diện cho đỉnh cao kiến trúc mới nhất (tháng 10/2024), trong khi YOLOv8s là mốc chuẩn công nghiệp phổ biến nhất thế giới (Gold Standard). Đối chuẩn đồng thời với cả hai tạo nền tảng vững chắc và khách quan tuyệt đối trước Hội đồng chấm.</a:t>
            </a:r>
          </a:p>
          <a:p>
            <a:pPr>
              <a:spcBef>
                <a:spcPts val="100"/>
              </a:spcBef>
              <a:defRPr sz="900">
                <a:solidFill>
                  <a:srgbClr val="334155"/>
                </a:solidFill>
                <a:latin typeface="Calibri"/>
              </a:defRPr>
            </a:pPr>
            <a:r>
              <a:t>• Nền tảng Minh chứng Cải tiến: Mọi cải tiến của Rep-YOLO11s đều xuất phát từ việc khắc phục chính xác các điểm nghẽn kỹ thuật được chỉ ra ở hai mô hình cơ sở này, chứng minh tính cấp thiết và giá trị khoa học thực sự của đề tài.</a:t>
            </a:r>
          </a:p>
        </p:txBody>
      </p:sp>
      <p:sp>
        <p:nvSpPr>
          <p:cNvPr id="14" name="Rounded Rectangle 13"/>
          <p:cNvSpPr/>
          <p:nvPr/>
        </p:nvSpPr>
        <p:spPr>
          <a:xfrm>
            <a:off x="731520" y="6035040"/>
            <a:ext cx="10728655" cy="47548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5" name="Rounded Rectangle 14"/>
          <p:cNvSpPr/>
          <p:nvPr/>
        </p:nvSpPr>
        <p:spPr>
          <a:xfrm>
            <a:off x="868680" y="6108192"/>
            <a:ext cx="1097280" cy="3200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ĐÚC KẾT</a:t>
            </a:r>
          </a:p>
        </p:txBody>
      </p:sp>
      <p:sp>
        <p:nvSpPr>
          <p:cNvPr id="16" name="TextBox 15"/>
          <p:cNvSpPr txBox="1"/>
          <p:nvPr/>
        </p:nvSpPr>
        <p:spPr>
          <a:xfrm>
            <a:off x="2057400" y="6053328"/>
            <a:ext cx="9235440" cy="438912"/>
          </a:xfrm>
          <a:prstGeom prst="rect">
            <a:avLst/>
          </a:prstGeom>
          <a:noFill/>
        </p:spPr>
        <p:txBody>
          <a:bodyPr wrap="square" lIns="0" tIns="0" rIns="0" bIns="0">
            <a:spAutoFit/>
          </a:bodyPr>
          <a:lstStyle/>
          <a:p>
            <a:pPr>
              <a:defRPr sz="1050" b="1">
                <a:solidFill>
                  <a:srgbClr val="0F172A"/>
                </a:solidFill>
                <a:latin typeface="Calibri"/>
              </a:defRPr>
            </a:pPr>
            <a:r>
              <a:t>Đối chuẩn song song SOTA mới nhất (YOLO11s) và Chuẩn công nghiệp (YOLOv8s) tạo cơ sở khoa học khách quan chứng minh tính vượt trội của đề tài.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 name="TextBox 2"/>
          <p:cNvSpPr txBox="1"/>
          <p:nvPr/>
        </p:nvSpPr>
        <p:spPr>
          <a:xfrm>
            <a:off x="731520" y="320040"/>
            <a:ext cx="8686800" cy="256032"/>
          </a:xfrm>
          <a:prstGeom prst="rect">
            <a:avLst/>
          </a:prstGeom>
          <a:noFill/>
        </p:spPr>
        <p:txBody>
          <a:bodyPr wrap="square" lIns="0" tIns="0" rIns="0" bIns="0">
            <a:spAutoFit/>
          </a:bodyPr>
          <a:lstStyle/>
          <a:p>
            <a:pPr>
              <a:defRPr sz="1000" b="1">
                <a:solidFill>
                  <a:srgbClr val="EA580C"/>
                </a:solidFill>
                <a:latin typeface="Calibri"/>
              </a:defRPr>
            </a:pPr>
            <a:r>
              <a:t>MỤC 6 · PHƯƠNG PHÁP ĐỀ XUẤT (PROPOSED METHOD)</a:t>
            </a:r>
          </a:p>
        </p:txBody>
      </p:sp>
      <p:sp>
        <p:nvSpPr>
          <p:cNvPr id="4" name="TextBox 3"/>
          <p:cNvSpPr txBox="1"/>
          <p:nvPr/>
        </p:nvSpPr>
        <p:spPr>
          <a:xfrm>
            <a:off x="10058400" y="320040"/>
            <a:ext cx="1371600" cy="256032"/>
          </a:xfrm>
          <a:prstGeom prst="rect">
            <a:avLst/>
          </a:prstGeom>
          <a:noFill/>
        </p:spPr>
        <p:txBody>
          <a:bodyPr wrap="none" lIns="0" tIns="0" rIns="0" bIns="0">
            <a:spAutoFit/>
          </a:bodyPr>
          <a:lstStyle/>
          <a:p>
            <a:pPr algn="r">
              <a:defRPr sz="1100">
                <a:solidFill>
                  <a:srgbClr val="64748B"/>
                </a:solidFill>
                <a:latin typeface="Calibri"/>
              </a:defRPr>
            </a:pPr>
            <a:r>
              <a:t>07 / 18</a:t>
            </a:r>
          </a:p>
        </p:txBody>
      </p:sp>
      <p:sp>
        <p:nvSpPr>
          <p:cNvPr id="5" name="TextBox 4"/>
          <p:cNvSpPr txBox="1"/>
          <p:nvPr/>
        </p:nvSpPr>
        <p:spPr>
          <a:xfrm>
            <a:off x="731520" y="594360"/>
            <a:ext cx="10698480" cy="502920"/>
          </a:xfrm>
          <a:prstGeom prst="rect">
            <a:avLst/>
          </a:prstGeom>
          <a:noFill/>
        </p:spPr>
        <p:txBody>
          <a:bodyPr wrap="square" lIns="0" tIns="0" rIns="0" bIns="0">
            <a:spAutoFit/>
          </a:bodyPr>
          <a:lstStyle/>
          <a:p>
            <a:pPr>
              <a:defRPr sz="2000" b="1">
                <a:solidFill>
                  <a:srgbClr val="0F172A"/>
                </a:solidFill>
                <a:latin typeface="Calibri"/>
              </a:defRPr>
            </a:pPr>
            <a:r>
              <a:t>Kiến trúc Tổng thể Rep-YOLO11s: Tích hợp 4 Cải tiến Toán học</a:t>
            </a:r>
          </a:p>
        </p:txBody>
      </p:sp>
      <p:sp>
        <p:nvSpPr>
          <p:cNvPr id="6" name="Rounded Rectangle 5"/>
          <p:cNvSpPr/>
          <p:nvPr/>
        </p:nvSpPr>
        <p:spPr>
          <a:xfrm>
            <a:off x="731520" y="1234440"/>
            <a:ext cx="6217920" cy="4617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7" name="Rounded Rectangle 6"/>
          <p:cNvSpPr/>
          <p:nvPr/>
        </p:nvSpPr>
        <p:spPr>
          <a:xfrm>
            <a:off x="914400" y="1353312"/>
            <a:ext cx="2926080" cy="256032"/>
          </a:xfrm>
          <a:prstGeom prst="round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900" b="1">
                <a:solidFill>
                  <a:srgbClr val="FFFFFF"/>
                </a:solidFill>
                <a:latin typeface="Calibri"/>
              </a:defRPr>
            </a:pPr>
            <a:r>
              <a:t>PIPELINE KIẾN TRÚC REP-YOLO11s</a:t>
            </a:r>
          </a:p>
        </p:txBody>
      </p:sp>
      <p:sp>
        <p:nvSpPr>
          <p:cNvPr id="8" name="Rounded Rectangle 7"/>
          <p:cNvSpPr/>
          <p:nvPr/>
        </p:nvSpPr>
        <p:spPr>
          <a:xfrm>
            <a:off x="914400" y="1691640"/>
            <a:ext cx="5852160" cy="548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9" name="Rounded Rectangle 8"/>
          <p:cNvSpPr/>
          <p:nvPr/>
        </p:nvSpPr>
        <p:spPr>
          <a:xfrm>
            <a:off x="960120" y="1746504"/>
            <a:ext cx="109728" cy="438912"/>
          </a:xfrm>
          <a:prstGeom prst="round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0" name="TextBox 9"/>
          <p:cNvSpPr txBox="1"/>
          <p:nvPr/>
        </p:nvSpPr>
        <p:spPr>
          <a:xfrm>
            <a:off x="1143000" y="1728216"/>
            <a:ext cx="5577840" cy="475488"/>
          </a:xfrm>
          <a:prstGeom prst="rect">
            <a:avLst/>
          </a:prstGeom>
          <a:noFill/>
        </p:spPr>
        <p:txBody>
          <a:bodyPr wrap="square" lIns="0" rIns="0">
            <a:spAutoFit/>
          </a:bodyPr>
          <a:lstStyle/>
          <a:p>
            <a:pPr>
              <a:defRPr b="1" sz="950">
                <a:solidFill>
                  <a:srgbClr val="475569"/>
                </a:solidFill>
                <a:latin typeface="Calibri"/>
              </a:defRPr>
            </a:pPr>
            <a:r>
              <a:t>ẢNH ĐẦU VÀO [640×640×3]</a:t>
            </a:r>
          </a:p>
          <a:p>
            <a:pPr>
              <a:spcBef>
                <a:spcPts val="100"/>
              </a:spcBef>
              <a:defRPr sz="830">
                <a:solidFill>
                  <a:srgbClr val="64748B"/>
                </a:solidFill>
                <a:latin typeface="Calibri"/>
              </a:defRPr>
            </a:pPr>
            <a:r>
              <a:t>Luồng Video Camera Giám sát Công trường Xây dựng (CCTV Feed)</a:t>
            </a:r>
          </a:p>
        </p:txBody>
      </p:sp>
      <p:sp>
        <p:nvSpPr>
          <p:cNvPr id="11" name="Rounded Rectangle 10"/>
          <p:cNvSpPr/>
          <p:nvPr/>
        </p:nvSpPr>
        <p:spPr>
          <a:xfrm>
            <a:off x="914400" y="2386584"/>
            <a:ext cx="5852160" cy="548640"/>
          </a:xfrm>
          <a:prstGeom prst="roundRect">
            <a:avLst/>
          </a:prstGeom>
          <a:solidFill>
            <a:srgbClr val="FFF7ED"/>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2" name="Rounded Rectangle 11"/>
          <p:cNvSpPr/>
          <p:nvPr/>
        </p:nvSpPr>
        <p:spPr>
          <a:xfrm>
            <a:off x="960120" y="2441448"/>
            <a:ext cx="109728" cy="43891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3" name="TextBox 12"/>
          <p:cNvSpPr txBox="1"/>
          <p:nvPr/>
        </p:nvSpPr>
        <p:spPr>
          <a:xfrm>
            <a:off x="1143000" y="2423160"/>
            <a:ext cx="5577840" cy="475488"/>
          </a:xfrm>
          <a:prstGeom prst="rect">
            <a:avLst/>
          </a:prstGeom>
          <a:noFill/>
        </p:spPr>
        <p:txBody>
          <a:bodyPr wrap="square" lIns="0" rIns="0">
            <a:spAutoFit/>
          </a:bodyPr>
          <a:lstStyle/>
          <a:p>
            <a:pPr>
              <a:defRPr b="1" sz="950">
                <a:solidFill>
                  <a:srgbClr val="EA580C"/>
                </a:solidFill>
                <a:latin typeface="Calibri"/>
              </a:defRPr>
            </a:pPr>
            <a:r>
              <a:t>CẢI TIẾN 2: COORDCONV STEM</a:t>
            </a:r>
          </a:p>
          <a:p>
            <a:pPr>
              <a:spcBef>
                <a:spcPts val="100"/>
              </a:spcBef>
              <a:defRPr sz="830">
                <a:solidFill>
                  <a:srgbClr val="0F172A"/>
                </a:solidFill>
                <a:latin typeface="Calibri"/>
              </a:defRPr>
            </a:pPr>
            <a:r>
              <a:t>Cấy 2 kênh tọa độ [Cx, Cy] vào Layer 0 (5 -&gt; 64 kênh) -&gt; Khử báo động sàn</a:t>
            </a:r>
          </a:p>
        </p:txBody>
      </p:sp>
      <p:sp>
        <p:nvSpPr>
          <p:cNvPr id="14" name="Rounded Rectangle 13"/>
          <p:cNvSpPr/>
          <p:nvPr/>
        </p:nvSpPr>
        <p:spPr>
          <a:xfrm>
            <a:off x="914400" y="3081528"/>
            <a:ext cx="5852160" cy="548640"/>
          </a:xfrm>
          <a:prstGeom prst="roundRect">
            <a:avLst/>
          </a:prstGeom>
          <a:solidFill>
            <a:srgbClr val="FFF7ED"/>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5" name="Rounded Rectangle 14"/>
          <p:cNvSpPr/>
          <p:nvPr/>
        </p:nvSpPr>
        <p:spPr>
          <a:xfrm>
            <a:off x="960120" y="3136392"/>
            <a:ext cx="109728" cy="43891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6" name="TextBox 15"/>
          <p:cNvSpPr txBox="1"/>
          <p:nvPr/>
        </p:nvSpPr>
        <p:spPr>
          <a:xfrm>
            <a:off x="1143000" y="3118104"/>
            <a:ext cx="5577840" cy="475488"/>
          </a:xfrm>
          <a:prstGeom prst="rect">
            <a:avLst/>
          </a:prstGeom>
          <a:noFill/>
        </p:spPr>
        <p:txBody>
          <a:bodyPr wrap="square" lIns="0" rIns="0">
            <a:spAutoFit/>
          </a:bodyPr>
          <a:lstStyle/>
          <a:p>
            <a:pPr>
              <a:defRPr b="1" sz="950">
                <a:solidFill>
                  <a:srgbClr val="2563EB"/>
                </a:solidFill>
                <a:latin typeface="Calibri"/>
              </a:defRPr>
            </a:pPr>
            <a:r>
              <a:t>CẢI TIẾN 1: REPCONV BACKBONE</a:t>
            </a:r>
          </a:p>
          <a:p>
            <a:pPr>
              <a:spcBef>
                <a:spcPts val="100"/>
              </a:spcBef>
              <a:defRPr sz="830">
                <a:solidFill>
                  <a:srgbClr val="0F172A"/>
                </a:solidFill>
                <a:latin typeface="Calibri"/>
              </a:defRPr>
            </a:pPr>
            <a:r>
              <a:t>3 nhánh huấn luyện -&gt; Gộp đại số về 1 Conv 3x3 khi triển khai (Zero Latency)</a:t>
            </a:r>
          </a:p>
        </p:txBody>
      </p:sp>
      <p:sp>
        <p:nvSpPr>
          <p:cNvPr id="17" name="Rounded Rectangle 16"/>
          <p:cNvSpPr/>
          <p:nvPr/>
        </p:nvSpPr>
        <p:spPr>
          <a:xfrm>
            <a:off x="914400" y="3776472"/>
            <a:ext cx="5852160" cy="548640"/>
          </a:xfrm>
          <a:prstGeom prst="roundRect">
            <a:avLst/>
          </a:prstGeom>
          <a:solidFill>
            <a:srgbClr val="FFF7ED"/>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8" name="Rounded Rectangle 17"/>
          <p:cNvSpPr/>
          <p:nvPr/>
        </p:nvSpPr>
        <p:spPr>
          <a:xfrm>
            <a:off x="960120" y="3831336"/>
            <a:ext cx="109728" cy="43891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9" name="TextBox 18"/>
          <p:cNvSpPr txBox="1"/>
          <p:nvPr/>
        </p:nvSpPr>
        <p:spPr>
          <a:xfrm>
            <a:off x="1143000" y="3813048"/>
            <a:ext cx="5577840" cy="475488"/>
          </a:xfrm>
          <a:prstGeom prst="rect">
            <a:avLst/>
          </a:prstGeom>
          <a:noFill/>
        </p:spPr>
        <p:txBody>
          <a:bodyPr wrap="square" lIns="0" rIns="0">
            <a:spAutoFit/>
          </a:bodyPr>
          <a:lstStyle/>
          <a:p>
            <a:pPr>
              <a:defRPr b="1" sz="950">
                <a:solidFill>
                  <a:srgbClr val="7C3AED"/>
                </a:solidFill>
                <a:latin typeface="Calibri"/>
              </a:defRPr>
            </a:pPr>
            <a:r>
              <a:t>CẢI TIẾN 3: BIFORMER NECK</a:t>
            </a:r>
          </a:p>
          <a:p>
            <a:pPr>
              <a:spcBef>
                <a:spcPts val="100"/>
              </a:spcBef>
              <a:defRPr sz="830">
                <a:solidFill>
                  <a:srgbClr val="0F172A"/>
                </a:solidFill>
                <a:latin typeface="Calibri"/>
              </a:defRPr>
            </a:pPr>
            <a:r>
              <a:t>Định tuyến thưa 2 cấp độ Top-k (Complexity O(HW)) -&gt; Bắt trúng mũ nhỏ xa</a:t>
            </a:r>
          </a:p>
        </p:txBody>
      </p:sp>
      <p:sp>
        <p:nvSpPr>
          <p:cNvPr id="20" name="Rounded Rectangle 19"/>
          <p:cNvSpPr/>
          <p:nvPr/>
        </p:nvSpPr>
        <p:spPr>
          <a:xfrm>
            <a:off x="914400" y="4471416"/>
            <a:ext cx="5852160" cy="548640"/>
          </a:xfrm>
          <a:prstGeom prst="roundRect">
            <a:avLst/>
          </a:prstGeom>
          <a:solidFill>
            <a:srgbClr val="FFF7ED"/>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21" name="Rounded Rectangle 20"/>
          <p:cNvSpPr/>
          <p:nvPr/>
        </p:nvSpPr>
        <p:spPr>
          <a:xfrm>
            <a:off x="960120" y="4526280"/>
            <a:ext cx="109728" cy="43891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22" name="TextBox 21"/>
          <p:cNvSpPr txBox="1"/>
          <p:nvPr/>
        </p:nvSpPr>
        <p:spPr>
          <a:xfrm>
            <a:off x="1143000" y="4507992"/>
            <a:ext cx="5577840" cy="475488"/>
          </a:xfrm>
          <a:prstGeom prst="rect">
            <a:avLst/>
          </a:prstGeom>
          <a:noFill/>
        </p:spPr>
        <p:txBody>
          <a:bodyPr wrap="square" lIns="0" rIns="0">
            <a:spAutoFit/>
          </a:bodyPr>
          <a:lstStyle/>
          <a:p>
            <a:pPr>
              <a:defRPr b="1" sz="950">
                <a:solidFill>
                  <a:srgbClr val="D97706"/>
                </a:solidFill>
                <a:latin typeface="Calibri"/>
              </a:defRPr>
            </a:pPr>
            <a:r>
              <a:t>CẢI TIẾN 4: FOCAL-EIoU HEAD</a:t>
            </a:r>
          </a:p>
          <a:p>
            <a:pPr>
              <a:spcBef>
                <a:spcPts val="100"/>
              </a:spcBef>
              <a:defRPr sz="830">
                <a:solidFill>
                  <a:srgbClr val="0F172A"/>
                </a:solidFill>
                <a:latin typeface="Calibri"/>
              </a:defRPr>
            </a:pPr>
            <a:r>
              <a:t>Phân rã kích thước độc lập + TAL gán nhãn động -&gt; Tránh suy biến gradient</a:t>
            </a:r>
          </a:p>
        </p:txBody>
      </p:sp>
      <p:sp>
        <p:nvSpPr>
          <p:cNvPr id="23" name="Rounded Rectangle 22"/>
          <p:cNvSpPr/>
          <p:nvPr/>
        </p:nvSpPr>
        <p:spPr>
          <a:xfrm>
            <a:off x="914400" y="5166360"/>
            <a:ext cx="5852160" cy="5486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24" name="Rounded Rectangle 23"/>
          <p:cNvSpPr/>
          <p:nvPr/>
        </p:nvSpPr>
        <p:spPr>
          <a:xfrm>
            <a:off x="960120" y="5221224"/>
            <a:ext cx="109728" cy="438912"/>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25" name="TextBox 24"/>
          <p:cNvSpPr txBox="1"/>
          <p:nvPr/>
        </p:nvSpPr>
        <p:spPr>
          <a:xfrm>
            <a:off x="1143000" y="5202936"/>
            <a:ext cx="5577840" cy="475488"/>
          </a:xfrm>
          <a:prstGeom prst="rect">
            <a:avLst/>
          </a:prstGeom>
          <a:noFill/>
        </p:spPr>
        <p:txBody>
          <a:bodyPr wrap="square" lIns="0" rIns="0">
            <a:spAutoFit/>
          </a:bodyPr>
          <a:lstStyle/>
          <a:p>
            <a:pPr>
              <a:defRPr b="1" sz="950">
                <a:solidFill>
                  <a:srgbClr val="16A34A"/>
                </a:solidFill>
                <a:latin typeface="Calibri"/>
              </a:defRPr>
            </a:pPr>
            <a:r>
              <a:t>KẾT QUẢ ĐẦU RA (OUTPUT)</a:t>
            </a:r>
          </a:p>
          <a:p>
            <a:pPr>
              <a:spcBef>
                <a:spcPts val="100"/>
              </a:spcBef>
              <a:defRPr sz="830">
                <a:solidFill>
                  <a:srgbClr val="64748B"/>
                </a:solidFill>
                <a:latin typeface="Calibri"/>
              </a:defRPr>
            </a:pPr>
            <a:r>
              <a:t>Khung bao mũ bảo hộ sắc nét, Recall &gt;91%, triệt tiêu báo động giả mặt sàn</a:t>
            </a:r>
          </a:p>
        </p:txBody>
      </p:sp>
      <p:sp>
        <p:nvSpPr>
          <p:cNvPr id="26" name="Rounded Rectangle 25"/>
          <p:cNvSpPr/>
          <p:nvPr/>
        </p:nvSpPr>
        <p:spPr>
          <a:xfrm>
            <a:off x="7132320" y="1234440"/>
            <a:ext cx="4327855"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27" name="Rounded Rectangle 26"/>
          <p:cNvSpPr/>
          <p:nvPr/>
        </p:nvSpPr>
        <p:spPr>
          <a:xfrm>
            <a:off x="7242048" y="1325880"/>
            <a:ext cx="91440" cy="89611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28" name="TextBox 27"/>
          <p:cNvSpPr txBox="1"/>
          <p:nvPr/>
        </p:nvSpPr>
        <p:spPr>
          <a:xfrm>
            <a:off x="7388352" y="1307592"/>
            <a:ext cx="3977639" cy="932688"/>
          </a:xfrm>
          <a:prstGeom prst="rect">
            <a:avLst/>
          </a:prstGeom>
          <a:noFill/>
        </p:spPr>
        <p:txBody>
          <a:bodyPr wrap="square" lIns="0" rIns="0">
            <a:spAutoFit/>
          </a:bodyPr>
          <a:lstStyle/>
          <a:p>
            <a:pPr>
              <a:defRPr b="1" sz="980">
                <a:solidFill>
                  <a:srgbClr val="2563EB"/>
                </a:solidFill>
                <a:latin typeface="Calibri"/>
              </a:defRPr>
            </a:pPr>
            <a:r>
              <a:t>Cải tiến 1: Tái tham số hóa RepConv</a:t>
            </a:r>
          </a:p>
          <a:p>
            <a:pPr>
              <a:spcBef>
                <a:spcPts val="200"/>
              </a:spcBef>
              <a:defRPr sz="830">
                <a:solidFill>
                  <a:srgbClr val="334155"/>
                </a:solidFill>
                <a:latin typeface="Calibri"/>
              </a:defRPr>
            </a:pPr>
            <a:r>
              <a:t>Huấn luyện đa nhánh giàu biểu diễn (3x3, 1x1, Identity) -&gt; Gộp đại số khép kín về duy nhất 1 nhân Conv 3x3 khi suy luận (`switch_to_deploy`). Đạt tốc độ suy luận cực hạn với Zero Latency Overhead.</a:t>
            </a:r>
          </a:p>
        </p:txBody>
      </p:sp>
      <p:sp>
        <p:nvSpPr>
          <p:cNvPr id="29" name="Rounded Rectangle 28"/>
          <p:cNvSpPr/>
          <p:nvPr/>
        </p:nvSpPr>
        <p:spPr>
          <a:xfrm>
            <a:off x="7132320" y="2414016"/>
            <a:ext cx="4327855"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0" name="Rounded Rectangle 29"/>
          <p:cNvSpPr/>
          <p:nvPr/>
        </p:nvSpPr>
        <p:spPr>
          <a:xfrm>
            <a:off x="7242048" y="2505456"/>
            <a:ext cx="91440" cy="89611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1" name="TextBox 30"/>
          <p:cNvSpPr txBox="1"/>
          <p:nvPr/>
        </p:nvSpPr>
        <p:spPr>
          <a:xfrm>
            <a:off x="7388352" y="2487168"/>
            <a:ext cx="3977639" cy="932688"/>
          </a:xfrm>
          <a:prstGeom prst="rect">
            <a:avLst/>
          </a:prstGeom>
          <a:noFill/>
        </p:spPr>
        <p:txBody>
          <a:bodyPr wrap="square" lIns="0" rIns="0">
            <a:spAutoFit/>
          </a:bodyPr>
          <a:lstStyle/>
          <a:p>
            <a:pPr>
              <a:defRPr b="1" sz="980">
                <a:solidFill>
                  <a:srgbClr val="EA580C"/>
                </a:solidFill>
                <a:latin typeface="Calibri"/>
              </a:defRPr>
            </a:pPr>
            <a:r>
              <a:t>Cải tiến 2: Mã hóa Tọa độ CoordConv</a:t>
            </a:r>
          </a:p>
          <a:p>
            <a:pPr>
              <a:spcBef>
                <a:spcPts val="200"/>
              </a:spcBef>
              <a:defRPr sz="830">
                <a:solidFill>
                  <a:srgbClr val="334155"/>
                </a:solidFill>
                <a:latin typeface="Calibri"/>
              </a:defRPr>
            </a:pPr>
            <a:r>
              <a:t>Cấy trực tiếp 2 kênh tọa độ không gian Cartesian chuẩn hóa [Cx, Cy] vào tầng Stem đầu vào. Phá vỡ tính bất biến tịnh tiến sai lầm, triệt tiêu dứt điểm báo động giả xô vàng và áo phản quang dưới sàn.</a:t>
            </a:r>
          </a:p>
        </p:txBody>
      </p:sp>
      <p:sp>
        <p:nvSpPr>
          <p:cNvPr id="32" name="Rounded Rectangle 31"/>
          <p:cNvSpPr/>
          <p:nvPr/>
        </p:nvSpPr>
        <p:spPr>
          <a:xfrm>
            <a:off x="7132320" y="3593592"/>
            <a:ext cx="4327855"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3" name="Rounded Rectangle 32"/>
          <p:cNvSpPr/>
          <p:nvPr/>
        </p:nvSpPr>
        <p:spPr>
          <a:xfrm>
            <a:off x="7242048" y="3685032"/>
            <a:ext cx="91440" cy="89611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4" name="TextBox 33"/>
          <p:cNvSpPr txBox="1"/>
          <p:nvPr/>
        </p:nvSpPr>
        <p:spPr>
          <a:xfrm>
            <a:off x="7388352" y="3666744"/>
            <a:ext cx="3977639" cy="932688"/>
          </a:xfrm>
          <a:prstGeom prst="rect">
            <a:avLst/>
          </a:prstGeom>
          <a:noFill/>
        </p:spPr>
        <p:txBody>
          <a:bodyPr wrap="square" lIns="0" rIns="0">
            <a:spAutoFit/>
          </a:bodyPr>
          <a:lstStyle/>
          <a:p>
            <a:pPr>
              <a:defRPr b="1" sz="980">
                <a:solidFill>
                  <a:srgbClr val="7C3AED"/>
                </a:solidFill>
                <a:latin typeface="Calibri"/>
              </a:defRPr>
            </a:pPr>
            <a:r>
              <a:t>Cải tiến 3: Chú ý Định tuyến BiFormer</a:t>
            </a:r>
          </a:p>
          <a:p>
            <a:pPr>
              <a:spcBef>
                <a:spcPts val="200"/>
              </a:spcBef>
              <a:defRPr sz="830">
                <a:solidFill>
                  <a:srgbClr val="334155"/>
                </a:solidFill>
                <a:latin typeface="Calibri"/>
              </a:defRPr>
            </a:pPr>
            <a:r>
              <a:t>Cơ chế định tuyến thưa 2 cấp độ lọc bỏ 93.75% các vùng nền rậm rạp không liên quan, tập trung năng lực tính toán vào các vùng chỏm đầu công nhân ở xa với độ phức tạp tuyến tính O(HW).</a:t>
            </a:r>
          </a:p>
        </p:txBody>
      </p:sp>
      <p:sp>
        <p:nvSpPr>
          <p:cNvPr id="35" name="Rounded Rectangle 34"/>
          <p:cNvSpPr/>
          <p:nvPr/>
        </p:nvSpPr>
        <p:spPr>
          <a:xfrm>
            <a:off x="7132320" y="4773168"/>
            <a:ext cx="4327855"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6" name="Rounded Rectangle 35"/>
          <p:cNvSpPr/>
          <p:nvPr/>
        </p:nvSpPr>
        <p:spPr>
          <a:xfrm>
            <a:off x="7242048" y="4864608"/>
            <a:ext cx="91440" cy="89611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7" name="TextBox 36"/>
          <p:cNvSpPr txBox="1"/>
          <p:nvPr/>
        </p:nvSpPr>
        <p:spPr>
          <a:xfrm>
            <a:off x="7388352" y="4846320"/>
            <a:ext cx="3977639" cy="932688"/>
          </a:xfrm>
          <a:prstGeom prst="rect">
            <a:avLst/>
          </a:prstGeom>
          <a:noFill/>
        </p:spPr>
        <p:txBody>
          <a:bodyPr wrap="square" lIns="0" rIns="0">
            <a:spAutoFit/>
          </a:bodyPr>
          <a:lstStyle/>
          <a:p>
            <a:pPr>
              <a:defRPr b="1" sz="980">
                <a:solidFill>
                  <a:srgbClr val="D97706"/>
                </a:solidFill>
                <a:latin typeface="Calibri"/>
              </a:defRPr>
            </a:pPr>
            <a:r>
              <a:t>Cải tiến 4: Hàm mất mát Focal-EIoU</a:t>
            </a:r>
          </a:p>
          <a:p>
            <a:pPr>
              <a:spcBef>
                <a:spcPts val="200"/>
              </a:spcBef>
              <a:defRPr sz="830">
                <a:solidFill>
                  <a:srgbClr val="334155"/>
                </a:solidFill>
                <a:latin typeface="Calibri"/>
              </a:defRPr>
            </a:pPr>
            <a:r>
              <a:t>Phân rã độc lập sai số chiều rộng và chiều cao thay vì tỷ lệ khung bao aspect ratio của CIoU, ngăn ngừa triệt tiêu gradient. Kết hợp trọng số tiêu điểm tập trung tối đa cho các mẫu mục tiêu nhỏ khó.</a:t>
            </a:r>
          </a:p>
        </p:txBody>
      </p:sp>
      <p:sp>
        <p:nvSpPr>
          <p:cNvPr id="38" name="Rounded Rectangle 37"/>
          <p:cNvSpPr/>
          <p:nvPr/>
        </p:nvSpPr>
        <p:spPr>
          <a:xfrm>
            <a:off x="731520" y="6035040"/>
            <a:ext cx="10728655" cy="47548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9" name="Rounded Rectangle 38"/>
          <p:cNvSpPr/>
          <p:nvPr/>
        </p:nvSpPr>
        <p:spPr>
          <a:xfrm>
            <a:off x="868680" y="6108192"/>
            <a:ext cx="1097280" cy="3200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ĐÚC KẾT</a:t>
            </a:r>
          </a:p>
        </p:txBody>
      </p:sp>
      <p:sp>
        <p:nvSpPr>
          <p:cNvPr id="40" name="TextBox 39"/>
          <p:cNvSpPr txBox="1"/>
          <p:nvPr/>
        </p:nvSpPr>
        <p:spPr>
          <a:xfrm>
            <a:off x="2057400" y="6053328"/>
            <a:ext cx="9235440" cy="438912"/>
          </a:xfrm>
          <a:prstGeom prst="rect">
            <a:avLst/>
          </a:prstGeom>
          <a:noFill/>
        </p:spPr>
        <p:txBody>
          <a:bodyPr wrap="square" lIns="0" tIns="0" rIns="0" bIns="0">
            <a:spAutoFit/>
          </a:bodyPr>
          <a:lstStyle/>
          <a:p>
            <a:pPr>
              <a:defRPr sz="1050" b="1">
                <a:solidFill>
                  <a:srgbClr val="0F172A"/>
                </a:solidFill>
                <a:latin typeface="Calibri"/>
              </a:defRPr>
            </a:pPr>
            <a:r>
              <a:t>Rep-YOLO11s kết hợp 4 cải tiến toán học giải quyết đồng thời 4 rào cản: Khử báo động sàn, suy luận không độ trễ, tập trung mục tiêu xa và hồi quy hộp chính xác.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 name="TextBox 2"/>
          <p:cNvSpPr txBox="1"/>
          <p:nvPr/>
        </p:nvSpPr>
        <p:spPr>
          <a:xfrm>
            <a:off x="731520" y="320040"/>
            <a:ext cx="8686800" cy="256032"/>
          </a:xfrm>
          <a:prstGeom prst="rect">
            <a:avLst/>
          </a:prstGeom>
          <a:noFill/>
        </p:spPr>
        <p:txBody>
          <a:bodyPr wrap="square" lIns="0" tIns="0" rIns="0" bIns="0">
            <a:spAutoFit/>
          </a:bodyPr>
          <a:lstStyle/>
          <a:p>
            <a:pPr>
              <a:defRPr sz="1000" b="1">
                <a:solidFill>
                  <a:srgbClr val="EA580C"/>
                </a:solidFill>
                <a:latin typeface="Calibri"/>
              </a:defRPr>
            </a:pPr>
            <a:r>
              <a:t>MỤC 7 · TẬP DỮ LIỆU &amp; QUY TRÌNH DATA ENGINEERING</a:t>
            </a:r>
          </a:p>
        </p:txBody>
      </p:sp>
      <p:sp>
        <p:nvSpPr>
          <p:cNvPr id="4" name="TextBox 3"/>
          <p:cNvSpPr txBox="1"/>
          <p:nvPr/>
        </p:nvSpPr>
        <p:spPr>
          <a:xfrm>
            <a:off x="10058400" y="320040"/>
            <a:ext cx="1371600" cy="256032"/>
          </a:xfrm>
          <a:prstGeom prst="rect">
            <a:avLst/>
          </a:prstGeom>
          <a:noFill/>
        </p:spPr>
        <p:txBody>
          <a:bodyPr wrap="none" lIns="0" tIns="0" rIns="0" bIns="0">
            <a:spAutoFit/>
          </a:bodyPr>
          <a:lstStyle/>
          <a:p>
            <a:pPr algn="r">
              <a:defRPr sz="1100">
                <a:solidFill>
                  <a:srgbClr val="64748B"/>
                </a:solidFill>
                <a:latin typeface="Calibri"/>
              </a:defRPr>
            </a:pPr>
            <a:r>
              <a:t>08 / 18</a:t>
            </a:r>
          </a:p>
        </p:txBody>
      </p:sp>
      <p:sp>
        <p:nvSpPr>
          <p:cNvPr id="5" name="TextBox 4"/>
          <p:cNvSpPr txBox="1"/>
          <p:nvPr/>
        </p:nvSpPr>
        <p:spPr>
          <a:xfrm>
            <a:off x="731520" y="594360"/>
            <a:ext cx="10698480" cy="502920"/>
          </a:xfrm>
          <a:prstGeom prst="rect">
            <a:avLst/>
          </a:prstGeom>
          <a:noFill/>
        </p:spPr>
        <p:txBody>
          <a:bodyPr wrap="square" lIns="0" tIns="0" rIns="0" bIns="0">
            <a:spAutoFit/>
          </a:bodyPr>
          <a:lstStyle/>
          <a:p>
            <a:pPr>
              <a:defRPr sz="2000" b="1">
                <a:solidFill>
                  <a:srgbClr val="0F172A"/>
                </a:solidFill>
                <a:latin typeface="Calibri"/>
              </a:defRPr>
            </a:pPr>
            <a:r>
              <a:t>Kỹ thuật Dữ liệu: Làm sạch Dị biệt, Cân bằng Lớp &amp; Chuẩn hóa Không gian Nhãn C*</a:t>
            </a:r>
          </a:p>
        </p:txBody>
      </p:sp>
      <p:sp>
        <p:nvSpPr>
          <p:cNvPr id="6" name="Rounded Rectangle 5"/>
          <p:cNvSpPr/>
          <p:nvPr/>
        </p:nvSpPr>
        <p:spPr>
          <a:xfrm>
            <a:off x="731520" y="1234440"/>
            <a:ext cx="5212080" cy="46177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7" name="Rounded Rectangle 6"/>
          <p:cNvSpPr/>
          <p:nvPr/>
        </p:nvSpPr>
        <p:spPr>
          <a:xfrm>
            <a:off x="914400" y="1371600"/>
            <a:ext cx="384048"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01</a:t>
            </a:r>
          </a:p>
        </p:txBody>
      </p:sp>
      <p:sp>
        <p:nvSpPr>
          <p:cNvPr id="8" name="TextBox 7"/>
          <p:cNvSpPr txBox="1"/>
          <p:nvPr/>
        </p:nvSpPr>
        <p:spPr>
          <a:xfrm>
            <a:off x="1417320" y="1353312"/>
            <a:ext cx="4389120" cy="4389120"/>
          </a:xfrm>
          <a:prstGeom prst="rect">
            <a:avLst/>
          </a:prstGeom>
          <a:noFill/>
        </p:spPr>
        <p:txBody>
          <a:bodyPr wrap="square">
            <a:spAutoFit/>
          </a:bodyPr>
          <a:lstStyle/>
          <a:p>
            <a:pPr>
              <a:defRPr b="1" sz="1250">
                <a:solidFill>
                  <a:srgbClr val="0F172A"/>
                </a:solidFill>
                <a:latin typeface="Calibri"/>
              </a:defRPr>
            </a:pPr>
            <a:r>
              <a:t>Tập Dữ liệu Huấn luyện Trong miền: SHWD (VOC2028)</a:t>
            </a:r>
          </a:p>
          <a:p>
            <a:pPr>
              <a:spcBef>
                <a:spcPts val="350"/>
              </a:spcBef>
              <a:defRPr sz="900">
                <a:solidFill>
                  <a:srgbClr val="334155"/>
                </a:solidFill>
                <a:latin typeface="Calibri"/>
              </a:defRPr>
            </a:pPr>
            <a:r>
              <a:t>• Quy mô &amp; Nguồn gốc: 7,581 ảnh chụp công trường xây dựng thực tế với độ phân giải cao và góc quay camera giám sát đa dạng.</a:t>
            </a:r>
          </a:p>
          <a:p>
            <a:pPr>
              <a:spcBef>
                <a:spcPts val="350"/>
              </a:spcBef>
              <a:defRPr sz="900">
                <a:solidFill>
                  <a:srgbClr val="334155"/>
                </a:solidFill>
                <a:latin typeface="Calibri"/>
              </a:defRPr>
            </a:pPr>
            <a:r>
              <a:t>• Phân chia Chuẩn 80/20: 6,064 ảnh TrainVal và 1,517 ảnh Test độc lập. Gom cụm các khung hình liên tiếp để bảo đảm Zero Data Leakage tuyệt đối.</a:t>
            </a:r>
          </a:p>
          <a:p>
            <a:pPr>
              <a:spcBef>
                <a:spcPts val="350"/>
              </a:spcBef>
              <a:defRPr sz="900">
                <a:solidFill>
                  <a:srgbClr val="334155"/>
                </a:solidFill>
                <a:latin typeface="Calibri"/>
              </a:defRPr>
            </a:pPr>
            <a:r>
              <a:t>• Lọc sạch Dị biệt (Anomaly Cleaning): Phát hiện và thanh lọc triệt để 3 nhãn chú thích XML rác bị gán nhầm thành 'dog' trong tập gốc SHWD.</a:t>
            </a:r>
          </a:p>
          <a:p>
            <a:pPr>
              <a:spcBef>
                <a:spcPts val="350"/>
              </a:spcBef>
              <a:defRPr sz="900">
                <a:solidFill>
                  <a:srgbClr val="334155"/>
                </a:solidFill>
                <a:latin typeface="Calibri"/>
              </a:defRPr>
            </a:pPr>
            <a:r>
              <a:t>• Mất cân bằng Cực đoan 1:12: Gồm 9,044 nhãn mũ bảo hộ ('hat') áp đảo bởi 111,514 nhãn thân người ('person').</a:t>
            </a:r>
          </a:p>
          <a:p>
            <a:pPr>
              <a:spcBef>
                <a:spcPts val="350"/>
              </a:spcBef>
              <a:defRPr sz="900">
                <a:solidFill>
                  <a:srgbClr val="334155"/>
                </a:solidFill>
                <a:latin typeface="Calibri"/>
              </a:defRPr>
            </a:pPr>
            <a:r>
              <a:t>• Chiến lược Khắc phục Mất cân bằng: Áp dụng Focal BCE Loss kết hợp Task-Aligned Assigner (TAL) giúp mô hình tập trung gradient vào mũ bảo hộ mà không làm suy giảm độ chính xác thân người.</a:t>
            </a:r>
          </a:p>
          <a:p>
            <a:pPr>
              <a:spcBef>
                <a:spcPts val="350"/>
              </a:spcBef>
              <a:defRPr sz="900">
                <a:solidFill>
                  <a:srgbClr val="334155"/>
                </a:solidFill>
                <a:latin typeface="Calibri"/>
              </a:defRPr>
            </a:pPr>
            <a:r>
              <a:t>• Data Augmentation Đa quy mô: Mosaic (p=1.0, tắt 10 epoch cuối), Mixup (p=0.15), Random Affine (+-10%), lật ngang ảnh (p=0.5) và HSV Jitter.</a:t>
            </a:r>
          </a:p>
        </p:txBody>
      </p:sp>
      <p:sp>
        <p:nvSpPr>
          <p:cNvPr id="9" name="Rounded Rectangle 8"/>
          <p:cNvSpPr/>
          <p:nvPr/>
        </p:nvSpPr>
        <p:spPr>
          <a:xfrm>
            <a:off x="6217920" y="1234440"/>
            <a:ext cx="5212080" cy="461772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0" name="Rounded Rectangle 9"/>
          <p:cNvSpPr/>
          <p:nvPr/>
        </p:nvSpPr>
        <p:spPr>
          <a:xfrm>
            <a:off x="6400800" y="1371600"/>
            <a:ext cx="384048" cy="29260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02</a:t>
            </a:r>
          </a:p>
        </p:txBody>
      </p:sp>
      <p:sp>
        <p:nvSpPr>
          <p:cNvPr id="11" name="TextBox 10"/>
          <p:cNvSpPr txBox="1"/>
          <p:nvPr/>
        </p:nvSpPr>
        <p:spPr>
          <a:xfrm>
            <a:off x="6903720" y="1353312"/>
            <a:ext cx="4389120" cy="4389120"/>
          </a:xfrm>
          <a:prstGeom prst="rect">
            <a:avLst/>
          </a:prstGeom>
          <a:noFill/>
        </p:spPr>
        <p:txBody>
          <a:bodyPr wrap="square">
            <a:spAutoFit/>
          </a:bodyPr>
          <a:lstStyle/>
          <a:p>
            <a:pPr>
              <a:defRPr b="1" sz="1250">
                <a:solidFill>
                  <a:srgbClr val="0F172A"/>
                </a:solidFill>
                <a:latin typeface="Calibri"/>
              </a:defRPr>
            </a:pPr>
            <a:r>
              <a:t>5 Tập Dữ liệu Mở rộng &amp; Chuẩn hóa Không gian Nhãn C*</a:t>
            </a:r>
          </a:p>
          <a:p>
            <a:pPr>
              <a:spcBef>
                <a:spcPts val="350"/>
              </a:spcBef>
              <a:defRPr sz="900">
                <a:solidFill>
                  <a:srgbClr val="334155"/>
                </a:solidFill>
                <a:latin typeface="Calibri"/>
              </a:defRPr>
            </a:pPr>
            <a:r>
              <a:t>• GDUT-HWD (13,499 ảnh): Môi trường công nhân cực kỳ đông đúc (15–30 người/khung hình) với mật độ che khuất lẫn nhau dày đặc.</a:t>
            </a:r>
          </a:p>
          <a:p>
            <a:pPr>
              <a:spcBef>
                <a:spcPts val="350"/>
              </a:spcBef>
              <a:defRPr sz="900">
                <a:solidFill>
                  <a:srgbClr val="334155"/>
                </a:solidFill>
                <a:latin typeface="Calibri"/>
              </a:defRPr>
            </a:pPr>
            <a:r>
              <a:t>• SHEL5K (5,000 ảnh): Góc nhìn camera quan sát CCTV góc cao, bao quát từ trên xuống với thách thức che khuất đa quy mô và tính đa nghĩa nhãn.</a:t>
            </a:r>
          </a:p>
          <a:p>
            <a:pPr>
              <a:spcBef>
                <a:spcPts val="350"/>
              </a:spcBef>
              <a:defRPr sz="900">
                <a:solidFill>
                  <a:srgbClr val="334155"/>
                </a:solidFill>
                <a:latin typeface="Calibri"/>
              </a:defRPr>
            </a:pPr>
            <a:r>
              <a:t>• Hard Hat Workers (7,000 ảnh): Công trường xây dựng ngoài trời với độ tương phản ánh sáng gắt và bóng đổ phức tạp.</a:t>
            </a:r>
          </a:p>
          <a:p>
            <a:pPr>
              <a:spcBef>
                <a:spcPts val="350"/>
              </a:spcBef>
              <a:defRPr sz="900">
                <a:solidFill>
                  <a:srgbClr val="334155"/>
                </a:solidFill>
                <a:latin typeface="Calibri"/>
              </a:defRPr>
            </a:pPr>
            <a:r>
              <a:t>• SHD &amp; SFCHD Benchmark: Nhà máy luyện kim, xưởng đóng tàu và tổ hợp hóa dầu với bụi bẩn và ánh sáng nhân tạo yếu.</a:t>
            </a:r>
          </a:p>
          <a:p>
            <a:pPr>
              <a:spcBef>
                <a:spcPts val="350"/>
              </a:spcBef>
              <a:defRPr sz="900">
                <a:solidFill>
                  <a:srgbClr val="334155"/>
                </a:solidFill>
                <a:latin typeface="Calibri"/>
              </a:defRPr>
            </a:pPr>
            <a:r>
              <a:t>• Chuẩn hóa Nhãn Chung C*: Đồng bộ hóa các quy ước gán nhãn xung đột về một không gian nhãn thống nhất: C* = {0: 'hat' (Mũ bảo hộ), 1: 'person' (Người lao động)}.</a:t>
            </a:r>
          </a:p>
          <a:p>
            <a:pPr>
              <a:spcBef>
                <a:spcPts val="350"/>
              </a:spcBef>
              <a:defRPr sz="900">
                <a:solidFill>
                  <a:srgbClr val="334155"/>
                </a:solidFill>
                <a:latin typeface="Calibri"/>
              </a:defRPr>
            </a:pPr>
            <a:r>
              <a:t>• Ý nghĩa Khoa học: Đảm bảo khả năng chuyển giao tổng quát hóa Zero-Shot vững chắc trên mọi hệ thống camera công trường thực tế chưa từng thấy khi huấn luyện.</a:t>
            </a:r>
          </a:p>
        </p:txBody>
      </p:sp>
      <p:sp>
        <p:nvSpPr>
          <p:cNvPr id="12" name="Rounded Rectangle 11"/>
          <p:cNvSpPr/>
          <p:nvPr/>
        </p:nvSpPr>
        <p:spPr>
          <a:xfrm>
            <a:off x="731520" y="6035040"/>
            <a:ext cx="10728655" cy="47548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3" name="Rounded Rectangle 12"/>
          <p:cNvSpPr/>
          <p:nvPr/>
        </p:nvSpPr>
        <p:spPr>
          <a:xfrm>
            <a:off x="868680" y="6108192"/>
            <a:ext cx="1097280" cy="3200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ĐÚC KẾT</a:t>
            </a:r>
          </a:p>
        </p:txBody>
      </p:sp>
      <p:sp>
        <p:nvSpPr>
          <p:cNvPr id="14" name="TextBox 13"/>
          <p:cNvSpPr txBox="1"/>
          <p:nvPr/>
        </p:nvSpPr>
        <p:spPr>
          <a:xfrm>
            <a:off x="2057400" y="6053328"/>
            <a:ext cx="9235440" cy="438912"/>
          </a:xfrm>
          <a:prstGeom prst="rect">
            <a:avLst/>
          </a:prstGeom>
          <a:noFill/>
        </p:spPr>
        <p:txBody>
          <a:bodyPr wrap="square" lIns="0" tIns="0" rIns="0" bIns="0">
            <a:spAutoFit/>
          </a:bodyPr>
          <a:lstStyle/>
          <a:p>
            <a:pPr>
              <a:defRPr sz="1050" b="1">
                <a:solidFill>
                  <a:srgbClr val="0F172A"/>
                </a:solidFill>
                <a:latin typeface="Calibri"/>
              </a:defRPr>
            </a:pPr>
            <a:r>
              <a:t>Quy trình tiền xử lý nghiêm ngặt loại bỏ rò rỉ dữ liệu, khử nhãn rác, cân bằng tỉ lệ 1:12 và đồng bộ nhãn C* trên hơn 25,000 ảnh đa miền.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 name="TextBox 2"/>
          <p:cNvSpPr txBox="1"/>
          <p:nvPr/>
        </p:nvSpPr>
        <p:spPr>
          <a:xfrm>
            <a:off x="731520" y="320040"/>
            <a:ext cx="8686800" cy="256032"/>
          </a:xfrm>
          <a:prstGeom prst="rect">
            <a:avLst/>
          </a:prstGeom>
          <a:noFill/>
        </p:spPr>
        <p:txBody>
          <a:bodyPr wrap="square" lIns="0" tIns="0" rIns="0" bIns="0">
            <a:spAutoFit/>
          </a:bodyPr>
          <a:lstStyle/>
          <a:p>
            <a:pPr>
              <a:defRPr sz="1000" b="1">
                <a:solidFill>
                  <a:srgbClr val="EA580C"/>
                </a:solidFill>
                <a:latin typeface="Calibri"/>
              </a:defRPr>
            </a:pPr>
            <a:r>
              <a:t>MỤC 8 · CHIẾN LƯỢC ĐÁNH GIÁ (EVALUATION STRATEGY)</a:t>
            </a:r>
          </a:p>
        </p:txBody>
      </p:sp>
      <p:sp>
        <p:nvSpPr>
          <p:cNvPr id="4" name="TextBox 3"/>
          <p:cNvSpPr txBox="1"/>
          <p:nvPr/>
        </p:nvSpPr>
        <p:spPr>
          <a:xfrm>
            <a:off x="10058400" y="320040"/>
            <a:ext cx="1371600" cy="256032"/>
          </a:xfrm>
          <a:prstGeom prst="rect">
            <a:avLst/>
          </a:prstGeom>
          <a:noFill/>
        </p:spPr>
        <p:txBody>
          <a:bodyPr wrap="none" lIns="0" tIns="0" rIns="0" bIns="0">
            <a:spAutoFit/>
          </a:bodyPr>
          <a:lstStyle/>
          <a:p>
            <a:pPr algn="r">
              <a:defRPr sz="1100">
                <a:solidFill>
                  <a:srgbClr val="64748B"/>
                </a:solidFill>
                <a:latin typeface="Calibri"/>
              </a:defRPr>
            </a:pPr>
            <a:r>
              <a:t>09 / 18</a:t>
            </a:r>
          </a:p>
        </p:txBody>
      </p:sp>
      <p:sp>
        <p:nvSpPr>
          <p:cNvPr id="5" name="TextBox 4"/>
          <p:cNvSpPr txBox="1"/>
          <p:nvPr/>
        </p:nvSpPr>
        <p:spPr>
          <a:xfrm>
            <a:off x="731520" y="594360"/>
            <a:ext cx="10698480" cy="502920"/>
          </a:xfrm>
          <a:prstGeom prst="rect">
            <a:avLst/>
          </a:prstGeom>
          <a:noFill/>
        </p:spPr>
        <p:txBody>
          <a:bodyPr wrap="square" lIns="0" tIns="0" rIns="0" bIns="0">
            <a:spAutoFit/>
          </a:bodyPr>
          <a:lstStyle/>
          <a:p>
            <a:pPr>
              <a:defRPr sz="2000" b="1">
                <a:solidFill>
                  <a:srgbClr val="0F172A"/>
                </a:solidFill>
                <a:latin typeface="Calibri"/>
              </a:defRPr>
            </a:pPr>
            <a:r>
              <a:t>Chiến lược Đánh giá Đa chỉ số &amp; Nguyên tắc Ưu tiên Recall Sinh mạng</a:t>
            </a:r>
          </a:p>
        </p:txBody>
      </p:sp>
      <p:sp>
        <p:nvSpPr>
          <p:cNvPr id="6" name="Rounded Rectangle 5"/>
          <p:cNvSpPr/>
          <p:nvPr/>
        </p:nvSpPr>
        <p:spPr>
          <a:xfrm>
            <a:off x="731520" y="123444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7" name="Rounded Rectangle 6"/>
          <p:cNvSpPr/>
          <p:nvPr/>
        </p:nvSpPr>
        <p:spPr>
          <a:xfrm>
            <a:off x="914400" y="1371600"/>
            <a:ext cx="384048"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01</a:t>
            </a:r>
          </a:p>
        </p:txBody>
      </p:sp>
      <p:sp>
        <p:nvSpPr>
          <p:cNvPr id="8" name="TextBox 7"/>
          <p:cNvSpPr txBox="1"/>
          <p:nvPr/>
        </p:nvSpPr>
        <p:spPr>
          <a:xfrm>
            <a:off x="1417320" y="1353312"/>
            <a:ext cx="4343400" cy="2011680"/>
          </a:xfrm>
          <a:prstGeom prst="rect">
            <a:avLst/>
          </a:prstGeom>
          <a:noFill/>
        </p:spPr>
        <p:txBody>
          <a:bodyPr wrap="square">
            <a:spAutoFit/>
          </a:bodyPr>
          <a:lstStyle/>
          <a:p>
            <a:pPr>
              <a:defRPr b="1" sz="1150">
                <a:solidFill>
                  <a:srgbClr val="0F172A"/>
                </a:solidFill>
                <a:latin typeface="Calibri"/>
              </a:defRPr>
            </a:pPr>
            <a:r>
              <a:t>Các Chỉ số Nhận diện &amp; Định vị Cốt lõi</a:t>
            </a:r>
          </a:p>
          <a:p>
            <a:pPr>
              <a:spcBef>
                <a:spcPts val="250"/>
              </a:spcBef>
              <a:defRPr sz="880">
                <a:solidFill>
                  <a:srgbClr val="334155"/>
                </a:solidFill>
                <a:latin typeface="Calibri"/>
              </a:defRPr>
            </a:pPr>
            <a:r>
              <a:t>• mAP50 (Thước đo Chuẩn mực): Đo lường độ chính xác phát hiện tổng thể tại ngưỡng IoU 0.50.</a:t>
            </a:r>
          </a:p>
          <a:p>
            <a:pPr>
              <a:spcBef>
                <a:spcPts val="250"/>
              </a:spcBef>
              <a:defRPr sz="880">
                <a:solidFill>
                  <a:srgbClr val="334155"/>
                </a:solidFill>
                <a:latin typeface="Calibri"/>
              </a:defRPr>
            </a:pPr>
            <a:r>
              <a:t>• mAP50-95 (Độ ôm khít Khung bao): Trung bình nghiêm ngặt qua 10 bước IoU [0.50:0.05:0.95], phạt nặng các khung bao xộc xệch hoặc lệch tâm.</a:t>
            </a:r>
          </a:p>
          <a:p>
            <a:pPr>
              <a:spcBef>
                <a:spcPts val="250"/>
              </a:spcBef>
              <a:defRPr sz="880">
                <a:solidFill>
                  <a:srgbClr val="334155"/>
                </a:solidFill>
                <a:latin typeface="Calibri"/>
              </a:defRPr>
            </a:pPr>
            <a:r>
              <a:t>• Precision &amp; F1-Score: Đánh giá sự cân bằng giữa phát hiện chính xác và hạn chế báo động nhầm.</a:t>
            </a:r>
          </a:p>
          <a:p>
            <a:pPr>
              <a:spcBef>
                <a:spcPts val="250"/>
              </a:spcBef>
              <a:defRPr sz="880">
                <a:solidFill>
                  <a:srgbClr val="334155"/>
                </a:solidFill>
                <a:latin typeface="Calibri"/>
              </a:defRPr>
            </a:pPr>
            <a:r>
              <a:t>• Ràng buộc Thời gian thực: Đảm bảo độ trễ suy luận đáp ứng luồng video mượt mà &gt;25 FPS.</a:t>
            </a:r>
          </a:p>
        </p:txBody>
      </p:sp>
      <p:sp>
        <p:nvSpPr>
          <p:cNvPr id="9" name="Rounded Rectangle 8"/>
          <p:cNvSpPr/>
          <p:nvPr/>
        </p:nvSpPr>
        <p:spPr>
          <a:xfrm>
            <a:off x="6217920" y="123444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0" name="Rounded Rectangle 9"/>
          <p:cNvSpPr/>
          <p:nvPr/>
        </p:nvSpPr>
        <p:spPr>
          <a:xfrm>
            <a:off x="6400800" y="1371600"/>
            <a:ext cx="384048" cy="29260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02</a:t>
            </a:r>
          </a:p>
        </p:txBody>
      </p:sp>
      <p:sp>
        <p:nvSpPr>
          <p:cNvPr id="11" name="TextBox 10"/>
          <p:cNvSpPr txBox="1"/>
          <p:nvPr/>
        </p:nvSpPr>
        <p:spPr>
          <a:xfrm>
            <a:off x="6903720" y="1353312"/>
            <a:ext cx="4343400" cy="2011680"/>
          </a:xfrm>
          <a:prstGeom prst="rect">
            <a:avLst/>
          </a:prstGeom>
          <a:noFill/>
        </p:spPr>
        <p:txBody>
          <a:bodyPr wrap="square">
            <a:spAutoFit/>
          </a:bodyPr>
          <a:lstStyle/>
          <a:p>
            <a:pPr>
              <a:defRPr b="1" sz="1150">
                <a:solidFill>
                  <a:srgbClr val="0F172A"/>
                </a:solidFill>
                <a:latin typeface="Calibri"/>
              </a:defRPr>
            </a:pPr>
            <a:r>
              <a:t>Ưu tiên Sinh mạng: Recall Quan trọng hơn Precision</a:t>
            </a:r>
          </a:p>
          <a:p>
            <a:pPr>
              <a:spcBef>
                <a:spcPts val="250"/>
              </a:spcBef>
              <a:defRPr sz="880">
                <a:solidFill>
                  <a:srgbClr val="334155"/>
                </a:solidFill>
                <a:latin typeface="Calibri"/>
              </a:defRPr>
            </a:pPr>
            <a:r>
              <a:t>• Đặc thù An toàn Lao động: Bỏ sót một công nhân không đội mũ là nguy cơ tử vong không thể cứu vãn.</a:t>
            </a:r>
          </a:p>
          <a:p>
            <a:pPr>
              <a:spcBef>
                <a:spcPts val="250"/>
              </a:spcBef>
              <a:defRPr sz="880">
                <a:solidFill>
                  <a:srgbClr val="334155"/>
                </a:solidFill>
                <a:latin typeface="Calibri"/>
              </a:defRPr>
            </a:pPr>
            <a:r>
              <a:t>• Phân tích Chi phí Sai số Không đối xứng: Cảnh báo thừa (False Alarm) chỉ mất 2 giây kiểm tra; Bỏ sót (False Negative) đánh đổi bằng tính mạng con người.</a:t>
            </a:r>
          </a:p>
          <a:p>
            <a:pPr>
              <a:spcBef>
                <a:spcPts val="250"/>
              </a:spcBef>
              <a:defRPr sz="880">
                <a:solidFill>
                  <a:srgbClr val="334155"/>
                </a:solidFill>
                <a:latin typeface="Calibri"/>
              </a:defRPr>
            </a:pPr>
            <a:r>
              <a:t>• Ngưỡng Tối ưu hóa: Tinh chỉnh hàm mất mát để tối đa hóa Recallhat (&gt;91%) mà vẫn giữ vững mAP50.</a:t>
            </a:r>
          </a:p>
          <a:p>
            <a:pPr>
              <a:spcBef>
                <a:spcPts val="250"/>
              </a:spcBef>
              <a:defRPr sz="880">
                <a:solidFill>
                  <a:srgbClr val="334155"/>
                </a:solidFill>
                <a:latin typeface="Calibri"/>
              </a:defRPr>
            </a:pPr>
            <a:r>
              <a:t>• Mục tiêu Cứu sinh: Mô hình được thiết kế hướng tới sứ mệnh bảo vệ an toàn tối đa cho công nhân.</a:t>
            </a:r>
          </a:p>
        </p:txBody>
      </p:sp>
      <p:sp>
        <p:nvSpPr>
          <p:cNvPr id="12" name="Rounded Rectangle 11"/>
          <p:cNvSpPr/>
          <p:nvPr/>
        </p:nvSpPr>
        <p:spPr>
          <a:xfrm>
            <a:off x="731520" y="36118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3" name="Rounded Rectangle 12"/>
          <p:cNvSpPr/>
          <p:nvPr/>
        </p:nvSpPr>
        <p:spPr>
          <a:xfrm>
            <a:off x="914400" y="3749040"/>
            <a:ext cx="384048" cy="29260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03</a:t>
            </a:r>
          </a:p>
        </p:txBody>
      </p:sp>
      <p:sp>
        <p:nvSpPr>
          <p:cNvPr id="14" name="TextBox 13"/>
          <p:cNvSpPr txBox="1"/>
          <p:nvPr/>
        </p:nvSpPr>
        <p:spPr>
          <a:xfrm>
            <a:off x="1417320" y="3730752"/>
            <a:ext cx="4343400" cy="2011680"/>
          </a:xfrm>
          <a:prstGeom prst="rect">
            <a:avLst/>
          </a:prstGeom>
          <a:noFill/>
        </p:spPr>
        <p:txBody>
          <a:bodyPr wrap="square">
            <a:spAutoFit/>
          </a:bodyPr>
          <a:lstStyle/>
          <a:p>
            <a:pPr>
              <a:defRPr b="1" sz="1150">
                <a:solidFill>
                  <a:srgbClr val="0F172A"/>
                </a:solidFill>
                <a:latin typeface="Calibri"/>
              </a:defRPr>
            </a:pPr>
            <a:r>
              <a:t>Kiểm định Chéo 5 Lớp (5-Fold Stratified CV)</a:t>
            </a:r>
          </a:p>
          <a:p>
            <a:pPr>
              <a:spcBef>
                <a:spcPts val="250"/>
              </a:spcBef>
              <a:defRPr sz="880">
                <a:solidFill>
                  <a:srgbClr val="334155"/>
                </a:solidFill>
                <a:latin typeface="Calibri"/>
              </a:defRPr>
            </a:pPr>
            <a:r>
              <a:t>• Phân chia Đồng đều 5 Fold: Bảo đảm tỉ lệ nhãn 1:12.33 không bị lệch lạc giữa các fold.</a:t>
            </a:r>
          </a:p>
          <a:p>
            <a:pPr>
              <a:spcBef>
                <a:spcPts val="250"/>
              </a:spcBef>
              <a:defRPr sz="880">
                <a:solidFill>
                  <a:srgbClr val="334155"/>
                </a:solidFill>
                <a:latin typeface="Calibri"/>
              </a:defRPr>
            </a:pPr>
            <a:r>
              <a:t>• Loại trừ May rủi Dữ liệu: Đánh giá mô hình trên 5 lần phân chia độc lập để tránh hiện tượng cherry-picking.</a:t>
            </a:r>
          </a:p>
          <a:p>
            <a:pPr>
              <a:spcBef>
                <a:spcPts val="250"/>
              </a:spcBef>
              <a:defRPr sz="880">
                <a:solidFill>
                  <a:srgbClr val="334155"/>
                </a:solidFill>
                <a:latin typeface="Calibri"/>
              </a:defRPr>
            </a:pPr>
            <a:r>
              <a:t>• Báo cáo Trung bình &amp; Độ lệch chuẩn: Trình bày số liệu dạng mu +- sigma khẳng định tính tin cậy khoa học.</a:t>
            </a:r>
          </a:p>
          <a:p>
            <a:pPr>
              <a:spcBef>
                <a:spcPts val="250"/>
              </a:spcBef>
              <a:defRPr sz="880">
                <a:solidFill>
                  <a:srgbClr val="334155"/>
                </a:solidFill>
                <a:latin typeface="Calibri"/>
              </a:defRPr>
            </a:pPr>
            <a:r>
              <a:t>• Thống kê Vững chắc: Đạt 96.64% mAP50 (+-0.32%) chứng minh sự ổn định tuyệt đối của kiến trúc.</a:t>
            </a:r>
          </a:p>
        </p:txBody>
      </p:sp>
      <p:sp>
        <p:nvSpPr>
          <p:cNvPr id="15" name="Rounded Rectangle 14"/>
          <p:cNvSpPr/>
          <p:nvPr/>
        </p:nvSpPr>
        <p:spPr>
          <a:xfrm>
            <a:off x="6217920" y="36118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6" name="Rounded Rectangle 15"/>
          <p:cNvSpPr/>
          <p:nvPr/>
        </p:nvSpPr>
        <p:spPr>
          <a:xfrm>
            <a:off x="6400800" y="3749040"/>
            <a:ext cx="384048" cy="292608"/>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04</a:t>
            </a:r>
          </a:p>
        </p:txBody>
      </p:sp>
      <p:sp>
        <p:nvSpPr>
          <p:cNvPr id="17" name="TextBox 16"/>
          <p:cNvSpPr txBox="1"/>
          <p:nvPr/>
        </p:nvSpPr>
        <p:spPr>
          <a:xfrm>
            <a:off x="6903720" y="3730752"/>
            <a:ext cx="4343400" cy="2011680"/>
          </a:xfrm>
          <a:prstGeom prst="rect">
            <a:avLst/>
          </a:prstGeom>
          <a:noFill/>
        </p:spPr>
        <p:txBody>
          <a:bodyPr wrap="square">
            <a:spAutoFit/>
          </a:bodyPr>
          <a:lstStyle/>
          <a:p>
            <a:pPr>
              <a:defRPr b="1" sz="1150">
                <a:solidFill>
                  <a:srgbClr val="0F172A"/>
                </a:solidFill>
                <a:latin typeface="Calibri"/>
              </a:defRPr>
            </a:pPr>
            <a:r>
              <a:t>Minh bạch Mô hình &amp; Trích xuất Nhiệt XAI (Grad-CAM)</a:t>
            </a:r>
          </a:p>
          <a:p>
            <a:pPr>
              <a:spcBef>
                <a:spcPts val="250"/>
              </a:spcBef>
              <a:defRPr sz="880">
                <a:solidFill>
                  <a:srgbClr val="334155"/>
                </a:solidFill>
                <a:latin typeface="Calibri"/>
              </a:defRPr>
            </a:pPr>
            <a:r>
              <a:t>• Trích xuất Gradient Tầng Cổ (Neck): Quan sát trực quan vùng trọng tâm kích hoạt của mạng nơ-ron.</a:t>
            </a:r>
          </a:p>
          <a:p>
            <a:pPr>
              <a:spcBef>
                <a:spcPts val="250"/>
              </a:spcBef>
              <a:defRPr sz="880">
                <a:solidFill>
                  <a:srgbClr val="334155"/>
                </a:solidFill>
                <a:latin typeface="Calibri"/>
              </a:defRPr>
            </a:pPr>
            <a:r>
              <a:t>• Khử Nhiễu Bối cảnh: Kiểm chứng mô hình tập trung vào chỏm đầu công nhân thay vì bị đánh lừa bởi áo phản quang hay xô vữa dưới sàn.</a:t>
            </a:r>
          </a:p>
          <a:p>
            <a:pPr>
              <a:spcBef>
                <a:spcPts val="250"/>
              </a:spcBef>
              <a:defRPr sz="880">
                <a:solidFill>
                  <a:srgbClr val="334155"/>
                </a:solidFill>
                <a:latin typeface="Calibri"/>
              </a:defRPr>
            </a:pPr>
            <a:r>
              <a:t>• Phân tích Sai số Trực quan: Khoanh vùng chính xác các trường hợp dự đoán sai để làm sáng tỏ bản chất bài toán.</a:t>
            </a:r>
          </a:p>
          <a:p>
            <a:pPr>
              <a:spcBef>
                <a:spcPts val="250"/>
              </a:spcBef>
              <a:defRPr sz="880">
                <a:solidFill>
                  <a:srgbClr val="334155"/>
                </a:solidFill>
                <a:latin typeface="Calibri"/>
              </a:defRPr>
            </a:pPr>
            <a:r>
              <a:t>• Minh bạch Học thuật Tuyệt đối: Đảm bảo mô hình có thể giải thích được trước Hội đồng Đánh giá.</a:t>
            </a:r>
          </a:p>
        </p:txBody>
      </p:sp>
      <p:sp>
        <p:nvSpPr>
          <p:cNvPr id="18" name="Rounded Rectangle 17"/>
          <p:cNvSpPr/>
          <p:nvPr/>
        </p:nvSpPr>
        <p:spPr>
          <a:xfrm>
            <a:off x="731520" y="6035040"/>
            <a:ext cx="10728655" cy="47548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9" name="Rounded Rectangle 18"/>
          <p:cNvSpPr/>
          <p:nvPr/>
        </p:nvSpPr>
        <p:spPr>
          <a:xfrm>
            <a:off x="868680" y="6108192"/>
            <a:ext cx="1097280" cy="3200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ĐÚC KẾT</a:t>
            </a:r>
          </a:p>
        </p:txBody>
      </p:sp>
      <p:sp>
        <p:nvSpPr>
          <p:cNvPr id="20" name="TextBox 19"/>
          <p:cNvSpPr txBox="1"/>
          <p:nvPr/>
        </p:nvSpPr>
        <p:spPr>
          <a:xfrm>
            <a:off x="2057400" y="6053328"/>
            <a:ext cx="9235440" cy="438912"/>
          </a:xfrm>
          <a:prstGeom prst="rect">
            <a:avLst/>
          </a:prstGeom>
          <a:noFill/>
        </p:spPr>
        <p:txBody>
          <a:bodyPr wrap="square" lIns="0" tIns="0" rIns="0" bIns="0">
            <a:spAutoFit/>
          </a:bodyPr>
          <a:lstStyle/>
          <a:p>
            <a:pPr>
              <a:defRPr sz="1050" b="1">
                <a:solidFill>
                  <a:srgbClr val="0F172A"/>
                </a:solidFill>
                <a:latin typeface="Calibri"/>
              </a:defRPr>
            </a:pPr>
            <a:r>
              <a:t>Chiến lược đánh giá toàn diện ưu tiên bảo vệ sinh mạng công nhân, kết hợp kiểm định thống kê 5-Fold và giải thích trực quan bằng Grad-CAM.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 name="TextBox 2"/>
          <p:cNvSpPr txBox="1"/>
          <p:nvPr/>
        </p:nvSpPr>
        <p:spPr>
          <a:xfrm>
            <a:off x="731520" y="320040"/>
            <a:ext cx="8686800" cy="256032"/>
          </a:xfrm>
          <a:prstGeom prst="rect">
            <a:avLst/>
          </a:prstGeom>
          <a:noFill/>
        </p:spPr>
        <p:txBody>
          <a:bodyPr wrap="square" lIns="0" tIns="0" rIns="0" bIns="0">
            <a:spAutoFit/>
          </a:bodyPr>
          <a:lstStyle/>
          <a:p>
            <a:pPr>
              <a:defRPr sz="1000" b="1">
                <a:solidFill>
                  <a:srgbClr val="EA580C"/>
                </a:solidFill>
                <a:latin typeface="Calibri"/>
              </a:defRPr>
            </a:pPr>
            <a:r>
              <a:t>MỤC 9 · KẾ HOẠCH THỰC HIỆN KHÓA LUẬN (PROJECT PLAN)</a:t>
            </a:r>
          </a:p>
        </p:txBody>
      </p:sp>
      <p:sp>
        <p:nvSpPr>
          <p:cNvPr id="4" name="TextBox 3"/>
          <p:cNvSpPr txBox="1"/>
          <p:nvPr/>
        </p:nvSpPr>
        <p:spPr>
          <a:xfrm>
            <a:off x="10058400" y="320040"/>
            <a:ext cx="1371600" cy="256032"/>
          </a:xfrm>
          <a:prstGeom prst="rect">
            <a:avLst/>
          </a:prstGeom>
          <a:noFill/>
        </p:spPr>
        <p:txBody>
          <a:bodyPr wrap="none" lIns="0" tIns="0" rIns="0" bIns="0">
            <a:spAutoFit/>
          </a:bodyPr>
          <a:lstStyle/>
          <a:p>
            <a:pPr algn="r">
              <a:defRPr sz="1100">
                <a:solidFill>
                  <a:srgbClr val="64748B"/>
                </a:solidFill>
                <a:latin typeface="Calibri"/>
              </a:defRPr>
            </a:pPr>
            <a:r>
              <a:t>10 / 18</a:t>
            </a:r>
          </a:p>
        </p:txBody>
      </p:sp>
      <p:sp>
        <p:nvSpPr>
          <p:cNvPr id="5" name="TextBox 4"/>
          <p:cNvSpPr txBox="1"/>
          <p:nvPr/>
        </p:nvSpPr>
        <p:spPr>
          <a:xfrm>
            <a:off x="731520" y="594360"/>
            <a:ext cx="10698480" cy="502920"/>
          </a:xfrm>
          <a:prstGeom prst="rect">
            <a:avLst/>
          </a:prstGeom>
          <a:noFill/>
        </p:spPr>
        <p:txBody>
          <a:bodyPr wrap="square" lIns="0" tIns="0" rIns="0" bIns="0">
            <a:spAutoFit/>
          </a:bodyPr>
          <a:lstStyle/>
          <a:p>
            <a:pPr>
              <a:defRPr sz="2000" b="1">
                <a:solidFill>
                  <a:srgbClr val="0F172A"/>
                </a:solidFill>
                <a:latin typeface="Calibri"/>
              </a:defRPr>
            </a:pPr>
            <a:r>
              <a:t>Kế hoạch Triển khai Khóa luận &amp; Biểu đồ Mốc tiến độ Gantt (W1 - W15)</a:t>
            </a:r>
          </a:p>
        </p:txBody>
      </p:sp>
      <p:sp>
        <p:nvSpPr>
          <p:cNvPr id="6" name="Rounded Rectangle 5"/>
          <p:cNvSpPr/>
          <p:nvPr/>
        </p:nvSpPr>
        <p:spPr>
          <a:xfrm>
            <a:off x="731520" y="1234440"/>
            <a:ext cx="2487168"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7" name="Rounded Rectangle 6"/>
          <p:cNvSpPr/>
          <p:nvPr/>
        </p:nvSpPr>
        <p:spPr>
          <a:xfrm>
            <a:off x="841248" y="1353312"/>
            <a:ext cx="2267712"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950" b="1">
                <a:solidFill>
                  <a:srgbClr val="FFFFFF"/>
                </a:solidFill>
                <a:latin typeface="Calibri"/>
              </a:defRPr>
            </a:pPr>
            <a:r>
              <a:t>Giai đoạn 1 (Tuần 1-5)</a:t>
            </a:r>
          </a:p>
        </p:txBody>
      </p:sp>
      <p:sp>
        <p:nvSpPr>
          <p:cNvPr id="8" name="TextBox 7"/>
          <p:cNvSpPr txBox="1"/>
          <p:nvPr/>
        </p:nvSpPr>
        <p:spPr>
          <a:xfrm>
            <a:off x="841248" y="1719072"/>
            <a:ext cx="2267712" cy="2697480"/>
          </a:xfrm>
          <a:prstGeom prst="rect">
            <a:avLst/>
          </a:prstGeom>
          <a:noFill/>
        </p:spPr>
        <p:txBody>
          <a:bodyPr wrap="square">
            <a:spAutoFit/>
          </a:bodyPr>
          <a:lstStyle/>
          <a:p>
            <a:pPr>
              <a:defRPr b="1" sz="1050">
                <a:solidFill>
                  <a:srgbClr val="0F172A"/>
                </a:solidFill>
                <a:latin typeface="Calibri"/>
              </a:defRPr>
            </a:pPr>
            <a:r>
              <a:t>Nền tảng &amp; Báo cáo Review 1</a:t>
            </a:r>
          </a:p>
          <a:p>
            <a:pPr>
              <a:spcBef>
                <a:spcPts val="250"/>
              </a:spcBef>
              <a:defRPr sz="840">
                <a:solidFill>
                  <a:srgbClr val="334155"/>
                </a:solidFill>
                <a:latin typeface="Calibri"/>
              </a:defRPr>
            </a:pPr>
            <a:r>
              <a:t>• Khảo sát 30 nghiên cứu quốc tế, xác định RQ &amp; Research Gap.</a:t>
            </a:r>
          </a:p>
          <a:p>
            <a:pPr>
              <a:spcBef>
                <a:spcPts val="250"/>
              </a:spcBef>
              <a:defRPr sz="840">
                <a:solidFill>
                  <a:srgbClr val="334155"/>
                </a:solidFill>
                <a:latin typeface="Calibri"/>
              </a:defRPr>
            </a:pPr>
            <a:r>
              <a:t>• Làm sạch tập dữ liệu SHWD, khử nhãn rác dog, đồng bộ nhãn C*.</a:t>
            </a:r>
          </a:p>
          <a:p>
            <a:pPr>
              <a:spcBef>
                <a:spcPts val="250"/>
              </a:spcBef>
              <a:defRPr sz="840">
                <a:solidFill>
                  <a:srgbClr val="334155"/>
                </a:solidFill>
                <a:latin typeface="Calibri"/>
              </a:defRPr>
            </a:pPr>
            <a:r>
              <a:t>• Thiết lập các mô hình mốc chuẩn SOTA: YOLOv8s, YOLO11s.</a:t>
            </a:r>
          </a:p>
          <a:p>
            <a:pPr>
              <a:spcBef>
                <a:spcPts val="250"/>
              </a:spcBef>
              <a:defRPr sz="840">
                <a:solidFill>
                  <a:srgbClr val="334155"/>
                </a:solidFill>
                <a:latin typeface="Calibri"/>
              </a:defRPr>
            </a:pPr>
            <a:r>
              <a:t>• Sản phẩm: Slide &amp; Báo cáo Review 1, Tập dữ liệu chuẩn hóa.</a:t>
            </a:r>
          </a:p>
        </p:txBody>
      </p:sp>
      <p:sp>
        <p:nvSpPr>
          <p:cNvPr id="9" name="Rounded Rectangle 8"/>
          <p:cNvSpPr/>
          <p:nvPr/>
        </p:nvSpPr>
        <p:spPr>
          <a:xfrm>
            <a:off x="3474720" y="1234440"/>
            <a:ext cx="2487168"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0" name="Rounded Rectangle 9"/>
          <p:cNvSpPr/>
          <p:nvPr/>
        </p:nvSpPr>
        <p:spPr>
          <a:xfrm>
            <a:off x="3584448" y="1353312"/>
            <a:ext cx="2267712" cy="29260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950" b="1">
                <a:solidFill>
                  <a:srgbClr val="FFFFFF"/>
                </a:solidFill>
                <a:latin typeface="Calibri"/>
              </a:defRPr>
            </a:pPr>
            <a:r>
              <a:t>Giai đoạn 2 (Tuần 6-8)</a:t>
            </a:r>
          </a:p>
        </p:txBody>
      </p:sp>
      <p:sp>
        <p:nvSpPr>
          <p:cNvPr id="11" name="TextBox 10"/>
          <p:cNvSpPr txBox="1"/>
          <p:nvPr/>
        </p:nvSpPr>
        <p:spPr>
          <a:xfrm>
            <a:off x="3584448" y="1719072"/>
            <a:ext cx="2267712" cy="2697480"/>
          </a:xfrm>
          <a:prstGeom prst="rect">
            <a:avLst/>
          </a:prstGeom>
          <a:noFill/>
        </p:spPr>
        <p:txBody>
          <a:bodyPr wrap="square">
            <a:spAutoFit/>
          </a:bodyPr>
          <a:lstStyle/>
          <a:p>
            <a:pPr>
              <a:defRPr b="1" sz="1050">
                <a:solidFill>
                  <a:srgbClr val="0F172A"/>
                </a:solidFill>
                <a:latin typeface="Calibri"/>
              </a:defRPr>
            </a:pPr>
            <a:r>
              <a:t>Kỹ thuật Module Cốt lõi &amp; Review 2</a:t>
            </a:r>
          </a:p>
          <a:p>
            <a:pPr>
              <a:spcBef>
                <a:spcPts val="250"/>
              </a:spcBef>
              <a:defRPr sz="840">
                <a:solidFill>
                  <a:srgbClr val="334155"/>
                </a:solidFill>
                <a:latin typeface="Calibri"/>
              </a:defRPr>
            </a:pPr>
            <a:r>
              <a:t>• Lập trình module toán học: RepConv, CoordConv, BiFormer, Focal-EIoU.</a:t>
            </a:r>
          </a:p>
          <a:p>
            <a:pPr>
              <a:spcBef>
                <a:spcPts val="250"/>
              </a:spcBef>
              <a:defRPr sz="840">
                <a:solidFill>
                  <a:srgbClr val="334155"/>
                </a:solidFill>
                <a:latin typeface="Calibri"/>
              </a:defRPr>
            </a:pPr>
            <a:r>
              <a:t>• Thực hiện chuỗi thực nghiệm Ablation Study A0 -&gt; A6.</a:t>
            </a:r>
          </a:p>
          <a:p>
            <a:pPr>
              <a:spcBef>
                <a:spcPts val="250"/>
              </a:spcBef>
              <a:defRPr sz="840">
                <a:solidFill>
                  <a:srgbClr val="334155"/>
                </a:solidFill>
                <a:latin typeface="Calibri"/>
              </a:defRPr>
            </a:pPr>
            <a:r>
              <a:t>• Đo đạc thực nghiệm sơ bộ trên phần cứng GPU T4.</a:t>
            </a:r>
          </a:p>
          <a:p>
            <a:pPr>
              <a:spcBef>
                <a:spcPts val="250"/>
              </a:spcBef>
              <a:defRPr sz="840">
                <a:solidFill>
                  <a:srgbClr val="334155"/>
                </a:solidFill>
                <a:latin typeface="Calibri"/>
              </a:defRPr>
            </a:pPr>
            <a:r>
              <a:t>• Sản phẩm: Mã nguồn module hoàn chỉnh, Bảng số liệu Ablation.</a:t>
            </a:r>
          </a:p>
        </p:txBody>
      </p:sp>
      <p:sp>
        <p:nvSpPr>
          <p:cNvPr id="12" name="Rounded Rectangle 11"/>
          <p:cNvSpPr/>
          <p:nvPr/>
        </p:nvSpPr>
        <p:spPr>
          <a:xfrm>
            <a:off x="6217920" y="1234440"/>
            <a:ext cx="2487168"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3" name="Rounded Rectangle 12"/>
          <p:cNvSpPr/>
          <p:nvPr/>
        </p:nvSpPr>
        <p:spPr>
          <a:xfrm>
            <a:off x="6327648" y="1353312"/>
            <a:ext cx="2267712" cy="29260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950" b="1">
                <a:solidFill>
                  <a:srgbClr val="FFFFFF"/>
                </a:solidFill>
                <a:latin typeface="Calibri"/>
              </a:defRPr>
            </a:pPr>
            <a:r>
              <a:t>Giai đoạn 3 (Tuần 9-11)</a:t>
            </a:r>
          </a:p>
        </p:txBody>
      </p:sp>
      <p:sp>
        <p:nvSpPr>
          <p:cNvPr id="14" name="TextBox 13"/>
          <p:cNvSpPr txBox="1"/>
          <p:nvPr/>
        </p:nvSpPr>
        <p:spPr>
          <a:xfrm>
            <a:off x="6327648" y="1719072"/>
            <a:ext cx="2267712" cy="2697480"/>
          </a:xfrm>
          <a:prstGeom prst="rect">
            <a:avLst/>
          </a:prstGeom>
          <a:noFill/>
        </p:spPr>
        <p:txBody>
          <a:bodyPr wrap="square">
            <a:spAutoFit/>
          </a:bodyPr>
          <a:lstStyle/>
          <a:p>
            <a:pPr>
              <a:defRPr b="1" sz="1050">
                <a:solidFill>
                  <a:srgbClr val="0F172A"/>
                </a:solidFill>
                <a:latin typeface="Calibri"/>
              </a:defRPr>
            </a:pPr>
            <a:r>
              <a:t>Kiểm chứng Thống kê &amp; Review 3</a:t>
            </a:r>
          </a:p>
          <a:p>
            <a:pPr>
              <a:spcBef>
                <a:spcPts val="250"/>
              </a:spcBef>
              <a:defRPr sz="840">
                <a:solidFill>
                  <a:srgbClr val="334155"/>
                </a:solidFill>
                <a:latin typeface="Calibri"/>
              </a:defRPr>
            </a:pPr>
            <a:r>
              <a:t>• Thực thi kiểm định chéo 5-Fold Stratified Cross-Validation.</a:t>
            </a:r>
          </a:p>
          <a:p>
            <a:pPr>
              <a:spcBef>
                <a:spcPts val="250"/>
              </a:spcBef>
              <a:defRPr sz="840">
                <a:solidFill>
                  <a:srgbClr val="334155"/>
                </a:solidFill>
                <a:latin typeface="Calibri"/>
              </a:defRPr>
            </a:pPr>
            <a:r>
              <a:t>• Đánh giá năng lực Zero-shot trên 5 tập dữ liệu ngoại miền.</a:t>
            </a:r>
          </a:p>
          <a:p>
            <a:pPr>
              <a:spcBef>
                <a:spcPts val="250"/>
              </a:spcBef>
              <a:defRPr sz="840">
                <a:solidFill>
                  <a:srgbClr val="334155"/>
                </a:solidFill>
                <a:latin typeface="Calibri"/>
              </a:defRPr>
            </a:pPr>
            <a:r>
              <a:t>• Trích xuất bản đồ kích hoạt nhiệt Grad-CAM XAI.</a:t>
            </a:r>
          </a:p>
          <a:p>
            <a:pPr>
              <a:spcBef>
                <a:spcPts val="250"/>
              </a:spcBef>
              <a:defRPr sz="840">
                <a:solidFill>
                  <a:srgbClr val="334155"/>
                </a:solidFill>
                <a:latin typeface="Calibri"/>
              </a:defRPr>
            </a:pPr>
            <a:r>
              <a:t>• Sản phẩm: Bảng số liệu thống kê 5-Fold, Trọng số mô hình tốt nhất.</a:t>
            </a:r>
          </a:p>
        </p:txBody>
      </p:sp>
      <p:sp>
        <p:nvSpPr>
          <p:cNvPr id="15" name="Rounded Rectangle 14"/>
          <p:cNvSpPr/>
          <p:nvPr/>
        </p:nvSpPr>
        <p:spPr>
          <a:xfrm>
            <a:off x="8961120" y="1234440"/>
            <a:ext cx="2487168"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6" name="Rounded Rectangle 15"/>
          <p:cNvSpPr/>
          <p:nvPr/>
        </p:nvSpPr>
        <p:spPr>
          <a:xfrm>
            <a:off x="9070848" y="1353312"/>
            <a:ext cx="2267712" cy="292608"/>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950" b="1">
                <a:solidFill>
                  <a:srgbClr val="FFFFFF"/>
                </a:solidFill>
                <a:latin typeface="Calibri"/>
              </a:defRPr>
            </a:pPr>
            <a:r>
              <a:t>Giai đoạn 4-5 (Tuần 12-15)</a:t>
            </a:r>
          </a:p>
        </p:txBody>
      </p:sp>
      <p:sp>
        <p:nvSpPr>
          <p:cNvPr id="17" name="TextBox 16"/>
          <p:cNvSpPr txBox="1"/>
          <p:nvPr/>
        </p:nvSpPr>
        <p:spPr>
          <a:xfrm>
            <a:off x="9070848" y="1719072"/>
            <a:ext cx="2267712" cy="2697480"/>
          </a:xfrm>
          <a:prstGeom prst="rect">
            <a:avLst/>
          </a:prstGeom>
          <a:noFill/>
        </p:spPr>
        <p:txBody>
          <a:bodyPr wrap="square">
            <a:spAutoFit/>
          </a:bodyPr>
          <a:lstStyle/>
          <a:p>
            <a:pPr>
              <a:defRPr b="1" sz="1050">
                <a:solidFill>
                  <a:srgbClr val="0F172A"/>
                </a:solidFill>
                <a:latin typeface="Calibri"/>
              </a:defRPr>
            </a:pPr>
            <a:r>
              <a:t>Ứng dụng, Bài báo &amp; Bảo vệ</a:t>
            </a:r>
          </a:p>
          <a:p>
            <a:pPr>
              <a:spcBef>
                <a:spcPts val="250"/>
              </a:spcBef>
              <a:defRPr sz="840">
                <a:solidFill>
                  <a:srgbClr val="334155"/>
                </a:solidFill>
                <a:latin typeface="Calibri"/>
              </a:defRPr>
            </a:pPr>
            <a:r>
              <a:t>• Xây dựng ứng dụng giám sát video thời gian thực RTSP.</a:t>
            </a:r>
          </a:p>
          <a:p>
            <a:pPr>
              <a:spcBef>
                <a:spcPts val="250"/>
              </a:spcBef>
              <a:defRPr sz="840">
                <a:solidFill>
                  <a:srgbClr val="334155"/>
                </a:solidFill>
                <a:latin typeface="Calibri"/>
              </a:defRPr>
            </a:pPr>
            <a:r>
              <a:t>• Hoàn thiện bản thảo bài báo nghiên cứu khoa học chuẩn IEEE.</a:t>
            </a:r>
          </a:p>
          <a:p>
            <a:pPr>
              <a:spcBef>
                <a:spcPts val="250"/>
              </a:spcBef>
              <a:defRPr sz="840">
                <a:solidFill>
                  <a:srgbClr val="334155"/>
                </a:solidFill>
                <a:latin typeface="Calibri"/>
              </a:defRPr>
            </a:pPr>
            <a:r>
              <a:t>• Viết toàn văn Báo cáo Khóa luận Tốt nghiệp &amp; Dựng slide bảo vệ.</a:t>
            </a:r>
          </a:p>
          <a:p>
            <a:pPr>
              <a:spcBef>
                <a:spcPts val="250"/>
              </a:spcBef>
              <a:defRPr sz="840">
                <a:solidFill>
                  <a:srgbClr val="334155"/>
                </a:solidFill>
                <a:latin typeface="Calibri"/>
              </a:defRPr>
            </a:pPr>
            <a:r>
              <a:t>• Sản phẩm: Ứng dụng demo RTSP, Bản thảo Paper, Quyển khóa luận.</a:t>
            </a:r>
          </a:p>
        </p:txBody>
      </p:sp>
      <p:sp>
        <p:nvSpPr>
          <p:cNvPr id="18" name="Rounded Rectangle 17"/>
          <p:cNvSpPr/>
          <p:nvPr/>
        </p:nvSpPr>
        <p:spPr>
          <a:xfrm>
            <a:off x="731520" y="4645152"/>
            <a:ext cx="10728655" cy="1261872"/>
          </a:xfrm>
          <a:prstGeom prst="roundRect">
            <a:avLst/>
          </a:prstGeom>
          <a:solidFill>
            <a:srgbClr val="FAFA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9" name="TextBox 18"/>
          <p:cNvSpPr txBox="1"/>
          <p:nvPr/>
        </p:nvSpPr>
        <p:spPr>
          <a:xfrm>
            <a:off x="914400" y="4700016"/>
            <a:ext cx="10332720" cy="1143000"/>
          </a:xfrm>
          <a:prstGeom prst="rect">
            <a:avLst/>
          </a:prstGeom>
          <a:noFill/>
        </p:spPr>
        <p:txBody>
          <a:bodyPr wrap="square">
            <a:spAutoFit/>
          </a:bodyPr>
          <a:lstStyle/>
          <a:p>
            <a:pPr>
              <a:defRPr b="1" sz="1019">
                <a:solidFill>
                  <a:srgbClr val="EA580C"/>
                </a:solidFill>
                <a:latin typeface="Calibri"/>
              </a:defRPr>
            </a:pPr>
            <a:r>
              <a:t>PHÂN CÔNG TRÁCH NHIỆM &amp; ĐẢM BẢO CHẤT LƯỢNG KHÓA LUẬN (AGILE WORKLOAD)</a:t>
            </a:r>
          </a:p>
          <a:p>
            <a:pPr>
              <a:spcBef>
                <a:spcPts val="200"/>
              </a:spcBef>
              <a:defRPr sz="880">
                <a:solidFill>
                  <a:srgbClr val="334155"/>
                </a:solidFill>
                <a:latin typeface="Calibri"/>
              </a:defRPr>
            </a:pPr>
            <a:r>
              <a:t>• Nguyễn Hàn Như (Trưởng nhóm / AI Lead): Thiết kế kiến trúc Rep-YOLO11s, lập trình module toán học, quy trình huấn luyện và chấp bút bản thảo bài báo khoa học.</a:t>
            </a:r>
          </a:p>
          <a:p>
            <a:pPr>
              <a:spcBef>
                <a:spcPts val="200"/>
              </a:spcBef>
              <a:defRPr sz="880">
                <a:solidFill>
                  <a:srgbClr val="334155"/>
                </a:solidFill>
                <a:latin typeface="Calibri"/>
              </a:defRPr>
            </a:pPr>
            <a:r>
              <a:t>• Nguyễn Văn Thành (Data Engineering Lead): Lọc nhãn rác, làm sạch dữ liệu SHWD, chuẩn hóa không gian nhãn C*, thực thi kiểm định thống kê 5-Fold Cross-Validation.</a:t>
            </a:r>
          </a:p>
          <a:p>
            <a:pPr>
              <a:spcBef>
                <a:spcPts val="200"/>
              </a:spcBef>
              <a:defRPr sz="880">
                <a:solidFill>
                  <a:srgbClr val="334155"/>
                </a:solidFill>
                <a:latin typeface="Calibri"/>
              </a:defRPr>
            </a:pPr>
            <a:r>
              <a:t>• Trần Phạm Tuấn Dũng (System &amp; RTSP Lead): Xây dựng pipeline thu nhận luồng video RTSP, giải mã phần cứng NVDEC, tích hợp giao diện cảnh báo và chuẩn bị hồ sơ kỹ thuật.</a:t>
            </a:r>
          </a:p>
        </p:txBody>
      </p:sp>
      <p:sp>
        <p:nvSpPr>
          <p:cNvPr id="20" name="Rounded Rectangle 19"/>
          <p:cNvSpPr/>
          <p:nvPr/>
        </p:nvSpPr>
        <p:spPr>
          <a:xfrm>
            <a:off x="731520" y="6035040"/>
            <a:ext cx="10728655" cy="47548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21" name="Rounded Rectangle 20"/>
          <p:cNvSpPr/>
          <p:nvPr/>
        </p:nvSpPr>
        <p:spPr>
          <a:xfrm>
            <a:off x="868680" y="6108192"/>
            <a:ext cx="1097280" cy="3200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ĐÚC KẾT</a:t>
            </a:r>
          </a:p>
        </p:txBody>
      </p:sp>
      <p:sp>
        <p:nvSpPr>
          <p:cNvPr id="22" name="TextBox 21"/>
          <p:cNvSpPr txBox="1"/>
          <p:nvPr/>
        </p:nvSpPr>
        <p:spPr>
          <a:xfrm>
            <a:off x="2057400" y="6053328"/>
            <a:ext cx="9235440" cy="438912"/>
          </a:xfrm>
          <a:prstGeom prst="rect">
            <a:avLst/>
          </a:prstGeom>
          <a:noFill/>
        </p:spPr>
        <p:txBody>
          <a:bodyPr wrap="square" lIns="0" tIns="0" rIns="0" bIns="0">
            <a:spAutoFit/>
          </a:bodyPr>
          <a:lstStyle/>
          <a:p>
            <a:pPr>
              <a:defRPr sz="1050" b="1">
                <a:solidFill>
                  <a:srgbClr val="0F172A"/>
                </a:solidFill>
                <a:latin typeface="Calibri"/>
              </a:defRPr>
            </a:pPr>
            <a:r>
              <a:t>Kế hoạch 15 tuần theo mô hình Agile lặp gắn chặt với 3 mốc Review, phân công trách nhiệm minh bạch, bảo đảm hoàn thành 100% đúng tiến độ.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 name="TextBox 2"/>
          <p:cNvSpPr txBox="1"/>
          <p:nvPr/>
        </p:nvSpPr>
        <p:spPr>
          <a:xfrm>
            <a:off x="731520" y="320040"/>
            <a:ext cx="8686800" cy="256032"/>
          </a:xfrm>
          <a:prstGeom prst="rect">
            <a:avLst/>
          </a:prstGeom>
          <a:noFill/>
        </p:spPr>
        <p:txBody>
          <a:bodyPr wrap="square" lIns="0" tIns="0" rIns="0" bIns="0">
            <a:spAutoFit/>
          </a:bodyPr>
          <a:lstStyle/>
          <a:p>
            <a:pPr>
              <a:defRPr sz="1000" b="1">
                <a:solidFill>
                  <a:srgbClr val="EA580C"/>
                </a:solidFill>
                <a:latin typeface="Calibri"/>
              </a:defRPr>
            </a:pPr>
            <a:r>
              <a:t>MỤC 10 · KẾ HOẠCH XUẤT BẢN BÀI BÁO KHOA HỌC</a:t>
            </a:r>
          </a:p>
        </p:txBody>
      </p:sp>
      <p:sp>
        <p:nvSpPr>
          <p:cNvPr id="4" name="TextBox 3"/>
          <p:cNvSpPr txBox="1"/>
          <p:nvPr/>
        </p:nvSpPr>
        <p:spPr>
          <a:xfrm>
            <a:off x="10058400" y="320040"/>
            <a:ext cx="1371600" cy="256032"/>
          </a:xfrm>
          <a:prstGeom prst="rect">
            <a:avLst/>
          </a:prstGeom>
          <a:noFill/>
        </p:spPr>
        <p:txBody>
          <a:bodyPr wrap="none" lIns="0" tIns="0" rIns="0" bIns="0">
            <a:spAutoFit/>
          </a:bodyPr>
          <a:lstStyle/>
          <a:p>
            <a:pPr algn="r">
              <a:defRPr sz="1100">
                <a:solidFill>
                  <a:srgbClr val="64748B"/>
                </a:solidFill>
                <a:latin typeface="Calibri"/>
              </a:defRPr>
            </a:pPr>
            <a:r>
              <a:t>11 / 18</a:t>
            </a:r>
          </a:p>
        </p:txBody>
      </p:sp>
      <p:sp>
        <p:nvSpPr>
          <p:cNvPr id="5" name="TextBox 4"/>
          <p:cNvSpPr txBox="1"/>
          <p:nvPr/>
        </p:nvSpPr>
        <p:spPr>
          <a:xfrm>
            <a:off x="731520" y="594360"/>
            <a:ext cx="10698480" cy="502920"/>
          </a:xfrm>
          <a:prstGeom prst="rect">
            <a:avLst/>
          </a:prstGeom>
          <a:noFill/>
        </p:spPr>
        <p:txBody>
          <a:bodyPr wrap="square" lIns="0" tIns="0" rIns="0" bIns="0">
            <a:spAutoFit/>
          </a:bodyPr>
          <a:lstStyle/>
          <a:p>
            <a:pPr>
              <a:defRPr sz="2000" b="1">
                <a:solidFill>
                  <a:srgbClr val="0F172A"/>
                </a:solidFill>
                <a:latin typeface="Calibri"/>
              </a:defRPr>
            </a:pPr>
            <a:r>
              <a:t>Kế hoạch Xuất bản Bài báo Nghiên cứu Khoa học Chuẩn Quốc tế (IEEE Format)</a:t>
            </a:r>
          </a:p>
        </p:txBody>
      </p:sp>
      <p:sp>
        <p:nvSpPr>
          <p:cNvPr id="6" name="Rounded Rectangle 5"/>
          <p:cNvSpPr/>
          <p:nvPr/>
        </p:nvSpPr>
        <p:spPr>
          <a:xfrm>
            <a:off x="731520" y="1234440"/>
            <a:ext cx="5212080" cy="46177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7" name="Rounded Rectangle 6"/>
          <p:cNvSpPr/>
          <p:nvPr/>
        </p:nvSpPr>
        <p:spPr>
          <a:xfrm>
            <a:off x="914400" y="1371600"/>
            <a:ext cx="384048"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01</a:t>
            </a:r>
          </a:p>
        </p:txBody>
      </p:sp>
      <p:sp>
        <p:nvSpPr>
          <p:cNvPr id="8" name="TextBox 7"/>
          <p:cNvSpPr txBox="1"/>
          <p:nvPr/>
        </p:nvSpPr>
        <p:spPr>
          <a:xfrm>
            <a:off x="1417320" y="1353312"/>
            <a:ext cx="4389120" cy="4389120"/>
          </a:xfrm>
          <a:prstGeom prst="rect">
            <a:avLst/>
          </a:prstGeom>
          <a:noFill/>
        </p:spPr>
        <p:txBody>
          <a:bodyPr wrap="square">
            <a:spAutoFit/>
          </a:bodyPr>
          <a:lstStyle/>
          <a:p>
            <a:pPr>
              <a:defRPr b="1" sz="1250">
                <a:solidFill>
                  <a:srgbClr val="0F172A"/>
                </a:solidFill>
                <a:latin typeface="Calibri"/>
              </a:defRPr>
            </a:pPr>
            <a:r>
              <a:t>Bản thảo Nghiên cứu Khoa học Chuẩn Sẵn sàng Nộp</a:t>
            </a:r>
          </a:p>
          <a:p>
            <a:pPr>
              <a:spcBef>
                <a:spcPts val="400"/>
              </a:spcBef>
              <a:defRPr sz="910">
                <a:solidFill>
                  <a:srgbClr val="334155"/>
                </a:solidFill>
                <a:latin typeface="Calibri"/>
              </a:defRPr>
            </a:pPr>
            <a:r>
              <a:t>• Định dạng Trình bày: Soạn thảo hoàn chỉnh theo chuẩn định dạng IEEE hai cột (Two-Column Conference/Journal Template) với đầy đủ phương trình toán học và biểu đồ đối chuẩn.</a:t>
            </a:r>
          </a:p>
          <a:p>
            <a:pPr>
              <a:spcBef>
                <a:spcPts val="400"/>
              </a:spcBef>
              <a:defRPr sz="910">
                <a:solidFill>
                  <a:srgbClr val="334155"/>
                </a:solidFill>
                <a:latin typeface="Calibri"/>
              </a:defRPr>
            </a:pPr>
            <a:r>
              <a:t>• Cấu trúc Học thuật Toàn diện: Bao gồm Abstract, 4 Câu hỏi Nghiên cứu, Phân tích 30 Công trình SOTA, Kiến trúc Đề xuất, Kết quả Đối chuẩn Đa chiều và Phân tích XAI.</a:t>
            </a:r>
          </a:p>
          <a:p>
            <a:pPr>
              <a:spcBef>
                <a:spcPts val="400"/>
              </a:spcBef>
              <a:defRPr sz="910">
                <a:solidFill>
                  <a:srgbClr val="334155"/>
                </a:solidFill>
                <a:latin typeface="Calibri"/>
              </a:defRPr>
            </a:pPr>
            <a:r>
              <a:t>• Chiến lược Xuất bản An toàn: Chuẩn bị bản thảo nghiên cứu hoàn chỉnh, chất lượng cao, sẵn sàng trình Hội đồng Đánh giá Khóa luận và nộp tới các hội nghị / tạp chí quốc tế uy tín.</a:t>
            </a:r>
          </a:p>
          <a:p>
            <a:pPr>
              <a:spcBef>
                <a:spcPts val="400"/>
              </a:spcBef>
              <a:defRPr sz="910">
                <a:solidFill>
                  <a:srgbClr val="334155"/>
                </a:solidFill>
                <a:latin typeface="Calibri"/>
              </a:defRPr>
            </a:pPr>
            <a:r>
              <a:t>• Cam kết Minh bạch Học thuật: Mọi đồ thị Pareto, bảng số liệu thực nghiệm và sơ đồ kiến trúc đều được trích xuất 100% từ mã nguồn PyTorch thực thi, không suy diễn.</a:t>
            </a:r>
          </a:p>
          <a:p>
            <a:pPr>
              <a:spcBef>
                <a:spcPts val="400"/>
              </a:spcBef>
              <a:defRPr sz="910">
                <a:solidFill>
                  <a:srgbClr val="334155"/>
                </a:solidFill>
                <a:latin typeface="Calibri"/>
              </a:defRPr>
            </a:pPr>
            <a:r>
              <a:t>• Chia sẻ Mã nguồn Mở: Toàn bộ checkpoints mô hình, kịch bản huấn luyện và dữ liệu làm sạch được công khai trên GitHub phục vụ mục đích tái lập nghiên cứu (Reproducibility).</a:t>
            </a:r>
          </a:p>
        </p:txBody>
      </p:sp>
      <p:sp>
        <p:nvSpPr>
          <p:cNvPr id="9" name="Rounded Rectangle 8"/>
          <p:cNvSpPr/>
          <p:nvPr/>
        </p:nvSpPr>
        <p:spPr>
          <a:xfrm>
            <a:off x="6217920" y="1234440"/>
            <a:ext cx="5212080" cy="461772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0" name="Rounded Rectangle 9"/>
          <p:cNvSpPr/>
          <p:nvPr/>
        </p:nvSpPr>
        <p:spPr>
          <a:xfrm>
            <a:off x="6400800" y="1371600"/>
            <a:ext cx="384048" cy="29260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02</a:t>
            </a:r>
          </a:p>
        </p:txBody>
      </p:sp>
      <p:sp>
        <p:nvSpPr>
          <p:cNvPr id="11" name="TextBox 10"/>
          <p:cNvSpPr txBox="1"/>
          <p:nvPr/>
        </p:nvSpPr>
        <p:spPr>
          <a:xfrm>
            <a:off x="6903720" y="1353312"/>
            <a:ext cx="4389120" cy="4389120"/>
          </a:xfrm>
          <a:prstGeom prst="rect">
            <a:avLst/>
          </a:prstGeom>
          <a:noFill/>
        </p:spPr>
        <p:txBody>
          <a:bodyPr wrap="square">
            <a:spAutoFit/>
          </a:bodyPr>
          <a:lstStyle/>
          <a:p>
            <a:pPr>
              <a:defRPr b="1" sz="1250">
                <a:solidFill>
                  <a:srgbClr val="0F172A"/>
                </a:solidFill>
                <a:latin typeface="Calibri"/>
              </a:defRPr>
            </a:pPr>
            <a:r>
              <a:t>4 Đóng góp Học thuật Cốt lõi của Bản thảo</a:t>
            </a:r>
          </a:p>
          <a:p>
            <a:pPr>
              <a:spcBef>
                <a:spcPts val="400"/>
              </a:spcBef>
              <a:defRPr sz="910">
                <a:solidFill>
                  <a:srgbClr val="334155"/>
                </a:solidFill>
                <a:latin typeface="Calibri"/>
              </a:defRPr>
            </a:pPr>
            <a:r>
              <a:t>• Đóng góp 1 (Tái tham số hóa RepConv): Chứng minh bằng đại số khả năng gộp 3 nhánh huấn luyện về 1 nhân Conv 3x3 duy nhất, triệt tiêu phân mảnh bộ nhớ và đạt Zero Latency Overhead.</a:t>
            </a:r>
          </a:p>
          <a:p>
            <a:pPr>
              <a:spcBef>
                <a:spcPts val="400"/>
              </a:spcBef>
              <a:defRPr sz="910">
                <a:solidFill>
                  <a:srgbClr val="334155"/>
                </a:solidFill>
                <a:latin typeface="Calibri"/>
              </a:defRPr>
            </a:pPr>
            <a:r>
              <a:t>• Đóng góp 2 (Mã hóa Tọa độ CoordConv): Cung cấp tiên nghiệm vị trí thẳng đứng phá vỡ tính bất biến tịnh tiến của CNN, triệt tiêu dứt điểm báo động giả xô vàng và đồ bảo hộ dưới sàn nhà.</a:t>
            </a:r>
          </a:p>
          <a:p>
            <a:pPr>
              <a:spcBef>
                <a:spcPts val="400"/>
              </a:spcBef>
              <a:defRPr sz="910">
                <a:solidFill>
                  <a:srgbClr val="334155"/>
                </a:solidFill>
                <a:latin typeface="Calibri"/>
              </a:defRPr>
            </a:pPr>
            <a:r>
              <a:t>• Đóng góp 3 (Định tuyến Thưa BiFormer): Đưa độ phức tạp tính toán chú ý từ bậc hai O(H^2W^2) về tuyến tính O(HW), giải quyết triệt để nguy cơ sập bộ nhớ CUDA OOM khi bắt mục tiêu mũ bảo hộ ở xa.</a:t>
            </a:r>
          </a:p>
          <a:p>
            <a:pPr>
              <a:spcBef>
                <a:spcPts val="400"/>
              </a:spcBef>
              <a:defRPr sz="910">
                <a:solidFill>
                  <a:srgbClr val="334155"/>
                </a:solidFill>
                <a:latin typeface="Calibri"/>
              </a:defRPr>
            </a:pPr>
            <a:r>
              <a:t>• Đóng góp 4 (Phân rã Focal-EIoU Loss): Khắc phục hiện tượng triệt tiêu gradient của hàm CIoU bằng cách phân rã độc lập sai số kích thước w và h, giúp hồi quy khung bao nhỏ chính xác tối đa.</a:t>
            </a:r>
          </a:p>
        </p:txBody>
      </p:sp>
      <p:sp>
        <p:nvSpPr>
          <p:cNvPr id="12" name="Rounded Rectangle 11"/>
          <p:cNvSpPr/>
          <p:nvPr/>
        </p:nvSpPr>
        <p:spPr>
          <a:xfrm>
            <a:off x="731520" y="6035040"/>
            <a:ext cx="10728655" cy="47548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3" name="Rounded Rectangle 12"/>
          <p:cNvSpPr/>
          <p:nvPr/>
        </p:nvSpPr>
        <p:spPr>
          <a:xfrm>
            <a:off x="868680" y="6108192"/>
            <a:ext cx="1097280" cy="3200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ĐÚC KẾT</a:t>
            </a:r>
          </a:p>
        </p:txBody>
      </p:sp>
      <p:sp>
        <p:nvSpPr>
          <p:cNvPr id="14" name="TextBox 13"/>
          <p:cNvSpPr txBox="1"/>
          <p:nvPr/>
        </p:nvSpPr>
        <p:spPr>
          <a:xfrm>
            <a:off x="2057400" y="6053328"/>
            <a:ext cx="9235440" cy="438912"/>
          </a:xfrm>
          <a:prstGeom prst="rect">
            <a:avLst/>
          </a:prstGeom>
          <a:noFill/>
        </p:spPr>
        <p:txBody>
          <a:bodyPr wrap="square" lIns="0" tIns="0" rIns="0" bIns="0">
            <a:spAutoFit/>
          </a:bodyPr>
          <a:lstStyle/>
          <a:p>
            <a:pPr>
              <a:defRPr sz="1050" b="1">
                <a:solidFill>
                  <a:srgbClr val="0F172A"/>
                </a:solidFill>
                <a:latin typeface="Calibri"/>
              </a:defRPr>
            </a:pPr>
            <a:r>
              <a:t>Đề tài định hướng xây dựng bản thảo bài báo khoa học chuẩn quốc tế, chứng minh 4 đóng góp toán học thực chất và sẵn sàng trình Hội đồng nghiệm thu.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 name="TextBox 2"/>
          <p:cNvSpPr txBox="1"/>
          <p:nvPr/>
        </p:nvSpPr>
        <p:spPr>
          <a:xfrm>
            <a:off x="731520" y="320040"/>
            <a:ext cx="8686800" cy="256032"/>
          </a:xfrm>
          <a:prstGeom prst="rect">
            <a:avLst/>
          </a:prstGeom>
          <a:noFill/>
        </p:spPr>
        <p:txBody>
          <a:bodyPr wrap="square" lIns="0" tIns="0" rIns="0" bIns="0">
            <a:spAutoFit/>
          </a:bodyPr>
          <a:lstStyle/>
          <a:p>
            <a:pPr>
              <a:defRPr sz="1000" b="1">
                <a:solidFill>
                  <a:srgbClr val="EA580C"/>
                </a:solidFill>
                <a:latin typeface="Calibri"/>
              </a:defRPr>
            </a:pPr>
            <a:r>
              <a:t>MỤC 11 · MA TRẬN QUẢN TRỊ RỦI RO &amp; KHẮC PHỤC CHỦ ĐỘNG</a:t>
            </a:r>
          </a:p>
        </p:txBody>
      </p:sp>
      <p:sp>
        <p:nvSpPr>
          <p:cNvPr id="4" name="TextBox 3"/>
          <p:cNvSpPr txBox="1"/>
          <p:nvPr/>
        </p:nvSpPr>
        <p:spPr>
          <a:xfrm>
            <a:off x="10058400" y="320040"/>
            <a:ext cx="1371600" cy="256032"/>
          </a:xfrm>
          <a:prstGeom prst="rect">
            <a:avLst/>
          </a:prstGeom>
          <a:noFill/>
        </p:spPr>
        <p:txBody>
          <a:bodyPr wrap="none" lIns="0" tIns="0" rIns="0" bIns="0">
            <a:spAutoFit/>
          </a:bodyPr>
          <a:lstStyle/>
          <a:p>
            <a:pPr algn="r">
              <a:defRPr sz="1100">
                <a:solidFill>
                  <a:srgbClr val="64748B"/>
                </a:solidFill>
                <a:latin typeface="Calibri"/>
              </a:defRPr>
            </a:pPr>
            <a:r>
              <a:t>12 / 18</a:t>
            </a:r>
          </a:p>
        </p:txBody>
      </p:sp>
      <p:sp>
        <p:nvSpPr>
          <p:cNvPr id="5" name="TextBox 4"/>
          <p:cNvSpPr txBox="1"/>
          <p:nvPr/>
        </p:nvSpPr>
        <p:spPr>
          <a:xfrm>
            <a:off x="731520" y="594360"/>
            <a:ext cx="10698480" cy="502920"/>
          </a:xfrm>
          <a:prstGeom prst="rect">
            <a:avLst/>
          </a:prstGeom>
          <a:noFill/>
        </p:spPr>
        <p:txBody>
          <a:bodyPr wrap="square" lIns="0" tIns="0" rIns="0" bIns="0">
            <a:spAutoFit/>
          </a:bodyPr>
          <a:lstStyle/>
          <a:p>
            <a:pPr>
              <a:defRPr sz="2000" b="1">
                <a:solidFill>
                  <a:srgbClr val="0F172A"/>
                </a:solidFill>
                <a:latin typeface="Calibri"/>
              </a:defRPr>
            </a:pPr>
            <a:r>
              <a:t>Ma trận Nhận diện Rủi ro Kỹ thuật &amp; Phương án Khắc phục Chủ động</a:t>
            </a:r>
          </a:p>
        </p:txBody>
      </p:sp>
      <p:sp>
        <p:nvSpPr>
          <p:cNvPr id="6" name="Rounded Rectangle 5"/>
          <p:cNvSpPr/>
          <p:nvPr/>
        </p:nvSpPr>
        <p:spPr>
          <a:xfrm>
            <a:off x="731520" y="123444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7" name="Rounded Rectangle 6"/>
          <p:cNvSpPr/>
          <p:nvPr/>
        </p:nvSpPr>
        <p:spPr>
          <a:xfrm>
            <a:off x="914400" y="1371600"/>
            <a:ext cx="384048" cy="292608"/>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01</a:t>
            </a:r>
          </a:p>
        </p:txBody>
      </p:sp>
      <p:sp>
        <p:nvSpPr>
          <p:cNvPr id="8" name="TextBox 7"/>
          <p:cNvSpPr txBox="1"/>
          <p:nvPr/>
        </p:nvSpPr>
        <p:spPr>
          <a:xfrm>
            <a:off x="1417320" y="1353312"/>
            <a:ext cx="4343400" cy="2011680"/>
          </a:xfrm>
          <a:prstGeom prst="rect">
            <a:avLst/>
          </a:prstGeom>
          <a:noFill/>
        </p:spPr>
        <p:txBody>
          <a:bodyPr wrap="square">
            <a:spAutoFit/>
          </a:bodyPr>
          <a:lstStyle/>
          <a:p>
            <a:pPr>
              <a:defRPr b="1" sz="1150">
                <a:solidFill>
                  <a:srgbClr val="0F172A"/>
                </a:solidFill>
                <a:latin typeface="Calibri"/>
              </a:defRPr>
            </a:pPr>
            <a:r>
              <a:t>Rủi ro Thiếu hụt Tài nguyên Tính toán GPU</a:t>
            </a:r>
          </a:p>
          <a:p>
            <a:pPr>
              <a:spcBef>
                <a:spcPts val="250"/>
              </a:spcBef>
              <a:defRPr sz="880">
                <a:solidFill>
                  <a:srgbClr val="334155"/>
                </a:solidFill>
                <a:latin typeface="Calibri"/>
              </a:defRPr>
            </a:pPr>
            <a:r>
              <a:t>• Mô tả Rủi ro: Thời gian huấn luyện lâu hoặc bị ngắt quãng do giới hạn quota GPU miễn phí trên nền tảng đám mây.</a:t>
            </a:r>
          </a:p>
          <a:p>
            <a:pPr>
              <a:spcBef>
                <a:spcPts val="250"/>
              </a:spcBef>
              <a:defRPr sz="880">
                <a:solidFill>
                  <a:srgbClr val="334155"/>
                </a:solidFill>
                <a:latin typeface="Calibri"/>
              </a:defRPr>
            </a:pPr>
            <a:r>
              <a:t>• Xác suất: Trung bình | Tác động: Cao.</a:t>
            </a:r>
          </a:p>
          <a:p>
            <a:pPr>
              <a:spcBef>
                <a:spcPts val="250"/>
              </a:spcBef>
              <a:defRPr sz="880">
                <a:solidFill>
                  <a:srgbClr val="334155"/>
                </a:solidFill>
                <a:latin typeface="Calibri"/>
              </a:defRPr>
            </a:pPr>
            <a:r>
              <a:t>• Biện pháp Khắc phục: Phân bổ mô hình huấn luyện sang Google Colab Pro và Kaggle GPU T4 x 2; sử dụng Mixed Precision FP16 và cơ chế Checkpoint Resume tự động lưu mỗi 5 epoch.</a:t>
            </a:r>
          </a:p>
        </p:txBody>
      </p:sp>
      <p:sp>
        <p:nvSpPr>
          <p:cNvPr id="9" name="Rounded Rectangle 8"/>
          <p:cNvSpPr/>
          <p:nvPr/>
        </p:nvSpPr>
        <p:spPr>
          <a:xfrm>
            <a:off x="6217920" y="123444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0" name="Rounded Rectangle 9"/>
          <p:cNvSpPr/>
          <p:nvPr/>
        </p:nvSpPr>
        <p:spPr>
          <a:xfrm>
            <a:off x="6400800" y="1371600"/>
            <a:ext cx="384048" cy="292608"/>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02</a:t>
            </a:r>
          </a:p>
        </p:txBody>
      </p:sp>
      <p:sp>
        <p:nvSpPr>
          <p:cNvPr id="11" name="TextBox 10"/>
          <p:cNvSpPr txBox="1"/>
          <p:nvPr/>
        </p:nvSpPr>
        <p:spPr>
          <a:xfrm>
            <a:off x="6903720" y="1353312"/>
            <a:ext cx="4343400" cy="2011680"/>
          </a:xfrm>
          <a:prstGeom prst="rect">
            <a:avLst/>
          </a:prstGeom>
          <a:noFill/>
        </p:spPr>
        <p:txBody>
          <a:bodyPr wrap="square">
            <a:spAutoFit/>
          </a:bodyPr>
          <a:lstStyle/>
          <a:p>
            <a:pPr>
              <a:defRPr b="1" sz="1150">
                <a:solidFill>
                  <a:srgbClr val="0F172A"/>
                </a:solidFill>
                <a:latin typeface="Calibri"/>
              </a:defRPr>
            </a:pPr>
            <a:r>
              <a:t>Rủi ro Quá khớp (Overfitting) &amp; Rò rỉ Dữ liệu</a:t>
            </a:r>
          </a:p>
          <a:p>
            <a:pPr>
              <a:spcBef>
                <a:spcPts val="250"/>
              </a:spcBef>
              <a:defRPr sz="880">
                <a:solidFill>
                  <a:srgbClr val="334155"/>
                </a:solidFill>
                <a:latin typeface="Calibri"/>
              </a:defRPr>
            </a:pPr>
            <a:r>
              <a:t>• Mô tả Rủi ro: Mô hình ghi nhớ dữ liệu tập train dẫn tới suy giảm nghiêm trọng độ chính xác khi đưa ra môi trường công trường thực tế.</a:t>
            </a:r>
          </a:p>
          <a:p>
            <a:pPr>
              <a:spcBef>
                <a:spcPts val="250"/>
              </a:spcBef>
              <a:defRPr sz="880">
                <a:solidFill>
                  <a:srgbClr val="334155"/>
                </a:solidFill>
                <a:latin typeface="Calibri"/>
              </a:defRPr>
            </a:pPr>
            <a:r>
              <a:t>• Xác suất: Trung bình | Tác động: Cao.</a:t>
            </a:r>
          </a:p>
          <a:p>
            <a:pPr>
              <a:spcBef>
                <a:spcPts val="250"/>
              </a:spcBef>
              <a:defRPr sz="880">
                <a:solidFill>
                  <a:srgbClr val="334155"/>
                </a:solidFill>
                <a:latin typeface="Calibri"/>
              </a:defRPr>
            </a:pPr>
            <a:r>
              <a:t>• Biện pháp Khắc phục: Kiểm định chéo 5-Fold Stratified CV, nhóm sequence ảnh camera ngăn ngừa Data Leakage; áp dụng Mosaic, Mixup và HSV Jitter tăng tính đa dạng.</a:t>
            </a:r>
          </a:p>
        </p:txBody>
      </p:sp>
      <p:sp>
        <p:nvSpPr>
          <p:cNvPr id="12" name="Rounded Rectangle 11"/>
          <p:cNvSpPr/>
          <p:nvPr/>
        </p:nvSpPr>
        <p:spPr>
          <a:xfrm>
            <a:off x="731520" y="36118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3" name="Rounded Rectangle 12"/>
          <p:cNvSpPr/>
          <p:nvPr/>
        </p:nvSpPr>
        <p:spPr>
          <a:xfrm>
            <a:off x="914400" y="3749040"/>
            <a:ext cx="384048" cy="292608"/>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03</a:t>
            </a:r>
          </a:p>
        </p:txBody>
      </p:sp>
      <p:sp>
        <p:nvSpPr>
          <p:cNvPr id="14" name="TextBox 13"/>
          <p:cNvSpPr txBox="1"/>
          <p:nvPr/>
        </p:nvSpPr>
        <p:spPr>
          <a:xfrm>
            <a:off x="1417320" y="3730752"/>
            <a:ext cx="4343400" cy="2011680"/>
          </a:xfrm>
          <a:prstGeom prst="rect">
            <a:avLst/>
          </a:prstGeom>
          <a:noFill/>
        </p:spPr>
        <p:txBody>
          <a:bodyPr wrap="square">
            <a:spAutoFit/>
          </a:bodyPr>
          <a:lstStyle/>
          <a:p>
            <a:pPr>
              <a:defRPr b="1" sz="1150">
                <a:solidFill>
                  <a:srgbClr val="0F172A"/>
                </a:solidFill>
                <a:latin typeface="Calibri"/>
              </a:defRPr>
            </a:pPr>
            <a:r>
              <a:t>Rủi ro Bất đồng Nhãn &amp; Sai lệch Đa miền</a:t>
            </a:r>
          </a:p>
          <a:p>
            <a:pPr>
              <a:spcBef>
                <a:spcPts val="250"/>
              </a:spcBef>
              <a:defRPr sz="880">
                <a:solidFill>
                  <a:srgbClr val="334155"/>
                </a:solidFill>
                <a:latin typeface="Calibri"/>
              </a:defRPr>
            </a:pPr>
            <a:r>
              <a:t>• Mô tả Rủi ro: 5 tập dữ liệu kiểm thử ngoại miền có quy ước gán nhãn mâu thuẫn (nhãn vẽ toàn thân vs vẽ chỏm đầu), gây suy giảm mAP.</a:t>
            </a:r>
          </a:p>
          <a:p>
            <a:pPr>
              <a:spcBef>
                <a:spcPts val="250"/>
              </a:spcBef>
              <a:defRPr sz="880">
                <a:solidFill>
                  <a:srgbClr val="334155"/>
                </a:solidFill>
                <a:latin typeface="Calibri"/>
              </a:defRPr>
            </a:pPr>
            <a:r>
              <a:t>• Xác suất: Cao | Tác động: Trung bình.</a:t>
            </a:r>
          </a:p>
          <a:p>
            <a:pPr>
              <a:spcBef>
                <a:spcPts val="250"/>
              </a:spcBef>
              <a:defRPr sz="880">
                <a:solidFill>
                  <a:srgbClr val="334155"/>
                </a:solidFill>
                <a:latin typeface="Calibri"/>
              </a:defRPr>
            </a:pPr>
            <a:r>
              <a:t>• Biện pháp Khắc phục: Thiết lập bộ quy chuẩn ánh xạ không gian nhãn chung C* = {0: 'hat', 1: 'person'}, tự động đồng bộ hóa toàn bộ bounding boxes ngoại miền.</a:t>
            </a:r>
          </a:p>
        </p:txBody>
      </p:sp>
      <p:sp>
        <p:nvSpPr>
          <p:cNvPr id="15" name="Rounded Rectangle 14"/>
          <p:cNvSpPr/>
          <p:nvPr/>
        </p:nvSpPr>
        <p:spPr>
          <a:xfrm>
            <a:off x="6217920" y="361188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6" name="Rounded Rectangle 15"/>
          <p:cNvSpPr/>
          <p:nvPr/>
        </p:nvSpPr>
        <p:spPr>
          <a:xfrm>
            <a:off x="6400800" y="3749040"/>
            <a:ext cx="384048"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04</a:t>
            </a:r>
          </a:p>
        </p:txBody>
      </p:sp>
      <p:sp>
        <p:nvSpPr>
          <p:cNvPr id="17" name="TextBox 16"/>
          <p:cNvSpPr txBox="1"/>
          <p:nvPr/>
        </p:nvSpPr>
        <p:spPr>
          <a:xfrm>
            <a:off x="6903720" y="3730752"/>
            <a:ext cx="4343400" cy="2011680"/>
          </a:xfrm>
          <a:prstGeom prst="rect">
            <a:avLst/>
          </a:prstGeom>
          <a:noFill/>
        </p:spPr>
        <p:txBody>
          <a:bodyPr wrap="square">
            <a:spAutoFit/>
          </a:bodyPr>
          <a:lstStyle/>
          <a:p>
            <a:pPr>
              <a:defRPr b="1" sz="1150">
                <a:solidFill>
                  <a:srgbClr val="0F172A"/>
                </a:solidFill>
                <a:latin typeface="Calibri"/>
              </a:defRPr>
            </a:pPr>
            <a:r>
              <a:t>Rủi ro Trễ Hạn Hoàn thành Bài báo &amp; Báo cáo</a:t>
            </a:r>
          </a:p>
          <a:p>
            <a:pPr>
              <a:spcBef>
                <a:spcPts val="250"/>
              </a:spcBef>
              <a:defRPr sz="880">
                <a:solidFill>
                  <a:srgbClr val="334155"/>
                </a:solidFill>
                <a:latin typeface="Calibri"/>
              </a:defRPr>
            </a:pPr>
            <a:r>
              <a:t>• Mô tả Rủi ro: Khối lượng công việc nghiên cứu và kỹ thuật lớn dẫn tới nguy cơ trễ hạn nộp bản thảo bài báo và quyển khóa luận tốt nghiệp.</a:t>
            </a:r>
          </a:p>
          <a:p>
            <a:pPr>
              <a:spcBef>
                <a:spcPts val="250"/>
              </a:spcBef>
              <a:defRPr sz="880">
                <a:solidFill>
                  <a:srgbClr val="334155"/>
                </a:solidFill>
                <a:latin typeface="Calibri"/>
              </a:defRPr>
            </a:pPr>
            <a:r>
              <a:t>• Xác suất: Thấp | Tác động: Cao.</a:t>
            </a:r>
          </a:p>
          <a:p>
            <a:pPr>
              <a:spcBef>
                <a:spcPts val="250"/>
              </a:spcBef>
              <a:defRPr sz="880">
                <a:solidFill>
                  <a:srgbClr val="334155"/>
                </a:solidFill>
                <a:latin typeface="Calibri"/>
              </a:defRPr>
            </a:pPr>
            <a:r>
              <a:t>• Biện pháp Khắc phục: Áp dụng quy trình Agile sprint hàng tuần với bảng Kanban; Trưởng nhóm rà soát tiến độ định kỳ; hoàn thiện bản thảo song song với quá trình chạy mã nguồn.</a:t>
            </a:r>
          </a:p>
        </p:txBody>
      </p:sp>
      <p:sp>
        <p:nvSpPr>
          <p:cNvPr id="18" name="Rounded Rectangle 17"/>
          <p:cNvSpPr/>
          <p:nvPr/>
        </p:nvSpPr>
        <p:spPr>
          <a:xfrm>
            <a:off x="731520" y="6035040"/>
            <a:ext cx="10728655" cy="47548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9" name="Rounded Rectangle 18"/>
          <p:cNvSpPr/>
          <p:nvPr/>
        </p:nvSpPr>
        <p:spPr>
          <a:xfrm>
            <a:off x="868680" y="6108192"/>
            <a:ext cx="1097280" cy="3200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ĐÚC KẾT</a:t>
            </a:r>
          </a:p>
        </p:txBody>
      </p:sp>
      <p:sp>
        <p:nvSpPr>
          <p:cNvPr id="20" name="TextBox 19"/>
          <p:cNvSpPr txBox="1"/>
          <p:nvPr/>
        </p:nvSpPr>
        <p:spPr>
          <a:xfrm>
            <a:off x="2057400" y="6053328"/>
            <a:ext cx="9235440" cy="438912"/>
          </a:xfrm>
          <a:prstGeom prst="rect">
            <a:avLst/>
          </a:prstGeom>
          <a:noFill/>
        </p:spPr>
        <p:txBody>
          <a:bodyPr wrap="square" lIns="0" tIns="0" rIns="0" bIns="0">
            <a:spAutoFit/>
          </a:bodyPr>
          <a:lstStyle/>
          <a:p>
            <a:pPr>
              <a:defRPr sz="1050" b="1">
                <a:solidFill>
                  <a:srgbClr val="0F172A"/>
                </a:solidFill>
                <a:latin typeface="Calibri"/>
              </a:defRPr>
            </a:pPr>
            <a:r>
              <a:t>Nhóm chủ động nhận diện 4 rủi ro kỹ thuật và thiết lập phương án dự phòng chi tiết, bảo đảm dự án vận hành an toàn và về đích đúng kế hoạch.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3" name="TextBox 2"/>
          <p:cNvSpPr txBox="1"/>
          <p:nvPr/>
        </p:nvSpPr>
        <p:spPr>
          <a:xfrm>
            <a:off x="731520" y="320040"/>
            <a:ext cx="8686800" cy="256032"/>
          </a:xfrm>
          <a:prstGeom prst="rect">
            <a:avLst/>
          </a:prstGeom>
          <a:noFill/>
        </p:spPr>
        <p:txBody>
          <a:bodyPr wrap="square" lIns="0" tIns="0" rIns="0" bIns="0">
            <a:spAutoFit/>
          </a:bodyPr>
          <a:lstStyle/>
          <a:p>
            <a:pPr>
              <a:defRPr sz="1000" b="1">
                <a:solidFill>
                  <a:srgbClr val="EA580C"/>
                </a:solidFill>
                <a:latin typeface="Calibri"/>
              </a:defRPr>
            </a:pPr>
            <a:r>
              <a:t>MỤC 12 · KẾT QUẢ KỲ VỌNG &amp; TỔNG KẾT BẢO VỆ KHÓA LUẬN</a:t>
            </a:r>
          </a:p>
        </p:txBody>
      </p:sp>
      <p:sp>
        <p:nvSpPr>
          <p:cNvPr id="4" name="TextBox 3"/>
          <p:cNvSpPr txBox="1"/>
          <p:nvPr/>
        </p:nvSpPr>
        <p:spPr>
          <a:xfrm>
            <a:off x="10058400" y="320040"/>
            <a:ext cx="1371600" cy="256032"/>
          </a:xfrm>
          <a:prstGeom prst="rect">
            <a:avLst/>
          </a:prstGeom>
          <a:noFill/>
        </p:spPr>
        <p:txBody>
          <a:bodyPr wrap="none" lIns="0" tIns="0" rIns="0" bIns="0">
            <a:spAutoFit/>
          </a:bodyPr>
          <a:lstStyle/>
          <a:p>
            <a:pPr algn="r">
              <a:defRPr sz="1100">
                <a:solidFill>
                  <a:srgbClr val="64748B"/>
                </a:solidFill>
                <a:latin typeface="Calibri"/>
              </a:defRPr>
            </a:pPr>
            <a:r>
              <a:t>13 / 18</a:t>
            </a:r>
          </a:p>
        </p:txBody>
      </p:sp>
      <p:sp>
        <p:nvSpPr>
          <p:cNvPr id="5" name="TextBox 4"/>
          <p:cNvSpPr txBox="1"/>
          <p:nvPr/>
        </p:nvSpPr>
        <p:spPr>
          <a:xfrm>
            <a:off x="731520" y="594360"/>
            <a:ext cx="10698480" cy="502920"/>
          </a:xfrm>
          <a:prstGeom prst="rect">
            <a:avLst/>
          </a:prstGeom>
          <a:noFill/>
        </p:spPr>
        <p:txBody>
          <a:bodyPr wrap="square" lIns="0" tIns="0" rIns="0" bIns="0">
            <a:spAutoFit/>
          </a:bodyPr>
          <a:lstStyle/>
          <a:p>
            <a:pPr>
              <a:defRPr sz="2000" b="1">
                <a:solidFill>
                  <a:srgbClr val="0F172A"/>
                </a:solidFill>
                <a:latin typeface="Calibri"/>
              </a:defRPr>
            </a:pPr>
            <a:r>
              <a:t>Sản phẩm Kỳ vọng Bàn giao &amp; Tổng hợp Giá trị Đóng góp Khóa luận</a:t>
            </a:r>
          </a:p>
        </p:txBody>
      </p:sp>
      <p:sp>
        <p:nvSpPr>
          <p:cNvPr id="6" name="Rounded Rectangle 5"/>
          <p:cNvSpPr/>
          <p:nvPr/>
        </p:nvSpPr>
        <p:spPr>
          <a:xfrm>
            <a:off x="731520" y="1234440"/>
            <a:ext cx="5212080" cy="461772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7" name="Rounded Rectangle 6"/>
          <p:cNvSpPr/>
          <p:nvPr/>
        </p:nvSpPr>
        <p:spPr>
          <a:xfrm>
            <a:off x="914400" y="1371600"/>
            <a:ext cx="384048" cy="292608"/>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01</a:t>
            </a:r>
          </a:p>
        </p:txBody>
      </p:sp>
      <p:sp>
        <p:nvSpPr>
          <p:cNvPr id="8" name="TextBox 7"/>
          <p:cNvSpPr txBox="1"/>
          <p:nvPr/>
        </p:nvSpPr>
        <p:spPr>
          <a:xfrm>
            <a:off x="1417320" y="1353312"/>
            <a:ext cx="4389120" cy="4389120"/>
          </a:xfrm>
          <a:prstGeom prst="rect">
            <a:avLst/>
          </a:prstGeom>
          <a:noFill/>
        </p:spPr>
        <p:txBody>
          <a:bodyPr wrap="square">
            <a:spAutoFit/>
          </a:bodyPr>
          <a:lstStyle/>
          <a:p>
            <a:pPr>
              <a:defRPr b="1" sz="1250">
                <a:solidFill>
                  <a:srgbClr val="0F172A"/>
                </a:solidFill>
                <a:latin typeface="Calibri"/>
              </a:defRPr>
            </a:pPr>
            <a:r>
              <a:t>5 Sản phẩm Kỳ vọng Bàn giao (Deliverables)</a:t>
            </a:r>
          </a:p>
          <a:p>
            <a:pPr>
              <a:spcBef>
                <a:spcPts val="400"/>
              </a:spcBef>
              <a:defRPr sz="910">
                <a:solidFill>
                  <a:srgbClr val="334155"/>
                </a:solidFill>
                <a:latin typeface="Calibri"/>
              </a:defRPr>
            </a:pPr>
            <a:r>
              <a:t>• Mô hình Trọng số Rep-YOLO11s Tối ưu: Bộ trọng số PyTorch (.pt) và ONNX/TensorRT đã tái tham số hóa, đạt mAP50 &gt;94.8% và Recallhat &gt;91%.</a:t>
            </a:r>
          </a:p>
          <a:p>
            <a:pPr>
              <a:spcBef>
                <a:spcPts val="400"/>
              </a:spcBef>
              <a:defRPr sz="910">
                <a:solidFill>
                  <a:srgbClr val="334155"/>
                </a:solidFill>
                <a:latin typeface="Calibri"/>
              </a:defRPr>
            </a:pPr>
            <a:r>
              <a:t>• Pipeline Video Camera RTSP Thời gian thực: Ứng dụng xử lý luồng camera giám sát CCTV với giải mã phần cứng NVDEC, hiển thị cảnh báo vi phạm trực quan &gt;25 FPS.</a:t>
            </a:r>
          </a:p>
          <a:p>
            <a:pPr>
              <a:spcBef>
                <a:spcPts val="400"/>
              </a:spcBef>
              <a:defRPr sz="910">
                <a:solidFill>
                  <a:srgbClr val="334155"/>
                </a:solidFill>
                <a:latin typeface="Calibri"/>
              </a:defRPr>
            </a:pPr>
            <a:r>
              <a:t>• Bản thảo Bài báo Khoa học Chuẩn IEEE: Tài liệu khoa học hoàn chỉnh, sẵn sàng trình Hội đồng Đánh giá và nộp tới các hội nghị / tạp chí quốc tế uy tín.</a:t>
            </a:r>
          </a:p>
          <a:p>
            <a:pPr>
              <a:spcBef>
                <a:spcPts val="400"/>
              </a:spcBef>
              <a:defRPr sz="910">
                <a:solidFill>
                  <a:srgbClr val="334155"/>
                </a:solidFill>
                <a:latin typeface="Calibri"/>
              </a:defRPr>
            </a:pPr>
            <a:r>
              <a:t>• Tập Dữ liệu Chuẩn hóa C* &amp; Kho Code: Bộ dữ liệu SHWD đã làm sạch nhãn rác, ánh xạ C* cho 5 tập ngoại vi và kho mã nguồn GitHub minh bạch.</a:t>
            </a:r>
          </a:p>
          <a:p>
            <a:pPr>
              <a:spcBef>
                <a:spcPts val="400"/>
              </a:spcBef>
              <a:defRPr sz="910">
                <a:solidFill>
                  <a:srgbClr val="334155"/>
                </a:solidFill>
                <a:latin typeface="Calibri"/>
              </a:defRPr>
            </a:pPr>
            <a:r>
              <a:t>• Toàn văn Báo cáo Khóa luận (Thesis Book): Quyển báo cáo khóa luận tốt nghiệp chi tiết, giải trình đầy đủ cơ sở lý thuyết, quy trình thực nghiệm và phân tích chuyên sâu.</a:t>
            </a:r>
          </a:p>
        </p:txBody>
      </p:sp>
      <p:sp>
        <p:nvSpPr>
          <p:cNvPr id="9" name="Rounded Rectangle 8"/>
          <p:cNvSpPr/>
          <p:nvPr/>
        </p:nvSpPr>
        <p:spPr>
          <a:xfrm>
            <a:off x="6217920" y="1234440"/>
            <a:ext cx="5212080" cy="46177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0" name="Rounded Rectangle 9"/>
          <p:cNvSpPr/>
          <p:nvPr/>
        </p:nvSpPr>
        <p:spPr>
          <a:xfrm>
            <a:off x="6400800" y="1371600"/>
            <a:ext cx="384048" cy="29260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latin typeface="Calibri"/>
              </a:defRPr>
            </a:pPr>
            <a:r>
              <a:t>02</a:t>
            </a:r>
          </a:p>
        </p:txBody>
      </p:sp>
      <p:sp>
        <p:nvSpPr>
          <p:cNvPr id="11" name="TextBox 10"/>
          <p:cNvSpPr txBox="1"/>
          <p:nvPr/>
        </p:nvSpPr>
        <p:spPr>
          <a:xfrm>
            <a:off x="6903720" y="1353312"/>
            <a:ext cx="4389120" cy="4389120"/>
          </a:xfrm>
          <a:prstGeom prst="rect">
            <a:avLst/>
          </a:prstGeom>
          <a:noFill/>
        </p:spPr>
        <p:txBody>
          <a:bodyPr wrap="square">
            <a:spAutoFit/>
          </a:bodyPr>
          <a:lstStyle/>
          <a:p>
            <a:pPr>
              <a:defRPr b="1" sz="1250">
                <a:solidFill>
                  <a:srgbClr val="0F172A"/>
                </a:solidFill>
                <a:latin typeface="Calibri"/>
              </a:defRPr>
            </a:pPr>
            <a:r>
              <a:t>Tổng kết Giá trị &amp; Khẳng định Khóa luận</a:t>
            </a:r>
          </a:p>
          <a:p>
            <a:pPr>
              <a:spcBef>
                <a:spcPts val="400"/>
              </a:spcBef>
              <a:defRPr sz="910">
                <a:solidFill>
                  <a:srgbClr val="334155"/>
                </a:solidFill>
                <a:latin typeface="Calibri"/>
              </a:defRPr>
            </a:pPr>
            <a:r>
              <a:t>• Ý nghĩa Thực tiễn Cấp bách: Giải quyết bài toán an toàn lao động tối quan trọng: ngăn ngừa tai nạn chấn thương đầu tử vong tại công trường xây dựng.</a:t>
            </a:r>
          </a:p>
          <a:p>
            <a:pPr>
              <a:spcBef>
                <a:spcPts val="400"/>
              </a:spcBef>
              <a:defRPr sz="910">
                <a:solidFill>
                  <a:srgbClr val="334155"/>
                </a:solidFill>
                <a:latin typeface="Calibri"/>
              </a:defRPr>
            </a:pPr>
            <a:r>
              <a:t>• Cơ sở Khoa học Vững chắc: Khắc phục triệt để các khoảng trống nghiên cứu được chỉ ra từ hơn 30 công trình quốc tế giai đoạn 2019-2026.</a:t>
            </a:r>
          </a:p>
          <a:p>
            <a:pPr>
              <a:spcBef>
                <a:spcPts val="400"/>
              </a:spcBef>
              <a:defRPr sz="910">
                <a:solidFill>
                  <a:srgbClr val="334155"/>
                </a:solidFill>
                <a:latin typeface="Calibri"/>
              </a:defRPr>
            </a:pPr>
            <a:r>
              <a:t>• 4 Cải tiến Toán học Đột phá: Kết hợp RepConv (Zero Latency), CoordConv (Khử báo động sàn), BiFormer (Bắt mũ nhỏ) và Focal-EIoU (Hồi quy sắc nét).</a:t>
            </a:r>
          </a:p>
          <a:p>
            <a:pPr>
              <a:spcBef>
                <a:spcPts val="400"/>
              </a:spcBef>
              <a:defRPr sz="910">
                <a:solidFill>
                  <a:srgbClr val="334155"/>
                </a:solidFill>
                <a:latin typeface="Calibri"/>
              </a:defRPr>
            </a:pPr>
            <a:r>
              <a:t>• Đối chuẩn Khách quan &amp; Vượt trội: Chứng minh vượt trội về Recallhat (91.33%) và F1hat (0.9190) trước cả hai baseline YOLO11s và YOLOv8s.</a:t>
            </a:r>
          </a:p>
          <a:p>
            <a:pPr>
              <a:spcBef>
                <a:spcPts val="400"/>
              </a:spcBef>
              <a:defRPr sz="910">
                <a:solidFill>
                  <a:srgbClr val="334155"/>
                </a:solidFill>
                <a:latin typeface="Calibri"/>
              </a:defRPr>
            </a:pPr>
            <a:r>
              <a:t>• Kết hợp Hoàn hảo Nghiên cứu &amp; Ứng dụng: Cầu nối hài hòa giữa sự chuẩn mực, khắt khe của nghiên cứu học thuật và giá trị thực tế bảo vệ sinh mạng con người.</a:t>
            </a:r>
          </a:p>
        </p:txBody>
      </p:sp>
      <p:sp>
        <p:nvSpPr>
          <p:cNvPr id="12" name="Rounded Rectangle 11"/>
          <p:cNvSpPr/>
          <p:nvPr/>
        </p:nvSpPr>
        <p:spPr>
          <a:xfrm>
            <a:off x="731520" y="6035040"/>
            <a:ext cx="10728655" cy="475488"/>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Calibri"/>
              </a:defRPr>
            </a:pPr>
          </a:p>
        </p:txBody>
      </p:sp>
      <p:sp>
        <p:nvSpPr>
          <p:cNvPr id="13" name="Rounded Rectangle 12"/>
          <p:cNvSpPr/>
          <p:nvPr/>
        </p:nvSpPr>
        <p:spPr>
          <a:xfrm>
            <a:off x="868680" y="6108192"/>
            <a:ext cx="1097280" cy="3200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Calibri"/>
              </a:defRPr>
            </a:pPr>
            <a:r>
              <a:t>ĐÚC KẾT</a:t>
            </a:r>
          </a:p>
        </p:txBody>
      </p:sp>
      <p:sp>
        <p:nvSpPr>
          <p:cNvPr id="14" name="TextBox 13"/>
          <p:cNvSpPr txBox="1"/>
          <p:nvPr/>
        </p:nvSpPr>
        <p:spPr>
          <a:xfrm>
            <a:off x="2057400" y="6053328"/>
            <a:ext cx="9235440" cy="438912"/>
          </a:xfrm>
          <a:prstGeom prst="rect">
            <a:avLst/>
          </a:prstGeom>
          <a:noFill/>
        </p:spPr>
        <p:txBody>
          <a:bodyPr wrap="square" lIns="0" tIns="0" rIns="0" bIns="0">
            <a:spAutoFit/>
          </a:bodyPr>
          <a:lstStyle/>
          <a:p>
            <a:pPr>
              <a:defRPr sz="1050" b="1">
                <a:solidFill>
                  <a:srgbClr val="0F172A"/>
                </a:solidFill>
                <a:latin typeface="Calibri"/>
              </a:defRPr>
            </a:pPr>
            <a:r>
              <a:t>Một khóa luận AI hoàn chỉnh và chuẩn mực, kết hợp hài hòa giữa độ chính xác cứu sinh, phần mềm thực thi mạnh mẽ và giá trị khoa học đích thực.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