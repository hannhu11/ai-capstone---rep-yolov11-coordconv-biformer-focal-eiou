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</p:sldIdLst>
  <p:sldSz cx="12191365" cy="6858000"/>
  <p:notesSz cx="6858000" cy="9144000"/>
  <p:embeddedFontLst>
    <p:embeddedFont>
      <p:font typeface="Calibri" panose="020F0502020204030204"/>
      <p:regular r:id="rId39"/>
      <p:bold r:id="rId40"/>
      <p:italic r:id="rId41"/>
      <p:boldItalic r:id="rId42"/>
    </p:embeddedFont>
    <p:embeddedFont>
      <p:font typeface="Inter" panose="02000503000000020004"/>
      <p:regular r:id="rId43"/>
      <p:bold r:id="rId44"/>
      <p:italic r:id="rId45"/>
      <p:boldItalic r:id="rId4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31" userDrawn="1">
          <p15:clr>
            <a:srgbClr val="000000"/>
          </p15:clr>
        </p15:guide>
        <p15:guide id="2" pos="2880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131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6" Type="http://schemas.openxmlformats.org/officeDocument/2006/relationships/font" Target="fonts/font8.fntdata"/><Relationship Id="rId45" Type="http://schemas.openxmlformats.org/officeDocument/2006/relationships/font" Target="fonts/font7.fntdata"/><Relationship Id="rId44" Type="http://schemas.openxmlformats.org/officeDocument/2006/relationships/font" Target="fonts/font6.fntdata"/><Relationship Id="rId43" Type="http://schemas.openxmlformats.org/officeDocument/2006/relationships/font" Target="fonts/font5.fntdata"/><Relationship Id="rId42" Type="http://schemas.openxmlformats.org/officeDocument/2006/relationships/font" Target="fonts/font4.fntdata"/><Relationship Id="rId41" Type="http://schemas.openxmlformats.org/officeDocument/2006/relationships/font" Target="fonts/font3.fntdata"/><Relationship Id="rId40" Type="http://schemas.openxmlformats.org/officeDocument/2006/relationships/font" Target="fonts/font2.fntdata"/><Relationship Id="rId4" Type="http://schemas.openxmlformats.org/officeDocument/2006/relationships/notesMaster" Target="notesMasters/notesMaster1.xml"/><Relationship Id="rId39" Type="http://schemas.openxmlformats.org/officeDocument/2006/relationships/font" Target="fonts/font1.fntdata"/><Relationship Id="rId38" Type="http://schemas.openxmlformats.org/officeDocument/2006/relationships/tableStyles" Target="tableStyles.xml"/><Relationship Id="rId37" Type="http://schemas.openxmlformats.org/officeDocument/2006/relationships/viewProps" Target="viewProps.xml"/><Relationship Id="rId36" Type="http://schemas.openxmlformats.org/officeDocument/2006/relationships/presProps" Target="presProps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 spc="0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Google Shape;82;p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0" name="Google Shape;100;p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5" name="Google Shape;125;p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0" name="Google Shape;150;p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6" name="Google Shape;176;p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3" name="Google Shape;193;p6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h6537f8b5a1599382_0_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3" name="Google Shape;203;h6537f8b5a1599382_0_2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2" name="Google Shape;212;p7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h6537f8b5a1599382_0_1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1" name="Google Shape;221;h6537f8b5a1599382_0_11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0" name="Google Shape;230;p8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h6537f8b5a1599382_0_18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0" name="Google Shape;240;h6537f8b5a1599382_0_18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0" name="Google Shape;250;p9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h6537f8b5a1599382_0_2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9" name="Google Shape;259;h6537f8b5a1599382_0_26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h6537f8b5a1599382_0_39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h6537f8b5a1599382_0_3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1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7" name="Google Shape;357;p11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h6537f8b5a1599382_29_9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h6537f8b5a1599382_29_9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h6537f8b5a1599382_29_17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h6537f8b5a1599382_29_1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39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1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1" name="Google Shape;441;p12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1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53" name="Google Shape;453;p13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14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6" name="Google Shape;466;p14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15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79" name="Google Shape;479;p15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1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93" name="Google Shape;493;p16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17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09" name="Google Shape;509;p17:notes"/>
          <p:cNvSpPr/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h6537f8b5a1599382_29_0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4" name="Google Shape;514;h6537f8b5a1599382_29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h6537f8b5a1599382_29_3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h6537f8b5a1599382_29_3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h6537f8b5a1599382_29_12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h6537f8b5a1599382_29_12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h6537f8b5a1599382_29_116:notes"/>
          <p:cNvSpPr/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h6537f8b5a1599382_29_116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3" name="Google Shape;43;p7"/>
          <p:cNvSpPr txBox="1"/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5" name="Google Shape;45;p7"/>
          <p:cNvSpPr txBox="1"/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 spc="0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6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11906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731520" y="411480"/>
            <a:ext cx="5669280" cy="347472"/>
          </a:xfrm>
          <a:prstGeom prst="roundRect">
            <a:avLst>
              <a:gd name="adj" fmla="val 16667"/>
            </a:avLst>
          </a:prstGeom>
          <a:solidFill>
            <a:srgbClr val="FFF7ED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841248" y="457200"/>
            <a:ext cx="5486400" cy="1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u="none" strike="noStrike" cap="none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FPT UNIVERSITY · ARTIFICIAL INTELLIGENCE CAPSTONE </a:t>
            </a:r>
            <a:endParaRPr lang="en-US" sz="950" b="1" i="0" u="none" strike="noStrike" cap="none">
              <a:solidFill>
                <a:srgbClr val="EA580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731520" y="960120"/>
            <a:ext cx="68580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8" name="Google Shape;88;p13"/>
          <p:cNvSpPr txBox="1"/>
          <p:nvPr/>
        </p:nvSpPr>
        <p:spPr>
          <a:xfrm>
            <a:off x="660995" y="1175530"/>
            <a:ext cx="6858000" cy="20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225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Structural Re-Parameterization, Spatial Coordinate</a:t>
            </a:r>
            <a:endParaRPr sz="2250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225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Encoding, and Cross-Domain Robustness for</a:t>
            </a:r>
            <a:endParaRPr sz="2250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225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Real-Time Safety Helmet Detection in Construction</a:t>
            </a:r>
            <a:endParaRPr sz="2250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2250" b="1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Surveillance</a:t>
            </a:r>
            <a:endParaRPr sz="2250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2250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250" b="1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441750" y="3037655"/>
            <a:ext cx="3474600" cy="1107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606312" y="3184057"/>
            <a:ext cx="3145500" cy="8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TEAM M</a:t>
            </a:r>
            <a:r>
              <a:rPr lang="en-US" sz="1000" b="1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EMBERS</a:t>
            </a:r>
            <a:endParaRPr lang="en-US" sz="1000" b="1">
              <a:solidFill>
                <a:srgbClr val="EA580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0" b="1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Nguyen Han Nhu </a:t>
            </a:r>
            <a:r>
              <a:rPr lang="en-US" sz="102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· SE183644 (Lead)</a:t>
            </a:r>
            <a:br>
              <a:rPr lang="en-US" sz="102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020" b="1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Nguyen Van Thanh</a:t>
            </a:r>
            <a:r>
              <a:rPr lang="en-US" sz="102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· SE18</a:t>
            </a:r>
            <a:r>
              <a:rPr lang="en-US" sz="1020" b="1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0387</a:t>
            </a:r>
            <a:br>
              <a:rPr lang="en-US" sz="102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020" b="1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Tran Pham Tuan Dung</a:t>
            </a:r>
            <a:r>
              <a:rPr lang="en-US" sz="102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· </a:t>
            </a:r>
            <a:r>
              <a:rPr lang="en-US" sz="1020" b="1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SE183674</a:t>
            </a:r>
            <a:endParaRPr lang="en-US" sz="1020" b="1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Role: Architecture, TensorRT Engine &amp; RTSP Pipeline</a:t>
            </a:r>
            <a:endParaRPr lang="en-US" sz="900" b="0" i="0" u="none" strike="noStrike" cap="none">
              <a:solidFill>
                <a:srgbClr val="64748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4154775" y="4531525"/>
            <a:ext cx="3364200" cy="1228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4237137" y="4655307"/>
            <a:ext cx="3145500" cy="8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2563E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ACADEMIC ADVISOR</a:t>
            </a:r>
            <a:endParaRPr lang="en-US" sz="1000" b="1" i="0" u="none" strike="noStrike" cap="none">
              <a:solidFill>
                <a:srgbClr val="2563E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2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M.Sc. </a:t>
            </a:r>
            <a:r>
              <a:rPr lang="en-US" sz="1020" b="1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Vu Ha Anh </a:t>
            </a:r>
            <a:r>
              <a:rPr lang="en-US" sz="102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(anhvh@fe.edu.vn)</a:t>
            </a:r>
            <a:br>
              <a:rPr lang="en-US" sz="102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02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Dept. of Artificial Intelligence — IT Faculty</a:t>
            </a:r>
            <a:br>
              <a:rPr lang="en-US" sz="102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02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FPT University </a:t>
            </a:r>
            <a:r>
              <a:rPr lang="en-US" sz="1020" b="1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HCM </a:t>
            </a:r>
            <a:r>
              <a:rPr lang="en-US" sz="102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Campus</a:t>
            </a:r>
            <a:endParaRPr lang="en-US" sz="102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Focus: High-Impact Industrial Computer Vision</a:t>
            </a:r>
            <a:endParaRPr lang="en-US" sz="900" b="0" i="0" u="none" strike="noStrike" cap="none">
              <a:solidFill>
                <a:srgbClr val="64748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93" name="Google Shape;93;p13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8186300" y="1599525"/>
            <a:ext cx="3069665" cy="35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3"/>
          <p:cNvSpPr/>
          <p:nvPr/>
        </p:nvSpPr>
        <p:spPr>
          <a:xfrm>
            <a:off x="4183125" y="3037650"/>
            <a:ext cx="3364200" cy="1107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" name="Google Shape;95;p13"/>
          <p:cNvSpPr/>
          <p:nvPr/>
        </p:nvSpPr>
        <p:spPr>
          <a:xfrm>
            <a:off x="496950" y="4531525"/>
            <a:ext cx="3364200" cy="1228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" name="Google Shape;96;p13"/>
          <p:cNvSpPr txBox="1"/>
          <p:nvPr/>
        </p:nvSpPr>
        <p:spPr>
          <a:xfrm>
            <a:off x="4321775" y="3151650"/>
            <a:ext cx="2939100" cy="8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190500" lvl="0" indent="0" algn="l" rtl="0">
              <a:lnSpc>
                <a:spcPct val="12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16A34A"/>
                </a:solidFill>
                <a:highlight>
                  <a:srgbClr val="F8F9FA"/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GROUP CODE</a:t>
            </a:r>
            <a:endParaRPr sz="1000" b="1">
              <a:solidFill>
                <a:srgbClr val="16A34A"/>
              </a:solidFill>
              <a:highlight>
                <a:srgbClr val="F8F9FA"/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190500" lvl="0" indent="0" algn="l" rtl="0">
              <a:lnSpc>
                <a:spcPct val="129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000" b="1">
                <a:solidFill>
                  <a:schemeClr val="dk1"/>
                </a:solidFill>
                <a:highlight>
                  <a:srgbClr val="F8F9FA"/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GFA26AI17</a:t>
            </a:r>
            <a:endParaRPr sz="1000" b="1">
              <a:solidFill>
                <a:schemeClr val="dk1"/>
              </a:solidFill>
              <a:highlight>
                <a:srgbClr val="F8F9FA"/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" name="Google Shape;97;p13"/>
          <p:cNvSpPr txBox="1"/>
          <p:nvPr/>
        </p:nvSpPr>
        <p:spPr>
          <a:xfrm>
            <a:off x="661000" y="4655300"/>
            <a:ext cx="2939100" cy="8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190500" lvl="0" indent="0" algn="l" rtl="0">
              <a:lnSpc>
                <a:spcPct val="12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FF0000"/>
                </a:solidFill>
                <a:highlight>
                  <a:srgbClr val="F8F9FA"/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PROJECT CODE</a:t>
            </a:r>
            <a:endParaRPr sz="1000" b="1">
              <a:solidFill>
                <a:srgbClr val="FF0000"/>
              </a:solidFill>
              <a:highlight>
                <a:srgbClr val="F8F9FA"/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190500" lvl="0" indent="0" algn="l" rtl="0">
              <a:lnSpc>
                <a:spcPct val="12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dk1"/>
                </a:solidFill>
                <a:highlight>
                  <a:srgbClr val="F8F9FA"/>
                </a:highlight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FA26AI16</a:t>
            </a:r>
            <a:endParaRPr sz="1000" b="1">
              <a:solidFill>
                <a:schemeClr val="dk1"/>
              </a:solidFill>
              <a:highlight>
                <a:srgbClr val="F8F9FA"/>
              </a:highlight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CRITERION 1 · PROBLEM DEFINITION &amp; URGENCY</a:t>
            </a:r>
            <a:endParaRPr lang="en-US" sz="1000" b="1" i="0" u="none" strike="noStrike" cap="none">
              <a:solidFill>
                <a:srgbClr val="EA580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02 / 18</a:t>
            </a:r>
            <a:endParaRPr lang="en-US" sz="1100" b="1" i="0" u="none" strike="noStrike" cap="none">
              <a:solidFill>
                <a:srgbClr val="64748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Real Construction Context &amp; 4 Technical Bottlenecks</a:t>
            </a:r>
            <a:endParaRPr lang="en-US" sz="20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731520" y="1234440"/>
            <a:ext cx="5120640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7" name="Google Shape;107;p14"/>
          <p:cNvSpPr/>
          <p:nvPr/>
        </p:nvSpPr>
        <p:spPr>
          <a:xfrm>
            <a:off x="868680" y="1371600"/>
            <a:ext cx="411480" cy="320040"/>
          </a:xfrm>
          <a:prstGeom prst="roundRect">
            <a:avLst>
              <a:gd name="adj" fmla="val 16667"/>
            </a:avLst>
          </a:prstGeom>
          <a:solidFill>
            <a:srgbClr val="EA580C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868680" y="1380744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01</a:t>
            </a:r>
            <a:endParaRPr lang="en-US" sz="11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1389888" y="1344168"/>
            <a:ext cx="4297800" cy="5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Distant Tiny Objects </a:t>
            </a:r>
            <a:endParaRPr lang="en-US" sz="115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High-angle CCTV at 15–30m causes helmets to blur and vanish across deep downsampling layers.</a:t>
            </a:r>
            <a:endParaRPr sz="1200"/>
          </a:p>
        </p:txBody>
      </p:sp>
      <p:sp>
        <p:nvSpPr>
          <p:cNvPr id="110" name="Google Shape;110;p14"/>
          <p:cNvSpPr/>
          <p:nvPr/>
        </p:nvSpPr>
        <p:spPr>
          <a:xfrm>
            <a:off x="731520" y="2468880"/>
            <a:ext cx="5120640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1" name="Google Shape;111;p14"/>
          <p:cNvSpPr/>
          <p:nvPr/>
        </p:nvSpPr>
        <p:spPr>
          <a:xfrm>
            <a:off x="868680" y="2606040"/>
            <a:ext cx="411480" cy="320040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 w="1270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2" name="Google Shape;112;p14"/>
          <p:cNvSpPr txBox="1"/>
          <p:nvPr/>
        </p:nvSpPr>
        <p:spPr>
          <a:xfrm>
            <a:off x="868680" y="2615184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02</a:t>
            </a:r>
            <a:endParaRPr lang="en-US" sz="11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3" name="Google Shape;113;p14"/>
          <p:cNvSpPr txBox="1"/>
          <p:nvPr/>
        </p:nvSpPr>
        <p:spPr>
          <a:xfrm>
            <a:off x="1389888" y="2578608"/>
            <a:ext cx="4297800" cy="5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Extreme Class Imbalance (1:12)</a:t>
            </a:r>
            <a:endParaRPr lang="en-US" sz="115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9,044 helmets vs. 111,514 worker body instances; worker gradients dominate the loss.</a:t>
            </a:r>
            <a:endParaRPr sz="1200"/>
          </a:p>
        </p:txBody>
      </p:sp>
      <p:sp>
        <p:nvSpPr>
          <p:cNvPr id="114" name="Google Shape;114;p14"/>
          <p:cNvSpPr/>
          <p:nvPr/>
        </p:nvSpPr>
        <p:spPr>
          <a:xfrm>
            <a:off x="731520" y="3703320"/>
            <a:ext cx="5120640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5" name="Google Shape;115;p14"/>
          <p:cNvSpPr/>
          <p:nvPr/>
        </p:nvSpPr>
        <p:spPr>
          <a:xfrm>
            <a:off x="868680" y="3840480"/>
            <a:ext cx="411480" cy="32004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 w="12700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6" name="Google Shape;116;p14"/>
          <p:cNvSpPr txBox="1"/>
          <p:nvPr/>
        </p:nvSpPr>
        <p:spPr>
          <a:xfrm>
            <a:off x="868680" y="3849624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03</a:t>
            </a:r>
            <a:endParaRPr lang="en-US" sz="11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7" name="Google Shape;117;p14"/>
          <p:cNvSpPr txBox="1"/>
          <p:nvPr/>
        </p:nvSpPr>
        <p:spPr>
          <a:xfrm>
            <a:off x="1389888" y="3813048"/>
            <a:ext cx="4297800" cy="5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Color Noise &amp; False Alarms</a:t>
            </a:r>
            <a:endParaRPr lang="en-US" sz="115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Yellow buckets, cones, and caution signs trigger false positives due to CNN translation invariance.</a:t>
            </a:r>
            <a:endParaRPr sz="1200"/>
          </a:p>
        </p:txBody>
      </p:sp>
      <p:sp>
        <p:nvSpPr>
          <p:cNvPr id="118" name="Google Shape;118;p14"/>
          <p:cNvSpPr/>
          <p:nvPr/>
        </p:nvSpPr>
        <p:spPr>
          <a:xfrm>
            <a:off x="731520" y="4937760"/>
            <a:ext cx="5120640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9" name="Google Shape;119;p14"/>
          <p:cNvSpPr/>
          <p:nvPr/>
        </p:nvSpPr>
        <p:spPr>
          <a:xfrm>
            <a:off x="868680" y="5074920"/>
            <a:ext cx="411480" cy="320040"/>
          </a:xfrm>
          <a:prstGeom prst="roundRect">
            <a:avLst>
              <a:gd name="adj" fmla="val 16667"/>
            </a:avLst>
          </a:prstGeom>
          <a:solidFill>
            <a:srgbClr val="16A34A"/>
          </a:solidFill>
          <a:ln w="12700" cap="flat" cmpd="sng">
            <a:solidFill>
              <a:srgbClr val="16A34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0" name="Google Shape;120;p14"/>
          <p:cNvSpPr txBox="1"/>
          <p:nvPr/>
        </p:nvSpPr>
        <p:spPr>
          <a:xfrm>
            <a:off x="868680" y="5084064"/>
            <a:ext cx="4114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04</a:t>
            </a:r>
            <a:endParaRPr lang="en-US" sz="11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1" name="Google Shape;121;p14"/>
          <p:cNvSpPr txBox="1"/>
          <p:nvPr/>
        </p:nvSpPr>
        <p:spPr>
          <a:xfrm>
            <a:off x="1389888" y="5047488"/>
            <a:ext cx="4297800" cy="5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Edge Hardware Constraints</a:t>
            </a:r>
            <a:endParaRPr lang="en-US" sz="115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Strict &gt;= 25 FPS real-time requirement on budget laptops/GPUs without costly server clusters.</a:t>
            </a:r>
            <a:endParaRPr sz="1200"/>
          </a:p>
        </p:txBody>
      </p:sp>
      <p:pic>
        <p:nvPicPr>
          <p:cNvPr id="122" name="Google Shape;122;p14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692212" y="1691650"/>
            <a:ext cx="4923270" cy="3992126"/>
          </a:xfrm>
          <a:prstGeom prst="rect">
            <a:avLst/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5"/>
          <p:cNvSpPr/>
          <p:nvPr/>
        </p:nvSpPr>
        <p:spPr>
          <a:xfrm>
            <a:off x="-12" y="69000"/>
            <a:ext cx="12191700" cy="69585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731520" y="292608"/>
            <a:ext cx="8686800" cy="3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 panose="020B0604020202020204"/>
              <a:buNone/>
            </a:pPr>
            <a:r>
              <a:rPr lang="en-US" sz="1000" b="1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CRITERION 2 · EXPECTED OUTCOMES</a:t>
            </a:r>
            <a:endParaRPr sz="1000" b="1">
              <a:solidFill>
                <a:srgbClr val="EA580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b="1">
              <a:solidFill>
                <a:srgbClr val="EA580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10332720" y="292608"/>
            <a:ext cx="10974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</a:t>
            </a:r>
            <a:r>
              <a:rPr lang="en-US" sz="1100" b="1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</a:t>
            </a:r>
            <a:r>
              <a:rPr lang="en-US" sz="1100" b="1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/ 18</a:t>
            </a:r>
            <a:endParaRPr lang="en-US" sz="1100" b="1" i="0" u="none" strike="noStrike" cap="none">
              <a:solidFill>
                <a:srgbClr val="64748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0" name="Google Shape;130;p15"/>
          <p:cNvSpPr txBox="1"/>
          <p:nvPr/>
        </p:nvSpPr>
        <p:spPr>
          <a:xfrm>
            <a:off x="731520" y="566928"/>
            <a:ext cx="106986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Project Scope </a:t>
            </a:r>
            <a:endParaRPr sz="1900"/>
          </a:p>
        </p:txBody>
      </p:sp>
      <p:sp>
        <p:nvSpPr>
          <p:cNvPr id="131" name="Google Shape;131;p15"/>
          <p:cNvSpPr/>
          <p:nvPr/>
        </p:nvSpPr>
        <p:spPr>
          <a:xfrm>
            <a:off x="485725" y="1484563"/>
            <a:ext cx="10944300" cy="13407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2" name="Google Shape;132;p15"/>
          <p:cNvSpPr/>
          <p:nvPr/>
        </p:nvSpPr>
        <p:spPr>
          <a:xfrm>
            <a:off x="843138" y="2064994"/>
            <a:ext cx="411600" cy="320100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 w="1270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3" name="Google Shape;133;p15"/>
          <p:cNvSpPr txBox="1"/>
          <p:nvPr/>
        </p:nvSpPr>
        <p:spPr>
          <a:xfrm>
            <a:off x="843138" y="2140451"/>
            <a:ext cx="411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01</a:t>
            </a:r>
            <a:endParaRPr lang="en-US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4" name="Google Shape;134;p15"/>
          <p:cNvSpPr txBox="1"/>
          <p:nvPr/>
        </p:nvSpPr>
        <p:spPr>
          <a:xfrm>
            <a:off x="1645803" y="2067244"/>
            <a:ext cx="2926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REP-YOLO11s MODEL</a:t>
            </a:r>
            <a:endParaRPr lang="en-US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2563E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Accurate &amp; Generalizable</a:t>
            </a:r>
            <a:endParaRPr lang="en-US" b="1" i="0" u="none" strike="noStrike" cap="none">
              <a:solidFill>
                <a:srgbClr val="2563E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5" name="Google Shape;135;p15"/>
          <p:cNvSpPr txBox="1"/>
          <p:nvPr/>
        </p:nvSpPr>
        <p:spPr>
          <a:xfrm>
            <a:off x="4018199" y="2062513"/>
            <a:ext cx="7228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Trained weights achieving </a:t>
            </a:r>
            <a:r>
              <a:rPr lang="en-US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map 50  &gt; 96%</a:t>
            </a:r>
            <a:endParaRPr lang="en-US">
              <a:solidFill>
                <a:srgbClr val="334155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6" name="Google Shape;136;p15"/>
          <p:cNvSpPr txBox="1"/>
          <p:nvPr/>
        </p:nvSpPr>
        <p:spPr>
          <a:xfrm>
            <a:off x="914400" y="3218688"/>
            <a:ext cx="4116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</a:t>
            </a:r>
            <a:endParaRPr lang="en-US" sz="1100" b="1" i="0" u="none" strike="noStrike" cap="none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7" name="Google Shape;137;p15"/>
          <p:cNvSpPr txBox="1"/>
          <p:nvPr/>
        </p:nvSpPr>
        <p:spPr>
          <a:xfrm>
            <a:off x="1463040" y="3191256"/>
            <a:ext cx="2926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8" name="Google Shape;138;p15"/>
          <p:cNvSpPr/>
          <p:nvPr/>
        </p:nvSpPr>
        <p:spPr>
          <a:xfrm>
            <a:off x="485725" y="3127274"/>
            <a:ext cx="10959300" cy="1396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9" name="Google Shape;139;p15"/>
          <p:cNvSpPr/>
          <p:nvPr/>
        </p:nvSpPr>
        <p:spPr>
          <a:xfrm>
            <a:off x="843138" y="3665207"/>
            <a:ext cx="411600" cy="320100"/>
          </a:xfrm>
          <a:prstGeom prst="roundRect">
            <a:avLst>
              <a:gd name="adj" fmla="val 16667"/>
            </a:avLst>
          </a:prstGeom>
          <a:solidFill>
            <a:srgbClr val="D97706"/>
          </a:solidFill>
          <a:ln w="12700" cap="flat" cmpd="sng">
            <a:solidFill>
              <a:srgbClr val="D97706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0" name="Google Shape;140;p15"/>
          <p:cNvSpPr txBox="1"/>
          <p:nvPr/>
        </p:nvSpPr>
        <p:spPr>
          <a:xfrm>
            <a:off x="843150" y="3740675"/>
            <a:ext cx="411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02</a:t>
            </a:r>
            <a:endParaRPr lang="en-US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1" name="Google Shape;141;p15"/>
          <p:cNvSpPr txBox="1"/>
          <p:nvPr/>
        </p:nvSpPr>
        <p:spPr>
          <a:xfrm>
            <a:off x="1645790" y="3609880"/>
            <a:ext cx="2926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COMPILED ENGINES</a:t>
            </a:r>
            <a:endParaRPr lang="en-US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D97706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Zero-latency Deploy</a:t>
            </a:r>
            <a:endParaRPr lang="en-US" b="1" i="0" u="none" strike="noStrike" cap="none">
              <a:solidFill>
                <a:srgbClr val="D97706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2" name="Google Shape;142;p15"/>
          <p:cNvSpPr txBox="1"/>
          <p:nvPr/>
        </p:nvSpPr>
        <p:spPr>
          <a:xfrm>
            <a:off x="4107985" y="3732868"/>
            <a:ext cx="6766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TensorRT 11.2 FP16 (.engine), ONNX INT8 (.onnx), OpenVINO packages ready for cross-platform edge chips.</a:t>
            </a:r>
            <a:endParaRPr lang="en-US" b="0" i="0" u="none" strike="noStrike" cap="none">
              <a:solidFill>
                <a:srgbClr val="334155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3" name="Google Shape;143;p15"/>
          <p:cNvSpPr/>
          <p:nvPr/>
        </p:nvSpPr>
        <p:spPr>
          <a:xfrm>
            <a:off x="485725" y="4825248"/>
            <a:ext cx="10959300" cy="1486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4" name="Google Shape;144;p15"/>
          <p:cNvSpPr/>
          <p:nvPr/>
        </p:nvSpPr>
        <p:spPr>
          <a:xfrm>
            <a:off x="843138" y="5432919"/>
            <a:ext cx="411600" cy="320100"/>
          </a:xfrm>
          <a:prstGeom prst="roundRect">
            <a:avLst>
              <a:gd name="adj" fmla="val 16667"/>
            </a:avLst>
          </a:prstGeom>
          <a:solidFill>
            <a:srgbClr val="9333EA"/>
          </a:solidFill>
          <a:ln w="12700" cap="flat" cmpd="sng">
            <a:solidFill>
              <a:srgbClr val="9333E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5" name="Google Shape;145;p15"/>
          <p:cNvSpPr txBox="1"/>
          <p:nvPr/>
        </p:nvSpPr>
        <p:spPr>
          <a:xfrm>
            <a:off x="843150" y="5508385"/>
            <a:ext cx="411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03</a:t>
            </a:r>
            <a:endParaRPr sz="1700"/>
          </a:p>
        </p:txBody>
      </p:sp>
      <p:sp>
        <p:nvSpPr>
          <p:cNvPr id="146" name="Google Shape;146;p15"/>
          <p:cNvSpPr txBox="1"/>
          <p:nvPr/>
        </p:nvSpPr>
        <p:spPr>
          <a:xfrm>
            <a:off x="1526740" y="5403430"/>
            <a:ext cx="2926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STANDARDIZED BENCHMARK</a:t>
            </a:r>
            <a:endParaRPr lang="en-US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9333E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Cleaned Industry Benchmark</a:t>
            </a:r>
            <a:endParaRPr lang="en-US" b="1" i="0" u="none" strike="noStrike" cap="none">
              <a:solidFill>
                <a:srgbClr val="9333E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7" name="Google Shape;147;p15"/>
          <p:cNvSpPr txBox="1"/>
          <p:nvPr/>
        </p:nvSpPr>
        <p:spPr>
          <a:xfrm>
            <a:off x="4018210" y="5500581"/>
            <a:ext cx="6766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&gt;33,000 images harmonized across 6 industrial domains with cleaned VOC2028 annotations.</a:t>
            </a:r>
            <a:endParaRPr lang="en-US" b="0" i="0" u="none" strike="noStrike" cap="none">
              <a:solidFill>
                <a:srgbClr val="334155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6"/>
          <p:cNvSpPr/>
          <p:nvPr/>
        </p:nvSpPr>
        <p:spPr>
          <a:xfrm>
            <a:off x="-12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3" name="Google Shape;153;p16"/>
          <p:cNvSpPr txBox="1"/>
          <p:nvPr/>
        </p:nvSpPr>
        <p:spPr>
          <a:xfrm>
            <a:off x="731507" y="292608"/>
            <a:ext cx="86868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CRITERION 3 · FEASIBILITY &amp; THEORETICAL FOUNDATION</a:t>
            </a:r>
            <a:endParaRPr lang="en-US" sz="1000" b="1" i="0" u="none" strike="noStrike" cap="none">
              <a:solidFill>
                <a:srgbClr val="EA580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4" name="Google Shape;154;p16"/>
          <p:cNvSpPr txBox="1"/>
          <p:nvPr/>
        </p:nvSpPr>
        <p:spPr>
          <a:xfrm>
            <a:off x="10332708" y="292608"/>
            <a:ext cx="10974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04 / 18</a:t>
            </a:r>
            <a:endParaRPr lang="en-US" sz="1100" b="1" i="0" u="none" strike="noStrike" cap="none">
              <a:solidFill>
                <a:srgbClr val="64748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5" name="Google Shape;155;p16"/>
          <p:cNvSpPr txBox="1"/>
          <p:nvPr/>
        </p:nvSpPr>
        <p:spPr>
          <a:xfrm>
            <a:off x="731507" y="566928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Literature Review of </a:t>
            </a:r>
            <a:r>
              <a:rPr lang="en-US" sz="2000" b="1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30</a:t>
            </a:r>
            <a:r>
              <a:rPr lang="en-US" sz="2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 Works &amp; SOTA Research Gap</a:t>
            </a:r>
            <a:endParaRPr lang="en-US" sz="20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6" name="Google Shape;156;p16"/>
          <p:cNvSpPr/>
          <p:nvPr/>
        </p:nvSpPr>
        <p:spPr>
          <a:xfrm>
            <a:off x="731507" y="1234440"/>
            <a:ext cx="10698600" cy="7773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7" name="Google Shape;157;p16"/>
          <p:cNvSpPr txBox="1"/>
          <p:nvPr/>
        </p:nvSpPr>
        <p:spPr>
          <a:xfrm>
            <a:off x="914388" y="1344168"/>
            <a:ext cx="27432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Standard YOLO (v8 / 11)</a:t>
            </a:r>
            <a:endParaRPr sz="1800"/>
          </a:p>
        </p:txBody>
      </p:sp>
      <p:sp>
        <p:nvSpPr>
          <p:cNvPr id="158" name="Google Shape;158;p16"/>
          <p:cNvSpPr txBox="1"/>
          <p:nvPr/>
        </p:nvSpPr>
        <p:spPr>
          <a:xfrm>
            <a:off x="3749027" y="1344168"/>
            <a:ext cx="2103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mAP50: 94.74% mAP50</a:t>
            </a:r>
            <a:endParaRPr lang="en-US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9" name="Google Shape;159;p16"/>
          <p:cNvSpPr txBox="1"/>
          <p:nvPr/>
        </p:nvSpPr>
        <p:spPr>
          <a:xfrm>
            <a:off x="5943588" y="1344168"/>
            <a:ext cx="5303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Coordinate-agnostic; frequent false positives on ground yellow buckets.</a:t>
            </a:r>
            <a:endParaRPr lang="en-US" b="0" i="0" u="none" strike="noStrike" cap="none">
              <a:solidFill>
                <a:srgbClr val="334155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0" name="Google Shape;160;p16"/>
          <p:cNvSpPr/>
          <p:nvPr/>
        </p:nvSpPr>
        <p:spPr>
          <a:xfrm>
            <a:off x="731507" y="2103120"/>
            <a:ext cx="10698600" cy="7773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1" name="Google Shape;161;p16"/>
          <p:cNvSpPr txBox="1"/>
          <p:nvPr/>
        </p:nvSpPr>
        <p:spPr>
          <a:xfrm>
            <a:off x="914388" y="2212848"/>
            <a:ext cx="27432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EC-YOLOv8 (Zhang 2024)</a:t>
            </a:r>
            <a:endParaRPr sz="1800"/>
          </a:p>
        </p:txBody>
      </p:sp>
      <p:sp>
        <p:nvSpPr>
          <p:cNvPr id="162" name="Google Shape;162;p16"/>
          <p:cNvSpPr txBox="1"/>
          <p:nvPr/>
        </p:nvSpPr>
        <p:spPr>
          <a:xfrm>
            <a:off x="3749027" y="2212848"/>
            <a:ext cx="2103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mAP50: 95.70% mAP50</a:t>
            </a:r>
            <a:endParaRPr lang="en-US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3" name="Google Shape;163;p16"/>
          <p:cNvSpPr txBox="1"/>
          <p:nvPr/>
        </p:nvSpPr>
        <p:spPr>
          <a:xfrm>
            <a:off x="5943588" y="2212848"/>
            <a:ext cx="5303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High mAP via CARAFE operator, but heavy computational latency overhead.</a:t>
            </a:r>
            <a:endParaRPr lang="en-US" b="0" i="0" u="none" strike="noStrike" cap="none">
              <a:solidFill>
                <a:srgbClr val="334155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4" name="Google Shape;164;p16"/>
          <p:cNvSpPr/>
          <p:nvPr/>
        </p:nvSpPr>
        <p:spPr>
          <a:xfrm>
            <a:off x="731507" y="2971800"/>
            <a:ext cx="10698600" cy="7773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5" name="Google Shape;165;p16"/>
          <p:cNvSpPr txBox="1"/>
          <p:nvPr/>
        </p:nvSpPr>
        <p:spPr>
          <a:xfrm>
            <a:off x="914388" y="3081528"/>
            <a:ext cx="27432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YOLO-CBF (Li 2023)</a:t>
            </a:r>
            <a:endParaRPr sz="1800"/>
          </a:p>
        </p:txBody>
      </p:sp>
      <p:sp>
        <p:nvSpPr>
          <p:cNvPr id="166" name="Google Shape;166;p16"/>
          <p:cNvSpPr txBox="1"/>
          <p:nvPr/>
        </p:nvSpPr>
        <p:spPr>
          <a:xfrm>
            <a:off x="3749027" y="3081528"/>
            <a:ext cx="2103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mAP50: 95.60% mAP50</a:t>
            </a:r>
            <a:endParaRPr lang="en-US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7" name="Google Shape;167;p16"/>
          <p:cNvSpPr txBox="1"/>
          <p:nvPr/>
        </p:nvSpPr>
        <p:spPr>
          <a:xfrm>
            <a:off x="5943588" y="3081528"/>
            <a:ext cx="5303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Combines CoordConv &amp; BiFormer but balloons to 37.2M params and 104.5 GFLOPs.</a:t>
            </a:r>
            <a:endParaRPr lang="en-US" b="0" i="0" u="none" strike="noStrike" cap="none">
              <a:solidFill>
                <a:srgbClr val="334155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8" name="Google Shape;168;p16"/>
          <p:cNvSpPr/>
          <p:nvPr/>
        </p:nvSpPr>
        <p:spPr>
          <a:xfrm>
            <a:off x="731507" y="3840479"/>
            <a:ext cx="10698600" cy="7773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69" name="Google Shape;169;p16"/>
          <p:cNvSpPr txBox="1"/>
          <p:nvPr/>
        </p:nvSpPr>
        <p:spPr>
          <a:xfrm>
            <a:off x="914388" y="3950207"/>
            <a:ext cx="27432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YOLOv8n-FADS (Fu 2024)</a:t>
            </a:r>
            <a:endParaRPr sz="1800"/>
          </a:p>
        </p:txBody>
      </p:sp>
      <p:sp>
        <p:nvSpPr>
          <p:cNvPr id="170" name="Google Shape;170;p16"/>
          <p:cNvSpPr txBox="1"/>
          <p:nvPr/>
        </p:nvSpPr>
        <p:spPr>
          <a:xfrm>
            <a:off x="3749027" y="3950207"/>
            <a:ext cx="2103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mAP50: 79.70% mAP50</a:t>
            </a:r>
            <a:endParaRPr lang="en-US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1" name="Google Shape;171;p16"/>
          <p:cNvSpPr txBox="1"/>
          <p:nvPr/>
        </p:nvSpPr>
        <p:spPr>
          <a:xfrm>
            <a:off x="5943588" y="3950207"/>
            <a:ext cx="5303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P2 branch expansion causes computational explosion; low empirical precision.</a:t>
            </a:r>
            <a:endParaRPr lang="en-US" b="0" i="0" u="none" strike="noStrike" cap="none">
              <a:solidFill>
                <a:srgbClr val="334155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2" name="Google Shape;172;p16"/>
          <p:cNvSpPr/>
          <p:nvPr/>
        </p:nvSpPr>
        <p:spPr>
          <a:xfrm>
            <a:off x="731507" y="5715000"/>
            <a:ext cx="10698600" cy="731400"/>
          </a:xfrm>
          <a:prstGeom prst="roundRect">
            <a:avLst>
              <a:gd name="adj" fmla="val 16667"/>
            </a:avLst>
          </a:prstGeom>
          <a:solidFill>
            <a:srgbClr val="FFF7ED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3" name="Google Shape;173;p16"/>
          <p:cNvSpPr txBox="1"/>
          <p:nvPr/>
        </p:nvSpPr>
        <p:spPr>
          <a:xfrm>
            <a:off x="914388" y="5779008"/>
            <a:ext cx="103326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★ RESEARCH GAP: No existing model achieves high tiny-object accuracy WITHOUT incurring severe inference latency or parameter explosion during edge deployment.</a:t>
            </a:r>
            <a:endParaRPr lang="en-US" sz="1050" b="1" i="0" u="none" strike="noStrike" cap="none">
              <a:solidFill>
                <a:srgbClr val="EA580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7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9" name="Google Shape;179;p17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PROPOSED METHOD · NEURAL NETWORK ARCHITECTURE</a:t>
            </a:r>
            <a:endParaRPr lang="en-US" sz="1000" b="1" i="0" u="none" strike="noStrike" cap="none">
              <a:solidFill>
                <a:srgbClr val="EA580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0" name="Google Shape;180;p17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05 / 18</a:t>
            </a:r>
            <a:endParaRPr lang="en-US" sz="1100" b="1" i="0" u="none" strike="noStrike" cap="none">
              <a:solidFill>
                <a:srgbClr val="64748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1" name="Google Shape;181;p17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Comprehensive 5-Stage Neural Architecture of Rep-YOLO11s</a:t>
            </a:r>
            <a:endParaRPr lang="en-US" sz="20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2" name="Google Shape;182;p17"/>
          <p:cNvSpPr/>
          <p:nvPr/>
        </p:nvSpPr>
        <p:spPr>
          <a:xfrm>
            <a:off x="731520" y="1143000"/>
            <a:ext cx="10698480" cy="3931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83" name="Google Shape;183;p17" descr="Fig2_rep_yolo11s_neural_architectur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594375" y="923213"/>
            <a:ext cx="11180673" cy="4576764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17"/>
          <p:cNvSpPr/>
          <p:nvPr/>
        </p:nvSpPr>
        <p:spPr>
          <a:xfrm>
            <a:off x="700883" y="5499985"/>
            <a:ext cx="3474600" cy="1326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5" name="Google Shape;185;p17"/>
          <p:cNvSpPr txBox="1"/>
          <p:nvPr/>
        </p:nvSpPr>
        <p:spPr>
          <a:xfrm>
            <a:off x="807242" y="5927918"/>
            <a:ext cx="3200400" cy="47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1. SPATIAL BACKBONE</a:t>
            </a:r>
            <a:endParaRPr lang="en-US" sz="1050" b="1" i="0" u="none" strike="noStrike" cap="none">
              <a:solidFill>
                <a:srgbClr val="EA580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2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CSPDarknet with CoordConv coordinate injection (Cx, Cy) and multi-branch RepConv feature blocks.</a:t>
            </a:r>
            <a:endParaRPr lang="en-US" sz="920" b="0" i="0" u="none" strike="noStrike" cap="none">
              <a:solidFill>
                <a:srgbClr val="334155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6" name="Google Shape;186;p17"/>
          <p:cNvSpPr/>
          <p:nvPr/>
        </p:nvSpPr>
        <p:spPr>
          <a:xfrm>
            <a:off x="4358483" y="5499985"/>
            <a:ext cx="3474600" cy="1326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7" name="Google Shape;187;p17"/>
          <p:cNvSpPr txBox="1"/>
          <p:nvPr/>
        </p:nvSpPr>
        <p:spPr>
          <a:xfrm>
            <a:off x="4495568" y="5927918"/>
            <a:ext cx="3200400" cy="47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2563E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2. SPARSE ROUTING NECK</a:t>
            </a:r>
            <a:endParaRPr lang="en-US" sz="1050" b="1" i="0" u="none" strike="noStrike" cap="none">
              <a:solidFill>
                <a:srgbClr val="2563E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2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PAN architecture embedded with BiFormer 2-level routing attention, reducing complexity to linear O(HW).</a:t>
            </a:r>
            <a:endParaRPr lang="en-US" sz="920" b="0" i="0" u="none" strike="noStrike" cap="none">
              <a:solidFill>
                <a:srgbClr val="334155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8" name="Google Shape;188;p17"/>
          <p:cNvSpPr/>
          <p:nvPr/>
        </p:nvSpPr>
        <p:spPr>
          <a:xfrm>
            <a:off x="8016083" y="5499985"/>
            <a:ext cx="3474600" cy="1326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9" name="Google Shape;189;p17"/>
          <p:cNvSpPr txBox="1"/>
          <p:nvPr/>
        </p:nvSpPr>
        <p:spPr>
          <a:xfrm>
            <a:off x="8183893" y="5927918"/>
            <a:ext cx="3200400" cy="47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16A34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3. DECOUPLED HEAD &amp; LOSS</a:t>
            </a:r>
            <a:endParaRPr lang="en-US" sz="1050" b="1" i="0" u="none" strike="noStrike" cap="none">
              <a:solidFill>
                <a:srgbClr val="16A34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2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Anchor-free Decoupled Head paired with Focal EIoU loss decoupling bounding box dimension errors.</a:t>
            </a:r>
            <a:endParaRPr lang="en-US" sz="920" b="0" i="0" u="none" strike="noStrike" cap="none">
              <a:solidFill>
                <a:srgbClr val="334155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90" name="Google Shape;190;p17" title="7e12d5c4-e730-4487-a9f3-435ea124c5fa.png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3077" y="0"/>
            <a:ext cx="12185523" cy="685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8"/>
          <p:cNvSpPr/>
          <p:nvPr/>
        </p:nvSpPr>
        <p:spPr>
          <a:xfrm>
            <a:off x="-12" y="7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96" name="Google Shape;196;p18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7" name="Google Shape;197;p18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8" name="Google Shape;198;p18"/>
          <p:cNvSpPr txBox="1"/>
          <p:nvPr/>
        </p:nvSpPr>
        <p:spPr>
          <a:xfrm>
            <a:off x="94070" y="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Innovation 1: Structural Re-parameterization (RepConv) &amp; Algebraic Fusion</a:t>
            </a:r>
            <a:endParaRPr lang="en-US" sz="20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199" name="Google Shape;199;p18" title="Fig1A_Baseline_MultiBranch_Bottleneck.png"/>
          <p:cNvPicPr preferRelativeResize="0"/>
          <p:nvPr/>
        </p:nvPicPr>
        <p:blipFill rotWithShape="1">
          <a:blip r:embed="rId1"/>
          <a:srcRect l="3786" t="13569" r="3424" b="16053"/>
          <a:stretch>
            <a:fillRect/>
          </a:stretch>
        </p:blipFill>
        <p:spPr>
          <a:xfrm>
            <a:off x="196775" y="1090475"/>
            <a:ext cx="11864627" cy="491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18"/>
          <p:cNvSpPr txBox="1"/>
          <p:nvPr/>
        </p:nvSpPr>
        <p:spPr>
          <a:xfrm>
            <a:off x="10332700" y="292597"/>
            <a:ext cx="11640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0</a:t>
            </a:r>
            <a:r>
              <a:rPr lang="en-US" sz="1100" b="1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6</a:t>
            </a:r>
            <a:r>
              <a:rPr lang="en-US" sz="1100" b="1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/ 18</a:t>
            </a:r>
            <a:endParaRPr lang="en-US" sz="1100" b="1" i="0" u="none" strike="noStrike" cap="none">
              <a:solidFill>
                <a:srgbClr val="64748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9"/>
          <p:cNvSpPr/>
          <p:nvPr/>
        </p:nvSpPr>
        <p:spPr>
          <a:xfrm>
            <a:off x="-12" y="7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06" name="Google Shape;206;p19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19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8" name="Google Shape;208;p19"/>
          <p:cNvSpPr txBox="1"/>
          <p:nvPr/>
        </p:nvSpPr>
        <p:spPr>
          <a:xfrm>
            <a:off x="94070" y="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Innovation 1: Structural Re-parameterization (RepConv) &amp; Algebraic Fusion</a:t>
            </a:r>
            <a:endParaRPr lang="en-US" sz="20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209" name="Google Shape;209;p19" title="Fig1B_Proposed_RepConv_Algebraic_Fusion.png"/>
          <p:cNvPicPr preferRelativeResize="0"/>
          <p:nvPr/>
        </p:nvPicPr>
        <p:blipFill rotWithShape="1">
          <a:blip r:embed="rId1"/>
          <a:srcRect l="3029" t="13012" r="2032" b="15493"/>
          <a:stretch>
            <a:fillRect/>
          </a:stretch>
        </p:blipFill>
        <p:spPr>
          <a:xfrm>
            <a:off x="216263" y="1012038"/>
            <a:ext cx="11759150" cy="4833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5" name="Google Shape;215;p20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6" name="Google Shape;216;p20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7" name="Google Shape;217;p20"/>
          <p:cNvSpPr txBox="1"/>
          <p:nvPr/>
        </p:nvSpPr>
        <p:spPr>
          <a:xfrm>
            <a:off x="143545" y="384016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Innovation 2: CoordConv Spatial Encoding Suppresses False Alarms</a:t>
            </a:r>
            <a:endParaRPr lang="en-US" sz="20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218" name="Google Shape;218;p20" title="Fig2A_Baseline_Translation_Invariance_Flaw.png"/>
          <p:cNvPicPr preferRelativeResize="0"/>
          <p:nvPr/>
        </p:nvPicPr>
        <p:blipFill rotWithShape="1">
          <a:blip r:embed="rId1"/>
          <a:srcRect l="2817" t="12915" r="3603" b="3438"/>
          <a:stretch>
            <a:fillRect/>
          </a:stretch>
        </p:blipFill>
        <p:spPr>
          <a:xfrm>
            <a:off x="1047500" y="1325675"/>
            <a:ext cx="9794652" cy="4903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1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24" name="Google Shape;224;p21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5" name="Google Shape;225;p21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6" name="Google Shape;226;p21"/>
          <p:cNvSpPr txBox="1"/>
          <p:nvPr/>
        </p:nvSpPr>
        <p:spPr>
          <a:xfrm>
            <a:off x="143545" y="384016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Innovation 2: CoordConv Spatial Encoding Suppresses False Alarms</a:t>
            </a:r>
            <a:endParaRPr lang="en-US" sz="20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227" name="Google Shape;227;p21" title="Fig2B_Proposed_CoordConv_Spatial_Injection.png"/>
          <p:cNvPicPr preferRelativeResize="0"/>
          <p:nvPr/>
        </p:nvPicPr>
        <p:blipFill rotWithShape="1">
          <a:blip r:embed="rId1"/>
          <a:srcRect l="2675" t="12407" r="2798" b="2962"/>
          <a:stretch>
            <a:fillRect/>
          </a:stretch>
        </p:blipFill>
        <p:spPr>
          <a:xfrm>
            <a:off x="731525" y="1196300"/>
            <a:ext cx="10539423" cy="5150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2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3" name="Google Shape;233;p22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4" name="Google Shape;234;p22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5" name="Google Shape;235;p22"/>
          <p:cNvSpPr txBox="1"/>
          <p:nvPr/>
        </p:nvSpPr>
        <p:spPr>
          <a:xfrm>
            <a:off x="167070" y="22590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Innovation 3: BiFormer 2-Level Sparse Routing Attention</a:t>
            </a:r>
            <a:endParaRPr lang="en-US" sz="20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6" name="Google Shape;236;p22"/>
          <p:cNvSpPr txBox="1"/>
          <p:nvPr/>
        </p:nvSpPr>
        <p:spPr>
          <a:xfrm>
            <a:off x="8183880" y="5193792"/>
            <a:ext cx="3200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</a:p>
        </p:txBody>
      </p:sp>
      <p:pic>
        <p:nvPicPr>
          <p:cNvPr id="237" name="Google Shape;237;p22" title="Fig3A_Baseline_Dense_Attention_Bottleneck.png"/>
          <p:cNvPicPr preferRelativeResize="0"/>
          <p:nvPr/>
        </p:nvPicPr>
        <p:blipFill rotWithShape="1">
          <a:blip r:embed="rId1"/>
          <a:srcRect l="3960" t="13297" r="2870" b="3543"/>
          <a:stretch>
            <a:fillRect/>
          </a:stretch>
        </p:blipFill>
        <p:spPr>
          <a:xfrm>
            <a:off x="810076" y="1102225"/>
            <a:ext cx="10571551" cy="5150551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3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43" name="Google Shape;243;p23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4" name="Google Shape;244;p23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5" name="Google Shape;245;p23"/>
          <p:cNvSpPr txBox="1"/>
          <p:nvPr/>
        </p:nvSpPr>
        <p:spPr>
          <a:xfrm>
            <a:off x="167070" y="22590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Innovation 3: BiFormer 2-Level Sparse Routing Attention</a:t>
            </a:r>
            <a:endParaRPr lang="en-US" sz="20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46" name="Google Shape;246;p23"/>
          <p:cNvSpPr txBox="1"/>
          <p:nvPr/>
        </p:nvSpPr>
        <p:spPr>
          <a:xfrm>
            <a:off x="8183880" y="5193792"/>
            <a:ext cx="3200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</a:p>
        </p:txBody>
      </p:sp>
      <p:pic>
        <p:nvPicPr>
          <p:cNvPr id="247" name="Google Shape;247;p23" title="Fig3B_Proposed_BiFormer_Sparse_Routing.png"/>
          <p:cNvPicPr preferRelativeResize="0"/>
          <p:nvPr/>
        </p:nvPicPr>
        <p:blipFill rotWithShape="1">
          <a:blip r:embed="rId1"/>
          <a:srcRect l="2362" t="12784" r="2789" b="3548"/>
          <a:stretch>
            <a:fillRect/>
          </a:stretch>
        </p:blipFill>
        <p:spPr>
          <a:xfrm>
            <a:off x="613538" y="996425"/>
            <a:ext cx="10964598" cy="5279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53" name="Google Shape;253;p24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4" name="Google Shape;254;p24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5" name="Google Shape;255;p24"/>
          <p:cNvSpPr txBox="1"/>
          <p:nvPr/>
        </p:nvSpPr>
        <p:spPr>
          <a:xfrm>
            <a:off x="237645" y="29260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Innovation 4: Focal EIoU Loss &amp; Small Target Optimization</a:t>
            </a:r>
            <a:endParaRPr lang="en-US" sz="20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256" name="Google Shape;256;p24" title="Fig4A_Baseline_CIoU_Vanishing_Gradient.png"/>
          <p:cNvPicPr preferRelativeResize="0"/>
          <p:nvPr/>
        </p:nvPicPr>
        <p:blipFill rotWithShape="1">
          <a:blip r:embed="rId1"/>
          <a:srcRect l="4122" t="12737" r="3865" b="3686"/>
          <a:stretch>
            <a:fillRect/>
          </a:stretch>
        </p:blipFill>
        <p:spPr>
          <a:xfrm>
            <a:off x="427875" y="843525"/>
            <a:ext cx="11218350" cy="556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25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2" name="Google Shape;262;p25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3" name="Google Shape;263;p25"/>
          <p:cNvSpPr txBox="1"/>
          <p:nvPr/>
        </p:nvSpPr>
        <p:spPr>
          <a:xfrm>
            <a:off x="10332720" y="292608"/>
            <a:ext cx="1097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4" name="Google Shape;264;p25"/>
          <p:cNvSpPr txBox="1"/>
          <p:nvPr/>
        </p:nvSpPr>
        <p:spPr>
          <a:xfrm>
            <a:off x="237645" y="292603"/>
            <a:ext cx="106986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Innovation 4: Focal EIoU Loss &amp; Small Target Optimization</a:t>
            </a:r>
            <a:endParaRPr lang="en-US" sz="20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265" name="Google Shape;265;p25" title="Fig4B_Proposed_Focal_EIoU_Decomposition.png"/>
          <p:cNvPicPr preferRelativeResize="0"/>
          <p:nvPr/>
        </p:nvPicPr>
        <p:blipFill rotWithShape="1">
          <a:blip r:embed="rId1"/>
          <a:srcRect l="3059" t="12386" r="2512" b="4037"/>
          <a:stretch>
            <a:fillRect/>
          </a:stretch>
        </p:blipFill>
        <p:spPr>
          <a:xfrm>
            <a:off x="339688" y="902350"/>
            <a:ext cx="11512325" cy="5562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6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1" name="Google Shape;271;p26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 panose="02000503000000020004"/>
              <a:buNone/>
            </a:pPr>
            <a:r>
              <a:rPr lang="en-US" sz="1120" b="1" i="0" u="none" strike="noStrike" cap="none">
                <a:solidFill>
                  <a:srgbClr val="F35B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CRITERION 2 · TECHNICAL APPROACH</a:t>
            </a:r>
            <a:endParaRPr sz="112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72" name="Google Shape;272;p26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 panose="02000503000000020004"/>
              <a:buNone/>
            </a:pPr>
            <a:r>
              <a:rPr lang="en-US" sz="1100" b="1" i="0" u="none" strike="noStrike" cap="none">
                <a:solidFill>
                  <a:srgbClr val="61728B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13 / 18</a:t>
            </a:r>
            <a:endParaRPr sz="11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73" name="Google Shape;273;p26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 panose="02000503000000020004"/>
              <a:buNone/>
            </a:pPr>
            <a:r>
              <a:rPr lang="en-US" sz="308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Solution Overview &amp; Core Modules</a:t>
            </a:r>
            <a:endParaRPr sz="30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74" name="Google Shape;274;p26"/>
          <p:cNvSpPr/>
          <p:nvPr/>
        </p:nvSpPr>
        <p:spPr>
          <a:xfrm>
            <a:off x="347472" y="1371600"/>
            <a:ext cx="11493900" cy="3136500"/>
          </a:xfrm>
          <a:prstGeom prst="roundRect">
            <a:avLst>
              <a:gd name="adj" fmla="val 3499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5" name="Google Shape;275;p26"/>
          <p:cNvSpPr/>
          <p:nvPr/>
        </p:nvSpPr>
        <p:spPr>
          <a:xfrm>
            <a:off x="548640" y="1682496"/>
            <a:ext cx="1737300" cy="2441400"/>
          </a:xfrm>
          <a:prstGeom prst="roundRect">
            <a:avLst>
              <a:gd name="adj" fmla="val 5263"/>
            </a:avLst>
          </a:prstGeom>
          <a:solidFill>
            <a:srgbClr val="F9FBFE"/>
          </a:solidFill>
          <a:ln w="13950" cap="flat" cmpd="sng">
            <a:solidFill>
              <a:srgbClr val="AFC4D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6" name="Google Shape;276;p26"/>
          <p:cNvSpPr/>
          <p:nvPr/>
        </p:nvSpPr>
        <p:spPr>
          <a:xfrm>
            <a:off x="548640" y="1801368"/>
            <a:ext cx="17373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 panose="02000503000000020004"/>
              <a:buNone/>
            </a:pPr>
            <a:r>
              <a:rPr lang="en-US" sz="125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Input Image</a:t>
            </a:r>
            <a:endParaRPr sz="125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77" name="Google Shape;277;p26"/>
          <p:cNvSpPr/>
          <p:nvPr/>
        </p:nvSpPr>
        <p:spPr>
          <a:xfrm>
            <a:off x="548640" y="3803904"/>
            <a:ext cx="17373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30"/>
              <a:buFont typeface="Inter" panose="02000503000000020004"/>
              <a:buNone/>
            </a:pPr>
            <a:r>
              <a:rPr lang="en-US" sz="113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640 × 640 × 3</a:t>
            </a:r>
            <a:endParaRPr sz="113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78" name="Google Shape;278;p26"/>
          <p:cNvSpPr/>
          <p:nvPr/>
        </p:nvSpPr>
        <p:spPr>
          <a:xfrm>
            <a:off x="2514600" y="1682496"/>
            <a:ext cx="1527000" cy="2441400"/>
          </a:xfrm>
          <a:prstGeom prst="roundRect">
            <a:avLst>
              <a:gd name="adj" fmla="val 5988"/>
            </a:avLst>
          </a:prstGeom>
          <a:solidFill>
            <a:srgbClr val="FFFDFC"/>
          </a:solidFill>
          <a:ln w="13950" cap="flat" cmpd="sng">
            <a:solidFill>
              <a:srgbClr val="FF8B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9" name="Google Shape;279;p26"/>
          <p:cNvSpPr/>
          <p:nvPr/>
        </p:nvSpPr>
        <p:spPr>
          <a:xfrm>
            <a:off x="2514600" y="1801368"/>
            <a:ext cx="15270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220"/>
              <a:buFont typeface="Inter" panose="02000503000000020004"/>
              <a:buNone/>
            </a:pPr>
            <a:r>
              <a:rPr lang="en-US" sz="1220" b="1" i="0" u="none" strike="noStrike" cap="none">
                <a:solidFill>
                  <a:srgbClr val="F35B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CoordConv</a:t>
            </a:r>
            <a:endParaRPr sz="122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80" name="Google Shape;280;p26"/>
          <p:cNvSpPr/>
          <p:nvPr/>
        </p:nvSpPr>
        <p:spPr>
          <a:xfrm>
            <a:off x="2907792" y="2468880"/>
            <a:ext cx="777300" cy="896100"/>
          </a:xfrm>
          <a:prstGeom prst="rect">
            <a:avLst/>
          </a:prstGeom>
          <a:solidFill>
            <a:srgbClr val="2C5CC5"/>
          </a:solidFill>
          <a:ln w="12700" cap="flat" cmpd="sng">
            <a:solidFill>
              <a:srgbClr val="FFFFFF">
                <a:alpha val="349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1" name="Google Shape;281;p26"/>
          <p:cNvSpPr/>
          <p:nvPr/>
        </p:nvSpPr>
        <p:spPr>
          <a:xfrm>
            <a:off x="3017520" y="2340864"/>
            <a:ext cx="777300" cy="896100"/>
          </a:xfrm>
          <a:prstGeom prst="rect">
            <a:avLst/>
          </a:prstGeom>
          <a:solidFill>
            <a:srgbClr val="29A7DF">
              <a:alpha val="94120"/>
            </a:srgbClr>
          </a:solidFill>
          <a:ln w="12700" cap="flat" cmpd="sng">
            <a:solidFill>
              <a:srgbClr val="FFFFFF">
                <a:alpha val="349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2" name="Google Shape;282;p26"/>
          <p:cNvSpPr/>
          <p:nvPr/>
        </p:nvSpPr>
        <p:spPr>
          <a:xfrm>
            <a:off x="3127248" y="2212848"/>
            <a:ext cx="777300" cy="896100"/>
          </a:xfrm>
          <a:prstGeom prst="rect">
            <a:avLst/>
          </a:prstGeom>
          <a:solidFill>
            <a:srgbClr val="F7B62E">
              <a:alpha val="87840"/>
            </a:srgbClr>
          </a:solidFill>
          <a:ln w="12700" cap="flat" cmpd="sng">
            <a:solidFill>
              <a:srgbClr val="FFFFFF">
                <a:alpha val="349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3" name="Google Shape;283;p26"/>
          <p:cNvSpPr/>
          <p:nvPr/>
        </p:nvSpPr>
        <p:spPr>
          <a:xfrm>
            <a:off x="2660904" y="3675888"/>
            <a:ext cx="12345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80"/>
              <a:buFont typeface="Inter" panose="02000503000000020004"/>
              <a:buNone/>
            </a:pPr>
            <a:r>
              <a:rPr lang="en-US" sz="11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 × W × (3 + 2)</a:t>
            </a:r>
            <a:endParaRPr sz="11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80"/>
              <a:buFont typeface="Inter" panose="02000503000000020004"/>
              <a:buNone/>
            </a:pPr>
            <a:r>
              <a:rPr lang="en-US" sz="11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(RGB + X, Y)</a:t>
            </a:r>
            <a:endParaRPr sz="11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84" name="Google Shape;284;p26"/>
          <p:cNvSpPr/>
          <p:nvPr/>
        </p:nvSpPr>
        <p:spPr>
          <a:xfrm>
            <a:off x="4242816" y="1682496"/>
            <a:ext cx="1728300" cy="2441400"/>
          </a:xfrm>
          <a:prstGeom prst="roundRect">
            <a:avLst>
              <a:gd name="adj" fmla="val 5291"/>
            </a:avLst>
          </a:prstGeom>
          <a:solidFill>
            <a:srgbClr val="F8FBFF"/>
          </a:solidFill>
          <a:ln w="13950" cap="flat" cmpd="sng">
            <a:solidFill>
              <a:srgbClr val="6AA3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5" name="Google Shape;285;p26"/>
          <p:cNvSpPr/>
          <p:nvPr/>
        </p:nvSpPr>
        <p:spPr>
          <a:xfrm>
            <a:off x="4242816" y="1801368"/>
            <a:ext cx="17283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180"/>
              <a:buFont typeface="Inter" panose="02000503000000020004"/>
              <a:buNone/>
            </a:pPr>
            <a:r>
              <a:rPr lang="en-US" sz="118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Backbone + RepConv</a:t>
            </a:r>
            <a:endParaRPr sz="11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86" name="Google Shape;286;p26"/>
          <p:cNvSpPr/>
          <p:nvPr/>
        </p:nvSpPr>
        <p:spPr>
          <a:xfrm>
            <a:off x="4471416" y="2359152"/>
            <a:ext cx="310800" cy="1051500"/>
          </a:xfrm>
          <a:prstGeom prst="rect">
            <a:avLst/>
          </a:prstGeom>
          <a:solidFill>
            <a:srgbClr val="A8CAE8"/>
          </a:solidFill>
          <a:ln w="12700" cap="flat" cmpd="sng">
            <a:solidFill>
              <a:srgbClr val="5383B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7" name="Google Shape;287;p26"/>
          <p:cNvSpPr/>
          <p:nvPr/>
        </p:nvSpPr>
        <p:spPr>
          <a:xfrm>
            <a:off x="4727448" y="2424989"/>
            <a:ext cx="310800" cy="941700"/>
          </a:xfrm>
          <a:prstGeom prst="rect">
            <a:avLst/>
          </a:prstGeom>
          <a:solidFill>
            <a:srgbClr val="A8CAE8"/>
          </a:solidFill>
          <a:ln w="12700" cap="flat" cmpd="sng">
            <a:solidFill>
              <a:srgbClr val="5383B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8" name="Google Shape;288;p26"/>
          <p:cNvSpPr/>
          <p:nvPr/>
        </p:nvSpPr>
        <p:spPr>
          <a:xfrm>
            <a:off x="4983480" y="2490826"/>
            <a:ext cx="310800" cy="832200"/>
          </a:xfrm>
          <a:prstGeom prst="rect">
            <a:avLst/>
          </a:prstGeom>
          <a:solidFill>
            <a:srgbClr val="A8CAE8"/>
          </a:solidFill>
          <a:ln w="12700" cap="flat" cmpd="sng">
            <a:solidFill>
              <a:srgbClr val="5383B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9" name="Google Shape;289;p26"/>
          <p:cNvSpPr/>
          <p:nvPr/>
        </p:nvSpPr>
        <p:spPr>
          <a:xfrm>
            <a:off x="5239512" y="2556662"/>
            <a:ext cx="310800" cy="722400"/>
          </a:xfrm>
          <a:prstGeom prst="rect">
            <a:avLst/>
          </a:prstGeom>
          <a:solidFill>
            <a:srgbClr val="A8CAE8"/>
          </a:solidFill>
          <a:ln w="12700" cap="flat" cmpd="sng">
            <a:solidFill>
              <a:srgbClr val="5383B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0" name="Google Shape;290;p26"/>
          <p:cNvSpPr/>
          <p:nvPr/>
        </p:nvSpPr>
        <p:spPr>
          <a:xfrm>
            <a:off x="5495544" y="2622499"/>
            <a:ext cx="310800" cy="612600"/>
          </a:xfrm>
          <a:prstGeom prst="rect">
            <a:avLst/>
          </a:prstGeom>
          <a:solidFill>
            <a:srgbClr val="A8CAE8"/>
          </a:solidFill>
          <a:ln w="12700" cap="flat" cmpd="sng">
            <a:solidFill>
              <a:srgbClr val="5383B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1" name="Google Shape;291;p26"/>
          <p:cNvSpPr/>
          <p:nvPr/>
        </p:nvSpPr>
        <p:spPr>
          <a:xfrm>
            <a:off x="4315968" y="3675888"/>
            <a:ext cx="15819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39"/>
              <a:buFont typeface="Inter" panose="02000503000000020004"/>
              <a:buNone/>
            </a:pPr>
            <a:r>
              <a:rPr lang="en-US" sz="104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CSPDarknet + RepConv</a:t>
            </a:r>
            <a:endParaRPr sz="104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39"/>
              <a:buFont typeface="Inter" panose="02000503000000020004"/>
              <a:buNone/>
            </a:pPr>
            <a:r>
              <a:rPr lang="en-US" sz="104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(Multi-branch → Single-path)</a:t>
            </a:r>
            <a:endParaRPr sz="104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92" name="Google Shape;292;p26"/>
          <p:cNvSpPr/>
          <p:nvPr/>
        </p:nvSpPr>
        <p:spPr>
          <a:xfrm>
            <a:off x="6172200" y="1682496"/>
            <a:ext cx="1965900" cy="2441400"/>
          </a:xfrm>
          <a:prstGeom prst="roundRect">
            <a:avLst>
              <a:gd name="adj" fmla="val 4651"/>
            </a:avLst>
          </a:prstGeom>
          <a:solidFill>
            <a:srgbClr val="F9FFFB"/>
          </a:solidFill>
          <a:ln w="13950" cap="flat" cmpd="sng">
            <a:solidFill>
              <a:srgbClr val="4DC98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3" name="Google Shape;293;p26"/>
          <p:cNvSpPr/>
          <p:nvPr/>
        </p:nvSpPr>
        <p:spPr>
          <a:xfrm>
            <a:off x="6172200" y="1801368"/>
            <a:ext cx="19659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180"/>
              <a:buFont typeface="Inter" panose="02000503000000020004"/>
              <a:buNone/>
            </a:pPr>
            <a:r>
              <a:rPr lang="en-US" sz="118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Neck + BiFormer</a:t>
            </a:r>
            <a:endParaRPr sz="11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94" name="Google Shape;294;p26"/>
          <p:cNvSpPr/>
          <p:nvPr/>
        </p:nvSpPr>
        <p:spPr>
          <a:xfrm>
            <a:off x="6318504" y="2331720"/>
            <a:ext cx="411600" cy="173700"/>
          </a:xfrm>
          <a:prstGeom prst="rect">
            <a:avLst/>
          </a:prstGeom>
          <a:solidFill>
            <a:srgbClr val="6BA7F7"/>
          </a:solidFill>
          <a:ln w="12700" cap="flat" cmpd="sng">
            <a:solidFill>
              <a:srgbClr val="55718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5" name="Google Shape;295;p26"/>
          <p:cNvSpPr/>
          <p:nvPr/>
        </p:nvSpPr>
        <p:spPr>
          <a:xfrm>
            <a:off x="6318504" y="2770632"/>
            <a:ext cx="411600" cy="173700"/>
          </a:xfrm>
          <a:prstGeom prst="rect">
            <a:avLst/>
          </a:prstGeom>
          <a:solidFill>
            <a:srgbClr val="57D58F"/>
          </a:solidFill>
          <a:ln w="12700" cap="flat" cmpd="sng">
            <a:solidFill>
              <a:srgbClr val="55718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6" name="Google Shape;296;p26"/>
          <p:cNvSpPr/>
          <p:nvPr/>
        </p:nvSpPr>
        <p:spPr>
          <a:xfrm>
            <a:off x="6318504" y="3209544"/>
            <a:ext cx="411600" cy="173700"/>
          </a:xfrm>
          <a:prstGeom prst="rect">
            <a:avLst/>
          </a:prstGeom>
          <a:solidFill>
            <a:srgbClr val="9E65E8"/>
          </a:solidFill>
          <a:ln w="12700" cap="flat" cmpd="sng">
            <a:solidFill>
              <a:srgbClr val="55718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7" name="Google Shape;297;p26"/>
          <p:cNvSpPr/>
          <p:nvPr/>
        </p:nvSpPr>
        <p:spPr>
          <a:xfrm>
            <a:off x="6958584" y="2267712"/>
            <a:ext cx="676800" cy="960000"/>
          </a:xfrm>
          <a:prstGeom prst="roundRect">
            <a:avLst>
              <a:gd name="adj" fmla="val 10811"/>
            </a:avLst>
          </a:prstGeom>
          <a:solidFill>
            <a:srgbClr val="FFFFFF">
              <a:alpha val="80000"/>
            </a:srgbClr>
          </a:solidFill>
          <a:ln w="12700" cap="flat" cmpd="sng">
            <a:solidFill>
              <a:srgbClr val="AFC5D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8" name="Google Shape;298;p26"/>
          <p:cNvSpPr/>
          <p:nvPr/>
        </p:nvSpPr>
        <p:spPr>
          <a:xfrm>
            <a:off x="7013448" y="2350008"/>
            <a:ext cx="567000" cy="16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800"/>
              <a:buFont typeface="Inter" panose="02000503000000020004"/>
              <a:buNone/>
            </a:pPr>
            <a:r>
              <a:rPr lang="en-US" sz="80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BiFormer</a:t>
            </a:r>
            <a:endParaRPr sz="8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99" name="Google Shape;299;p26"/>
          <p:cNvSpPr/>
          <p:nvPr/>
        </p:nvSpPr>
        <p:spPr>
          <a:xfrm>
            <a:off x="7050024" y="2596896"/>
            <a:ext cx="73200" cy="73200"/>
          </a:xfrm>
          <a:prstGeom prst="rect">
            <a:avLst/>
          </a:prstGeom>
          <a:solidFill>
            <a:srgbClr val="5C82C8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0" name="Google Shape;300;p26"/>
          <p:cNvSpPr/>
          <p:nvPr/>
        </p:nvSpPr>
        <p:spPr>
          <a:xfrm>
            <a:off x="7168896" y="2596896"/>
            <a:ext cx="73200" cy="73200"/>
          </a:xfrm>
          <a:prstGeom prst="rect">
            <a:avLst/>
          </a:prstGeom>
          <a:solidFill>
            <a:srgbClr val="D7E4F2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1" name="Google Shape;301;p26"/>
          <p:cNvSpPr/>
          <p:nvPr/>
        </p:nvSpPr>
        <p:spPr>
          <a:xfrm>
            <a:off x="7287768" y="2596896"/>
            <a:ext cx="73200" cy="73200"/>
          </a:xfrm>
          <a:prstGeom prst="rect">
            <a:avLst/>
          </a:prstGeom>
          <a:solidFill>
            <a:srgbClr val="D7E4F2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2" name="Google Shape;302;p26"/>
          <p:cNvSpPr/>
          <p:nvPr/>
        </p:nvSpPr>
        <p:spPr>
          <a:xfrm>
            <a:off x="7406640" y="2596896"/>
            <a:ext cx="73200" cy="73200"/>
          </a:xfrm>
          <a:prstGeom prst="rect">
            <a:avLst/>
          </a:prstGeom>
          <a:solidFill>
            <a:srgbClr val="5C82C8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3" name="Google Shape;303;p26"/>
          <p:cNvSpPr/>
          <p:nvPr/>
        </p:nvSpPr>
        <p:spPr>
          <a:xfrm>
            <a:off x="7050024" y="2724912"/>
            <a:ext cx="73200" cy="73200"/>
          </a:xfrm>
          <a:prstGeom prst="rect">
            <a:avLst/>
          </a:prstGeom>
          <a:solidFill>
            <a:srgbClr val="D7E4F2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4" name="Google Shape;304;p26"/>
          <p:cNvSpPr/>
          <p:nvPr/>
        </p:nvSpPr>
        <p:spPr>
          <a:xfrm>
            <a:off x="7168896" y="2724912"/>
            <a:ext cx="73200" cy="73200"/>
          </a:xfrm>
          <a:prstGeom prst="rect">
            <a:avLst/>
          </a:prstGeom>
          <a:solidFill>
            <a:srgbClr val="D7E4F2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5" name="Google Shape;305;p26"/>
          <p:cNvSpPr/>
          <p:nvPr/>
        </p:nvSpPr>
        <p:spPr>
          <a:xfrm>
            <a:off x="7287768" y="2724912"/>
            <a:ext cx="73200" cy="73200"/>
          </a:xfrm>
          <a:prstGeom prst="rect">
            <a:avLst/>
          </a:prstGeom>
          <a:solidFill>
            <a:srgbClr val="5C82C8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6" name="Google Shape;306;p26"/>
          <p:cNvSpPr/>
          <p:nvPr/>
        </p:nvSpPr>
        <p:spPr>
          <a:xfrm>
            <a:off x="7406640" y="2724912"/>
            <a:ext cx="73200" cy="73200"/>
          </a:xfrm>
          <a:prstGeom prst="rect">
            <a:avLst/>
          </a:prstGeom>
          <a:solidFill>
            <a:srgbClr val="D7E4F2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7" name="Google Shape;307;p26"/>
          <p:cNvSpPr/>
          <p:nvPr/>
        </p:nvSpPr>
        <p:spPr>
          <a:xfrm>
            <a:off x="7050024" y="2852928"/>
            <a:ext cx="73200" cy="73200"/>
          </a:xfrm>
          <a:prstGeom prst="rect">
            <a:avLst/>
          </a:prstGeom>
          <a:solidFill>
            <a:srgbClr val="D7E4F2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8" name="Google Shape;308;p26"/>
          <p:cNvSpPr/>
          <p:nvPr/>
        </p:nvSpPr>
        <p:spPr>
          <a:xfrm>
            <a:off x="7168896" y="2852928"/>
            <a:ext cx="73200" cy="73200"/>
          </a:xfrm>
          <a:prstGeom prst="rect">
            <a:avLst/>
          </a:prstGeom>
          <a:solidFill>
            <a:srgbClr val="5C82C8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9" name="Google Shape;309;p26"/>
          <p:cNvSpPr/>
          <p:nvPr/>
        </p:nvSpPr>
        <p:spPr>
          <a:xfrm>
            <a:off x="7287768" y="2852928"/>
            <a:ext cx="73200" cy="73200"/>
          </a:xfrm>
          <a:prstGeom prst="rect">
            <a:avLst/>
          </a:prstGeom>
          <a:solidFill>
            <a:srgbClr val="D7E4F2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0" name="Google Shape;310;p26"/>
          <p:cNvSpPr/>
          <p:nvPr/>
        </p:nvSpPr>
        <p:spPr>
          <a:xfrm>
            <a:off x="7406640" y="2852928"/>
            <a:ext cx="73200" cy="73200"/>
          </a:xfrm>
          <a:prstGeom prst="rect">
            <a:avLst/>
          </a:prstGeom>
          <a:solidFill>
            <a:srgbClr val="D7E4F2"/>
          </a:solidFill>
          <a:ln w="12700" cap="flat" cmpd="sng">
            <a:solidFill>
              <a:srgbClr val="FFFFFF">
                <a:alpha val="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1" name="Google Shape;311;p26"/>
          <p:cNvSpPr/>
          <p:nvPr/>
        </p:nvSpPr>
        <p:spPr>
          <a:xfrm>
            <a:off x="7754112" y="2331720"/>
            <a:ext cx="274200" cy="137100"/>
          </a:xfrm>
          <a:prstGeom prst="rect">
            <a:avLst/>
          </a:prstGeom>
          <a:solidFill>
            <a:srgbClr val="6BA7F7"/>
          </a:solidFill>
          <a:ln w="12700" cap="flat" cmpd="sng">
            <a:solidFill>
              <a:srgbClr val="55718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2" name="Google Shape;312;p26"/>
          <p:cNvSpPr/>
          <p:nvPr/>
        </p:nvSpPr>
        <p:spPr>
          <a:xfrm>
            <a:off x="7754112" y="2770632"/>
            <a:ext cx="274200" cy="137100"/>
          </a:xfrm>
          <a:prstGeom prst="rect">
            <a:avLst/>
          </a:prstGeom>
          <a:solidFill>
            <a:srgbClr val="57D58F"/>
          </a:solidFill>
          <a:ln w="12700" cap="flat" cmpd="sng">
            <a:solidFill>
              <a:srgbClr val="55718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3" name="Google Shape;313;p26"/>
          <p:cNvSpPr/>
          <p:nvPr/>
        </p:nvSpPr>
        <p:spPr>
          <a:xfrm>
            <a:off x="7754112" y="3209544"/>
            <a:ext cx="274200" cy="137100"/>
          </a:xfrm>
          <a:prstGeom prst="rect">
            <a:avLst/>
          </a:prstGeom>
          <a:solidFill>
            <a:srgbClr val="9E65E8"/>
          </a:solidFill>
          <a:ln w="12700" cap="flat" cmpd="sng">
            <a:solidFill>
              <a:srgbClr val="55718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4" name="Google Shape;314;p26"/>
          <p:cNvSpPr/>
          <p:nvPr/>
        </p:nvSpPr>
        <p:spPr>
          <a:xfrm>
            <a:off x="6300216" y="3675888"/>
            <a:ext cx="1710000" cy="3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25"/>
              <a:buFont typeface="Inter" panose="02000503000000020004"/>
              <a:buNone/>
            </a:pPr>
            <a:r>
              <a:rPr lang="en-US" sz="1025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Multi-scale Feature Fusion</a:t>
            </a:r>
            <a:endParaRPr sz="1025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825"/>
              <a:buFont typeface="Inter" panose="02000503000000020004"/>
              <a:buNone/>
            </a:pPr>
            <a:r>
              <a:rPr lang="en-US" sz="1025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with Sparse Routing Attention</a:t>
            </a:r>
            <a:endParaRPr sz="1025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15" name="Google Shape;315;p26"/>
          <p:cNvSpPr/>
          <p:nvPr/>
        </p:nvSpPr>
        <p:spPr>
          <a:xfrm>
            <a:off x="8243366" y="1728184"/>
            <a:ext cx="1463100" cy="24414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13950" cap="flat" cmpd="sng">
            <a:solidFill>
              <a:srgbClr val="F3B74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6" name="Google Shape;316;p26"/>
          <p:cNvSpPr/>
          <p:nvPr/>
        </p:nvSpPr>
        <p:spPr>
          <a:xfrm>
            <a:off x="8357616" y="1801368"/>
            <a:ext cx="14631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B26A00"/>
              </a:buClr>
              <a:buSzPts val="1120"/>
              <a:buFont typeface="Inter" panose="02000503000000020004"/>
              <a:buNone/>
            </a:pPr>
            <a:r>
              <a:rPr lang="en-US" sz="1120" b="1" i="0" u="none" strike="noStrike" cap="none">
                <a:solidFill>
                  <a:srgbClr val="B26A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Decoupled Head</a:t>
            </a:r>
            <a:endParaRPr sz="112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17" name="Google Shape;317;p26"/>
          <p:cNvSpPr/>
          <p:nvPr/>
        </p:nvSpPr>
        <p:spPr>
          <a:xfrm>
            <a:off x="8348577" y="2469020"/>
            <a:ext cx="804600" cy="347400"/>
          </a:xfrm>
          <a:prstGeom prst="roundRect">
            <a:avLst>
              <a:gd name="adj" fmla="val 13158"/>
            </a:avLst>
          </a:prstGeom>
          <a:solidFill>
            <a:srgbClr val="FFE8DF"/>
          </a:solidFill>
          <a:ln w="12700" cap="flat" cmpd="sng">
            <a:solidFill>
              <a:srgbClr val="D56B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8" name="Google Shape;318;p26"/>
          <p:cNvSpPr/>
          <p:nvPr/>
        </p:nvSpPr>
        <p:spPr>
          <a:xfrm>
            <a:off x="8339387" y="2484936"/>
            <a:ext cx="8046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750"/>
              <a:buFont typeface="Inter" panose="02000503000000020004"/>
              <a:buNone/>
            </a:pPr>
            <a:r>
              <a:rPr lang="en-US" sz="900" b="0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Classification</a:t>
            </a:r>
            <a:endParaRPr sz="9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19" name="Google Shape;319;p26"/>
          <p:cNvSpPr/>
          <p:nvPr/>
        </p:nvSpPr>
        <p:spPr>
          <a:xfrm>
            <a:off x="8348577" y="2871188"/>
            <a:ext cx="804600" cy="347400"/>
          </a:xfrm>
          <a:prstGeom prst="roundRect">
            <a:avLst>
              <a:gd name="adj" fmla="val 13158"/>
            </a:avLst>
          </a:prstGeom>
          <a:solidFill>
            <a:srgbClr val="E7F2FF"/>
          </a:solidFill>
          <a:ln w="12700" cap="flat" cmpd="sng">
            <a:solidFill>
              <a:srgbClr val="4F8BC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0" name="Google Shape;320;p26"/>
          <p:cNvSpPr/>
          <p:nvPr/>
        </p:nvSpPr>
        <p:spPr>
          <a:xfrm>
            <a:off x="8362225" y="2916950"/>
            <a:ext cx="7773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750"/>
              <a:buFont typeface="Inter" panose="02000503000000020004"/>
              <a:buNone/>
            </a:pPr>
            <a:r>
              <a:rPr lang="en-US" sz="900" b="0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Bounding Box</a:t>
            </a:r>
            <a:endParaRPr sz="9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750"/>
              <a:buFont typeface="Inter" panose="02000503000000020004"/>
              <a:buNone/>
            </a:pPr>
            <a:r>
              <a:rPr lang="en-US" sz="900" b="0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Regression</a:t>
            </a:r>
            <a:endParaRPr sz="9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21" name="Google Shape;321;p26"/>
          <p:cNvSpPr/>
          <p:nvPr/>
        </p:nvSpPr>
        <p:spPr>
          <a:xfrm>
            <a:off x="8348589" y="3301082"/>
            <a:ext cx="804600" cy="347400"/>
          </a:xfrm>
          <a:prstGeom prst="roundRect">
            <a:avLst>
              <a:gd name="adj" fmla="val 13158"/>
            </a:avLst>
          </a:prstGeom>
          <a:solidFill>
            <a:srgbClr val="F2EAFE"/>
          </a:solidFill>
          <a:ln w="12700" cap="flat" cmpd="sng">
            <a:solidFill>
              <a:srgbClr val="8B61C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2" name="Google Shape;322;p26"/>
          <p:cNvSpPr/>
          <p:nvPr/>
        </p:nvSpPr>
        <p:spPr>
          <a:xfrm>
            <a:off x="8389678" y="3287271"/>
            <a:ext cx="6948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750"/>
              <a:buFont typeface="Inter" panose="02000503000000020004"/>
              <a:buNone/>
            </a:pPr>
            <a:r>
              <a:rPr lang="en-US" sz="900" b="0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Objectness</a:t>
            </a:r>
            <a:endParaRPr sz="9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23" name="Google Shape;323;p26"/>
          <p:cNvSpPr/>
          <p:nvPr/>
        </p:nvSpPr>
        <p:spPr>
          <a:xfrm>
            <a:off x="10145586" y="1659746"/>
            <a:ext cx="1591200" cy="2441400"/>
          </a:xfrm>
          <a:prstGeom prst="roundRect">
            <a:avLst>
              <a:gd name="adj" fmla="val 5747"/>
            </a:avLst>
          </a:prstGeom>
          <a:solidFill>
            <a:srgbClr val="FCF9FF"/>
          </a:solidFill>
          <a:ln w="13950" cap="flat" cmpd="sng">
            <a:solidFill>
              <a:srgbClr val="B889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4" name="Google Shape;324;p26"/>
          <p:cNvSpPr/>
          <p:nvPr/>
        </p:nvSpPr>
        <p:spPr>
          <a:xfrm>
            <a:off x="10003536" y="1801368"/>
            <a:ext cx="15912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8C39E9"/>
              </a:buClr>
              <a:buSzPts val="1120"/>
              <a:buFont typeface="Inter" panose="02000503000000020004"/>
              <a:buNone/>
            </a:pPr>
            <a:r>
              <a:rPr lang="en-US" sz="1120" b="1" i="0" u="none" strike="noStrike" cap="none">
                <a:solidFill>
                  <a:srgbClr val="8C39E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Helmet Detection</a:t>
            </a:r>
            <a:endParaRPr sz="112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25" name="Google Shape;325;p26"/>
          <p:cNvSpPr/>
          <p:nvPr/>
        </p:nvSpPr>
        <p:spPr>
          <a:xfrm>
            <a:off x="2359152" y="2907792"/>
            <a:ext cx="228600" cy="201300"/>
          </a:xfrm>
          <a:prstGeom prst="chevron">
            <a:avLst>
              <a:gd name="adj" fmla="val 50000"/>
            </a:avLst>
          </a:prstGeom>
          <a:solidFill>
            <a:srgbClr val="50698A"/>
          </a:solidFill>
          <a:ln w="12700" cap="flat" cmpd="sng">
            <a:solidFill>
              <a:srgbClr val="5069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6" name="Google Shape;326;p26"/>
          <p:cNvSpPr/>
          <p:nvPr/>
        </p:nvSpPr>
        <p:spPr>
          <a:xfrm>
            <a:off x="4114800" y="2907792"/>
            <a:ext cx="228600" cy="201300"/>
          </a:xfrm>
          <a:prstGeom prst="chevron">
            <a:avLst>
              <a:gd name="adj" fmla="val 50000"/>
            </a:avLst>
          </a:prstGeom>
          <a:solidFill>
            <a:srgbClr val="50698A"/>
          </a:solidFill>
          <a:ln w="12700" cap="flat" cmpd="sng">
            <a:solidFill>
              <a:srgbClr val="5069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7" name="Google Shape;327;p26"/>
          <p:cNvSpPr/>
          <p:nvPr/>
        </p:nvSpPr>
        <p:spPr>
          <a:xfrm>
            <a:off x="6044184" y="2907792"/>
            <a:ext cx="228600" cy="201300"/>
          </a:xfrm>
          <a:prstGeom prst="chevron">
            <a:avLst>
              <a:gd name="adj" fmla="val 50000"/>
            </a:avLst>
          </a:prstGeom>
          <a:solidFill>
            <a:srgbClr val="50698A"/>
          </a:solidFill>
          <a:ln w="12700" cap="flat" cmpd="sng">
            <a:solidFill>
              <a:srgbClr val="5069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8" name="Google Shape;328;p26"/>
          <p:cNvSpPr/>
          <p:nvPr/>
        </p:nvSpPr>
        <p:spPr>
          <a:xfrm>
            <a:off x="8023862" y="2907792"/>
            <a:ext cx="228600" cy="201300"/>
          </a:xfrm>
          <a:prstGeom prst="chevron">
            <a:avLst>
              <a:gd name="adj" fmla="val 50000"/>
            </a:avLst>
          </a:prstGeom>
          <a:solidFill>
            <a:srgbClr val="50698A"/>
          </a:solidFill>
          <a:ln w="12700" cap="flat" cmpd="sng">
            <a:solidFill>
              <a:srgbClr val="5069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9" name="Google Shape;329;p26"/>
          <p:cNvSpPr/>
          <p:nvPr/>
        </p:nvSpPr>
        <p:spPr>
          <a:xfrm>
            <a:off x="9944608" y="2907792"/>
            <a:ext cx="228600" cy="201300"/>
          </a:xfrm>
          <a:prstGeom prst="chevron">
            <a:avLst>
              <a:gd name="adj" fmla="val 50000"/>
            </a:avLst>
          </a:prstGeom>
          <a:solidFill>
            <a:srgbClr val="50698A"/>
          </a:solidFill>
          <a:ln w="12700" cap="flat" cmpd="sng">
            <a:solidFill>
              <a:srgbClr val="50698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0" name="Google Shape;330;p26"/>
          <p:cNvSpPr/>
          <p:nvPr/>
        </p:nvSpPr>
        <p:spPr>
          <a:xfrm>
            <a:off x="457200" y="4773168"/>
            <a:ext cx="2697600" cy="11703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1" name="Google Shape;331;p26"/>
          <p:cNvSpPr/>
          <p:nvPr/>
        </p:nvSpPr>
        <p:spPr>
          <a:xfrm>
            <a:off x="612648" y="4919472"/>
            <a:ext cx="658500" cy="475500"/>
          </a:xfrm>
          <a:prstGeom prst="roundRect">
            <a:avLst>
              <a:gd name="adj" fmla="val 19231"/>
            </a:avLst>
          </a:prstGeom>
          <a:solidFill>
            <a:srgbClr val="F35B00"/>
          </a:solidFill>
          <a:ln w="12700" cap="flat" cmpd="sng">
            <a:solidFill>
              <a:srgbClr val="F35B00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2" name="Google Shape;332;p26"/>
          <p:cNvSpPr/>
          <p:nvPr/>
        </p:nvSpPr>
        <p:spPr>
          <a:xfrm>
            <a:off x="685800" y="4992624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 panose="02000503000000020004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01</a:t>
            </a:r>
            <a:endParaRPr sz="14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33" name="Google Shape;333;p26"/>
          <p:cNvSpPr/>
          <p:nvPr/>
        </p:nvSpPr>
        <p:spPr>
          <a:xfrm>
            <a:off x="1280160" y="4965192"/>
            <a:ext cx="15546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 panose="02000503000000020004"/>
              <a:buNone/>
            </a:pPr>
            <a:r>
              <a:rPr lang="en-US" sz="125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CoordConv</a:t>
            </a:r>
            <a:endParaRPr sz="125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34" name="Google Shape;334;p26"/>
          <p:cNvSpPr/>
          <p:nvPr/>
        </p:nvSpPr>
        <p:spPr>
          <a:xfrm>
            <a:off x="1280160" y="5257800"/>
            <a:ext cx="16275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30"/>
              <a:buFont typeface="Inter" panose="02000503000000020004"/>
              <a:buNone/>
            </a:pPr>
            <a:r>
              <a:rPr lang="en-US" sz="143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Adds spatial coordinates</a:t>
            </a:r>
            <a:endParaRPr sz="143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35" name="Google Shape;335;p26"/>
          <p:cNvSpPr/>
          <p:nvPr/>
        </p:nvSpPr>
        <p:spPr>
          <a:xfrm>
            <a:off x="3319272" y="4773168"/>
            <a:ext cx="2697600" cy="11703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6" name="Google Shape;336;p26"/>
          <p:cNvSpPr/>
          <p:nvPr/>
        </p:nvSpPr>
        <p:spPr>
          <a:xfrm>
            <a:off x="3474720" y="4919472"/>
            <a:ext cx="658500" cy="475500"/>
          </a:xfrm>
          <a:prstGeom prst="roundRect">
            <a:avLst>
              <a:gd name="adj" fmla="val 19231"/>
            </a:avLst>
          </a:prstGeom>
          <a:solidFill>
            <a:srgbClr val="2767E8"/>
          </a:solidFill>
          <a:ln w="12700" cap="flat" cmpd="sng">
            <a:solidFill>
              <a:srgbClr val="2767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7" name="Google Shape;337;p26"/>
          <p:cNvSpPr/>
          <p:nvPr/>
        </p:nvSpPr>
        <p:spPr>
          <a:xfrm>
            <a:off x="3547872" y="4992624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 panose="02000503000000020004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02</a:t>
            </a:r>
            <a:endParaRPr sz="14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38" name="Google Shape;338;p26"/>
          <p:cNvSpPr/>
          <p:nvPr/>
        </p:nvSpPr>
        <p:spPr>
          <a:xfrm>
            <a:off x="4142232" y="4965192"/>
            <a:ext cx="15546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 panose="02000503000000020004"/>
              <a:buNone/>
            </a:pPr>
            <a:r>
              <a:rPr lang="en-US" sz="125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RepConv</a:t>
            </a:r>
            <a:endParaRPr sz="125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39" name="Google Shape;339;p26"/>
          <p:cNvSpPr/>
          <p:nvPr/>
        </p:nvSpPr>
        <p:spPr>
          <a:xfrm>
            <a:off x="4142225" y="5166300"/>
            <a:ext cx="1710000" cy="6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30"/>
              <a:buFont typeface="Inter" panose="02000503000000020004"/>
              <a:buNone/>
            </a:pPr>
            <a:r>
              <a:rPr lang="en-US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Train multi-branch, deploy</a:t>
            </a:r>
            <a:r>
              <a:rPr lang="en-US"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single-path</a:t>
            </a:r>
            <a:endParaRPr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40" name="Google Shape;340;p26"/>
          <p:cNvSpPr/>
          <p:nvPr/>
        </p:nvSpPr>
        <p:spPr>
          <a:xfrm>
            <a:off x="6181344" y="4773168"/>
            <a:ext cx="2697600" cy="11703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1" name="Google Shape;341;p26"/>
          <p:cNvSpPr/>
          <p:nvPr/>
        </p:nvSpPr>
        <p:spPr>
          <a:xfrm>
            <a:off x="6336792" y="4919472"/>
            <a:ext cx="658500" cy="475500"/>
          </a:xfrm>
          <a:prstGeom prst="roundRect">
            <a:avLst>
              <a:gd name="adj" fmla="val 19231"/>
            </a:avLst>
          </a:prstGeom>
          <a:solidFill>
            <a:srgbClr val="F08A00"/>
          </a:solidFill>
          <a:ln w="12700" cap="flat" cmpd="sng">
            <a:solidFill>
              <a:srgbClr val="F08A00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2" name="Google Shape;342;p26"/>
          <p:cNvSpPr/>
          <p:nvPr/>
        </p:nvSpPr>
        <p:spPr>
          <a:xfrm>
            <a:off x="6409944" y="4992624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 panose="02000503000000020004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03</a:t>
            </a:r>
            <a:endParaRPr sz="14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43" name="Google Shape;343;p26"/>
          <p:cNvSpPr/>
          <p:nvPr/>
        </p:nvSpPr>
        <p:spPr>
          <a:xfrm>
            <a:off x="7004304" y="4965192"/>
            <a:ext cx="15546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 panose="02000503000000020004"/>
              <a:buNone/>
            </a:pPr>
            <a:r>
              <a:rPr lang="en-US" sz="125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BiFormer</a:t>
            </a:r>
            <a:endParaRPr sz="125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44" name="Google Shape;344;p26"/>
          <p:cNvSpPr/>
          <p:nvPr/>
        </p:nvSpPr>
        <p:spPr>
          <a:xfrm>
            <a:off x="7004275" y="5143500"/>
            <a:ext cx="1792200" cy="67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30"/>
              <a:buFont typeface="Inter" panose="02000503000000020004"/>
              <a:buNone/>
            </a:pPr>
            <a:r>
              <a:rPr lang="en-US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Sparse routing for small</a:t>
            </a:r>
            <a:r>
              <a:rPr lang="en-US"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targets</a:t>
            </a:r>
            <a:endParaRPr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45" name="Google Shape;345;p26"/>
          <p:cNvSpPr/>
          <p:nvPr/>
        </p:nvSpPr>
        <p:spPr>
          <a:xfrm>
            <a:off x="9043416" y="4773168"/>
            <a:ext cx="2697600" cy="11703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6" name="Google Shape;346;p26"/>
          <p:cNvSpPr/>
          <p:nvPr/>
        </p:nvSpPr>
        <p:spPr>
          <a:xfrm>
            <a:off x="9198864" y="4919472"/>
            <a:ext cx="658500" cy="475500"/>
          </a:xfrm>
          <a:prstGeom prst="roundRect">
            <a:avLst>
              <a:gd name="adj" fmla="val 19231"/>
            </a:avLst>
          </a:prstGeom>
          <a:solidFill>
            <a:srgbClr val="10AF5A"/>
          </a:solidFill>
          <a:ln w="12700" cap="flat" cmpd="sng">
            <a:solidFill>
              <a:srgbClr val="10AF5A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7" name="Google Shape;347;p26"/>
          <p:cNvSpPr/>
          <p:nvPr/>
        </p:nvSpPr>
        <p:spPr>
          <a:xfrm>
            <a:off x="9272016" y="4992624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 panose="02000503000000020004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04</a:t>
            </a:r>
            <a:endParaRPr sz="14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48" name="Google Shape;348;p26"/>
          <p:cNvSpPr/>
          <p:nvPr/>
        </p:nvSpPr>
        <p:spPr>
          <a:xfrm>
            <a:off x="9866376" y="4965192"/>
            <a:ext cx="15546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 panose="02000503000000020004"/>
              <a:buNone/>
            </a:pPr>
            <a:r>
              <a:rPr lang="en-US" sz="125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Focal EIoU</a:t>
            </a:r>
            <a:endParaRPr sz="125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49" name="Google Shape;349;p26"/>
          <p:cNvSpPr/>
          <p:nvPr/>
        </p:nvSpPr>
        <p:spPr>
          <a:xfrm>
            <a:off x="9866376" y="5257800"/>
            <a:ext cx="1627500" cy="3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30"/>
              <a:buFont typeface="Inter" panose="02000503000000020004"/>
              <a:buNone/>
            </a:pPr>
            <a:r>
              <a:rPr lang="en-US" sz="143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Improves box regression</a:t>
            </a:r>
            <a:endParaRPr sz="143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pic>
        <p:nvPicPr>
          <p:cNvPr id="350" name="Google Shape;350;p2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49025" y="2177134"/>
            <a:ext cx="1554600" cy="1543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" name="Google Shape;351;p2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10250850" y="2154108"/>
            <a:ext cx="1463100" cy="1452654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26"/>
          <p:cNvSpPr/>
          <p:nvPr/>
        </p:nvSpPr>
        <p:spPr>
          <a:xfrm>
            <a:off x="10981950" y="2569575"/>
            <a:ext cx="82500" cy="137100"/>
          </a:xfrm>
          <a:prstGeom prst="rect">
            <a:avLst/>
          </a:prstGeom>
          <a:solidFill>
            <a:srgbClr val="FFFFFF">
              <a:alpha val="0"/>
            </a:srgbClr>
          </a:solidFill>
          <a:ln w="16500" cap="flat" cmpd="sng">
            <a:solidFill>
              <a:srgbClr val="00E8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3" name="Google Shape;353;p26"/>
          <p:cNvSpPr/>
          <p:nvPr/>
        </p:nvSpPr>
        <p:spPr>
          <a:xfrm>
            <a:off x="9363675" y="2723213"/>
            <a:ext cx="567000" cy="6708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50"/>
              <a:buFont typeface="Inter" panose="02000503000000020004"/>
              <a:buNone/>
            </a:pPr>
            <a:r>
              <a:rPr lang="en-US" sz="900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Focal EIoU</a:t>
            </a:r>
            <a:endParaRPr sz="900">
              <a:solidFill>
                <a:schemeClr val="dk1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cxnSp>
        <p:nvCxnSpPr>
          <p:cNvPr id="354" name="Google Shape;354;p26"/>
          <p:cNvCxnSpPr/>
          <p:nvPr/>
        </p:nvCxnSpPr>
        <p:spPr>
          <a:xfrm>
            <a:off x="9139588" y="3051850"/>
            <a:ext cx="224100" cy="13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2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60" name="Google Shape;360;p27"/>
          <p:cNvSpPr txBox="1"/>
          <p:nvPr/>
        </p:nvSpPr>
        <p:spPr>
          <a:xfrm>
            <a:off x="731520" y="292608"/>
            <a:ext cx="8686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1" name="Google Shape;361;p27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11 / 18</a:t>
            </a:r>
            <a:endParaRPr lang="en-US" sz="1100" b="1" i="0" u="none" strike="noStrike" cap="none">
              <a:solidFill>
                <a:srgbClr val="64748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62" name="Google Shape;362;p27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Data Engineering: Multi-Domain Harmonization &amp; Anomaly Cleaning</a:t>
            </a:r>
            <a:endParaRPr lang="en-US" sz="20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63" name="Google Shape;363;p27"/>
          <p:cNvSpPr/>
          <p:nvPr/>
        </p:nvSpPr>
        <p:spPr>
          <a:xfrm>
            <a:off x="731520" y="1234440"/>
            <a:ext cx="5120700" cy="44805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64" name="Google Shape;364;p27"/>
          <p:cNvSpPr txBox="1"/>
          <p:nvPr/>
        </p:nvSpPr>
        <p:spPr>
          <a:xfrm>
            <a:off x="960120" y="1436850"/>
            <a:ext cx="4663500" cy="248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PRIMARY IN-DOMAIN DATASET (VOC2028 / SHWD)</a:t>
            </a:r>
            <a:endParaRPr sz="18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7,581 Real Construction Images</a:t>
            </a:r>
            <a:endParaRPr sz="180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38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Rigorous 80/20 Partitioning: </a:t>
            </a:r>
            <a:r>
              <a:rPr lang="en-US" sz="13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6,064 TrainVal images / 1,517 independent Test images (Zero Data Leakage).</a:t>
            </a:r>
            <a:endParaRPr sz="1800"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8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Noise &amp; Anomaly Cleaning: </a:t>
            </a:r>
            <a:r>
              <a:rPr lang="en-US" sz="13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Detected and purged 3 corrupted XML annotations labeled as "dog".</a:t>
            </a:r>
            <a:endParaRPr sz="1800"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8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Extreme Label Imbalance: </a:t>
            </a:r>
            <a:r>
              <a:rPr lang="en-US" sz="13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1:12 class ratio (9,044 helmet labels vs. 111,514 person body labels).</a:t>
            </a:r>
            <a:endParaRPr sz="1800"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8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Multi-Scale Standardization: </a:t>
            </a:r>
            <a:r>
              <a:rPr lang="en-US" sz="13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960×960 native training resolution with 640×640 / 1024×1024 multi-scale scaling.</a:t>
            </a:r>
            <a:endParaRPr sz="1800"/>
          </a:p>
        </p:txBody>
      </p:sp>
      <p:sp>
        <p:nvSpPr>
          <p:cNvPr id="365" name="Google Shape;365;p27"/>
          <p:cNvSpPr/>
          <p:nvPr/>
        </p:nvSpPr>
        <p:spPr>
          <a:xfrm>
            <a:off x="6126480" y="1234440"/>
            <a:ext cx="5303520" cy="44805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66" name="Google Shape;366;p27"/>
          <p:cNvSpPr txBox="1"/>
          <p:nvPr/>
        </p:nvSpPr>
        <p:spPr>
          <a:xfrm>
            <a:off x="6355080" y="1508750"/>
            <a:ext cx="4846200" cy="248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2563E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5 CROSS-DOMAIN BENCHMARKS (&gt;25,000 IMAGES)</a:t>
            </a:r>
            <a:endParaRPr sz="18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Extreme Zero-Shot Generalization Test</a:t>
            </a:r>
            <a:endParaRPr sz="1800"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38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GDUT-HWD (13,499 images): </a:t>
            </a:r>
            <a:r>
              <a:rPr lang="en-US" sz="13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Ultra-dense worker crowding (15–30 persons per camera frame).</a:t>
            </a:r>
            <a:endParaRPr sz="1800"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8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SHEL5K (5,000 images): </a:t>
            </a:r>
            <a:r>
              <a:rPr lang="en-US" sz="13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Vertical drone overhead perspective (70–90°), tiny helmets &lt;15px.</a:t>
            </a:r>
            <a:endParaRPr sz="1800"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8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Hard Hat Workers (7,000 images): </a:t>
            </a:r>
            <a:r>
              <a:rPr lang="en-US" sz="13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Outdoor surveillance under extreme natural lighting and shadows.</a:t>
            </a:r>
            <a:endParaRPr sz="1800"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8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SHD &amp; SFCHD Benchmark: </a:t>
            </a:r>
            <a:r>
              <a:rPr lang="en-US" sz="13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Heavy industry metallurgical plants, oil refineries, and shipyards.</a:t>
            </a:r>
            <a:endParaRPr sz="1800"/>
          </a:p>
        </p:txBody>
      </p:sp>
      <p:sp>
        <p:nvSpPr>
          <p:cNvPr id="367" name="Google Shape;367;p27"/>
          <p:cNvSpPr/>
          <p:nvPr/>
        </p:nvSpPr>
        <p:spPr>
          <a:xfrm>
            <a:off x="731520" y="5806440"/>
            <a:ext cx="10698480" cy="6400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70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68" name="Google Shape;368;p27"/>
          <p:cNvSpPr txBox="1"/>
          <p:nvPr/>
        </p:nvSpPr>
        <p:spPr>
          <a:xfrm>
            <a:off x="914400" y="5870448"/>
            <a:ext cx="1033272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2563E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★ UNIFIED LABEL TAXONOMY C* = {0: "hat" (Safety Helmet), 1: "person" (Worker Body)} — Fully synchronized across 33,000+ images!</a:t>
            </a:r>
            <a:endParaRPr lang="en-US" sz="1050" b="1" i="0" u="none" strike="noStrike" cap="none">
              <a:solidFill>
                <a:srgbClr val="2563E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8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4" name="Google Shape;374;p28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 panose="02000503000000020004"/>
              <a:buNone/>
            </a:pPr>
            <a:r>
              <a:rPr lang="en-US" sz="1120" b="1" i="0" u="none" strike="noStrike" cap="none">
                <a:solidFill>
                  <a:srgbClr val="F35B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CRITERION 3 · FEASIBILITY &amp; PROJECT SCOPE</a:t>
            </a:r>
            <a:endParaRPr sz="112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75" name="Google Shape;375;p28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 panose="02000503000000020004"/>
              <a:buNone/>
            </a:pPr>
            <a:r>
              <a:rPr lang="en-US" sz="1100" b="1" i="0" u="none" strike="noStrike" cap="none">
                <a:solidFill>
                  <a:srgbClr val="61728B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14 / 18</a:t>
            </a:r>
            <a:endParaRPr sz="11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76" name="Google Shape;376;p28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 panose="02000503000000020004"/>
              <a:buNone/>
            </a:pPr>
            <a:r>
              <a:rPr lang="en-US" sz="308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Feasibility &amp; Scope</a:t>
            </a:r>
            <a:endParaRPr sz="30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77" name="Google Shape;377;p28"/>
          <p:cNvSpPr/>
          <p:nvPr/>
        </p:nvSpPr>
        <p:spPr>
          <a:xfrm>
            <a:off x="532650" y="1220300"/>
            <a:ext cx="5456700" cy="4517400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8" name="Google Shape;378;p28"/>
          <p:cNvSpPr/>
          <p:nvPr/>
        </p:nvSpPr>
        <p:spPr>
          <a:xfrm>
            <a:off x="6172200" y="1234200"/>
            <a:ext cx="5801700" cy="4517400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9" name="Google Shape;379;p28"/>
          <p:cNvSpPr/>
          <p:nvPr/>
        </p:nvSpPr>
        <p:spPr>
          <a:xfrm>
            <a:off x="960120" y="1627632"/>
            <a:ext cx="4114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800"/>
              <a:buFont typeface="Inter" panose="02000503000000020004"/>
              <a:buNone/>
            </a:pPr>
            <a:r>
              <a:rPr lang="en-US" sz="180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Reuse Existing Foundations</a:t>
            </a:r>
            <a:endParaRPr sz="18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80" name="Google Shape;380;p28"/>
          <p:cNvSpPr/>
          <p:nvPr/>
        </p:nvSpPr>
        <p:spPr>
          <a:xfrm>
            <a:off x="6446520" y="1627632"/>
            <a:ext cx="41148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800"/>
              <a:buFont typeface="Inter" panose="02000503000000020004"/>
              <a:buNone/>
            </a:pPr>
            <a:r>
              <a:rPr lang="en-US" sz="180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Our Work &amp; Scope</a:t>
            </a:r>
            <a:endParaRPr sz="18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81" name="Google Shape;381;p28"/>
          <p:cNvSpPr/>
          <p:nvPr/>
        </p:nvSpPr>
        <p:spPr>
          <a:xfrm>
            <a:off x="1828800" y="2212848"/>
            <a:ext cx="35661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60"/>
              <a:buFont typeface="Inter" panose="02000503000000020004"/>
              <a:buNone/>
            </a:pPr>
            <a:r>
              <a:rPr lang="en-US" sz="126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YOLO-based framework</a:t>
            </a:r>
            <a:endParaRPr sz="126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82" name="Google Shape;382;p28"/>
          <p:cNvSpPr/>
          <p:nvPr/>
        </p:nvSpPr>
        <p:spPr>
          <a:xfrm>
            <a:off x="1828800" y="2487168"/>
            <a:ext cx="37491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6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Build on the proven YOLO11s detection pipeline.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83" name="Google Shape;383;p28"/>
          <p:cNvSpPr/>
          <p:nvPr/>
        </p:nvSpPr>
        <p:spPr>
          <a:xfrm>
            <a:off x="1828800" y="3127248"/>
            <a:ext cx="35661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60"/>
              <a:buFont typeface="Inter" panose="02000503000000020004"/>
              <a:buNone/>
            </a:pPr>
            <a:r>
              <a:rPr lang="en-US" sz="126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PyTorch and OpenCV tools</a:t>
            </a:r>
            <a:endParaRPr sz="126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84" name="Google Shape;384;p28"/>
          <p:cNvSpPr/>
          <p:nvPr/>
        </p:nvSpPr>
        <p:spPr>
          <a:xfrm>
            <a:off x="1828800" y="3401576"/>
            <a:ext cx="40152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6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Leverage mature libraries for training and inference.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85" name="Google Shape;385;p28"/>
          <p:cNvSpPr/>
          <p:nvPr/>
        </p:nvSpPr>
        <p:spPr>
          <a:xfrm>
            <a:off x="1828800" y="4041648"/>
            <a:ext cx="35661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60"/>
              <a:buFont typeface="Inter" panose="02000503000000020004"/>
              <a:buNone/>
            </a:pPr>
            <a:r>
              <a:rPr lang="en-US" sz="126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TensorRT / ONNX / OpenVINO</a:t>
            </a:r>
            <a:endParaRPr sz="126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86" name="Google Shape;386;p28"/>
          <p:cNvSpPr/>
          <p:nvPr/>
        </p:nvSpPr>
        <p:spPr>
          <a:xfrm>
            <a:off x="1828800" y="4315974"/>
            <a:ext cx="4114800" cy="2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6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Use established toolchains for optimized deployment.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87" name="Google Shape;387;p28"/>
          <p:cNvSpPr/>
          <p:nvPr/>
        </p:nvSpPr>
        <p:spPr>
          <a:xfrm>
            <a:off x="1828800" y="4956048"/>
            <a:ext cx="35661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60"/>
              <a:buFont typeface="Inter" panose="02000503000000020004"/>
              <a:buNone/>
            </a:pPr>
            <a:r>
              <a:rPr lang="en-US" sz="126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RTSP surveillance pipeline</a:t>
            </a:r>
            <a:endParaRPr sz="126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88" name="Google Shape;388;p28"/>
          <p:cNvSpPr/>
          <p:nvPr/>
        </p:nvSpPr>
        <p:spPr>
          <a:xfrm>
            <a:off x="1828800" y="5230368"/>
            <a:ext cx="3749100" cy="32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6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Integrate with standard IP camera streams.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89" name="Google Shape;389;p28"/>
          <p:cNvSpPr/>
          <p:nvPr/>
        </p:nvSpPr>
        <p:spPr>
          <a:xfrm>
            <a:off x="7315200" y="2212848"/>
            <a:ext cx="36576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40"/>
              <a:buFont typeface="Inter" panose="02000503000000020004"/>
              <a:buNone/>
            </a:pPr>
            <a:r>
              <a:rPr lang="en-US" sz="124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Integrate CoordConv, RepConv, BiFormer</a:t>
            </a:r>
            <a:endParaRPr sz="124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90" name="Google Shape;390;p28"/>
          <p:cNvSpPr/>
          <p:nvPr/>
        </p:nvSpPr>
        <p:spPr>
          <a:xfrm>
            <a:off x="7315200" y="2487176"/>
            <a:ext cx="4114800" cy="45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Combine spatial encoding, re-parameterization and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attention modules in YOLO11s.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91" name="Google Shape;391;p28"/>
          <p:cNvSpPr/>
          <p:nvPr/>
        </p:nvSpPr>
        <p:spPr>
          <a:xfrm>
            <a:off x="7315200" y="3127248"/>
            <a:ext cx="36576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40"/>
              <a:buFont typeface="Inter" panose="02000503000000020004"/>
              <a:buNone/>
            </a:pPr>
            <a:r>
              <a:rPr lang="en-US" sz="124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Apply Focal EIoU loss</a:t>
            </a:r>
            <a:endParaRPr sz="124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92" name="Google Shape;392;p28"/>
          <p:cNvSpPr/>
          <p:nvPr/>
        </p:nvSpPr>
        <p:spPr>
          <a:xfrm>
            <a:off x="7315200" y="3401576"/>
            <a:ext cx="4015200" cy="45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Use Focal EIoU to improve small target localization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and reduce false alarms.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93" name="Google Shape;393;p28"/>
          <p:cNvSpPr/>
          <p:nvPr/>
        </p:nvSpPr>
        <p:spPr>
          <a:xfrm>
            <a:off x="7315200" y="4041648"/>
            <a:ext cx="36576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40"/>
              <a:buFont typeface="Inter" panose="02000503000000020004"/>
              <a:buNone/>
            </a:pPr>
            <a:r>
              <a:rPr lang="en-US" sz="124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Conduct ablation and benchmarking</a:t>
            </a:r>
            <a:endParaRPr sz="124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94" name="Google Shape;394;p28"/>
          <p:cNvSpPr/>
          <p:nvPr/>
        </p:nvSpPr>
        <p:spPr>
          <a:xfrm>
            <a:off x="7315200" y="4315977"/>
            <a:ext cx="4015200" cy="45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Evaluate each component with systematic experiments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and standard benchmarks.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95" name="Google Shape;395;p28"/>
          <p:cNvSpPr/>
          <p:nvPr/>
        </p:nvSpPr>
        <p:spPr>
          <a:xfrm>
            <a:off x="7315200" y="4956048"/>
            <a:ext cx="36576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40"/>
              <a:buFont typeface="Inter" panose="02000503000000020004"/>
              <a:buNone/>
            </a:pPr>
            <a:r>
              <a:rPr lang="en-US" sz="124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Build real-time prototype system</a:t>
            </a:r>
            <a:endParaRPr sz="124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96" name="Google Shape;396;p28"/>
          <p:cNvSpPr/>
          <p:nvPr/>
        </p:nvSpPr>
        <p:spPr>
          <a:xfrm>
            <a:off x="7315200" y="5230375"/>
            <a:ext cx="52578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 panose="02000503000000020004"/>
              <a:buNone/>
            </a:pPr>
            <a:r>
              <a:rPr lang="en-US" sz="125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Implement and deploy an optimized model on edge hardware</a:t>
            </a:r>
            <a:endParaRPr sz="125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950"/>
              <a:buFont typeface="Inter" panose="02000503000000020004"/>
              <a:buNone/>
            </a:pPr>
            <a:r>
              <a:rPr lang="en-US" sz="125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with live video inference.</a:t>
            </a:r>
            <a:endParaRPr sz="125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pic>
        <p:nvPicPr>
          <p:cNvPr id="397" name="Google Shape;397;p28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960120" y="2177179"/>
            <a:ext cx="731400" cy="3454459"/>
          </a:xfrm>
          <a:prstGeom prst="rect">
            <a:avLst/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</p:pic>
      <p:pic>
        <p:nvPicPr>
          <p:cNvPr id="398" name="Google Shape;398;p28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6400925" y="2093375"/>
            <a:ext cx="731400" cy="36220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29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04" name="Google Shape;404;p29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 panose="02000503000000020004"/>
              <a:buNone/>
            </a:pPr>
            <a:r>
              <a:rPr lang="en-US" sz="1120" b="1" i="0" u="none" strike="noStrike" cap="none">
                <a:solidFill>
                  <a:srgbClr val="F35B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CRITERION 4 · VALUE &amp; CONTRIBUTION</a:t>
            </a:r>
            <a:endParaRPr sz="112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405" name="Google Shape;405;p29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 panose="02000503000000020004"/>
              <a:buNone/>
            </a:pPr>
            <a:r>
              <a:rPr lang="en-US" sz="1100" b="1" i="0" u="none" strike="noStrike" cap="none">
                <a:solidFill>
                  <a:srgbClr val="61728B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16 / 18</a:t>
            </a:r>
            <a:endParaRPr sz="11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406" name="Google Shape;406;p29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 panose="02000503000000020004"/>
              <a:buNone/>
            </a:pPr>
            <a:r>
              <a:rPr lang="en-US" sz="308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Research Value &amp; Practical Contribution</a:t>
            </a:r>
            <a:endParaRPr sz="30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407" name="Google Shape;407;p29"/>
          <p:cNvSpPr/>
          <p:nvPr/>
        </p:nvSpPr>
        <p:spPr>
          <a:xfrm>
            <a:off x="548640" y="1371600"/>
            <a:ext cx="3246000" cy="425190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8" name="Google Shape;408;p29"/>
          <p:cNvSpPr/>
          <p:nvPr/>
        </p:nvSpPr>
        <p:spPr>
          <a:xfrm>
            <a:off x="841248" y="2743200"/>
            <a:ext cx="2469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000"/>
              <a:buFont typeface="Inter" panose="02000503000000020004"/>
              <a:buNone/>
            </a:pPr>
            <a:r>
              <a:rPr lang="en-US" sz="200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Academic Value</a:t>
            </a:r>
            <a:endParaRPr sz="20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cxnSp>
        <p:nvCxnSpPr>
          <p:cNvPr id="409" name="Google Shape;409;p29"/>
          <p:cNvCxnSpPr/>
          <p:nvPr/>
        </p:nvCxnSpPr>
        <p:spPr>
          <a:xfrm>
            <a:off x="841248" y="3182112"/>
            <a:ext cx="2651700" cy="0"/>
          </a:xfrm>
          <a:prstGeom prst="straightConnector1">
            <a:avLst/>
          </a:prstGeom>
          <a:noFill/>
          <a:ln w="12700" cap="flat" cmpd="sng">
            <a:solidFill>
              <a:srgbClr val="D7E0E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0" name="Google Shape;410;p29"/>
          <p:cNvSpPr/>
          <p:nvPr/>
        </p:nvSpPr>
        <p:spPr>
          <a:xfrm>
            <a:off x="896112" y="3511296"/>
            <a:ext cx="68700" cy="68700"/>
          </a:xfrm>
          <a:prstGeom prst="ellipse">
            <a:avLst/>
          </a:prstGeom>
          <a:solidFill>
            <a:srgbClr val="F35B00"/>
          </a:solidFill>
          <a:ln w="12700" cap="flat" cmpd="sng">
            <a:solidFill>
              <a:srgbClr val="F35B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1" name="Google Shape;411;p29"/>
          <p:cNvSpPr/>
          <p:nvPr/>
        </p:nvSpPr>
        <p:spPr>
          <a:xfrm>
            <a:off x="1060704" y="3429000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Improves the accuracy–latency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trade-off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412" name="Google Shape;412;p29"/>
          <p:cNvSpPr/>
          <p:nvPr/>
        </p:nvSpPr>
        <p:spPr>
          <a:xfrm>
            <a:off x="896112" y="4187952"/>
            <a:ext cx="68700" cy="68700"/>
          </a:xfrm>
          <a:prstGeom prst="ellipse">
            <a:avLst/>
          </a:prstGeom>
          <a:solidFill>
            <a:srgbClr val="F35B00"/>
          </a:solidFill>
          <a:ln w="12700" cap="flat" cmpd="sng">
            <a:solidFill>
              <a:srgbClr val="F35B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3" name="Google Shape;413;p29"/>
          <p:cNvSpPr/>
          <p:nvPr/>
        </p:nvSpPr>
        <p:spPr>
          <a:xfrm>
            <a:off x="1060704" y="4105656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Evaluates cross-domain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robustness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414" name="Google Shape;414;p29"/>
          <p:cNvSpPr/>
          <p:nvPr/>
        </p:nvSpPr>
        <p:spPr>
          <a:xfrm>
            <a:off x="896112" y="4864608"/>
            <a:ext cx="68700" cy="68700"/>
          </a:xfrm>
          <a:prstGeom prst="ellipse">
            <a:avLst/>
          </a:prstGeom>
          <a:solidFill>
            <a:srgbClr val="F35B00"/>
          </a:solidFill>
          <a:ln w="12700" cap="flat" cmpd="sng">
            <a:solidFill>
              <a:srgbClr val="F35B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5" name="Google Shape;415;p29"/>
          <p:cNvSpPr/>
          <p:nvPr/>
        </p:nvSpPr>
        <p:spPr>
          <a:xfrm>
            <a:off x="1060704" y="478231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Provides structured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experimental evidence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416" name="Google Shape;416;p29"/>
          <p:cNvSpPr/>
          <p:nvPr/>
        </p:nvSpPr>
        <p:spPr>
          <a:xfrm>
            <a:off x="4251960" y="1371600"/>
            <a:ext cx="3246000" cy="425190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7" name="Google Shape;417;p29"/>
          <p:cNvSpPr/>
          <p:nvPr/>
        </p:nvSpPr>
        <p:spPr>
          <a:xfrm>
            <a:off x="4544568" y="2743200"/>
            <a:ext cx="2469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000"/>
              <a:buFont typeface="Inter" panose="02000503000000020004"/>
              <a:buNone/>
            </a:pPr>
            <a:r>
              <a:rPr lang="en-US" sz="200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Practical Value</a:t>
            </a:r>
            <a:endParaRPr sz="20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cxnSp>
        <p:nvCxnSpPr>
          <p:cNvPr id="418" name="Google Shape;418;p29"/>
          <p:cNvCxnSpPr/>
          <p:nvPr/>
        </p:nvCxnSpPr>
        <p:spPr>
          <a:xfrm>
            <a:off x="4544568" y="3182112"/>
            <a:ext cx="2651700" cy="0"/>
          </a:xfrm>
          <a:prstGeom prst="straightConnector1">
            <a:avLst/>
          </a:prstGeom>
          <a:noFill/>
          <a:ln w="12700" cap="flat" cmpd="sng">
            <a:solidFill>
              <a:srgbClr val="D7E0E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19" name="Google Shape;419;p29"/>
          <p:cNvSpPr/>
          <p:nvPr/>
        </p:nvSpPr>
        <p:spPr>
          <a:xfrm>
            <a:off x="4599432" y="3511296"/>
            <a:ext cx="68700" cy="68700"/>
          </a:xfrm>
          <a:prstGeom prst="ellipse">
            <a:avLst/>
          </a:prstGeom>
          <a:solidFill>
            <a:srgbClr val="2767E8"/>
          </a:solidFill>
          <a:ln w="12700" cap="flat" cmpd="sng">
            <a:solidFill>
              <a:srgbClr val="2767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0" name="Google Shape;420;p29"/>
          <p:cNvSpPr/>
          <p:nvPr/>
        </p:nvSpPr>
        <p:spPr>
          <a:xfrm>
            <a:off x="4764024" y="3429000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Supports construction safety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monitoring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421" name="Google Shape;421;p29"/>
          <p:cNvSpPr/>
          <p:nvPr/>
        </p:nvSpPr>
        <p:spPr>
          <a:xfrm>
            <a:off x="4599432" y="4187952"/>
            <a:ext cx="68700" cy="68700"/>
          </a:xfrm>
          <a:prstGeom prst="ellipse">
            <a:avLst/>
          </a:prstGeom>
          <a:solidFill>
            <a:srgbClr val="2767E8"/>
          </a:solidFill>
          <a:ln w="12700" cap="flat" cmpd="sng">
            <a:solidFill>
              <a:srgbClr val="2767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2" name="Google Shape;422;p29"/>
          <p:cNvSpPr/>
          <p:nvPr/>
        </p:nvSpPr>
        <p:spPr>
          <a:xfrm>
            <a:off x="4764024" y="4105656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Reduces manual supervision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burden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423" name="Google Shape;423;p29"/>
          <p:cNvSpPr/>
          <p:nvPr/>
        </p:nvSpPr>
        <p:spPr>
          <a:xfrm>
            <a:off x="4599432" y="4864608"/>
            <a:ext cx="68700" cy="68700"/>
          </a:xfrm>
          <a:prstGeom prst="ellipse">
            <a:avLst/>
          </a:prstGeom>
          <a:solidFill>
            <a:srgbClr val="2767E8"/>
          </a:solidFill>
          <a:ln w="12700" cap="flat" cmpd="sng">
            <a:solidFill>
              <a:srgbClr val="2767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4" name="Google Shape;424;p29"/>
          <p:cNvSpPr/>
          <p:nvPr/>
        </p:nvSpPr>
        <p:spPr>
          <a:xfrm>
            <a:off x="4764024" y="478231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Runs on affordable hardware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425" name="Google Shape;425;p29"/>
          <p:cNvSpPr/>
          <p:nvPr/>
        </p:nvSpPr>
        <p:spPr>
          <a:xfrm>
            <a:off x="7955280" y="1371600"/>
            <a:ext cx="3246000" cy="425190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6" name="Google Shape;426;p29"/>
          <p:cNvSpPr/>
          <p:nvPr/>
        </p:nvSpPr>
        <p:spPr>
          <a:xfrm>
            <a:off x="8247888" y="2743200"/>
            <a:ext cx="24690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000"/>
              <a:buFont typeface="Inter" panose="02000503000000020004"/>
              <a:buNone/>
            </a:pPr>
            <a:r>
              <a:rPr lang="en-US" sz="200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Novelty</a:t>
            </a:r>
            <a:endParaRPr sz="20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cxnSp>
        <p:nvCxnSpPr>
          <p:cNvPr id="427" name="Google Shape;427;p29"/>
          <p:cNvCxnSpPr/>
          <p:nvPr/>
        </p:nvCxnSpPr>
        <p:spPr>
          <a:xfrm>
            <a:off x="8247888" y="3182112"/>
            <a:ext cx="2651700" cy="0"/>
          </a:xfrm>
          <a:prstGeom prst="straightConnector1">
            <a:avLst/>
          </a:prstGeom>
          <a:noFill/>
          <a:ln w="12700" cap="flat" cmpd="sng">
            <a:solidFill>
              <a:srgbClr val="D7E0E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8" name="Google Shape;428;p29"/>
          <p:cNvSpPr/>
          <p:nvPr/>
        </p:nvSpPr>
        <p:spPr>
          <a:xfrm>
            <a:off x="8302752" y="3511296"/>
            <a:ext cx="68700" cy="68700"/>
          </a:xfrm>
          <a:prstGeom prst="ellipse">
            <a:avLst/>
          </a:prstGeom>
          <a:solidFill>
            <a:srgbClr val="10AF5A"/>
          </a:solidFill>
          <a:ln w="12700" cap="flat" cmpd="sng">
            <a:solidFill>
              <a:srgbClr val="10AF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9" name="Google Shape;429;p29"/>
          <p:cNvSpPr/>
          <p:nvPr/>
        </p:nvSpPr>
        <p:spPr>
          <a:xfrm>
            <a:off x="8467344" y="3429000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Integrates multiple targeted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modules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430" name="Google Shape;430;p29"/>
          <p:cNvSpPr/>
          <p:nvPr/>
        </p:nvSpPr>
        <p:spPr>
          <a:xfrm>
            <a:off x="8302752" y="4187952"/>
            <a:ext cx="68700" cy="68700"/>
          </a:xfrm>
          <a:prstGeom prst="ellipse">
            <a:avLst/>
          </a:prstGeom>
          <a:solidFill>
            <a:srgbClr val="10AF5A"/>
          </a:solidFill>
          <a:ln w="12700" cap="flat" cmpd="sng">
            <a:solidFill>
              <a:srgbClr val="10AF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1" name="Google Shape;431;p29"/>
          <p:cNvSpPr/>
          <p:nvPr/>
        </p:nvSpPr>
        <p:spPr>
          <a:xfrm>
            <a:off x="8467344" y="4105656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Focuses on real-time edge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deployment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432" name="Google Shape;432;p29"/>
          <p:cNvSpPr/>
          <p:nvPr/>
        </p:nvSpPr>
        <p:spPr>
          <a:xfrm>
            <a:off x="8302752" y="4864608"/>
            <a:ext cx="68700" cy="68700"/>
          </a:xfrm>
          <a:prstGeom prst="ellipse">
            <a:avLst/>
          </a:prstGeom>
          <a:solidFill>
            <a:srgbClr val="10AF5A"/>
          </a:solidFill>
          <a:ln w="12700" cap="flat" cmpd="sng">
            <a:solidFill>
              <a:srgbClr val="10AF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3" name="Google Shape;433;p29"/>
          <p:cNvSpPr/>
          <p:nvPr/>
        </p:nvSpPr>
        <p:spPr>
          <a:xfrm>
            <a:off x="8467344" y="478231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Bridges research and working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7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prototype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434" name="Google Shape;434;p29"/>
          <p:cNvSpPr/>
          <p:nvPr/>
        </p:nvSpPr>
        <p:spPr>
          <a:xfrm>
            <a:off x="548640" y="5833872"/>
            <a:ext cx="10927200" cy="713100"/>
          </a:xfrm>
          <a:prstGeom prst="roundRect">
            <a:avLst>
              <a:gd name="adj" fmla="val 15385"/>
            </a:avLst>
          </a:prstGeom>
          <a:solidFill>
            <a:srgbClr val="F1F6FC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5" name="Google Shape;435;p29"/>
          <p:cNvSpPr/>
          <p:nvPr/>
        </p:nvSpPr>
        <p:spPr>
          <a:xfrm>
            <a:off x="1645920" y="6099048"/>
            <a:ext cx="90525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220"/>
              <a:buFont typeface="Inter" panose="02000503000000020004"/>
              <a:buNone/>
            </a:pPr>
            <a:r>
              <a:rPr lang="en-US" sz="122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An edge-ready helmet detection framework connecting academic research with practical deployment.</a:t>
            </a:r>
            <a:endParaRPr sz="122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pic>
        <p:nvPicPr>
          <p:cNvPr id="436" name="Google Shape;436;p29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891600" y="1613825"/>
            <a:ext cx="777300" cy="758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29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4489099" y="1623098"/>
            <a:ext cx="818180" cy="777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29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8247899" y="1597475"/>
            <a:ext cx="818175" cy="828543"/>
          </a:xfrm>
          <a:prstGeom prst="rect">
            <a:avLst/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3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44" name="Google Shape;444;p30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CRITERION 4 · EMPIRICAL VERIFICATION &amp; SCIENTIFIC EVIDENCE</a:t>
            </a:r>
            <a:endParaRPr lang="en-US" sz="1000" b="1" i="0" u="none" strike="noStrike" cap="none">
              <a:solidFill>
                <a:srgbClr val="EA580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45" name="Google Shape;445;p30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12 / 18</a:t>
            </a:r>
            <a:endParaRPr lang="en-US" sz="1100" b="1" i="0" u="none" strike="noStrike" cap="none">
              <a:solidFill>
                <a:srgbClr val="64748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46" name="Google Shape;446;p30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Ablation Study (A0–A6): Rigorous Component Verification</a:t>
            </a:r>
            <a:endParaRPr lang="en-US" sz="20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47" name="Google Shape;447;p30"/>
          <p:cNvSpPr/>
          <p:nvPr/>
        </p:nvSpPr>
        <p:spPr>
          <a:xfrm>
            <a:off x="174358" y="1234440"/>
            <a:ext cx="4389000" cy="49377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48" name="Google Shape;448;p30"/>
          <p:cNvSpPr txBox="1"/>
          <p:nvPr/>
        </p:nvSpPr>
        <p:spPr>
          <a:xfrm>
            <a:off x="452875" y="1408975"/>
            <a:ext cx="3927600" cy="342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STEP-BY-STEP MODULE CONTRIBUTIONS</a:t>
            </a:r>
            <a:endParaRPr sz="1800"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A0 (Baseline YOLO11s): </a:t>
            </a:r>
            <a:r>
              <a:rPr lang="en-US" sz="135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94.74% mAP50 · 6.52 ms latency.</a:t>
            </a:r>
            <a:endParaRPr sz="1800"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A1 (+ P2 Small Head): </a:t>
            </a:r>
            <a:r>
              <a:rPr lang="en-US" sz="135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94.81% mAP50 · Latency surged to 8.94 ms (+37%) -&gt; Pruned as suboptimal.</a:t>
            </a:r>
            <a:endParaRPr sz="1800"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A2 (+ CoordConv): </a:t>
            </a:r>
            <a:r>
              <a:rPr lang="en-US" sz="135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94.78% mAP50 · Spatial awareness without latency overhead.</a:t>
            </a:r>
            <a:endParaRPr sz="1800"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A3 (+ RepConv): </a:t>
            </a:r>
            <a:r>
              <a:rPr lang="en-US" sz="135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94.81% mAP50 · Rich gradient representation in training.</a:t>
            </a:r>
            <a:endParaRPr sz="1800"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A4 (+ Focal EIoU): </a:t>
            </a:r>
            <a:r>
              <a:rPr lang="en-US" sz="135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94.88% mAP50 · Precise bounding box regression for tiny objects.</a:t>
            </a:r>
            <a:endParaRPr sz="1800"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A5 (+ BiFormer): </a:t>
            </a:r>
            <a:r>
              <a:rPr lang="en-US" sz="135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94.80% mAP50 · Peak helmet Recall reaching 91.15%.</a:t>
            </a:r>
            <a:endParaRPr sz="1800"/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A6 (Full Fusion): </a:t>
            </a:r>
            <a:r>
              <a:rPr lang="en-US" sz="135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94.83% mAP50 · Latency plummets to a record 2.92 ms!</a:t>
            </a:r>
            <a:endParaRPr sz="1800"/>
          </a:p>
        </p:txBody>
      </p:sp>
      <p:sp>
        <p:nvSpPr>
          <p:cNvPr id="449" name="Google Shape;449;p30"/>
          <p:cNvSpPr txBox="1"/>
          <p:nvPr/>
        </p:nvSpPr>
        <p:spPr>
          <a:xfrm>
            <a:off x="5440680" y="5623560"/>
            <a:ext cx="5852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450" name="Google Shape;450;p30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5099200" y="1192975"/>
            <a:ext cx="6894776" cy="4472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3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56" name="Google Shape;456;p31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CRITERION 4 · SOTA BENCHMARKING &amp; PARETO DOMINANCE</a:t>
            </a:r>
            <a:endParaRPr lang="en-US" sz="1000" b="1" i="0" u="none" strike="noStrike" cap="none">
              <a:solidFill>
                <a:srgbClr val="EA580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57" name="Google Shape;457;p31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13 / 18</a:t>
            </a:r>
            <a:endParaRPr lang="en-US" sz="1100" b="1" i="0" u="none" strike="noStrike" cap="none">
              <a:solidFill>
                <a:srgbClr val="64748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58" name="Google Shape;458;p31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State-of-the-Art Benchmarking: Pareto Frontier Dominance</a:t>
            </a:r>
            <a:endParaRPr lang="en-US" sz="20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59" name="Google Shape;459;p31"/>
          <p:cNvSpPr/>
          <p:nvPr/>
        </p:nvSpPr>
        <p:spPr>
          <a:xfrm>
            <a:off x="731520" y="1234440"/>
            <a:ext cx="4389120" cy="4937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60" name="Google Shape;460;p31"/>
          <p:cNvSpPr txBox="1"/>
          <p:nvPr/>
        </p:nvSpPr>
        <p:spPr>
          <a:xfrm>
            <a:off x="982450" y="1508750"/>
            <a:ext cx="4023300" cy="27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COMPETITIVE EDGE OF REP-YOLO11s</a:t>
            </a:r>
            <a:endParaRPr sz="1800"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★ 2.23x Faster than Baseline: </a:t>
            </a:r>
            <a:r>
              <a:rPr lang="en-US" sz="135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2.92 ms vs 6.52 ms on Tesla T4 (342.5 FPS throughput).</a:t>
            </a:r>
            <a:endParaRPr sz="1800"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★ 4.25x Faster than YOLO-CBF: </a:t>
            </a:r>
            <a:r>
              <a:rPr lang="en-US" sz="135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YOLO-CBF takes 12.4 ms (80.6 FPS); our model takes only 2.92 ms.</a:t>
            </a:r>
            <a:endParaRPr sz="1800"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★ 2x Faster than EC-YOLOv8: </a:t>
            </a:r>
            <a:r>
              <a:rPr lang="en-US" sz="135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EC-YOLOv8 reaches 172.4 FPS; our model achieves 342.5 FPS.</a:t>
            </a:r>
            <a:endParaRPr sz="1800"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★ 5-Fold Stratified Peak: </a:t>
            </a:r>
            <a:r>
              <a:rPr lang="en-US" sz="135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96.64% ± 0.32% mAP50, peak fold reaching 97.11% mAP50 and F1: 0.9396.</a:t>
            </a:r>
            <a:endParaRPr sz="1800"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★ Top-Left Pareto Dominance: </a:t>
            </a:r>
            <a:r>
              <a:rPr lang="en-US" sz="135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Ideal benchmark quadrant: Highest detection accuracy at lowest forward latency.</a:t>
            </a:r>
            <a:endParaRPr sz="1800"/>
          </a:p>
        </p:txBody>
      </p:sp>
      <p:sp>
        <p:nvSpPr>
          <p:cNvPr id="461" name="Google Shape;461;p31"/>
          <p:cNvSpPr/>
          <p:nvPr/>
        </p:nvSpPr>
        <p:spPr>
          <a:xfrm>
            <a:off x="5303520" y="1234440"/>
            <a:ext cx="6126480" cy="4937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462" name="Google Shape;462;p31" descr="Fig5_efficiency_frontier_latency_vs_map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5303525" y="1192863"/>
            <a:ext cx="6126476" cy="4307675"/>
          </a:xfrm>
          <a:prstGeom prst="rect">
            <a:avLst/>
          </a:prstGeom>
          <a:noFill/>
          <a:ln>
            <a:noFill/>
          </a:ln>
        </p:spPr>
      </p:pic>
      <p:sp>
        <p:nvSpPr>
          <p:cNvPr id="463" name="Google Shape;463;p31"/>
          <p:cNvSpPr txBox="1"/>
          <p:nvPr/>
        </p:nvSpPr>
        <p:spPr>
          <a:xfrm>
            <a:off x="5440680" y="5623560"/>
            <a:ext cx="58521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Fig. 5: Pareto Efficiency Frontier (Latency vs. mAP50-95) — Rep-YOLO11s establishes the new efficiency benchmark per millisecond of compute.</a:t>
            </a:r>
            <a:endParaRPr lang="en-US" sz="850" b="0" i="0" u="none" strike="noStrike" cap="none">
              <a:solidFill>
                <a:srgbClr val="64748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3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69" name="Google Shape;469;p32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CRITERION 4 · MODEL TRANSPARENCY &amp; EXPLAINABLE AI</a:t>
            </a:r>
            <a:endParaRPr lang="en-US" sz="1000" b="1" i="0" u="none" strike="noStrike" cap="none">
              <a:solidFill>
                <a:srgbClr val="EA580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70" name="Google Shape;470;p32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14 / 18</a:t>
            </a:r>
            <a:endParaRPr lang="en-US" sz="1100" b="1" i="0" u="none" strike="noStrike" cap="none">
              <a:solidFill>
                <a:srgbClr val="64748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71" name="Google Shape;471;p32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Visual Explainability (Grad-CAM XAI): Saliency &amp; Noise Suppression</a:t>
            </a:r>
            <a:endParaRPr lang="en-US" sz="20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72" name="Google Shape;472;p32"/>
          <p:cNvSpPr/>
          <p:nvPr/>
        </p:nvSpPr>
        <p:spPr>
          <a:xfrm>
            <a:off x="731520" y="1234440"/>
            <a:ext cx="4023360" cy="4937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73" name="Google Shape;473;p32"/>
          <p:cNvSpPr txBox="1"/>
          <p:nvPr/>
        </p:nvSpPr>
        <p:spPr>
          <a:xfrm>
            <a:off x="1004250" y="1508750"/>
            <a:ext cx="3657600" cy="26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 HARD INDUSTRIAL SCENARIOS</a:t>
            </a:r>
            <a:endParaRPr sz="1800"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SCENARIO 1: REFLECTIVE ORANGE VEST</a:t>
            </a:r>
            <a:endParaRPr sz="18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Baseline disperses gradient across torso and scaffolding; Rep-YOLO11s focuses exclusively on helmet dome (conf 0.84).</a:t>
            </a:r>
            <a:endParaRPr sz="1800"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SCENARIO 2: SEVERE SPECULAR GLARE</a:t>
            </a:r>
            <a:endParaRPr sz="18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Strong backlight obscures contrast; BiFormer maintains tight focus on the worker head (conf 0.89).</a:t>
            </a:r>
            <a:endParaRPr sz="1800"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SCENARIO 3: YELLOW WARNING SIGN</a:t>
            </a:r>
            <a:endParaRPr sz="18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2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Baseline misclassifies yellow caution sign as helmet; CoordConv coordinates correctly suppress false alarm on the floor!</a:t>
            </a:r>
            <a:endParaRPr sz="1800"/>
          </a:p>
        </p:txBody>
      </p:sp>
      <p:sp>
        <p:nvSpPr>
          <p:cNvPr id="474" name="Google Shape;474;p32"/>
          <p:cNvSpPr/>
          <p:nvPr/>
        </p:nvSpPr>
        <p:spPr>
          <a:xfrm>
            <a:off x="4937760" y="1234440"/>
            <a:ext cx="6492240" cy="49377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pic>
        <p:nvPicPr>
          <p:cNvPr id="475" name="Google Shape;475;p32" descr="Fig3_gradcam_xai_saliency_comparison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4937750" y="1069850"/>
            <a:ext cx="6492250" cy="4443974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32"/>
          <p:cNvSpPr txBox="1"/>
          <p:nvPr/>
        </p:nvSpPr>
        <p:spPr>
          <a:xfrm>
            <a:off x="5265420" y="5599760"/>
            <a:ext cx="62178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Fig. 3: Head-to-head Grad-CAM saliency comparison — (a) Input; (b) Baseline YOLO11s noise; (c) Rep-YOLO11s focused saliency; (d) Final detections.</a:t>
            </a:r>
            <a:endParaRPr lang="en-US" sz="850" b="0" i="0" u="none" strike="noStrike" cap="none">
              <a:solidFill>
                <a:srgbClr val="64748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p33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82" name="Google Shape;482;p33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CRITERION 4 · CROSS-DOMAIN GENERALIZATION &amp; TAXONOMY</a:t>
            </a:r>
            <a:endParaRPr lang="en-US" sz="1000" b="1" i="0" u="none" strike="noStrike" cap="none">
              <a:solidFill>
                <a:srgbClr val="EA580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83" name="Google Shape;483;p33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15 / 18</a:t>
            </a:r>
            <a:endParaRPr lang="en-US" sz="1100" b="1" i="0" u="none" strike="noStrike" cap="none">
              <a:solidFill>
                <a:srgbClr val="64748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84" name="Google Shape;484;p33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Cross-Domain Generalization &amp; IoU Collapse Autopsy</a:t>
            </a:r>
            <a:endParaRPr lang="en-US" sz="20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85" name="Google Shape;485;p33"/>
          <p:cNvSpPr/>
          <p:nvPr/>
        </p:nvSpPr>
        <p:spPr>
          <a:xfrm>
            <a:off x="731520" y="1234440"/>
            <a:ext cx="3474720" cy="2286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86" name="Google Shape;486;p33"/>
          <p:cNvSpPr txBox="1"/>
          <p:nvPr/>
        </p:nvSpPr>
        <p:spPr>
          <a:xfrm>
            <a:off x="868680" y="1353312"/>
            <a:ext cx="32004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HARD HAT WORKERS (7,000 IMAGES)</a:t>
            </a:r>
            <a:endParaRPr lang="en-US" sz="10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6A34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97.03%</a:t>
            </a:r>
            <a:endParaRPr lang="en-US" sz="2800" b="1" i="0" u="none" strike="noStrike" cap="none">
              <a:solidFill>
                <a:srgbClr val="16A34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16A34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Harmonized PPE Protocol (Hat-Only)</a:t>
            </a:r>
            <a:endParaRPr lang="en-US" sz="900" b="1" i="0" u="none" strike="noStrike" cap="none">
              <a:solidFill>
                <a:srgbClr val="16A34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80" b="0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Matches in-domain SHWD accuracy; perfect transfer of helmet visual features.</a:t>
            </a:r>
            <a:endParaRPr lang="en-US" sz="880" b="0" i="0" u="none" strike="noStrike" cap="none">
              <a:solidFill>
                <a:srgbClr val="64748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87" name="Google Shape;487;p33"/>
          <p:cNvSpPr/>
          <p:nvPr/>
        </p:nvSpPr>
        <p:spPr>
          <a:xfrm>
            <a:off x="7909570" y="1243578"/>
            <a:ext cx="3474600" cy="2286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88" name="Google Shape;488;p33"/>
          <p:cNvSpPr txBox="1"/>
          <p:nvPr/>
        </p:nvSpPr>
        <p:spPr>
          <a:xfrm>
            <a:off x="8183905" y="1357900"/>
            <a:ext cx="3200400" cy="10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GDUT-HWD (13,499 IMAGES)</a:t>
            </a:r>
            <a:endParaRPr lang="en-US" sz="10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2563E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74.27%</a:t>
            </a:r>
            <a:endParaRPr lang="en-US" sz="2800" b="1" i="0" u="none" strike="noStrike" cap="none">
              <a:solidFill>
                <a:srgbClr val="2563E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i="0" u="none" strike="noStrike" cap="none">
                <a:solidFill>
                  <a:srgbClr val="2563E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Precision: 90.26% (15-30 workers/frame)</a:t>
            </a:r>
            <a:endParaRPr lang="en-US" sz="900" b="1" i="0" u="none" strike="noStrike" cap="none">
              <a:solidFill>
                <a:srgbClr val="2563E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80" b="0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Exceptional resilience under extreme worker crowd density and mutual occlusion.</a:t>
            </a:r>
            <a:endParaRPr lang="en-US" sz="880" b="0" i="0" u="none" strike="noStrike" cap="none">
              <a:solidFill>
                <a:srgbClr val="64748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89" name="Google Shape;489;p33"/>
          <p:cNvSpPr/>
          <p:nvPr/>
        </p:nvSpPr>
        <p:spPr>
          <a:xfrm>
            <a:off x="731520" y="3703320"/>
            <a:ext cx="1069848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90" name="Google Shape;490;p33"/>
          <p:cNvSpPr txBox="1"/>
          <p:nvPr/>
        </p:nvSpPr>
        <p:spPr>
          <a:xfrm>
            <a:off x="960120" y="3844385"/>
            <a:ext cx="10241400" cy="8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u="none" strike="noStrike" cap="none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MATHEMATICAL AUTOPSY: THE CROSS-DOMAIN IOU COLLAPSE</a:t>
            </a:r>
            <a:endParaRPr lang="en-US" sz="1150" b="1" i="0" u="none" strike="noStrike" cap="none">
              <a:solidFill>
                <a:srgbClr val="EA580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98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Academic Label Taxonomy Conflict: </a:t>
            </a:r>
            <a:r>
              <a:rPr lang="en-US" sz="9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The source SHWD dataset annotates "person" as FULL-BODY, while Hard Hat Workers annotates "person" as HEAD-ONLY.</a:t>
            </a:r>
            <a:endParaRPr lang="en-US" sz="980" b="0" i="0" u="none" strike="noStrike" cap="none">
              <a:solidFill>
                <a:srgbClr val="334155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8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Mathematical Degradation: </a:t>
            </a:r>
            <a:r>
              <a:rPr lang="en-US" sz="9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When the detector accurately identifies a full worker body, ground-truth is only the tiny head. Intersection IoU = Area(head) / Area(body) ≈ 0.07 – 0.14 &lt;&lt; 0.50! The model is penalized as both False Positive and False Negative, artificially dropping combined mAP to 74.40%.</a:t>
            </a:r>
            <a:endParaRPr lang="en-US" sz="980" b="0" i="0" u="none" strike="noStrike" cap="none">
              <a:solidFill>
                <a:srgbClr val="334155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80" b="1" i="0" u="none" strike="noStrike" cap="none">
                <a:solidFill>
                  <a:srgbClr val="16A34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Empirical Exoneration: </a:t>
            </a:r>
            <a:r>
              <a:rPr lang="en-US" sz="9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Evaluating under the Harmonized PPE Protocol (Hat-Only), mAP instantly surges to 97.03%, proving the learned visual representations are pristine!</a:t>
            </a:r>
            <a:endParaRPr lang="en-US" sz="980" b="0" i="0" u="none" strike="noStrike" cap="none">
              <a:solidFill>
                <a:srgbClr val="334155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3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96" name="Google Shape;496;p34"/>
          <p:cNvSpPr txBox="1"/>
          <p:nvPr/>
        </p:nvSpPr>
        <p:spPr>
          <a:xfrm>
            <a:off x="731520" y="292608"/>
            <a:ext cx="868680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CRITERION 4 · REAL-WORLD DEPLOYMENT ON BUDGET HARDWARE</a:t>
            </a:r>
            <a:endParaRPr lang="en-US" sz="1000" b="1" i="0" u="none" strike="noStrike" cap="none">
              <a:solidFill>
                <a:srgbClr val="EA580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97" name="Google Shape;497;p34"/>
          <p:cNvSpPr txBox="1"/>
          <p:nvPr/>
        </p:nvSpPr>
        <p:spPr>
          <a:xfrm>
            <a:off x="10332720" y="292608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16 / 18</a:t>
            </a:r>
            <a:endParaRPr lang="en-US" sz="1100" b="1" i="0" u="none" strike="noStrike" cap="none">
              <a:solidFill>
                <a:srgbClr val="64748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98" name="Google Shape;498;p34"/>
          <p:cNvSpPr txBox="1"/>
          <p:nvPr/>
        </p:nvSpPr>
        <p:spPr>
          <a:xfrm>
            <a:off x="731520" y="566928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Edge Hardware Realization: Real-Time on 2GB MX230 Laptop GPU</a:t>
            </a:r>
            <a:endParaRPr lang="en-US" sz="20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499" name="Google Shape;499;p34"/>
          <p:cNvSpPr/>
          <p:nvPr/>
        </p:nvSpPr>
        <p:spPr>
          <a:xfrm>
            <a:off x="731520" y="1234440"/>
            <a:ext cx="347472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A580C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00" name="Google Shape;500;p34"/>
          <p:cNvSpPr txBox="1"/>
          <p:nvPr/>
        </p:nvSpPr>
        <p:spPr>
          <a:xfrm>
            <a:off x="868680" y="1353312"/>
            <a:ext cx="3200400" cy="2240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u="none" strike="noStrike" cap="none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SERVER / CLUSTER GPU</a:t>
            </a:r>
            <a:endParaRPr lang="en-US" sz="950" b="1" i="0" u="none" strike="noStrike" cap="none">
              <a:solidFill>
                <a:srgbClr val="EA580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NVIDIA Tesla T4</a:t>
            </a:r>
            <a:endParaRPr lang="en-US" sz="12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Latency: 2.92 ms</a:t>
            </a:r>
            <a:endParaRPr lang="en-US" sz="1000" b="1" i="0" u="none" strike="noStrike" cap="none">
              <a:solidFill>
                <a:srgbClr val="64748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i="0" u="none" strike="noStrike" cap="none">
                <a:solidFill>
                  <a:srgbClr val="EA580C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342.5 FPS</a:t>
            </a:r>
            <a:endParaRPr lang="en-US" sz="2600" b="1" i="0" u="none" strike="noStrike" cap="none">
              <a:solidFill>
                <a:srgbClr val="EA580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TensorRT 11.2 FP16 · 640×640</a:t>
            </a:r>
            <a:br>
              <a:rPr lang="en-US" sz="8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8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Handles 12 RTSP camera streams concurrently.</a:t>
            </a:r>
            <a:endParaRPr lang="en-US" sz="880" b="0" i="0" u="none" strike="noStrike" cap="none">
              <a:solidFill>
                <a:srgbClr val="334155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01" name="Google Shape;501;p34"/>
          <p:cNvSpPr/>
          <p:nvPr/>
        </p:nvSpPr>
        <p:spPr>
          <a:xfrm>
            <a:off x="4389120" y="1234440"/>
            <a:ext cx="347472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2563E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02" name="Google Shape;502;p34"/>
          <p:cNvSpPr txBox="1"/>
          <p:nvPr/>
        </p:nvSpPr>
        <p:spPr>
          <a:xfrm>
            <a:off x="4526280" y="1353312"/>
            <a:ext cx="3200400" cy="2240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u="none" strike="noStrike" cap="none">
                <a:solidFill>
                  <a:srgbClr val="2563E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MID-RANGE LAPTOP GPU</a:t>
            </a:r>
            <a:endParaRPr lang="en-US" sz="950" b="1" i="0" u="none" strike="noStrike" cap="none">
              <a:solidFill>
                <a:srgbClr val="2563E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RTX 3050 Laptop</a:t>
            </a:r>
            <a:endParaRPr lang="en-US" sz="12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Latency: 5.35 ms</a:t>
            </a:r>
            <a:endParaRPr lang="en-US" sz="1000" b="1" i="0" u="none" strike="noStrike" cap="none">
              <a:solidFill>
                <a:srgbClr val="64748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i="0" u="none" strike="noStrike" cap="none">
                <a:solidFill>
                  <a:srgbClr val="2563E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187.1 FPS</a:t>
            </a:r>
            <a:endParaRPr lang="en-US" sz="2600" b="1" i="0" u="none" strike="noStrike" cap="none">
              <a:solidFill>
                <a:srgbClr val="2563E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TensorRT 11.2 FP16 · 640×640</a:t>
            </a:r>
            <a:br>
              <a:rPr lang="en-US" sz="8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8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Portable edge surveillance workstation.</a:t>
            </a:r>
            <a:endParaRPr lang="en-US" sz="880" b="0" i="0" u="none" strike="noStrike" cap="none">
              <a:solidFill>
                <a:srgbClr val="334155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03" name="Google Shape;503;p34"/>
          <p:cNvSpPr/>
          <p:nvPr/>
        </p:nvSpPr>
        <p:spPr>
          <a:xfrm>
            <a:off x="8046720" y="1234440"/>
            <a:ext cx="3474720" cy="2468880"/>
          </a:xfrm>
          <a:prstGeom prst="roundRect">
            <a:avLst>
              <a:gd name="adj" fmla="val 16667"/>
            </a:avLst>
          </a:prstGeom>
          <a:solidFill>
            <a:srgbClr val="F0FDF4"/>
          </a:solidFill>
          <a:ln w="22850" cap="flat" cmpd="sng">
            <a:solidFill>
              <a:srgbClr val="16A34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04" name="Google Shape;504;p34"/>
          <p:cNvSpPr txBox="1"/>
          <p:nvPr/>
        </p:nvSpPr>
        <p:spPr>
          <a:xfrm>
            <a:off x="8183880" y="1353312"/>
            <a:ext cx="3200400" cy="2240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b="1" i="0" u="none" strike="noStrike" cap="none">
                <a:solidFill>
                  <a:srgbClr val="16A34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BUDGET OFFICE LAPTOP</a:t>
            </a:r>
            <a:endParaRPr lang="en-US" sz="950" b="1" i="0" u="none" strike="noStrike" cap="none">
              <a:solidFill>
                <a:srgbClr val="16A34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GeForce MX230 (2GB VRAM)</a:t>
            </a:r>
            <a:endParaRPr lang="en-US" sz="1200" b="1" i="0" u="none" strike="noStrike" cap="none">
              <a:solidFill>
                <a:srgbClr val="0F172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64748B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Latency: 36.0 ms</a:t>
            </a:r>
            <a:endParaRPr lang="en-US" sz="1000" b="1" i="0" u="none" strike="noStrike" cap="none">
              <a:solidFill>
                <a:srgbClr val="64748B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i="0" u="none" strike="noStrike" cap="none">
                <a:solidFill>
                  <a:srgbClr val="16A34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27.8 FPS</a:t>
            </a:r>
            <a:endParaRPr lang="en-US" sz="2600" b="1" i="0" u="none" strike="noStrike" cap="none">
              <a:solidFill>
                <a:srgbClr val="16A34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8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Native PyTorch FP32 · 640×640</a:t>
            </a:r>
            <a:br>
              <a:rPr lang="en-US" sz="8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8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EXCEEDS 24 FPS CINEMATIC REAL-TIME!</a:t>
            </a:r>
            <a:endParaRPr lang="en-US" sz="880" b="0" i="0" u="none" strike="noStrike" cap="none">
              <a:solidFill>
                <a:srgbClr val="334155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05" name="Google Shape;505;p34"/>
          <p:cNvSpPr/>
          <p:nvPr/>
        </p:nvSpPr>
        <p:spPr>
          <a:xfrm>
            <a:off x="731520" y="3931920"/>
            <a:ext cx="10698480" cy="22402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06" name="Google Shape;506;p34"/>
          <p:cNvSpPr txBox="1"/>
          <p:nvPr/>
        </p:nvSpPr>
        <p:spPr>
          <a:xfrm>
            <a:off x="960120" y="4069080"/>
            <a:ext cx="1024128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u="none" strike="noStrike" cap="none">
                <a:solidFill>
                  <a:srgbClr val="16A34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ECONOMIC &amp; PRACTICAL VALUE OF GEFORCE MX230 (2GB VRAM) VERIFICATION</a:t>
            </a:r>
            <a:endParaRPr lang="en-US" sz="1150" b="1" i="0" u="none" strike="noStrike" cap="none">
              <a:solidFill>
                <a:srgbClr val="16A34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980" b="1" i="0" u="none" strike="noStrike" cap="none">
                <a:solidFill>
                  <a:srgbClr val="0F172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Breaking the Hardware Barrier: </a:t>
            </a:r>
            <a:r>
              <a:rPr lang="en-US" sz="9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NVIDIA GeForce MX230 is an entry-level Pascal-generation mobile GPU (2019) lacking Tensor Cores and constrained by a 2GB VRAM ceiling. Most modern deep learning models crash with CUDA Out-Of-Memory (OOM) or choke at &lt;10 FPS on this tier.</a:t>
            </a:r>
            <a:endParaRPr lang="en-US" sz="980" b="0" i="0" u="none" strike="noStrike" cap="none">
              <a:solidFill>
                <a:srgbClr val="334155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80" b="1" i="0" u="none" strike="noStrike" cap="none">
                <a:solidFill>
                  <a:srgbClr val="16A34A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100% Commercial Feasibility: </a:t>
            </a:r>
            <a:r>
              <a:rPr lang="en-US" sz="980" b="0" i="0" u="none" strike="noStrike" cap="none">
                <a:solidFill>
                  <a:srgbClr val="334155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Rep-YOLO11s sustains 27.8 FPS with only 485 MB VRAM usage. Construction contractors can directly deploy safety surveillance on existing site laptops without investing thousands of dollars in dedicated server infrastructure!</a:t>
            </a:r>
            <a:endParaRPr lang="en-US" sz="980" b="0" i="0" u="none" strike="noStrike" cap="none">
              <a:solidFill>
                <a:srgbClr val="334155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1" name="Google Shape;511;p35" title="1818b700-829a-42bf-8740-3cb032bedb90-2.png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5528" cy="6858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36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17" name="Google Shape;517;p36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 panose="02000503000000020004"/>
              <a:buNone/>
            </a:pPr>
            <a:r>
              <a:rPr lang="en-US" sz="1120" b="1" i="0" u="none" strike="noStrike" cap="none">
                <a:solidFill>
                  <a:srgbClr val="F35B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CRITERION 1 · PROBLEM STATEMENT</a:t>
            </a:r>
            <a:endParaRPr sz="112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18" name="Google Shape;518;p36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 panose="02000503000000020004"/>
              <a:buNone/>
            </a:pPr>
            <a:r>
              <a:rPr lang="en-US" sz="1100" b="1" i="0" u="none" strike="noStrike" cap="none">
                <a:solidFill>
                  <a:srgbClr val="61728B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11 / 18</a:t>
            </a:r>
            <a:endParaRPr sz="11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19" name="Google Shape;519;p36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 panose="02000503000000020004"/>
              <a:buNone/>
            </a:pPr>
            <a:r>
              <a:rPr lang="en-US" sz="258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Problem Statement &amp; Practical Motivation</a:t>
            </a:r>
            <a:endParaRPr sz="25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20" name="Google Shape;520;p36"/>
          <p:cNvSpPr/>
          <p:nvPr/>
        </p:nvSpPr>
        <p:spPr>
          <a:xfrm>
            <a:off x="731520" y="1325880"/>
            <a:ext cx="5074800" cy="960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blurRad="25400" dist="50800" dir="2700000" algn="bl" rotWithShape="0">
              <a:srgbClr val="B8B8B8">
                <a:alpha val="2314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21" name="Google Shape;521;p36"/>
          <p:cNvSpPr/>
          <p:nvPr/>
        </p:nvSpPr>
        <p:spPr>
          <a:xfrm>
            <a:off x="914400" y="1490472"/>
            <a:ext cx="658500" cy="475500"/>
          </a:xfrm>
          <a:prstGeom prst="roundRect">
            <a:avLst>
              <a:gd name="adj" fmla="val 19231"/>
            </a:avLst>
          </a:prstGeom>
          <a:solidFill>
            <a:srgbClr val="F35B00"/>
          </a:solidFill>
          <a:ln w="12700" cap="flat" cmpd="sng">
            <a:solidFill>
              <a:srgbClr val="F35B00"/>
            </a:solidFill>
            <a:prstDash val="solid"/>
            <a:round/>
            <a:headEnd type="none" w="sm" len="sm"/>
            <a:tailEnd type="none" w="sm" len="sm"/>
          </a:ln>
          <a:effectLst>
            <a:outerShdw blurRad="322579988" dist="645160000"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22" name="Google Shape;522;p36"/>
          <p:cNvSpPr/>
          <p:nvPr/>
        </p:nvSpPr>
        <p:spPr>
          <a:xfrm>
            <a:off x="987552" y="1563624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 panose="02000503000000020004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01</a:t>
            </a:r>
            <a:endParaRPr sz="14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23" name="Google Shape;523;p36"/>
          <p:cNvSpPr/>
          <p:nvPr/>
        </p:nvSpPr>
        <p:spPr>
          <a:xfrm>
            <a:off x="1755648" y="1481328"/>
            <a:ext cx="36576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00"/>
              <a:buFont typeface="Inter" panose="02000503000000020004"/>
              <a:buNone/>
            </a:pPr>
            <a:r>
              <a:rPr lang="en-US" sz="160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Tiny Distant Helmets</a:t>
            </a:r>
            <a:endParaRPr sz="16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24" name="Google Shape;524;p36"/>
          <p:cNvSpPr/>
          <p:nvPr/>
        </p:nvSpPr>
        <p:spPr>
          <a:xfrm>
            <a:off x="1755648" y="1792224"/>
            <a:ext cx="36576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1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Small targets under high-angle CCTV</a:t>
            </a:r>
            <a:endParaRPr sz="11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25" name="Google Shape;525;p36"/>
          <p:cNvSpPr/>
          <p:nvPr/>
        </p:nvSpPr>
        <p:spPr>
          <a:xfrm>
            <a:off x="731520" y="2578608"/>
            <a:ext cx="5074800" cy="960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blurRad="-2147483648" dist="-1265600768"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26" name="Google Shape;526;p36"/>
          <p:cNvSpPr/>
          <p:nvPr/>
        </p:nvSpPr>
        <p:spPr>
          <a:xfrm>
            <a:off x="914400" y="2743200"/>
            <a:ext cx="658500" cy="475500"/>
          </a:xfrm>
          <a:prstGeom prst="roundRect">
            <a:avLst>
              <a:gd name="adj" fmla="val 19231"/>
            </a:avLst>
          </a:prstGeom>
          <a:solidFill>
            <a:srgbClr val="2767E8"/>
          </a:solidFill>
          <a:ln w="12700" cap="flat" cmpd="sng">
            <a:solidFill>
              <a:srgbClr val="2767E8"/>
            </a:solidFill>
            <a:prstDash val="solid"/>
            <a:round/>
            <a:headEnd type="none" w="sm" len="sm"/>
            <a:tailEnd type="none" w="sm" len="sm"/>
          </a:ln>
          <a:effectLst>
            <a:outerShdw blurRad="-2147483648" dist="-1362131984"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27" name="Google Shape;527;p36"/>
          <p:cNvSpPr/>
          <p:nvPr/>
        </p:nvSpPr>
        <p:spPr>
          <a:xfrm>
            <a:off x="987552" y="2816352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 panose="02000503000000020004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02</a:t>
            </a:r>
            <a:endParaRPr sz="14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28" name="Google Shape;528;p36"/>
          <p:cNvSpPr/>
          <p:nvPr/>
        </p:nvSpPr>
        <p:spPr>
          <a:xfrm>
            <a:off x="1755648" y="2734056"/>
            <a:ext cx="36576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00"/>
              <a:buFont typeface="Inter" panose="02000503000000020004"/>
              <a:buNone/>
            </a:pPr>
            <a:r>
              <a:rPr lang="en-US" sz="160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Class Imbalance</a:t>
            </a:r>
            <a:endParaRPr sz="16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29" name="Google Shape;529;p36"/>
          <p:cNvSpPr/>
          <p:nvPr/>
        </p:nvSpPr>
        <p:spPr>
          <a:xfrm>
            <a:off x="1755648" y="3044952"/>
            <a:ext cx="36576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1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Helmet instances are far fewer than person instances</a:t>
            </a:r>
            <a:endParaRPr sz="11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30" name="Google Shape;530;p36"/>
          <p:cNvSpPr/>
          <p:nvPr/>
        </p:nvSpPr>
        <p:spPr>
          <a:xfrm>
            <a:off x="731520" y="3831336"/>
            <a:ext cx="5074800" cy="960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31" name="Google Shape;531;p36"/>
          <p:cNvSpPr/>
          <p:nvPr/>
        </p:nvSpPr>
        <p:spPr>
          <a:xfrm>
            <a:off x="914400" y="3995928"/>
            <a:ext cx="658500" cy="475500"/>
          </a:xfrm>
          <a:prstGeom prst="roundRect">
            <a:avLst>
              <a:gd name="adj" fmla="val 19231"/>
            </a:avLst>
          </a:prstGeom>
          <a:solidFill>
            <a:srgbClr val="F08A00"/>
          </a:solidFill>
          <a:ln w="12700" cap="flat" cmpd="sng">
            <a:solidFill>
              <a:srgbClr val="F08A00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32" name="Google Shape;532;p36"/>
          <p:cNvSpPr/>
          <p:nvPr/>
        </p:nvSpPr>
        <p:spPr>
          <a:xfrm>
            <a:off x="987552" y="4069080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 panose="02000503000000020004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03</a:t>
            </a:r>
            <a:endParaRPr sz="14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33" name="Google Shape;533;p36"/>
          <p:cNvSpPr/>
          <p:nvPr/>
        </p:nvSpPr>
        <p:spPr>
          <a:xfrm>
            <a:off x="1755648" y="3986784"/>
            <a:ext cx="36576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00"/>
              <a:buFont typeface="Inter" panose="02000503000000020004"/>
              <a:buNone/>
            </a:pPr>
            <a:r>
              <a:rPr lang="en-US" sz="160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False Alarms</a:t>
            </a:r>
            <a:endParaRPr sz="16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34" name="Google Shape;534;p36"/>
          <p:cNvSpPr/>
          <p:nvPr/>
        </p:nvSpPr>
        <p:spPr>
          <a:xfrm>
            <a:off x="1755648" y="4297680"/>
            <a:ext cx="36576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1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Yellow objects can be mistaken for helmets</a:t>
            </a:r>
            <a:endParaRPr sz="11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35" name="Google Shape;535;p36"/>
          <p:cNvSpPr/>
          <p:nvPr/>
        </p:nvSpPr>
        <p:spPr>
          <a:xfrm>
            <a:off x="731520" y="5084064"/>
            <a:ext cx="5074800" cy="960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36" name="Google Shape;536;p36"/>
          <p:cNvSpPr/>
          <p:nvPr/>
        </p:nvSpPr>
        <p:spPr>
          <a:xfrm>
            <a:off x="914400" y="5248656"/>
            <a:ext cx="658500" cy="475500"/>
          </a:xfrm>
          <a:prstGeom prst="roundRect">
            <a:avLst>
              <a:gd name="adj" fmla="val 19231"/>
            </a:avLst>
          </a:prstGeom>
          <a:solidFill>
            <a:srgbClr val="10AF5A"/>
          </a:solidFill>
          <a:ln w="12700" cap="flat" cmpd="sng">
            <a:solidFill>
              <a:srgbClr val="10AF5A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37" name="Google Shape;537;p36"/>
          <p:cNvSpPr/>
          <p:nvPr/>
        </p:nvSpPr>
        <p:spPr>
          <a:xfrm>
            <a:off x="987552" y="5321808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 panose="02000503000000020004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04</a:t>
            </a:r>
            <a:endParaRPr sz="14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38" name="Google Shape;538;p36"/>
          <p:cNvSpPr/>
          <p:nvPr/>
        </p:nvSpPr>
        <p:spPr>
          <a:xfrm>
            <a:off x="1755648" y="5239512"/>
            <a:ext cx="36576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00"/>
              <a:buFont typeface="Inter" panose="02000503000000020004"/>
              <a:buNone/>
            </a:pPr>
            <a:r>
              <a:rPr lang="en-US" sz="160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Edge Deployment Constraint</a:t>
            </a:r>
            <a:endParaRPr sz="16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39" name="Google Shape;539;p36"/>
          <p:cNvSpPr/>
          <p:nvPr/>
        </p:nvSpPr>
        <p:spPr>
          <a:xfrm>
            <a:off x="1755648" y="5550408"/>
            <a:ext cx="36576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1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Must run in real time on affordable hardware</a:t>
            </a:r>
            <a:endParaRPr sz="11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40" name="Google Shape;540;p36"/>
          <p:cNvSpPr/>
          <p:nvPr/>
        </p:nvSpPr>
        <p:spPr>
          <a:xfrm>
            <a:off x="6053328" y="1325880"/>
            <a:ext cx="5394900" cy="4983600"/>
          </a:xfrm>
          <a:prstGeom prst="roundRect">
            <a:avLst>
              <a:gd name="adj" fmla="val 2202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41" name="Google Shape;541;p36"/>
          <p:cNvSpPr/>
          <p:nvPr/>
        </p:nvSpPr>
        <p:spPr>
          <a:xfrm>
            <a:off x="6766560" y="5833872"/>
            <a:ext cx="39318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F7F95"/>
              </a:buClr>
              <a:buSzPts val="850"/>
              <a:buFont typeface="Inter" panose="02000503000000020004"/>
              <a:buNone/>
            </a:pPr>
            <a:r>
              <a:rPr lang="en-US" sz="850" b="0" i="0" u="none" strike="noStrike" cap="none">
                <a:solidFill>
                  <a:srgbClr val="6F7F9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Construction surveillance scene with distant small helmet target.</a:t>
            </a:r>
            <a:endParaRPr sz="85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pic>
        <p:nvPicPr>
          <p:cNvPr id="542" name="Google Shape;542;p36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6289150" y="1563625"/>
            <a:ext cx="4923270" cy="3992126"/>
          </a:xfrm>
          <a:prstGeom prst="rect">
            <a:avLst/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</p:pic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37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48" name="Google Shape;548;p37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 panose="02000503000000020004"/>
              <a:buNone/>
            </a:pPr>
            <a:r>
              <a:rPr lang="en-US" sz="1120" b="1" i="0" u="none" strike="noStrike" cap="none">
                <a:solidFill>
                  <a:srgbClr val="F35B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CRITERION 2 · PROPOSED SOLUTION</a:t>
            </a:r>
            <a:endParaRPr sz="112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49" name="Google Shape;549;p37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 panose="02000503000000020004"/>
              <a:buNone/>
            </a:pPr>
            <a:r>
              <a:rPr lang="en-US" sz="1100" b="1" i="0" u="none" strike="noStrike" cap="none">
                <a:solidFill>
                  <a:srgbClr val="61728B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12 / 18</a:t>
            </a:r>
            <a:endParaRPr sz="11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50" name="Google Shape;550;p37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 panose="02000503000000020004"/>
              <a:buNone/>
            </a:pPr>
            <a:r>
              <a:rPr lang="en-US" sz="308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Proposed Solution &amp; Final Deliverables</a:t>
            </a:r>
            <a:endParaRPr sz="30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51" name="Google Shape;551;p37"/>
          <p:cNvSpPr/>
          <p:nvPr/>
        </p:nvSpPr>
        <p:spPr>
          <a:xfrm>
            <a:off x="731520" y="1353312"/>
            <a:ext cx="10716900" cy="941700"/>
          </a:xfrm>
          <a:prstGeom prst="roundRect">
            <a:avLst>
              <a:gd name="adj" fmla="val 11650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52" name="Google Shape;552;p37"/>
          <p:cNvSpPr/>
          <p:nvPr/>
        </p:nvSpPr>
        <p:spPr>
          <a:xfrm>
            <a:off x="950976" y="1517904"/>
            <a:ext cx="658500" cy="475500"/>
          </a:xfrm>
          <a:prstGeom prst="roundRect">
            <a:avLst>
              <a:gd name="adj" fmla="val 19231"/>
            </a:avLst>
          </a:prstGeom>
          <a:solidFill>
            <a:srgbClr val="F35B00"/>
          </a:solidFill>
          <a:ln w="12700" cap="flat" cmpd="sng">
            <a:solidFill>
              <a:srgbClr val="F35B00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53" name="Google Shape;553;p37"/>
          <p:cNvSpPr/>
          <p:nvPr/>
        </p:nvSpPr>
        <p:spPr>
          <a:xfrm>
            <a:off x="1024128" y="1591056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 panose="02000503000000020004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01</a:t>
            </a:r>
            <a:endParaRPr sz="14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54" name="Google Shape;554;p37"/>
          <p:cNvSpPr/>
          <p:nvPr/>
        </p:nvSpPr>
        <p:spPr>
          <a:xfrm>
            <a:off x="1856232" y="1527048"/>
            <a:ext cx="65838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520"/>
              <a:buFont typeface="Inter" panose="02000503000000020004"/>
              <a:buNone/>
            </a:pPr>
            <a:r>
              <a:rPr lang="en-US" sz="152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SCIENTIFIC REPORT</a:t>
            </a:r>
            <a:endParaRPr sz="152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55" name="Google Shape;555;p37"/>
          <p:cNvSpPr/>
          <p:nvPr/>
        </p:nvSpPr>
        <p:spPr>
          <a:xfrm>
            <a:off x="1856232" y="1810512"/>
            <a:ext cx="71322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 panose="02000503000000020004"/>
              <a:buNone/>
            </a:pPr>
            <a:r>
              <a:rPr lang="en-US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Paper and technical documentation</a:t>
            </a:r>
            <a:endParaRPr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56" name="Google Shape;556;p37"/>
          <p:cNvSpPr/>
          <p:nvPr/>
        </p:nvSpPr>
        <p:spPr>
          <a:xfrm>
            <a:off x="731520" y="2615184"/>
            <a:ext cx="10716900" cy="941700"/>
          </a:xfrm>
          <a:prstGeom prst="roundRect">
            <a:avLst>
              <a:gd name="adj" fmla="val 11650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57" name="Google Shape;557;p37"/>
          <p:cNvSpPr/>
          <p:nvPr/>
        </p:nvSpPr>
        <p:spPr>
          <a:xfrm>
            <a:off x="950976" y="2779776"/>
            <a:ext cx="658500" cy="475500"/>
          </a:xfrm>
          <a:prstGeom prst="roundRect">
            <a:avLst>
              <a:gd name="adj" fmla="val 19231"/>
            </a:avLst>
          </a:prstGeom>
          <a:solidFill>
            <a:srgbClr val="2767E8"/>
          </a:solidFill>
          <a:ln w="12700" cap="flat" cmpd="sng">
            <a:solidFill>
              <a:srgbClr val="2767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58" name="Google Shape;558;p37"/>
          <p:cNvSpPr/>
          <p:nvPr/>
        </p:nvSpPr>
        <p:spPr>
          <a:xfrm>
            <a:off x="1024128" y="2852928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 panose="02000503000000020004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02</a:t>
            </a:r>
            <a:endParaRPr sz="14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59" name="Google Shape;559;p37"/>
          <p:cNvSpPr/>
          <p:nvPr/>
        </p:nvSpPr>
        <p:spPr>
          <a:xfrm>
            <a:off x="1856232" y="2788920"/>
            <a:ext cx="65838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520"/>
              <a:buFont typeface="Inter" panose="02000503000000020004"/>
              <a:buNone/>
            </a:pPr>
            <a:r>
              <a:rPr lang="en-US" sz="152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IMPROVED DETECTION MODEL</a:t>
            </a:r>
            <a:endParaRPr sz="152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60" name="Google Shape;560;p37"/>
          <p:cNvSpPr/>
          <p:nvPr/>
        </p:nvSpPr>
        <p:spPr>
          <a:xfrm>
            <a:off x="1856232" y="3072384"/>
            <a:ext cx="71322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 panose="02000503000000020004"/>
              <a:buNone/>
            </a:pPr>
            <a:r>
              <a:rPr lang="en-US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Rep-YOLO11s for helmet detection</a:t>
            </a:r>
            <a:endParaRPr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61" name="Google Shape;561;p37"/>
          <p:cNvSpPr/>
          <p:nvPr/>
        </p:nvSpPr>
        <p:spPr>
          <a:xfrm>
            <a:off x="731520" y="3877056"/>
            <a:ext cx="10716900" cy="941700"/>
          </a:xfrm>
          <a:prstGeom prst="roundRect">
            <a:avLst>
              <a:gd name="adj" fmla="val 11650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62" name="Google Shape;562;p37"/>
          <p:cNvSpPr/>
          <p:nvPr/>
        </p:nvSpPr>
        <p:spPr>
          <a:xfrm>
            <a:off x="950976" y="4041648"/>
            <a:ext cx="658500" cy="475500"/>
          </a:xfrm>
          <a:prstGeom prst="roundRect">
            <a:avLst>
              <a:gd name="adj" fmla="val 19231"/>
            </a:avLst>
          </a:prstGeom>
          <a:solidFill>
            <a:srgbClr val="F08A00"/>
          </a:solidFill>
          <a:ln w="12700" cap="flat" cmpd="sng">
            <a:solidFill>
              <a:srgbClr val="F08A00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63" name="Google Shape;563;p37"/>
          <p:cNvSpPr/>
          <p:nvPr/>
        </p:nvSpPr>
        <p:spPr>
          <a:xfrm>
            <a:off x="1024128" y="4114800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 panose="02000503000000020004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03</a:t>
            </a:r>
            <a:endParaRPr sz="14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64" name="Google Shape;564;p37"/>
          <p:cNvSpPr/>
          <p:nvPr/>
        </p:nvSpPr>
        <p:spPr>
          <a:xfrm>
            <a:off x="1856232" y="4050792"/>
            <a:ext cx="65838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520"/>
              <a:buFont typeface="Inter" panose="02000503000000020004"/>
              <a:buNone/>
            </a:pPr>
            <a:r>
              <a:rPr lang="en-US" sz="152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SOFTWARE PROTOTYPE</a:t>
            </a:r>
            <a:endParaRPr sz="152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65" name="Google Shape;565;p37"/>
          <p:cNvSpPr/>
          <p:nvPr/>
        </p:nvSpPr>
        <p:spPr>
          <a:xfrm>
            <a:off x="1856232" y="4334256"/>
            <a:ext cx="71322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 panose="02000503000000020004"/>
              <a:buNone/>
            </a:pPr>
            <a:r>
              <a:rPr lang="en-US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RTSP surveillance demo system</a:t>
            </a:r>
            <a:endParaRPr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66" name="Google Shape;566;p37"/>
          <p:cNvSpPr/>
          <p:nvPr/>
        </p:nvSpPr>
        <p:spPr>
          <a:xfrm>
            <a:off x="731520" y="5138928"/>
            <a:ext cx="10716900" cy="941700"/>
          </a:xfrm>
          <a:prstGeom prst="roundRect">
            <a:avLst>
              <a:gd name="adj" fmla="val 11650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67" name="Google Shape;567;p37"/>
          <p:cNvSpPr/>
          <p:nvPr/>
        </p:nvSpPr>
        <p:spPr>
          <a:xfrm>
            <a:off x="950976" y="5303520"/>
            <a:ext cx="658500" cy="475500"/>
          </a:xfrm>
          <a:prstGeom prst="roundRect">
            <a:avLst>
              <a:gd name="adj" fmla="val 19231"/>
            </a:avLst>
          </a:prstGeom>
          <a:solidFill>
            <a:srgbClr val="10AF5A"/>
          </a:solidFill>
          <a:ln w="12700" cap="flat" cmpd="sng">
            <a:solidFill>
              <a:srgbClr val="10AF5A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68" name="Google Shape;568;p37"/>
          <p:cNvSpPr/>
          <p:nvPr/>
        </p:nvSpPr>
        <p:spPr>
          <a:xfrm>
            <a:off x="1024128" y="5376672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 panose="02000503000000020004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04</a:t>
            </a:r>
            <a:endParaRPr sz="14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69" name="Google Shape;569;p37"/>
          <p:cNvSpPr/>
          <p:nvPr/>
        </p:nvSpPr>
        <p:spPr>
          <a:xfrm>
            <a:off x="1856232" y="5312664"/>
            <a:ext cx="65838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520"/>
              <a:buFont typeface="Inter" panose="02000503000000020004"/>
              <a:buNone/>
            </a:pPr>
            <a:r>
              <a:rPr lang="en-US" sz="152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DEPLOYMENT PACKAGE</a:t>
            </a:r>
            <a:endParaRPr sz="152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70" name="Google Shape;570;p37"/>
          <p:cNvSpPr/>
          <p:nvPr/>
        </p:nvSpPr>
        <p:spPr>
          <a:xfrm>
            <a:off x="1856232" y="5596128"/>
            <a:ext cx="71322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 panose="02000503000000020004"/>
              <a:buNone/>
            </a:pPr>
            <a:r>
              <a:rPr lang="en-US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TensorRT, ONNX and OpenVINO engines</a:t>
            </a:r>
            <a:endParaRPr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38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576" name="Google Shape;576;p38"/>
          <p:cNvSpPr/>
          <p:nvPr/>
        </p:nvSpPr>
        <p:spPr>
          <a:xfrm>
            <a:off x="731520" y="29260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 panose="02000503000000020004"/>
              <a:buNone/>
            </a:pPr>
            <a:r>
              <a:rPr lang="en-US" sz="1120" b="1" i="0" u="none" strike="noStrike" cap="none">
                <a:solidFill>
                  <a:srgbClr val="F35B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CRITERION 3 · METHOD, REUSE &amp; DATA SCOPE</a:t>
            </a:r>
            <a:endParaRPr sz="112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77" name="Google Shape;577;p38"/>
          <p:cNvSpPr/>
          <p:nvPr/>
        </p:nvSpPr>
        <p:spPr>
          <a:xfrm>
            <a:off x="10716768" y="28346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 panose="02000503000000020004"/>
              <a:buNone/>
            </a:pPr>
            <a:r>
              <a:rPr lang="en-US" sz="1100" b="1" i="0" u="none" strike="noStrike" cap="none">
                <a:solidFill>
                  <a:srgbClr val="61728B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17 / 18</a:t>
            </a:r>
            <a:endParaRPr sz="11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78" name="Google Shape;578;p38"/>
          <p:cNvSpPr/>
          <p:nvPr/>
        </p:nvSpPr>
        <p:spPr>
          <a:xfrm>
            <a:off x="731520" y="62179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 panose="02000503000000020004"/>
              <a:buNone/>
            </a:pPr>
            <a:r>
              <a:rPr lang="en-US" sz="258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Method Scope &amp; Implementation Strategy</a:t>
            </a:r>
            <a:endParaRPr sz="25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79" name="Google Shape;579;p38"/>
          <p:cNvSpPr/>
          <p:nvPr/>
        </p:nvSpPr>
        <p:spPr>
          <a:xfrm>
            <a:off x="731520" y="1353312"/>
            <a:ext cx="4937700" cy="21030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80" name="Google Shape;580;p38"/>
          <p:cNvSpPr/>
          <p:nvPr/>
        </p:nvSpPr>
        <p:spPr>
          <a:xfrm>
            <a:off x="950976" y="1517904"/>
            <a:ext cx="658500" cy="475500"/>
          </a:xfrm>
          <a:prstGeom prst="roundRect">
            <a:avLst>
              <a:gd name="adj" fmla="val 19231"/>
            </a:avLst>
          </a:prstGeom>
          <a:solidFill>
            <a:srgbClr val="F35B00"/>
          </a:solidFill>
          <a:ln w="12700" cap="flat" cmpd="sng">
            <a:solidFill>
              <a:srgbClr val="F35B00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81" name="Google Shape;581;p38"/>
          <p:cNvSpPr/>
          <p:nvPr/>
        </p:nvSpPr>
        <p:spPr>
          <a:xfrm>
            <a:off x="1024128" y="1591056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 panose="02000503000000020004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01</a:t>
            </a:r>
            <a:endParaRPr sz="14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82" name="Google Shape;582;p38"/>
          <p:cNvSpPr/>
          <p:nvPr/>
        </p:nvSpPr>
        <p:spPr>
          <a:xfrm>
            <a:off x="1719072" y="1563624"/>
            <a:ext cx="34746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50"/>
              <a:buFont typeface="Inter" panose="02000503000000020004"/>
              <a:buNone/>
            </a:pPr>
            <a:r>
              <a:rPr lang="en-US" sz="165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Approach &amp; Methods</a:t>
            </a:r>
            <a:endParaRPr sz="165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83" name="Google Shape;583;p38"/>
          <p:cNvSpPr/>
          <p:nvPr/>
        </p:nvSpPr>
        <p:spPr>
          <a:xfrm>
            <a:off x="1691640" y="2185416"/>
            <a:ext cx="68700" cy="68700"/>
          </a:xfrm>
          <a:prstGeom prst="ellipse">
            <a:avLst/>
          </a:prstGeom>
          <a:solidFill>
            <a:srgbClr val="F6B46A"/>
          </a:solidFill>
          <a:ln w="12700" cap="flat" cmpd="sng">
            <a:solidFill>
              <a:srgbClr val="F6B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84" name="Google Shape;584;p38"/>
          <p:cNvSpPr/>
          <p:nvPr/>
        </p:nvSpPr>
        <p:spPr>
          <a:xfrm>
            <a:off x="1856232" y="2103120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Object detection approach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85" name="Google Shape;585;p38"/>
          <p:cNvSpPr/>
          <p:nvPr/>
        </p:nvSpPr>
        <p:spPr>
          <a:xfrm>
            <a:off x="1691640" y="2505456"/>
            <a:ext cx="68700" cy="68700"/>
          </a:xfrm>
          <a:prstGeom prst="ellipse">
            <a:avLst/>
          </a:prstGeom>
          <a:solidFill>
            <a:srgbClr val="F6B46A"/>
          </a:solidFill>
          <a:ln w="12700" cap="flat" cmpd="sng">
            <a:solidFill>
              <a:srgbClr val="F6B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86" name="Google Shape;586;p38"/>
          <p:cNvSpPr/>
          <p:nvPr/>
        </p:nvSpPr>
        <p:spPr>
          <a:xfrm>
            <a:off x="1856232" y="2423160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Baseline: YOLO11s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87" name="Google Shape;587;p38"/>
          <p:cNvSpPr/>
          <p:nvPr/>
        </p:nvSpPr>
        <p:spPr>
          <a:xfrm>
            <a:off x="1691640" y="2825496"/>
            <a:ext cx="68700" cy="68700"/>
          </a:xfrm>
          <a:prstGeom prst="ellipse">
            <a:avLst/>
          </a:prstGeom>
          <a:solidFill>
            <a:srgbClr val="F6B46A"/>
          </a:solidFill>
          <a:ln w="12700" cap="flat" cmpd="sng">
            <a:solidFill>
              <a:srgbClr val="F6B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88" name="Google Shape;588;p38"/>
          <p:cNvSpPr/>
          <p:nvPr/>
        </p:nvSpPr>
        <p:spPr>
          <a:xfrm>
            <a:off x="1856225" y="2664238"/>
            <a:ext cx="3813000" cy="63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5 techniques studied: YOLO11s + 4 enhancement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modules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89" name="Google Shape;589;p38"/>
          <p:cNvSpPr/>
          <p:nvPr/>
        </p:nvSpPr>
        <p:spPr>
          <a:xfrm>
            <a:off x="6144768" y="1353312"/>
            <a:ext cx="4937700" cy="21030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90" name="Google Shape;590;p38"/>
          <p:cNvSpPr/>
          <p:nvPr/>
        </p:nvSpPr>
        <p:spPr>
          <a:xfrm>
            <a:off x="6364224" y="1517904"/>
            <a:ext cx="658500" cy="475500"/>
          </a:xfrm>
          <a:prstGeom prst="roundRect">
            <a:avLst>
              <a:gd name="adj" fmla="val 19231"/>
            </a:avLst>
          </a:prstGeom>
          <a:solidFill>
            <a:srgbClr val="2767E8"/>
          </a:solidFill>
          <a:ln w="12700" cap="flat" cmpd="sng">
            <a:solidFill>
              <a:srgbClr val="2767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91" name="Google Shape;591;p38"/>
          <p:cNvSpPr/>
          <p:nvPr/>
        </p:nvSpPr>
        <p:spPr>
          <a:xfrm>
            <a:off x="6437376" y="1591056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 panose="02000503000000020004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02</a:t>
            </a:r>
            <a:endParaRPr sz="14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92" name="Google Shape;592;p38"/>
          <p:cNvSpPr/>
          <p:nvPr/>
        </p:nvSpPr>
        <p:spPr>
          <a:xfrm>
            <a:off x="7132320" y="1563624"/>
            <a:ext cx="34746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50"/>
              <a:buFont typeface="Inter" panose="02000503000000020004"/>
              <a:buNone/>
            </a:pPr>
            <a:r>
              <a:rPr lang="en-US" sz="165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Reuse vs. Build</a:t>
            </a:r>
            <a:endParaRPr sz="165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93" name="Google Shape;593;p38"/>
          <p:cNvSpPr/>
          <p:nvPr/>
        </p:nvSpPr>
        <p:spPr>
          <a:xfrm>
            <a:off x="7104888" y="2185416"/>
            <a:ext cx="68700" cy="68700"/>
          </a:xfrm>
          <a:prstGeom prst="ellipse">
            <a:avLst/>
          </a:prstGeom>
          <a:solidFill>
            <a:srgbClr val="83B5F6"/>
          </a:solidFill>
          <a:ln w="12700" cap="flat" cmpd="sng">
            <a:solidFill>
              <a:srgbClr val="83B5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94" name="Google Shape;594;p38"/>
          <p:cNvSpPr/>
          <p:nvPr/>
        </p:nvSpPr>
        <p:spPr>
          <a:xfrm>
            <a:off x="7269480" y="2103120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Reuse PyTorch, OpenCV and YOLO framework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95" name="Google Shape;595;p38"/>
          <p:cNvSpPr/>
          <p:nvPr/>
        </p:nvSpPr>
        <p:spPr>
          <a:xfrm>
            <a:off x="7104888" y="2505456"/>
            <a:ext cx="68700" cy="68700"/>
          </a:xfrm>
          <a:prstGeom prst="ellipse">
            <a:avLst/>
          </a:prstGeom>
          <a:solidFill>
            <a:srgbClr val="83B5F6"/>
          </a:solidFill>
          <a:ln w="12700" cap="flat" cmpd="sng">
            <a:solidFill>
              <a:srgbClr val="83B5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96" name="Google Shape;596;p38"/>
          <p:cNvSpPr/>
          <p:nvPr/>
        </p:nvSpPr>
        <p:spPr>
          <a:xfrm>
            <a:off x="7269480" y="2423160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Custom training, evaluation and RTSP pipeline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97" name="Google Shape;597;p38"/>
          <p:cNvSpPr/>
          <p:nvPr/>
        </p:nvSpPr>
        <p:spPr>
          <a:xfrm>
            <a:off x="7104888" y="2825496"/>
            <a:ext cx="68700" cy="68700"/>
          </a:xfrm>
          <a:prstGeom prst="ellipse">
            <a:avLst/>
          </a:prstGeom>
          <a:solidFill>
            <a:srgbClr val="83B5F6"/>
          </a:solidFill>
          <a:ln w="12700" cap="flat" cmpd="sng">
            <a:solidFill>
              <a:srgbClr val="83B5F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98" name="Google Shape;598;p38"/>
          <p:cNvSpPr/>
          <p:nvPr/>
        </p:nvSpPr>
        <p:spPr>
          <a:xfrm>
            <a:off x="7269475" y="2743200"/>
            <a:ext cx="5170500" cy="4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Optimized deployment with TensorRT / ONNX /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OpenVINO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599" name="Google Shape;599;p38"/>
          <p:cNvSpPr/>
          <p:nvPr/>
        </p:nvSpPr>
        <p:spPr>
          <a:xfrm>
            <a:off x="731520" y="3767328"/>
            <a:ext cx="4937700" cy="21030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0" name="Google Shape;600;p38"/>
          <p:cNvSpPr/>
          <p:nvPr/>
        </p:nvSpPr>
        <p:spPr>
          <a:xfrm>
            <a:off x="950976" y="3931920"/>
            <a:ext cx="658500" cy="475500"/>
          </a:xfrm>
          <a:prstGeom prst="roundRect">
            <a:avLst>
              <a:gd name="adj" fmla="val 19231"/>
            </a:avLst>
          </a:prstGeom>
          <a:solidFill>
            <a:srgbClr val="F08A00"/>
          </a:solidFill>
          <a:ln w="12700" cap="flat" cmpd="sng">
            <a:solidFill>
              <a:srgbClr val="F08A00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1" name="Google Shape;601;p38"/>
          <p:cNvSpPr/>
          <p:nvPr/>
        </p:nvSpPr>
        <p:spPr>
          <a:xfrm>
            <a:off x="1024128" y="4005072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 panose="02000503000000020004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03</a:t>
            </a:r>
            <a:endParaRPr sz="14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02" name="Google Shape;602;p38"/>
          <p:cNvSpPr/>
          <p:nvPr/>
        </p:nvSpPr>
        <p:spPr>
          <a:xfrm>
            <a:off x="1719072" y="3977640"/>
            <a:ext cx="34746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50"/>
              <a:buFont typeface="Inter" panose="02000503000000020004"/>
              <a:buNone/>
            </a:pPr>
            <a:r>
              <a:rPr lang="en-US" sz="165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Model Improvements</a:t>
            </a:r>
            <a:endParaRPr sz="165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03" name="Google Shape;603;p38"/>
          <p:cNvSpPr/>
          <p:nvPr/>
        </p:nvSpPr>
        <p:spPr>
          <a:xfrm>
            <a:off x="1691640" y="4599432"/>
            <a:ext cx="68700" cy="68700"/>
          </a:xfrm>
          <a:prstGeom prst="ellipse">
            <a:avLst/>
          </a:prstGeom>
          <a:solidFill>
            <a:srgbClr val="F6B46A"/>
          </a:solidFill>
          <a:ln w="12700" cap="flat" cmpd="sng">
            <a:solidFill>
              <a:srgbClr val="F6B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4" name="Google Shape;604;p38"/>
          <p:cNvSpPr/>
          <p:nvPr/>
        </p:nvSpPr>
        <p:spPr>
          <a:xfrm>
            <a:off x="1856232" y="451713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4 targeted enhancements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05" name="Google Shape;605;p38"/>
          <p:cNvSpPr/>
          <p:nvPr/>
        </p:nvSpPr>
        <p:spPr>
          <a:xfrm>
            <a:off x="1691640" y="4919472"/>
            <a:ext cx="68700" cy="68700"/>
          </a:xfrm>
          <a:prstGeom prst="ellipse">
            <a:avLst/>
          </a:prstGeom>
          <a:solidFill>
            <a:srgbClr val="F6B46A"/>
          </a:solidFill>
          <a:ln w="12700" cap="flat" cmpd="sng">
            <a:solidFill>
              <a:srgbClr val="F6B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6" name="Google Shape;606;p38"/>
          <p:cNvSpPr/>
          <p:nvPr/>
        </p:nvSpPr>
        <p:spPr>
          <a:xfrm>
            <a:off x="1856232" y="483717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CoordConv, RepConv, BiFormer, Focal EIoU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07" name="Google Shape;607;p38"/>
          <p:cNvSpPr/>
          <p:nvPr/>
        </p:nvSpPr>
        <p:spPr>
          <a:xfrm>
            <a:off x="1691640" y="5239512"/>
            <a:ext cx="68700" cy="68700"/>
          </a:xfrm>
          <a:prstGeom prst="ellipse">
            <a:avLst/>
          </a:prstGeom>
          <a:solidFill>
            <a:srgbClr val="F6B46A"/>
          </a:solidFill>
          <a:ln w="12700" cap="flat" cmpd="sng">
            <a:solidFill>
              <a:srgbClr val="F6B46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8" name="Google Shape;608;p38"/>
          <p:cNvSpPr/>
          <p:nvPr/>
        </p:nvSpPr>
        <p:spPr>
          <a:xfrm>
            <a:off x="1856232" y="515721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Integrated into one Rep-YOLO11s pipeline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09" name="Google Shape;609;p38"/>
          <p:cNvSpPr/>
          <p:nvPr/>
        </p:nvSpPr>
        <p:spPr>
          <a:xfrm>
            <a:off x="6144768" y="3767328"/>
            <a:ext cx="4937700" cy="21030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10" name="Google Shape;610;p38"/>
          <p:cNvSpPr/>
          <p:nvPr/>
        </p:nvSpPr>
        <p:spPr>
          <a:xfrm>
            <a:off x="6364224" y="3931920"/>
            <a:ext cx="658500" cy="475500"/>
          </a:xfrm>
          <a:prstGeom prst="roundRect">
            <a:avLst>
              <a:gd name="adj" fmla="val 19231"/>
            </a:avLst>
          </a:prstGeom>
          <a:solidFill>
            <a:srgbClr val="10AF5A"/>
          </a:solidFill>
          <a:ln w="12700" cap="flat" cmpd="sng">
            <a:solidFill>
              <a:srgbClr val="10AF5A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11" name="Google Shape;611;p38"/>
          <p:cNvSpPr/>
          <p:nvPr/>
        </p:nvSpPr>
        <p:spPr>
          <a:xfrm>
            <a:off x="6437376" y="4005072"/>
            <a:ext cx="5121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Inter" panose="02000503000000020004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04</a:t>
            </a:r>
            <a:endParaRPr sz="14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12" name="Google Shape;612;p38"/>
          <p:cNvSpPr/>
          <p:nvPr/>
        </p:nvSpPr>
        <p:spPr>
          <a:xfrm>
            <a:off x="7132320" y="3977640"/>
            <a:ext cx="3474600" cy="25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650"/>
              <a:buFont typeface="Inter" panose="02000503000000020004"/>
              <a:buNone/>
            </a:pPr>
            <a:r>
              <a:rPr lang="en-US" sz="165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Dataset Strategy</a:t>
            </a:r>
            <a:endParaRPr sz="165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13" name="Google Shape;613;p38"/>
          <p:cNvSpPr/>
          <p:nvPr/>
        </p:nvSpPr>
        <p:spPr>
          <a:xfrm>
            <a:off x="7104888" y="4599432"/>
            <a:ext cx="68700" cy="68700"/>
          </a:xfrm>
          <a:prstGeom prst="ellipse">
            <a:avLst/>
          </a:prstGeom>
          <a:solidFill>
            <a:srgbClr val="7FD78F"/>
          </a:solidFill>
          <a:ln w="12700" cap="flat" cmpd="sng">
            <a:solidFill>
              <a:srgbClr val="7FD78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14" name="Google Shape;614;p38"/>
          <p:cNvSpPr/>
          <p:nvPr/>
        </p:nvSpPr>
        <p:spPr>
          <a:xfrm>
            <a:off x="7269480" y="451713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Use existing construction datasets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15" name="Google Shape;615;p38"/>
          <p:cNvSpPr/>
          <p:nvPr/>
        </p:nvSpPr>
        <p:spPr>
          <a:xfrm>
            <a:off x="7104888" y="4919472"/>
            <a:ext cx="68700" cy="68700"/>
          </a:xfrm>
          <a:prstGeom prst="ellipse">
            <a:avLst/>
          </a:prstGeom>
          <a:solidFill>
            <a:srgbClr val="7FD78F"/>
          </a:solidFill>
          <a:ln w="12700" cap="flat" cmpd="sng">
            <a:solidFill>
              <a:srgbClr val="7FD78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16" name="Google Shape;616;p38"/>
          <p:cNvSpPr/>
          <p:nvPr/>
        </p:nvSpPr>
        <p:spPr>
          <a:xfrm>
            <a:off x="7269480" y="483717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Harmonize labels and clean anomalies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17" name="Google Shape;617;p38"/>
          <p:cNvSpPr/>
          <p:nvPr/>
        </p:nvSpPr>
        <p:spPr>
          <a:xfrm>
            <a:off x="7104888" y="5239512"/>
            <a:ext cx="68700" cy="68700"/>
          </a:xfrm>
          <a:prstGeom prst="ellipse">
            <a:avLst/>
          </a:prstGeom>
          <a:solidFill>
            <a:srgbClr val="7FD78F"/>
          </a:solidFill>
          <a:ln w="12700" cap="flat" cmpd="sng">
            <a:solidFill>
              <a:srgbClr val="7FD78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18" name="Google Shape;618;p38"/>
          <p:cNvSpPr/>
          <p:nvPr/>
        </p:nvSpPr>
        <p:spPr>
          <a:xfrm>
            <a:off x="7269480" y="5157216"/>
            <a:ext cx="3492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50"/>
              <a:buFont typeface="Inter" panose="02000503000000020004"/>
              <a:buNone/>
            </a:pPr>
            <a:r>
              <a:rPr lang="en-US" sz="120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Build a unified benchmark for evaluation</a:t>
            </a:r>
            <a:endParaRPr sz="12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19" name="Google Shape;619;p38"/>
          <p:cNvSpPr/>
          <p:nvPr/>
        </p:nvSpPr>
        <p:spPr>
          <a:xfrm>
            <a:off x="731520" y="5980176"/>
            <a:ext cx="10350900" cy="676800"/>
          </a:xfrm>
          <a:prstGeom prst="roundRect">
            <a:avLst>
              <a:gd name="adj" fmla="val 16216"/>
            </a:avLst>
          </a:prstGeom>
          <a:solidFill>
            <a:srgbClr val="F0F6FD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20" name="Google Shape;620;p38"/>
          <p:cNvSpPr/>
          <p:nvPr/>
        </p:nvSpPr>
        <p:spPr>
          <a:xfrm>
            <a:off x="1783080" y="6199632"/>
            <a:ext cx="8732400" cy="1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44C7D"/>
              </a:buClr>
              <a:buSzPts val="1140"/>
              <a:buFont typeface="Inter" panose="02000503000000020004"/>
              <a:buNone/>
            </a:pPr>
            <a:r>
              <a:rPr lang="en-US" sz="1140" b="1" i="0" u="none" strike="noStrike" cap="none">
                <a:solidFill>
                  <a:srgbClr val="244C7D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The project builds on mature frameworks while contributing targeted model integration, evaluation and deployment.</a:t>
            </a:r>
            <a:endParaRPr sz="114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39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AF8F5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626" name="Google Shape;626;p39"/>
          <p:cNvSpPr/>
          <p:nvPr/>
        </p:nvSpPr>
        <p:spPr>
          <a:xfrm>
            <a:off x="697345" y="360958"/>
            <a:ext cx="56694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35B00"/>
              </a:buClr>
              <a:buSzPts val="1120"/>
              <a:buFont typeface="Inter" panose="02000503000000020004"/>
              <a:buNone/>
            </a:pPr>
            <a:r>
              <a:rPr lang="en-US" sz="1120" b="1" i="0" u="none" strike="noStrike" cap="none">
                <a:solidFill>
                  <a:srgbClr val="F35B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CRITERION 4 · PRACTICALITY, VALUE &amp; NOVELTY</a:t>
            </a:r>
            <a:endParaRPr sz="112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27" name="Google Shape;627;p39"/>
          <p:cNvSpPr/>
          <p:nvPr/>
        </p:nvSpPr>
        <p:spPr>
          <a:xfrm>
            <a:off x="10682593" y="351814"/>
            <a:ext cx="731400" cy="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61728B"/>
              </a:buClr>
              <a:buSzPts val="1100"/>
              <a:buFont typeface="Inter" panose="02000503000000020004"/>
              <a:buNone/>
            </a:pPr>
            <a:r>
              <a:rPr lang="en-US" sz="1100" b="1" i="0" u="none" strike="noStrike" cap="none">
                <a:solidFill>
                  <a:srgbClr val="61728B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18 / 18</a:t>
            </a:r>
            <a:endParaRPr sz="110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28" name="Google Shape;628;p39"/>
          <p:cNvSpPr/>
          <p:nvPr/>
        </p:nvSpPr>
        <p:spPr>
          <a:xfrm>
            <a:off x="697345" y="690142"/>
            <a:ext cx="102414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2580"/>
              <a:buFont typeface="Inter" panose="02000503000000020004"/>
              <a:buNone/>
            </a:pPr>
            <a:r>
              <a:rPr lang="en-US" sz="308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Practicality, Value &amp; Novelty</a:t>
            </a:r>
            <a:endParaRPr sz="30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29" name="Google Shape;629;p39"/>
          <p:cNvSpPr/>
          <p:nvPr/>
        </p:nvSpPr>
        <p:spPr>
          <a:xfrm>
            <a:off x="679032" y="1494764"/>
            <a:ext cx="3246000" cy="405990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30" name="Google Shape;630;p39"/>
          <p:cNvSpPr/>
          <p:nvPr/>
        </p:nvSpPr>
        <p:spPr>
          <a:xfrm>
            <a:off x="935089" y="2683534"/>
            <a:ext cx="26517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920"/>
              <a:buFont typeface="Inter" panose="02000503000000020004"/>
              <a:buNone/>
            </a:pPr>
            <a:r>
              <a:rPr lang="en-US" sz="192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Practicality</a:t>
            </a:r>
            <a:endParaRPr sz="192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31" name="Google Shape;631;p39"/>
          <p:cNvSpPr/>
          <p:nvPr/>
        </p:nvSpPr>
        <p:spPr>
          <a:xfrm>
            <a:off x="999097" y="3369334"/>
            <a:ext cx="68700" cy="68700"/>
          </a:xfrm>
          <a:prstGeom prst="ellipse">
            <a:avLst/>
          </a:prstGeom>
          <a:solidFill>
            <a:srgbClr val="F35B00"/>
          </a:solidFill>
          <a:ln w="12700" cap="flat" cmpd="sng">
            <a:solidFill>
              <a:srgbClr val="F35B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32" name="Google Shape;632;p39"/>
          <p:cNvSpPr/>
          <p:nvPr/>
        </p:nvSpPr>
        <p:spPr>
          <a:xfrm>
            <a:off x="1163689" y="3287038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2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Real-time safety monitoring for</a:t>
            </a:r>
            <a:endParaRPr sz="12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2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construction sites</a:t>
            </a:r>
            <a:endParaRPr sz="12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33" name="Google Shape;633;p39"/>
          <p:cNvSpPr/>
          <p:nvPr/>
        </p:nvSpPr>
        <p:spPr>
          <a:xfrm flipH="1">
            <a:off x="1067795" y="4704351"/>
            <a:ext cx="68700" cy="68700"/>
          </a:xfrm>
          <a:prstGeom prst="ellipse">
            <a:avLst/>
          </a:prstGeom>
          <a:solidFill>
            <a:srgbClr val="F35B00"/>
          </a:solidFill>
          <a:ln w="12700" cap="flat" cmpd="sng">
            <a:solidFill>
              <a:srgbClr val="F35B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34" name="Google Shape;634;p39"/>
          <p:cNvSpPr/>
          <p:nvPr/>
        </p:nvSpPr>
        <p:spPr>
          <a:xfrm>
            <a:off x="1117689" y="389946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2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Can support CCTV / RTSP</a:t>
            </a:r>
            <a:endParaRPr sz="12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2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surveillance workflows</a:t>
            </a:r>
            <a:endParaRPr sz="12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35" name="Google Shape;635;p39"/>
          <p:cNvSpPr/>
          <p:nvPr/>
        </p:nvSpPr>
        <p:spPr>
          <a:xfrm>
            <a:off x="4290937" y="1494814"/>
            <a:ext cx="3246000" cy="405990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36" name="Google Shape;636;p39"/>
          <p:cNvSpPr/>
          <p:nvPr/>
        </p:nvSpPr>
        <p:spPr>
          <a:xfrm>
            <a:off x="4546969" y="2683534"/>
            <a:ext cx="26517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920"/>
              <a:buFont typeface="Inter" panose="02000503000000020004"/>
              <a:buNone/>
            </a:pPr>
            <a:r>
              <a:rPr lang="en-US" sz="192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Scientific Value</a:t>
            </a:r>
            <a:endParaRPr sz="192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37" name="Google Shape;637;p39"/>
          <p:cNvSpPr/>
          <p:nvPr/>
        </p:nvSpPr>
        <p:spPr>
          <a:xfrm>
            <a:off x="4610977" y="3369334"/>
            <a:ext cx="68700" cy="68700"/>
          </a:xfrm>
          <a:prstGeom prst="ellipse">
            <a:avLst/>
          </a:prstGeom>
          <a:solidFill>
            <a:srgbClr val="2767E8"/>
          </a:solidFill>
          <a:ln w="12700" cap="flat" cmpd="sng">
            <a:solidFill>
              <a:srgbClr val="2767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38" name="Google Shape;638;p39"/>
          <p:cNvSpPr/>
          <p:nvPr/>
        </p:nvSpPr>
        <p:spPr>
          <a:xfrm>
            <a:off x="4775569" y="3287038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2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Improves the accuracy–latency</a:t>
            </a:r>
            <a:endParaRPr sz="12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2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trade-off</a:t>
            </a:r>
            <a:endParaRPr sz="12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39" name="Google Shape;639;p39"/>
          <p:cNvSpPr/>
          <p:nvPr/>
        </p:nvSpPr>
        <p:spPr>
          <a:xfrm>
            <a:off x="4610977" y="4036846"/>
            <a:ext cx="68700" cy="68700"/>
          </a:xfrm>
          <a:prstGeom prst="ellipse">
            <a:avLst/>
          </a:prstGeom>
          <a:solidFill>
            <a:srgbClr val="2767E8"/>
          </a:solidFill>
          <a:ln w="12700" cap="flat" cmpd="sng">
            <a:solidFill>
              <a:srgbClr val="2767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40" name="Google Shape;640;p39"/>
          <p:cNvSpPr/>
          <p:nvPr/>
        </p:nvSpPr>
        <p:spPr>
          <a:xfrm>
            <a:off x="4775569" y="3954550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2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Evaluates cross-domain</a:t>
            </a:r>
            <a:endParaRPr sz="12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2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robustness</a:t>
            </a:r>
            <a:endParaRPr sz="12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41" name="Google Shape;641;p39"/>
          <p:cNvSpPr/>
          <p:nvPr/>
        </p:nvSpPr>
        <p:spPr>
          <a:xfrm>
            <a:off x="4610977" y="4704358"/>
            <a:ext cx="68700" cy="68700"/>
          </a:xfrm>
          <a:prstGeom prst="ellipse">
            <a:avLst/>
          </a:prstGeom>
          <a:solidFill>
            <a:srgbClr val="2767E8"/>
          </a:solidFill>
          <a:ln w="12700" cap="flat" cmpd="sng">
            <a:solidFill>
              <a:srgbClr val="2767E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42" name="Google Shape;642;p39"/>
          <p:cNvSpPr/>
          <p:nvPr/>
        </p:nvSpPr>
        <p:spPr>
          <a:xfrm>
            <a:off x="4775569" y="462206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2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Provides structured ablation</a:t>
            </a:r>
            <a:endParaRPr sz="12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2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and benchmark evidence</a:t>
            </a:r>
            <a:endParaRPr sz="12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43" name="Google Shape;643;p39"/>
          <p:cNvSpPr/>
          <p:nvPr/>
        </p:nvSpPr>
        <p:spPr>
          <a:xfrm>
            <a:off x="7902817" y="1494814"/>
            <a:ext cx="3246000" cy="405990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44" name="Google Shape;644;p39"/>
          <p:cNvSpPr/>
          <p:nvPr/>
        </p:nvSpPr>
        <p:spPr>
          <a:xfrm>
            <a:off x="8158849" y="2683534"/>
            <a:ext cx="26517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920"/>
              <a:buFont typeface="Inter" panose="02000503000000020004"/>
              <a:buNone/>
            </a:pPr>
            <a:r>
              <a:rPr lang="en-US" sz="192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Novelty / Creativity</a:t>
            </a:r>
            <a:endParaRPr sz="192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45" name="Google Shape;645;p39"/>
          <p:cNvSpPr/>
          <p:nvPr/>
        </p:nvSpPr>
        <p:spPr>
          <a:xfrm>
            <a:off x="8222857" y="3369334"/>
            <a:ext cx="68700" cy="68700"/>
          </a:xfrm>
          <a:prstGeom prst="ellipse">
            <a:avLst/>
          </a:prstGeom>
          <a:solidFill>
            <a:srgbClr val="8C39E9"/>
          </a:solidFill>
          <a:ln w="12700" cap="flat" cmpd="sng">
            <a:solidFill>
              <a:srgbClr val="8C39E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46" name="Google Shape;646;p39"/>
          <p:cNvSpPr/>
          <p:nvPr/>
        </p:nvSpPr>
        <p:spPr>
          <a:xfrm>
            <a:off x="8387449" y="3287038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2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Not a detector built fully from</a:t>
            </a:r>
            <a:endParaRPr sz="12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2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scratch</a:t>
            </a:r>
            <a:endParaRPr sz="12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47" name="Google Shape;647;p39"/>
          <p:cNvSpPr/>
          <p:nvPr/>
        </p:nvSpPr>
        <p:spPr>
          <a:xfrm>
            <a:off x="8222857" y="4036846"/>
            <a:ext cx="68700" cy="68700"/>
          </a:xfrm>
          <a:prstGeom prst="ellipse">
            <a:avLst/>
          </a:prstGeom>
          <a:solidFill>
            <a:srgbClr val="8C39E9"/>
          </a:solidFill>
          <a:ln w="12700" cap="flat" cmpd="sng">
            <a:solidFill>
              <a:srgbClr val="8C39E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48" name="Google Shape;648;p39"/>
          <p:cNvSpPr/>
          <p:nvPr/>
        </p:nvSpPr>
        <p:spPr>
          <a:xfrm>
            <a:off x="8387449" y="3954550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2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Novelty comes from targeted</a:t>
            </a:r>
            <a:endParaRPr sz="12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2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module integration</a:t>
            </a:r>
            <a:endParaRPr sz="12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49" name="Google Shape;649;p39"/>
          <p:cNvSpPr/>
          <p:nvPr/>
        </p:nvSpPr>
        <p:spPr>
          <a:xfrm>
            <a:off x="8222857" y="4704358"/>
            <a:ext cx="68700" cy="68700"/>
          </a:xfrm>
          <a:prstGeom prst="ellipse">
            <a:avLst/>
          </a:prstGeom>
          <a:solidFill>
            <a:srgbClr val="8C39E9"/>
          </a:solidFill>
          <a:ln w="12700" cap="flat" cmpd="sng">
            <a:solidFill>
              <a:srgbClr val="8C39E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50" name="Google Shape;650;p39"/>
          <p:cNvSpPr/>
          <p:nvPr/>
        </p:nvSpPr>
        <p:spPr>
          <a:xfrm>
            <a:off x="8387449" y="4622062"/>
            <a:ext cx="24873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2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Combines model design,</a:t>
            </a:r>
            <a:endParaRPr sz="12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2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benchmark cleaning and</a:t>
            </a:r>
            <a:endParaRPr sz="12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1647F"/>
              </a:buClr>
              <a:buSzPts val="1180"/>
              <a:buFont typeface="Inter" panose="02000503000000020004"/>
              <a:buNone/>
            </a:pPr>
            <a:r>
              <a:rPr lang="en-US" sz="1280" b="0" i="0" u="none" strike="noStrike" cap="none">
                <a:solidFill>
                  <a:srgbClr val="51647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prototype deployment</a:t>
            </a:r>
            <a:endParaRPr sz="128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651" name="Google Shape;651;p39"/>
          <p:cNvSpPr/>
          <p:nvPr/>
        </p:nvSpPr>
        <p:spPr>
          <a:xfrm>
            <a:off x="679057" y="5856502"/>
            <a:ext cx="10479000" cy="676800"/>
          </a:xfrm>
          <a:prstGeom prst="roundRect">
            <a:avLst>
              <a:gd name="adj" fmla="val 16216"/>
            </a:avLst>
          </a:prstGeom>
          <a:solidFill>
            <a:srgbClr val="F0F6FD"/>
          </a:solidFill>
          <a:ln w="13950" cap="flat" cmpd="sng">
            <a:solidFill>
              <a:srgbClr val="D5DEE8"/>
            </a:solidFill>
            <a:prstDash val="solid"/>
            <a:round/>
            <a:headEnd type="none" w="sm" len="sm"/>
            <a:tailEnd type="none" w="sm" len="sm"/>
          </a:ln>
          <a:effectLst>
            <a:outerShdw algn="bl" rotWithShape="0">
              <a:srgbClr val="B8B8B8">
                <a:alpha val="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52" name="Google Shape;652;p39"/>
          <p:cNvSpPr/>
          <p:nvPr/>
        </p:nvSpPr>
        <p:spPr>
          <a:xfrm>
            <a:off x="1794625" y="6075958"/>
            <a:ext cx="8549700" cy="1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01A33"/>
              </a:buClr>
              <a:buSzPts val="1160"/>
              <a:buFont typeface="Inter" panose="02000503000000020004"/>
              <a:buNone/>
            </a:pPr>
            <a:r>
              <a:rPr lang="en-US" sz="1160" b="1" i="0" u="none" strike="noStrike" cap="none">
                <a:solidFill>
                  <a:srgbClr val="101A33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 practical and meaningful capstone with applied research value and integration-based innovation.</a:t>
            </a:r>
            <a:endParaRPr sz="1160" b="0" i="0" u="none" strike="noStrike" cap="none">
              <a:solidFill>
                <a:srgbClr val="000000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pic>
        <p:nvPicPr>
          <p:cNvPr id="653" name="Google Shape;653;p39"/>
          <p:cNvPicPr preferRelativeResize="0"/>
          <p:nvPr/>
        </p:nvPicPr>
        <p:blipFill>
          <a:blip r:embed="rId1"/>
          <a:stretch>
            <a:fillRect/>
          </a:stretch>
        </p:blipFill>
        <p:spPr>
          <a:xfrm>
            <a:off x="935100" y="1861175"/>
            <a:ext cx="795525" cy="757648"/>
          </a:xfrm>
          <a:prstGeom prst="rect">
            <a:avLst/>
          </a:prstGeom>
          <a:noFill/>
          <a:ln>
            <a:noFill/>
          </a:ln>
        </p:spPr>
      </p:pic>
      <p:pic>
        <p:nvPicPr>
          <p:cNvPr id="654" name="Google Shape;654;p39"/>
          <p:cNvPicPr preferRelativeResize="0"/>
          <p:nvPr/>
        </p:nvPicPr>
        <p:blipFill>
          <a:blip r:embed="rId2"/>
          <a:stretch>
            <a:fillRect/>
          </a:stretch>
        </p:blipFill>
        <p:spPr>
          <a:xfrm>
            <a:off x="4534458" y="1874300"/>
            <a:ext cx="731400" cy="731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5" name="Google Shape;655;p39"/>
          <p:cNvPicPr preferRelativeResize="0"/>
          <p:nvPr/>
        </p:nvPicPr>
        <p:blipFill>
          <a:blip r:embed="rId3"/>
          <a:stretch>
            <a:fillRect/>
          </a:stretch>
        </p:blipFill>
        <p:spPr>
          <a:xfrm>
            <a:off x="8222849" y="1867774"/>
            <a:ext cx="731400" cy="7444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Calibri" panose="020F0502020204030204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 panose="020F0502020204030204"/>
              </a:defRPr>
            </a:pPr>
            <a:r>
              <a:t>CRITERION 4 · EVALUATION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 panose="020F0502020204030204"/>
              </a:defRPr>
            </a:pPr>
            <a:r>
              <a:t>08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 panose="020F0502020204030204"/>
              </a:defRPr>
            </a:pPr>
            <a:r>
              <a:t>Rigorous Multi-Metric Evaluation &amp; Life-Critical Recall Strategy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914400" y="1371600"/>
            <a:ext cx="38404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 panose="020F0502020204030204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 panose="020F0502020204030204"/>
              </a:defRPr>
            </a:pPr>
            <a:r>
              <a:t>Core Accuracy &amp; Localization Metrics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mAP50 (Gold Standard): Evaluates primary detection precision at standard IoU 0.50.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mAP50-95 (Boundary Tightness): Strict average across 10 IoU steps [0.50:0.05:0.95]; heavily penalizes loose or misaligned bounding boxes.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Precision &amp; F1-Score: Measures trade-off between false detections and completeness.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Real-Time Constraint: Enforces strict inference latency suitable for 25+ FPS streams.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3444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6400800" y="1371600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 panose="020F0502020204030204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135331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 panose="020F0502020204030204"/>
              </a:defRPr>
            </a:pPr>
            <a:r>
              <a:t>Life-Critical Priority: Recall Over Precision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Zero-Tolerance for False Negatives (FN): In safety monitoring, a missed violation allows an unprotected worker into a hazard zone -&gt; fatal risk.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Asymmetric Impact: A False Alarm (FP) causes minor verification overhead; a Missed Violation (FN) leads to irreversible human tragedy.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Target Recallhat &gt; 90%: Architecture specifically refined to maximize helmet recall.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Gradient Countermeasure: Focal BCE and Task-Aligned Assigner prevent helmet loss collapse.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914400" y="3749039"/>
            <a:ext cx="384048" cy="2926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 panose="020F0502020204030204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 panose="020F0502020204030204"/>
              </a:defRPr>
            </a:pPr>
            <a:r>
              <a:t>5-Fold Stratified Cross-Validation Protocol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Rigorous Stratification: All 5 folds strictly preserve the exact 1:12.33 class ratio.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Statistical Confidence (μ ± σ): Reports 96.64% ± 0.32% mAP50, proving performance is not a fluke of a lucky test split.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Cross-Fold Stability: Validates consistency across varying illumination and crowd densities.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Ablation Reliability: Ensures all module comparisons are statistically significant.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17" name="Rounded Rectangle 16"/>
          <p:cNvSpPr/>
          <p:nvPr/>
        </p:nvSpPr>
        <p:spPr>
          <a:xfrm>
            <a:off x="6400800" y="3749039"/>
            <a:ext cx="384048" cy="2926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 panose="020F0502020204030204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 panose="020F0502020204030204"/>
              </a:defRPr>
            </a:pPr>
            <a:r>
              <a:t>Model Transparency: Grad-CAM XAI Audit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Feature Saliency Validation: Grad-CAM heatmaps verify network attention is sharply localized on head-worn helmets.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Suppression of Vest &amp; Floor Clutter: Proves CoordConv successfully damps out ground-level yellow buckets and reflective vests.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Long-Range Attention Routing: Confirms BiFormer routes attention directly to small distant heads (&lt;20px).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Industrial Audit Readiness: Provides visual accountability required by HSE site managers.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20" name="Rounded Rectangle 19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 panose="020F0502020204030204"/>
              </a:defRPr>
            </a:pPr>
            <a:r>
              <a:t>TAKEAWAY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 panose="020F0502020204030204"/>
              </a:defRPr>
            </a:pPr>
            <a:r>
              <a:t>Multi-metric evaluation prioritizes Life-Critical Recall while eliminating split bias via 5-Fold Stratified CV and Grad-CAM interpretability.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Calibri" panose="020F0502020204030204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 panose="020F0502020204030204"/>
              </a:defRPr>
            </a:pPr>
            <a:r>
              <a:t>CRITERION 5 · PROJECT PLAN &amp; GANTT 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 panose="020F0502020204030204"/>
              </a:defRPr>
            </a:pPr>
            <a:r>
              <a:t>09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 panose="020F0502020204030204"/>
              </a:defRPr>
            </a:pPr>
            <a:r>
              <a:t>Project Roadmap: 5 Phases &amp; Milestone Tracking (W1–W15)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804672" y="1325880"/>
            <a:ext cx="189280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 panose="020F0502020204030204"/>
              </a:defRPr>
            </a:pPr>
            <a:r>
              <a:t>Phase 1 (W1–W5)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Calibri" panose="020F0502020204030204"/>
              </a:defRPr>
            </a:pPr>
            <a:r>
              <a:t>Foundation &amp; Review 1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 panose="020F0502020204030204"/>
              </a:defRPr>
            </a:pPr>
            <a:r>
              <a:t>30-paper survey, RQ/Gap, SHWD data cleaning, Baseline setup.</a:t>
            </a:r>
          </a:p>
          <a:p>
            <a:pPr>
              <a:spcBef>
                <a:spcPts val="400"/>
              </a:spcBef>
              <a:defRPr sz="850" b="1">
                <a:solidFill>
                  <a:srgbClr val="EA580C"/>
                </a:solidFill>
                <a:latin typeface="Calibri" panose="020F0502020204030204"/>
              </a:defRPr>
            </a:pPr>
            <a:r>
              <a:t>Target: Review 1 Deck &amp; Cleaned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2971800" y="1325880"/>
            <a:ext cx="189280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 panose="020F0502020204030204"/>
              </a:defRPr>
            </a:pPr>
            <a:r>
              <a:t>Phase 2 (W6–W8)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Calibri" panose="020F0502020204030204"/>
              </a:defRPr>
            </a:pPr>
            <a:r>
              <a:t>Core Engineering &amp; Review 2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 panose="020F0502020204030204"/>
              </a:defRPr>
            </a:pPr>
            <a:r>
              <a:t>Module coding (RepConv, CoordConv, BiFormer, EIoU), Ablation A0–A6.</a:t>
            </a:r>
          </a:p>
          <a:p>
            <a:pPr>
              <a:spcBef>
                <a:spcPts val="400"/>
              </a:spcBef>
              <a:defRPr sz="850" b="1">
                <a:solidFill>
                  <a:srgbClr val="2563EB"/>
                </a:solidFill>
                <a:latin typeface="Calibri" panose="020F0502020204030204"/>
              </a:defRPr>
            </a:pPr>
            <a:r>
              <a:t>Target: Review 2 Report &amp; Code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5776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5138928" y="1325880"/>
            <a:ext cx="1892808" cy="292608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 panose="020F0502020204030204"/>
              </a:defRPr>
            </a:pPr>
            <a:r>
              <a:t>Phase 3 (W9–W11)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8928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Calibri" panose="020F0502020204030204"/>
              </a:defRPr>
            </a:pPr>
            <a:r>
              <a:t>Validation &amp; Review 3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 panose="020F0502020204030204"/>
              </a:defRPr>
            </a:pPr>
            <a:r>
              <a:t>5-Fold CV, Cross-domain testing (25k+ imgs), Grad-CAM XAI.</a:t>
            </a:r>
          </a:p>
          <a:p>
            <a:pPr>
              <a:spcBef>
                <a:spcPts val="400"/>
              </a:spcBef>
              <a:defRPr sz="850" b="1">
                <a:solidFill>
                  <a:srgbClr val="D97706"/>
                </a:solidFill>
                <a:latin typeface="Calibri" panose="020F0502020204030204"/>
              </a:defRPr>
            </a:pPr>
            <a:r>
              <a:t>Target: Review 3 Data &amp; Weights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2904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17" name="Rounded Rectangle 16"/>
          <p:cNvSpPr/>
          <p:nvPr/>
        </p:nvSpPr>
        <p:spPr>
          <a:xfrm>
            <a:off x="7306056" y="1325880"/>
            <a:ext cx="1892808" cy="2926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 panose="020F0502020204030204"/>
              </a:defRPr>
            </a:pPr>
            <a:r>
              <a:t>Phase 4 (W12–W14)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06056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Calibri" panose="020F0502020204030204"/>
              </a:defRPr>
            </a:pPr>
            <a:r>
              <a:t>Deployment &amp; Docs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 panose="020F0502020204030204"/>
              </a:defRPr>
            </a:pPr>
            <a:r>
              <a:t>RTSP camera pipeline, Docker packaging, IEEE paper polish.</a:t>
            </a:r>
          </a:p>
          <a:p>
            <a:pPr>
              <a:spcBef>
                <a:spcPts val="400"/>
              </a:spcBef>
              <a:defRPr sz="850" b="1">
                <a:solidFill>
                  <a:srgbClr val="16A34A"/>
                </a:solidFill>
                <a:latin typeface="Calibri" panose="020F0502020204030204"/>
              </a:defRPr>
            </a:pPr>
            <a:r>
              <a:t>Target: RTSP Demo &amp; Paper Draft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00032" y="1234440"/>
            <a:ext cx="2039112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20" name="Rounded Rectangle 19"/>
          <p:cNvSpPr/>
          <p:nvPr/>
        </p:nvSpPr>
        <p:spPr>
          <a:xfrm>
            <a:off x="9473184" y="1325880"/>
            <a:ext cx="1892808" cy="292608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Calibri" panose="020F0502020204030204"/>
              </a:defRPr>
            </a:pPr>
            <a:r>
              <a:t>Phase 5 (W15)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3184" y="1664208"/>
            <a:ext cx="1892808" cy="1737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00" b="1">
                <a:solidFill>
                  <a:srgbClr val="0F172A"/>
                </a:solidFill>
                <a:latin typeface="Calibri" panose="020F0502020204030204"/>
              </a:defRPr>
            </a:pPr>
            <a:r>
              <a:t>Final Defense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Calibri" panose="020F0502020204030204"/>
              </a:defRPr>
            </a:pPr>
            <a:r>
              <a:t>Thesis Book submission, final defense presentation rehearsal.</a:t>
            </a:r>
          </a:p>
          <a:p>
            <a:pPr>
              <a:spcBef>
                <a:spcPts val="400"/>
              </a:spcBef>
              <a:defRPr sz="850" b="1">
                <a:solidFill>
                  <a:srgbClr val="7C3AED"/>
                </a:solidFill>
                <a:latin typeface="Calibri" panose="020F0502020204030204"/>
              </a:defRPr>
            </a:pPr>
            <a:r>
              <a:t>Target: Thesis Book &amp; Defense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23" name="Rounded Rectangle 22"/>
          <p:cNvSpPr/>
          <p:nvPr/>
        </p:nvSpPr>
        <p:spPr>
          <a:xfrm>
            <a:off x="914400" y="3749039"/>
            <a:ext cx="38404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 panose="020F0502020204030204"/>
              </a:defRPr>
            </a:pPr>
            <a: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 panose="020F0502020204030204"/>
              </a:defRPr>
            </a:pPr>
            <a:r>
              <a:t>Agile Sprint Execution &amp; Contingency Buffers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2-Week Sprint Cadence: Rapid iterative cycles with bi-weekly progress synchronization with Academic Advisor.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1-Week Risk Buffer per Phase: Dedicated contingency time for cloud GPU re-training and parameter exploration.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Review Gating Criteria: Strict quality gates and benchmark hurdles before advancing to the next Review.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Transparent Version Control: Daily code, configuration, and model checkpoint commits synchronized to GitHub.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611880"/>
            <a:ext cx="52120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26" name="Rounded Rectangle 25"/>
          <p:cNvSpPr/>
          <p:nvPr/>
        </p:nvSpPr>
        <p:spPr>
          <a:xfrm>
            <a:off x="6400800" y="3749039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 panose="020F0502020204030204"/>
              </a:defRPr>
            </a:pPr>
            <a: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3730752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 panose="020F0502020204030204"/>
              </a:defRPr>
            </a:pPr>
            <a:r>
              <a:t>Strategic Team Role Allocation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Nguyễn Hàn Như (Lead · SE183644): Overall network architecture, custom PyTorch modules, and IEEE paper writing.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Nguyễn Văn Thành (SE180387): Data engineering, label harmonization (C*), SHWD cleaning, 5-Fold Stratified CV.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Trần Phạm Tuấn Dũng (SE183674): Real-time RTSP video streaming pipeline, hardware acceleration, and documentation.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High-Efficiency Collaboration: Clear responsibility boundaries with unified shared Git repo and issue tracking.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29" name="Rounded Rectangle 28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 panose="020F0502020204030204"/>
              </a:defRPr>
            </a:pPr>
            <a:r>
              <a:t>TAKEAWAY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 panose="020F0502020204030204"/>
              </a:defRPr>
            </a:pPr>
            <a:r>
              <a:t>Structured 15-week Hybrid Agile roadmap strictly aligned with 3 Review milestones and final Capstone Defense.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Calibri" panose="020F0502020204030204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 panose="020F0502020204030204"/>
              </a:defRPr>
            </a:pPr>
            <a:r>
              <a:t>CRITERION 6 · RESEARCH PAPER PLAN (IEEE TRANSACTIONS)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 panose="020F0502020204030204"/>
              </a:defRPr>
            </a:pPr>
            <a:r>
              <a:t>10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 panose="020F0502020204030204"/>
              </a:defRPr>
            </a:pPr>
            <a:r>
              <a:t>Scientific Publication Plan: Targeting IEEE Transactions (Q1)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10728655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914400" y="1353312"/>
            <a:ext cx="2377440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000" b="1">
                <a:solidFill>
                  <a:srgbClr val="FFFFFF"/>
                </a:solidFill>
                <a:latin typeface="Calibri" panose="020F0502020204030204"/>
              </a:defRPr>
            </a:pPr>
            <a:r>
              <a:t>TARGET PUBLICATION VENUE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6916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  <a:latin typeface="Calibri" panose="020F0502020204030204"/>
              </a:defRPr>
            </a:pPr>
            <a:r>
              <a:t>IEEE Transactions on Industrial Informatics (IEEE TII) — Q1 Top-Tier</a:t>
            </a:r>
          </a:p>
          <a:p>
            <a:pPr>
              <a:spcBef>
                <a:spcPts val="200"/>
              </a:spcBef>
              <a:defRPr sz="1100" b="1">
                <a:solidFill>
                  <a:srgbClr val="EA580C"/>
                </a:solidFill>
                <a:latin typeface="Calibri" panose="020F0502020204030204"/>
              </a:defRPr>
            </a:pPr>
            <a:r>
              <a:t>Impact Factor: 11.7 · CiteScore: 21.0 · Alternative Targets: IEEE TPAMI / IEEE TIM</a:t>
            </a:r>
          </a:p>
          <a:p>
            <a:pPr>
              <a:spcBef>
                <a:spcPts val="300"/>
              </a:spcBef>
              <a:defRPr sz="1050" i="1">
                <a:solidFill>
                  <a:srgbClr val="334155"/>
                </a:solidFill>
                <a:latin typeface="Calibri" panose="020F0502020204030204"/>
              </a:defRPr>
            </a:pPr>
            <a:r>
              <a:t>Title: "Structural Re-Parameterization, Spatial Coordinate Encoding, and Cross-Domain Robustness for Real-Time Safety Helmet Detection in Construction Surveillance"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  <a:latin typeface="Calibri" panose="020F0502020204030204"/>
              </a:defRPr>
            </a:pPr>
            <a:r>
              <a:t>• Manuscript Status: 10-page master research paper fully drafted in IEEEtran format (Rep-YOLO11s_Master_Paper_IEEE.pdf).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52120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914400" y="3520440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 panose="020F0502020204030204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02152"/>
            <a:ext cx="4389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 panose="020F0502020204030204"/>
              </a:defRPr>
            </a:pPr>
            <a:r>
              <a:t>4 Key Scientific Contributions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1. Novel Architecture: Rep-YOLO11s integrating spatial coordinates, attention routing, and edge-decoupled loss.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2. Closed-Form Mathematical Proof: Rigorous algebraic proof of lossless 3-branch RepConv re-parameterization (error &lt; 10^-5).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3. Explainable Ground Invariance: Empirical Grad-CAM proof that CoordConv eliminates ground-level color false alarms.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4. Multi-Domain Taxonomy Autopsy: Comprehensive benchmark across &gt;33,000 images resolving the IoU Collapse phenomenon.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383280"/>
            <a:ext cx="52120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6400800" y="3520440"/>
            <a:ext cx="384048" cy="292608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 panose="020F0502020204030204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3502152"/>
            <a:ext cx="4389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 panose="020F0502020204030204"/>
              </a:defRPr>
            </a:pPr>
            <a:r>
              <a:t>Publication Roadmap &amp; Scientific Integrity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Phase 1–3 (Empirical Evidence): Solidify 5-Fold Stratified CV, multi-dataset zero-shot tests, and Grad-CAM saliency maps.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Phase 4 (Writing &amp; Peer Review): Rigorous academic polishing, IEEE LaTeX double-column typesetting, and mentor co-author review.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Phase 5 &amp; Post-Defense: Formal journal submission to IEEE Transactions; public release of models and datasets on GitHub.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Calibri" panose="020F0502020204030204"/>
              </a:defRPr>
            </a:pPr>
            <a:r>
              <a:t>• Reproducibility Standards: Full open-source release with deterministic seed control and complete training scripts.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17" name="Rounded Rectangle 16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 panose="020F0502020204030204"/>
              </a:defRPr>
            </a:pPr>
            <a:r>
              <a:t>TAKEAWAY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 panose="020F0502020204030204"/>
              </a:defRPr>
            </a:pPr>
            <a:r>
              <a:t>Publication-grade research combining mathematical proofs, extensive empirical evidence, and open-source industrial contributions.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Calibri" panose="020F0502020204030204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 panose="020F0502020204030204"/>
              </a:defRPr>
            </a:pPr>
            <a:r>
              <a:t>CRITERION 7 · RISK ASSESSMENT &amp; MITIGATION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 panose="020F0502020204030204"/>
              </a:defRPr>
            </a:pPr>
            <a:r>
              <a:t>11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 panose="020F0502020204030204"/>
              </a:defRPr>
            </a:pPr>
            <a:r>
              <a:t>Proactive Risk Analysis &amp; Engineering Mitigation Matrix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841248" y="1344168"/>
            <a:ext cx="868680" cy="219456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 panose="020F0502020204030204"/>
              </a:defRPr>
            </a:pPr>
            <a:r>
              <a:t>HIGH 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581912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 panose="020F0502020204030204"/>
              </a:defRPr>
            </a:pPr>
            <a:r>
              <a:t>1. Extreme Class Imbalance (1:12)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 panose="020F0502020204030204"/>
              </a:defRPr>
            </a:pPr>
            <a:r>
              <a:t>Risk Trigger: 111,514 body instances overpower 9,044 helmet instances, causing helmet gradient starvation.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 panose="020F0502020204030204"/>
              </a:defRPr>
            </a:pPr>
            <a:r>
              <a:t>Engineering Mitigation: Task-Aligned Assigner (TAL) top-10 anchor alignment + Focal BCE Loss with dynamic alpha-balance to prioritize helmet learning.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234440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4498848" y="1344168"/>
            <a:ext cx="868680" cy="219456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 panose="020F0502020204030204"/>
              </a:defRPr>
            </a:pPr>
            <a:r>
              <a:t>HIGH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1581912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 panose="020F0502020204030204"/>
              </a:defRPr>
            </a:pPr>
            <a:r>
              <a:t>2. Ground False Positives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 panose="020F0502020204030204"/>
              </a:defRPr>
            </a:pPr>
            <a:r>
              <a:t>Risk Trigger: Yellow buckets, traffic cones, and caution signs on the floor trigger high false alarm rates (&gt;28%).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 panose="020F0502020204030204"/>
              </a:defRPr>
            </a:pPr>
            <a:r>
              <a:t>Engineering Mitigation: CoordConv Stem injects vertical coordinate Cy; provides anatomical prior suppressing ground logits (Cy &gt; 0.4) to &lt;0.02.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234440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8156448" y="1344168"/>
            <a:ext cx="868680" cy="219456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 panose="020F0502020204030204"/>
              </a:defRPr>
            </a:pPr>
            <a:r>
              <a:t>HIGH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581912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 panose="020F0502020204030204"/>
              </a:defRPr>
            </a:pPr>
            <a:r>
              <a:t>3. Distant Tiny Helmets (&lt;20px)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 panose="020F0502020204030204"/>
              </a:defRPr>
            </a:pPr>
            <a:r>
              <a:t>Risk Trigger: Small targets under high-angle CCTV blur and vanish through standard convolutional downsampling.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 panose="020F0502020204030204"/>
              </a:defRPr>
            </a:pPr>
            <a:r>
              <a:t>Engineering Mitigation: BiFormer Bi-Level Routing Attention filters out 93.75% of background and preserves small target features with O(HW) cost.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639312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17" name="Rounded Rectangle 16"/>
          <p:cNvSpPr/>
          <p:nvPr/>
        </p:nvSpPr>
        <p:spPr>
          <a:xfrm>
            <a:off x="841248" y="3749040"/>
            <a:ext cx="868680" cy="219456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 panose="020F0502020204030204"/>
              </a:defRPr>
            </a:pPr>
            <a:r>
              <a:t>MED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986784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 panose="020F0502020204030204"/>
              </a:defRPr>
            </a:pPr>
            <a:r>
              <a:t>4. CIoU Gradient Vanishing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 panose="020F0502020204030204"/>
              </a:defRPr>
            </a:pPr>
            <a:r>
              <a:t>Risk Trigger: When aspect ratio w/h matches ground truth, CIoU penalty gradient vanishes, stalling boundary regression.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 panose="020F0502020204030204"/>
              </a:defRPr>
            </a:pPr>
            <a:r>
              <a:t>Engineering Mitigation: Focal-EIoU Loss decouples width and height errors independently; guarantees dL/dw != 0 whenever width is not aligned.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3639312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20" name="Rounded Rectangle 19"/>
          <p:cNvSpPr/>
          <p:nvPr/>
        </p:nvSpPr>
        <p:spPr>
          <a:xfrm>
            <a:off x="4498848" y="3749040"/>
            <a:ext cx="868680" cy="219456"/>
          </a:xfrm>
          <a:prstGeom prst="round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 panose="020F0502020204030204"/>
              </a:defRPr>
            </a:pPr>
            <a:r>
              <a:t>HIGH RISK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3986784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 panose="020F0502020204030204"/>
              </a:defRPr>
            </a:pPr>
            <a:r>
              <a:t>5. Video Sequence Data Leakage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 panose="020F0502020204030204"/>
              </a:defRPr>
            </a:pPr>
            <a:r>
              <a:t>Risk Trigger: Consecutive frames from identical camera scenes appearing in both train and test artificially inflate accuracy.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 panose="020F0502020204030204"/>
              </a:defRPr>
            </a:pPr>
            <a:r>
              <a:t>Engineering Mitigation: Video sequence hashing groups continuous frames strictly into the same partition, guaranteeing 100% leak-free evaluation.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3639312"/>
            <a:ext cx="3401568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23" name="Rounded Rectangle 22"/>
          <p:cNvSpPr/>
          <p:nvPr/>
        </p:nvSpPr>
        <p:spPr>
          <a:xfrm>
            <a:off x="8156448" y="3749040"/>
            <a:ext cx="868680" cy="219456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Calibri" panose="020F0502020204030204"/>
              </a:defRPr>
            </a:pPr>
            <a:r>
              <a:t>MED 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56448" y="3986784"/>
            <a:ext cx="3182112" cy="185623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 panose="020F0502020204030204"/>
              </a:defRPr>
            </a:pPr>
            <a:r>
              <a:t>6. GPU Memory &amp; Compute Limits</a:t>
            </a:r>
          </a:p>
          <a:p>
            <a:pPr>
              <a:spcBef>
                <a:spcPts val="200"/>
              </a:spcBef>
              <a:defRPr sz="880">
                <a:solidFill>
                  <a:srgbClr val="991B1B"/>
                </a:solidFill>
                <a:latin typeface="Calibri" panose="020F0502020204030204"/>
              </a:defRPr>
            </a:pPr>
            <a:r>
              <a:t>Risk Trigger: Training high-resolution multi-module models risks CUDA Out-Of-Memory (OOM) and long training times.</a:t>
            </a:r>
          </a:p>
          <a:p>
            <a:pPr>
              <a:spcBef>
                <a:spcPts val="300"/>
              </a:spcBef>
              <a:defRPr sz="880" b="1">
                <a:solidFill>
                  <a:srgbClr val="166534"/>
                </a:solidFill>
                <a:latin typeface="Calibri" panose="020F0502020204030204"/>
              </a:defRPr>
            </a:pPr>
            <a:r>
              <a:t>Engineering Mitigation: Dual Kaggle Tesla T4 GPUs (32 GB VRAM) using PyTorch DDP; FP16 mixed precision halves memory footprint without accuracy loss.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26" name="Rounded Rectangle 25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 panose="020F0502020204030204"/>
              </a:defRPr>
            </a:pPr>
            <a:r>
              <a:t>TAKEAWAY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 panose="020F0502020204030204"/>
              </a:defRPr>
            </a:pPr>
            <a:r>
              <a:t>All 6 core engineering risks are proactively resolved through mathematically sound and empirically verified architectural solutions.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latin typeface="Calibri" panose="020F0502020204030204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8686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Calibri" panose="020F0502020204030204"/>
              </a:defRPr>
            </a:pPr>
            <a:r>
              <a:t>CRITERION 8 · EXPECTED OUTCOMES &amp;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0" y="320040"/>
            <a:ext cx="1371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64748B"/>
                </a:solidFill>
                <a:latin typeface="Calibri" panose="020F0502020204030204"/>
              </a:defRPr>
            </a:pPr>
            <a:r>
              <a:t>12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0F172A"/>
                </a:solidFill>
                <a:latin typeface="Calibri" panose="020F0502020204030204"/>
              </a:defRPr>
            </a:pPr>
            <a:r>
              <a:t>Final Deliverables &amp; 8-Point Project Synthesis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34440"/>
            <a:ext cx="521208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8" name="Rounded Rectangle 7"/>
          <p:cNvSpPr/>
          <p:nvPr/>
        </p:nvSpPr>
        <p:spPr>
          <a:xfrm>
            <a:off x="914400" y="1371600"/>
            <a:ext cx="384048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 panose="020F0502020204030204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 panose="020F0502020204030204"/>
              </a:defRPr>
            </a:pPr>
            <a:r>
              <a:t>5 Tangible Project Deliverables</a:t>
            </a:r>
          </a:p>
          <a:p>
            <a:pPr>
              <a:spcBef>
                <a:spcPts val="500"/>
              </a:spcBef>
              <a:defRPr sz="1050" b="1">
                <a:solidFill>
                  <a:srgbClr val="2563EB"/>
                </a:solidFill>
                <a:latin typeface="Calibri" panose="020F0502020204030204"/>
              </a:defRPr>
            </a:pPr>
            <a:r>
              <a:t>1. High-Accuracy AI Weights (.pt)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 panose="020F0502020204030204"/>
              </a:defRPr>
            </a:pPr>
            <a:r>
              <a:t>Rep-YOLO11s trained weights achieving &gt;96% 5-Fold mAP50 with optimized small helmet recall.</a:t>
            </a:r>
          </a:p>
          <a:p>
            <a:pPr>
              <a:spcBef>
                <a:spcPts val="500"/>
              </a:spcBef>
              <a:defRPr sz="1050" b="1">
                <a:solidFill>
                  <a:srgbClr val="2563EB"/>
                </a:solidFill>
                <a:latin typeface="Calibri" panose="020F0502020204030204"/>
              </a:defRPr>
            </a:pPr>
            <a:r>
              <a:t>2. Standardized Dataset Pipeline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 panose="020F0502020204030204"/>
              </a:defRPr>
            </a:pPr>
            <a:r>
              <a:t>Cleaned SHWD (7,581 images) with zero label corruption, plus unified C* taxonomy across &gt;33,000 industrial images.</a:t>
            </a:r>
          </a:p>
          <a:p>
            <a:pPr>
              <a:spcBef>
                <a:spcPts val="500"/>
              </a:spcBef>
              <a:defRPr sz="1050" b="1">
                <a:solidFill>
                  <a:srgbClr val="2563EB"/>
                </a:solidFill>
                <a:latin typeface="Calibri" panose="020F0502020204030204"/>
              </a:defRPr>
            </a:pPr>
            <a:r>
              <a:t>3. Open-Source Code Repository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 panose="020F0502020204030204"/>
              </a:defRPr>
            </a:pPr>
            <a:r>
              <a:t>Clean GitHub repository with PyTorch modules, switch_to_deploy() scripts, and multi-GPU DDP training configs.</a:t>
            </a:r>
          </a:p>
          <a:p>
            <a:pPr>
              <a:spcBef>
                <a:spcPts val="500"/>
              </a:spcBef>
              <a:defRPr sz="1050" b="1">
                <a:solidFill>
                  <a:srgbClr val="2563EB"/>
                </a:solidFill>
                <a:latin typeface="Calibri" panose="020F0502020204030204"/>
              </a:defRPr>
            </a:pPr>
            <a:r>
              <a:t>4. Real-Time RTSP Software Demo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 panose="020F0502020204030204"/>
              </a:defRPr>
            </a:pPr>
            <a:r>
              <a:t>Surveillance desktop application running on live CCTV streams with automated violation alerts and bounding boxes.</a:t>
            </a:r>
          </a:p>
          <a:p>
            <a:pPr>
              <a:spcBef>
                <a:spcPts val="500"/>
              </a:spcBef>
              <a:defRPr sz="1050" b="1">
                <a:solidFill>
                  <a:srgbClr val="2563EB"/>
                </a:solidFill>
                <a:latin typeface="Calibri" panose="020F0502020204030204"/>
              </a:defRPr>
            </a:pPr>
            <a:r>
              <a:t>5. IEEE Q1 Research Manuscript</a:t>
            </a:r>
          </a:p>
          <a:p>
            <a:pPr>
              <a:spcBef>
                <a:spcPts val="100"/>
              </a:spcBef>
              <a:defRPr sz="950">
                <a:solidFill>
                  <a:srgbClr val="334155"/>
                </a:solidFill>
                <a:latin typeface="Calibri" panose="020F0502020204030204"/>
              </a:defRPr>
            </a:pPr>
            <a:r>
              <a:t>10-page master paper ready for submission to IEEE Transactions on Industrial Informatics (IEEE TII).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34440"/>
            <a:ext cx="5212080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6400800" y="1371600"/>
            <a:ext cx="384048" cy="29260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 b="1">
                <a:solidFill>
                  <a:srgbClr val="FFFFFF"/>
                </a:solidFill>
                <a:latin typeface="Calibri" panose="020F0502020204030204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1353312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Calibri" panose="020F0502020204030204"/>
              </a:defRPr>
            </a:pPr>
            <a:r>
              <a:t>8-Point Project Synthesis (Conclusion)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 panose="020F0502020204030204"/>
              </a:defRPr>
            </a:pPr>
            <a:r>
              <a:t>• Problem: Industrial CCTV challenges (tiny targets, 1:12 class imbalance, ground false alarms).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 panose="020F0502020204030204"/>
              </a:defRPr>
            </a:pPr>
            <a:r>
              <a:t>• Research Gap: Heavy architectures lack real-time viability; standard models lack spatial height priors.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 panose="020F0502020204030204"/>
              </a:defRPr>
            </a:pPr>
            <a:r>
              <a:t>• SOTA Baselines: Directly benchmarked against YOLO11s (latest SOTA) and YOLOv8s (industry standard).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 panose="020F0502020204030204"/>
              </a:defRPr>
            </a:pPr>
            <a:r>
              <a:t>• Proposed Method: Rep-YOLO11s integrating RepConv, CoordConv, BiFormer, and Focal-EIoU.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 panose="020F0502020204030204"/>
              </a:defRPr>
            </a:pPr>
            <a:r>
              <a:t>• Data Engineering: 7,581 SHWD images with zero leakage + 5 cross-domain benchmarks (&gt;25,000 images).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 panose="020F0502020204030204"/>
              </a:defRPr>
            </a:pPr>
            <a:r>
              <a:t>• Evaluation: Life-critical Recall prioritization, 5-Fold Stratified CV, and Grad-CAM explainability.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 panose="020F0502020204030204"/>
              </a:defRPr>
            </a:pPr>
            <a:r>
              <a:t>• Feasibility: High-efficiency single-path architecture verified on accessible GPU hardware.</a:t>
            </a:r>
          </a:p>
          <a:p>
            <a:pPr>
              <a:spcBef>
                <a:spcPts val="300"/>
              </a:spcBef>
              <a:defRPr sz="950">
                <a:solidFill>
                  <a:srgbClr val="334155"/>
                </a:solidFill>
                <a:latin typeface="Calibri" panose="020F0502020204030204"/>
              </a:defRPr>
            </a:pPr>
            <a:r>
              <a:t>• Practical Value: Seamlessly bridges top-tier academic rigor with live worker safety protection.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6035040"/>
            <a:ext cx="10728655" cy="47548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Calibri" panose="020F0502020204030204"/>
              </a:defRPr>
            </a:pPr>
          </a:p>
        </p:txBody>
      </p:sp>
      <p:sp>
        <p:nvSpPr>
          <p:cNvPr id="14" name="Rounded Rectangle 13"/>
          <p:cNvSpPr/>
          <p:nvPr/>
        </p:nvSpPr>
        <p:spPr>
          <a:xfrm>
            <a:off x="868680" y="6108192"/>
            <a:ext cx="1097280" cy="32004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950" b="1">
                <a:solidFill>
                  <a:srgbClr val="FFFFFF"/>
                </a:solidFill>
                <a:latin typeface="Calibri" panose="020F0502020204030204"/>
              </a:defRPr>
            </a:pPr>
            <a:r>
              <a:t>TAKEAWAY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6053328"/>
            <a:ext cx="923544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F172A"/>
                </a:solidFill>
                <a:latin typeface="Calibri" panose="020F0502020204030204"/>
              </a:defRPr>
            </a:pPr>
            <a:r>
              <a:t>A comprehensive, publication-grade AI capstone delivering high-accuracy helmet surveillance, robust software, and IEEE Q1 contribution.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22088</Words>
  <Application>WPS Presentation</Application>
  <PresentationFormat/>
  <Paragraphs>782</Paragraphs>
  <Slides>32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41" baseType="lpstr">
      <vt:lpstr>Arial</vt:lpstr>
      <vt:lpstr>SimSun</vt:lpstr>
      <vt:lpstr>Wingdings</vt:lpstr>
      <vt:lpstr>Arial</vt:lpstr>
      <vt:lpstr>Calibri</vt:lpstr>
      <vt:lpstr>Microsoft YaHei</vt:lpstr>
      <vt:lpstr>Arial Unicode MS</vt:lpstr>
      <vt:lpstr>Inter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Như Hàn</cp:lastModifiedBy>
  <cp:revision>1</cp:revision>
  <dcterms:created xsi:type="dcterms:W3CDTF">2026-09-23T22:42:35Z</dcterms:created>
  <dcterms:modified xsi:type="dcterms:W3CDTF">2026-09-23T22:42:36Z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1033-12.1.0.28485</vt:lpwstr>
  </property>
  <property fmtid="{D5CDD505-2E9C-101B-9397-08002B2CF9AE}" pid="3" name="ICV">
    <vt:lpwstr>B223880B5A5640E8A5038E18239DBA3C_12</vt:lpwstr>
  </property>
</Properties>
</file>