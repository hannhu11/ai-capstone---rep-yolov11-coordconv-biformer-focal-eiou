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CRITERION 4 · EVALUATION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08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Rigorous Multi-Metric Evaluation &amp; Life-Critical Recall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38404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5331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Core Accuracy &amp; Localization Metrics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mAP50 (Gold Standard): Evaluates primary detection precision at standard IoU 0.50.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mAP50-95 (Boundary Tightness): Strict average across 10 IoU steps [0.50:0.05:0.95]; heavily penalizes loose or misaligned bounding boxes.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Precision &amp; F1-Score: Measures trade-off between false detections and completeness.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Real-Time Constraint: Enforces strict inference latency suitable for 25+ FPS streams.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384048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35331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Life-Critical Priority: Recall Over Precision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Zero-Tolerance for False Negatives (FN): In safety monitoring, a missed violation allows an unprotected worker into a hazard zone -&gt; fatal risk.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Asymmetric Impact: A False Alarm (FP) causes minor verification overhead; a Missed Violation (FN) leads to irreversible human tragedy.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Target Recallhat &gt; 90%: Architecture specifically refined to maximize helmet recall.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Gradient Countermeasure: Focal BCE and Task-Aligned Assigner prevent helmet loss collapse.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118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914400" y="3749039"/>
            <a:ext cx="384048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3075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5-Fold Stratified Cross-Validation Protocol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Rigorous Stratification: All 5 folds strictly preserve the exact 1:12.33 class ratio.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Statistical Confidence (μ ± σ): Reports 96.64% ± 0.32% mAP50, proving performance is not a fluke of a lucky test split.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Cross-Fold Stability: Validates consistency across varying illumination and crowd densities.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Ablation Reliability: Ensures all module comparisons are statistically significant.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118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384048" cy="2926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73075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Model Transparency: Grad-CAM XAI Audit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Feature Saliency Validation: Grad-CAM heatmaps verify network attention is sharply localized on head-worn helmets.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Suppression of Vest &amp; Floor Clutter: Proves CoordConv successfully damps out ground-level yellow buckets and reflective vests.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Long-Range Attention Routing: Confirms BiFormer routes attention directly to small distant heads (&lt;20px).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Industrial Audit Readiness: Provides visual accountability required by HSE site managers.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Multi-metric evaluation prioritizes Life-Critical Recall while eliminating split bias via 5-Fold Stratified CV and Grad-CAM interpretability.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CRITERION 5 · PROJECT PLAN &amp; GANTT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09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Project Roadmap: 5 Phases &amp; Milestone Tracking (W1–W15)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03911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804672" y="1325880"/>
            <a:ext cx="1892808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1 (W1–W5)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64208"/>
            <a:ext cx="1892808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00">
                <a:solidFill>
                  <a:srgbClr val="0F172A"/>
                </a:solidFill>
                <a:latin typeface="Calibri"/>
              </a:defRPr>
            </a:pPr>
            <a:r>
              <a:t>Foundation &amp; Review 1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30-paper survey, RQ/Gap, SHWD data cleaning, Baseline setup.</a:t>
            </a:r>
          </a:p>
          <a:p>
            <a:pPr>
              <a:spcBef>
                <a:spcPts val="400"/>
              </a:spcBef>
              <a:defRPr sz="850" b="1">
                <a:solidFill>
                  <a:srgbClr val="EA580C"/>
                </a:solidFill>
                <a:latin typeface="Calibri"/>
              </a:defRPr>
            </a:pPr>
            <a:r>
              <a:t>Target: Review 1 Deck &amp; Cleaned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234440"/>
            <a:ext cx="203911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2971800" y="1325880"/>
            <a:ext cx="18928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2 (W6–W8)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664208"/>
            <a:ext cx="1892808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00">
                <a:solidFill>
                  <a:srgbClr val="0F172A"/>
                </a:solidFill>
                <a:latin typeface="Calibri"/>
              </a:defRPr>
            </a:pPr>
            <a:r>
              <a:t>Core Engineering &amp; Review 2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Module coding (RepConv, CoordConv, BiFormer, EIoU), Ablation A0–A6.</a:t>
            </a:r>
          </a:p>
          <a:p>
            <a:pPr>
              <a:spcBef>
                <a:spcPts val="400"/>
              </a:spcBef>
              <a:defRPr sz="850" b="1">
                <a:solidFill>
                  <a:srgbClr val="2563EB"/>
                </a:solidFill>
                <a:latin typeface="Calibri"/>
              </a:defRPr>
            </a:pPr>
            <a:r>
              <a:t>Target: Review 2 Report &amp;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5776" y="1234440"/>
            <a:ext cx="203911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5138928" y="1325880"/>
            <a:ext cx="1892808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3 (W9–W11)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1664208"/>
            <a:ext cx="1892808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00">
                <a:solidFill>
                  <a:srgbClr val="0F172A"/>
                </a:solidFill>
                <a:latin typeface="Calibri"/>
              </a:defRPr>
            </a:pPr>
            <a:r>
              <a:t>Validation &amp; Review 3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5-Fold CV, Cross-domain testing (25k+ imgs), Grad-CAM XAI.</a:t>
            </a:r>
          </a:p>
          <a:p>
            <a:pPr>
              <a:spcBef>
                <a:spcPts val="400"/>
              </a:spcBef>
              <a:defRPr sz="850" b="1">
                <a:solidFill>
                  <a:srgbClr val="D97706"/>
                </a:solidFill>
                <a:latin typeface="Calibri"/>
              </a:defRPr>
            </a:pPr>
            <a:r>
              <a:t>Target: Review 3 Data &amp; Weights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2904" y="1234440"/>
            <a:ext cx="203911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7306056" y="1325880"/>
            <a:ext cx="1892808" cy="2926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4 (W12–W14)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1664208"/>
            <a:ext cx="1892808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00">
                <a:solidFill>
                  <a:srgbClr val="0F172A"/>
                </a:solidFill>
                <a:latin typeface="Calibri"/>
              </a:defRPr>
            </a:pPr>
            <a:r>
              <a:t>Deployment &amp; Docs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RTSP camera pipeline, Docker packaging, Scientific paper polish.</a:t>
            </a:r>
          </a:p>
          <a:p>
            <a:pPr>
              <a:spcBef>
                <a:spcPts val="400"/>
              </a:spcBef>
              <a:defRPr sz="850" b="1">
                <a:solidFill>
                  <a:srgbClr val="16A34A"/>
                </a:solidFill>
                <a:latin typeface="Calibri"/>
              </a:defRPr>
            </a:pPr>
            <a:r>
              <a:t>Target: RTSP Demo &amp; Paper Draft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0032" y="1234440"/>
            <a:ext cx="203911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9473184" y="1325880"/>
            <a:ext cx="1892808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5 (W15)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664208"/>
            <a:ext cx="1892808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00">
                <a:solidFill>
                  <a:srgbClr val="0F172A"/>
                </a:solidFill>
                <a:latin typeface="Calibri"/>
              </a:defRPr>
            </a:pPr>
            <a:r>
              <a:t>Final Defense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Thesis Book submission, final defense presentation rehearsal.</a:t>
            </a:r>
          </a:p>
          <a:p>
            <a:pPr>
              <a:spcBef>
                <a:spcPts val="400"/>
              </a:spcBef>
              <a:defRPr sz="850" b="1">
                <a:solidFill>
                  <a:srgbClr val="7C3AED"/>
                </a:solidFill>
                <a:latin typeface="Calibri"/>
              </a:defRPr>
            </a:pPr>
            <a:r>
              <a:t>Target: Thesis Book &amp; Defense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118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914400" y="3749039"/>
            <a:ext cx="38404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73075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Agile Sprint Execution &amp; Contingency Buffers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2-Week Sprint Cadence: Rapid iterative cycles with bi-weekly progress synchronization with Academic Advisor.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1-Week Risk Buffer per Phase: Dedicated contingency time for cloud GPU re-training and parameter exploration.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Review Gating Criteria: Strict quality gates and benchmark hurdles before advancing to the next Review.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Transparent Version Control: Daily code, configuration, and model checkpoint commits synchronized to GitHub.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118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6400800" y="3749039"/>
            <a:ext cx="384048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73075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Strategic Team Role Allocation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Nguyễn Hàn Như (Lead · SE183644): Overall network architecture, custom PyTorch modules, and Scientific paper writing.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Nguyễn Văn Thành (SE180387): Data engineering, label harmonization (C*), SHWD cleaning, 5-Fold Stratified CV.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Trần Phạm Tuấn Dũng (SE183674): Real-time RTSP video streaming pipeline, hardware acceleration, and documentation.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High-Efficiency Collaboration: Clear responsibility boundaries with unified shared Git repo and issue tracking.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Structured 15-week Hybrid Agile roadmap strictly aligned with 3 Review milestones and final Capstone Defense.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CRITERION 6 · SCIENTIFIC RESEARCH &amp; PUBLICATION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Scientific Research Manuscript: Publication-Ready Paper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914400" y="1353312"/>
            <a:ext cx="32918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SCIENTIFIC MANUSCRIPT &amp; ACADEMIC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Calibri"/>
              </a:defRPr>
            </a:pPr>
            <a:r>
              <a:t>Publication-Ready Master Manuscript (Targeting Peer-Reviewed Venues)</a:t>
            </a:r>
          </a:p>
          <a:p>
            <a:pPr>
              <a:spcBef>
                <a:spcPts val="200"/>
              </a:spcBef>
              <a:defRPr sz="1100" b="1">
                <a:solidFill>
                  <a:srgbClr val="EA580C"/>
                </a:solidFill>
                <a:latin typeface="Calibri"/>
              </a:defRPr>
            </a:pPr>
            <a:r>
              <a:t>Formatted in Standard IEEE Double-Column · Ready for Academic Committee Review &amp; Journal Submission</a:t>
            </a:r>
          </a:p>
          <a:p>
            <a:pPr>
              <a:spcBef>
                <a:spcPts val="300"/>
              </a:spcBef>
              <a:defRPr sz="1050" i="1">
                <a:solidFill>
                  <a:srgbClr val="334155"/>
                </a:solidFill>
                <a:latin typeface="Calibri"/>
              </a:defRPr>
            </a:pPr>
            <a:r>
              <a:t>Title: "Structural Re-Parameterization, Spatial Coordinate Encoding, and Cross-Domain Robustness for Real-Time Safety Helmet Detection in Construction Surveillance"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Manuscript Status: Complete 10-page master technical paper fully drafted in IEEE format, ready for Academic Council evaluation and journal submission.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914400" y="3520440"/>
            <a:ext cx="384048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02152"/>
            <a:ext cx="43891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4 Key Scientific Contributions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1. Novel Architecture: Rep-YOLO11s integrating spatial coordinates, attention routing, and edge-decoupled loss.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2. Closed-Form Mathematical Proof: Rigorous algebraic proof of lossless 3-branch RepConv re-parameterization (error &lt; 10^-5).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3. Explainable Ground Invariance: Empirical Grad-CAM proof that CoordConv eliminates ground-level color false alarms.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4. Multi-Domain Taxonomy Autopsy: Comprehensive benchmark across &gt;33,000 images resolving the IoU Collapse phenomenon.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8328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6400800" y="3520440"/>
            <a:ext cx="384048" cy="2926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502152"/>
            <a:ext cx="43891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Publication Roadmap &amp; Scientific Integrity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Phase 1–3 (Empirical Evidence): Solidify 5-Fold Stratified CV, multi-dataset zero-shot tests, and Grad-CAM saliency maps.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Phase 4 (Writing &amp; Academic Review): Rigorous academic polishing, IEEE LaTeX double-column typesetting, and mentor co-author review.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Phase 5 &amp; Defense: Present manuscript to Academic Council; finalize submission to reputable journals/conferences under advisor mentorship.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Reproducibility Standards: Full open-source release with deterministic seed control and complete training scripts.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Publication-ready scientific manuscript prepared to international IEEE standards, fully verifiable by the Academic Council and ready for peer-reviewed venues.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CRITERION 7 · RISK ASSESSMENT &amp; MITIGATION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Proactive Risk Analysis &amp; Engineering Mitigation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841248" y="1344168"/>
            <a:ext cx="86868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81912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1. Extreme Class Imbalance (1:12)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111,514 body instances overpower 9,044 helmet instances, causing helmet gradient starvation.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Task-Aligned Assigner (TAL) top-10 anchor alignment + Focal BCE Loss with dynamic alpha-balance to prioritize helmet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4498848" y="1344168"/>
            <a:ext cx="868680" cy="21945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581912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2. Ground False Positives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Yellow buckets, traffic cones, and caution signs on the floor trigger high false alarm rates (&gt;28%).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CoordConv Stem injects vertical coordinate Cy; provides anatomical prior suppressing ground logits (Cy &gt; 0.4) to &lt;0.02.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8156448" y="1344168"/>
            <a:ext cx="868680" cy="21945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1581912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3. Distant Tiny Helmets (&lt;20px)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Small targets under high-angle CCTV blur and vanish through standard convolutional downsampling.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BiFormer Bi-Level Routing Attention filters out 93.75% of background and preserves small target features with O(HW) cost.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39312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841248" y="3749040"/>
            <a:ext cx="868680" cy="21945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MED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986784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4. CIoU Gradient Vanishing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When aspect ratio w/h matches ground truth, CIoU penalty gradient vanishes, stalling boundary regression.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Focal-EIoU Loss decouples width and height errors independently; guarantees dL/dw != 0 whenever width is not aligned.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639312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4498848" y="3749040"/>
            <a:ext cx="86868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986784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5. Video Sequence Data Leakage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Consecutive frames from identical camera scenes appearing in both train and test artificially inflate accuracy.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Video sequence hashing groups continuous frames strictly into the same partition, guaranteeing 100% leak-free evaluation.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639312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8156448" y="3749040"/>
            <a:ext cx="868680" cy="21945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MED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3986784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6. GPU Memory &amp; Compute Limits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Training high-resolution multi-module models risks CUDA Out-Of-Memory (OOM) and long training times.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Dual Kaggle Tesla T4 GPUs (32 GB VRAM) using PyTorch DDP; FP16 mixed precision halves memory footprint without accuracy loss.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All 6 core engineering risks are proactively resolved through mathematically sound and empirically verified architectural solutions.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CRITERION 8 · EXPECTED OUTCOMES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Final Deliverables &amp; 8-Point Project Synthesis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38404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53312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5 Tangible Project Deliverables</a:t>
            </a:r>
          </a:p>
          <a:p>
            <a:pPr>
              <a:spcBef>
                <a:spcPts val="500"/>
              </a:spcBef>
              <a:defRPr b="1" sz="1050">
                <a:solidFill>
                  <a:srgbClr val="2563EB"/>
                </a:solidFill>
                <a:latin typeface="Calibri"/>
              </a:defRPr>
            </a:pPr>
            <a:r>
              <a:t>1. High-Accuracy AI Weights (.pt)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Rep-YOLO11s trained weights achieving &gt;96% 5-Fold mAP50 with optimized small helmet recall.</a:t>
            </a:r>
          </a:p>
          <a:p>
            <a:pPr>
              <a:spcBef>
                <a:spcPts val="500"/>
              </a:spcBef>
              <a:defRPr b="1" sz="1050">
                <a:solidFill>
                  <a:srgbClr val="2563EB"/>
                </a:solidFill>
                <a:latin typeface="Calibri"/>
              </a:defRPr>
            </a:pPr>
            <a:r>
              <a:t>2. Standardized Dataset Pipeline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Cleaned SHWD (7,581 images) with zero label corruption, plus unified C* taxonomy across &gt;33,000 industrial images.</a:t>
            </a:r>
          </a:p>
          <a:p>
            <a:pPr>
              <a:spcBef>
                <a:spcPts val="500"/>
              </a:spcBef>
              <a:defRPr b="1" sz="1050">
                <a:solidFill>
                  <a:srgbClr val="2563EB"/>
                </a:solidFill>
                <a:latin typeface="Calibri"/>
              </a:defRPr>
            </a:pPr>
            <a:r>
              <a:t>3. Open-Source Code Repository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Clean GitHub repository with PyTorch modules, switch_to_deploy() scripts, and multi-GPU DDP training configs.</a:t>
            </a:r>
          </a:p>
          <a:p>
            <a:pPr>
              <a:spcBef>
                <a:spcPts val="500"/>
              </a:spcBef>
              <a:defRPr b="1" sz="1050">
                <a:solidFill>
                  <a:srgbClr val="2563EB"/>
                </a:solidFill>
                <a:latin typeface="Calibri"/>
              </a:defRPr>
            </a:pPr>
            <a:r>
              <a:t>4. Real-Time RTSP Software Demo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Surveillance desktop application running on live CCTV streams with automated violation alerts and bounding boxes.</a:t>
            </a:r>
          </a:p>
          <a:p>
            <a:pPr>
              <a:spcBef>
                <a:spcPts val="500"/>
              </a:spcBef>
              <a:defRPr b="1" sz="1050">
                <a:solidFill>
                  <a:srgbClr val="2563EB"/>
                </a:solidFill>
                <a:latin typeface="Calibri"/>
              </a:defRPr>
            </a:pPr>
            <a:r>
              <a:t>5. Scientific Research Manuscript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Publication-ready master paper in IEEE format, ready for Academic Council evaluation and journal submission.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1208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384048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353312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8-Point Project Synthesis (Conclusion)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Problem: Industrial CCTV challenges (tiny targets, 1:12 class imbalance, ground false alarms).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Research Gap: Heavy architectures lack real-time viability; standard models lack spatial height priors.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SOTA Baselines: Directly benchmarked against YOLO11s (latest SOTA) and YOLOv8s (industry standard).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Proposed Method: Rep-YOLO11s integrating RepConv, CoordConv, BiFormer, and Focal-EIoU.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Data Engineering: 7,581 SHWD images with zero leakage + 5 cross-domain benchmarks (&gt;25,000 images).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Evaluation: Life-critical Recall prioritization, 5-Fold Stratified CV, and Grad-CAM explainability.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Feasibility: High-efficiency single-path architecture verified on accessible GPU hardware.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Practical Value: Seamlessly bridges top-tier academic rigor with live worker safety protection.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A comprehensive, publication-grade AI capstone delivering high-accuracy helmet surveillance, robust software, and verifiable scientific contributions.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